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2" r:id="rId4"/>
    <p:sldId id="260" r:id="rId5"/>
    <p:sldId id="258" r:id="rId6"/>
    <p:sldId id="259"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78" r:id="rId26"/>
    <p:sldId id="281" r:id="rId27"/>
    <p:sldId id="282" r:id="rId28"/>
    <p:sldId id="283" r:id="rId29"/>
    <p:sldId id="285" r:id="rId30"/>
    <p:sldId id="284" r:id="rId31"/>
    <p:sldId id="298" r:id="rId32"/>
    <p:sldId id="286" r:id="rId33"/>
    <p:sldId id="287" r:id="rId34"/>
    <p:sldId id="288" r:id="rId35"/>
    <p:sldId id="289" r:id="rId36"/>
    <p:sldId id="290" r:id="rId37"/>
    <p:sldId id="291" r:id="rId38"/>
    <p:sldId id="292" r:id="rId39"/>
    <p:sldId id="294" r:id="rId40"/>
    <p:sldId id="293" r:id="rId41"/>
    <p:sldId id="295" r:id="rId42"/>
    <p:sldId id="297" r:id="rId43"/>
    <p:sldId id="296" r:id="rId44"/>
    <p:sldId id="299" r:id="rId45"/>
    <p:sldId id="300" r:id="rId46"/>
    <p:sldId id="301" r:id="rId47"/>
    <p:sldId id="302" r:id="rId48"/>
    <p:sldId id="303"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06897" units="1/cm"/>
          <inkml:channelProperty channel="T" name="resolution" value="1" units="1/dev"/>
        </inkml:channelProperties>
      </inkml:inkSource>
      <inkml:timestamp xml:id="ts0" timeString="2024-10-15T05:59:25.068"/>
    </inkml:context>
    <inkml:brush xml:id="br0">
      <inkml:brushProperty name="width" value="0.05292" units="cm"/>
      <inkml:brushProperty name="height" value="0.05292" units="cm"/>
      <inkml:brushProperty name="color" value="#FF0000"/>
    </inkml:brush>
  </inkml:definitions>
  <inkml:trace contextRef="#ctx0" brushRef="#br0">9825 9543 0,'88'53'219,"-53"-18"-219,-17-18 15,17 19 1,-35-1 0,18-35-1,0 0 1,87-123 0,142-371 15,-141 335-31,-18-53 15,-52 124 1,52-18 0,-71 71-16,72-53 15,-19 35 17</inkml:trace>
  <inkml:trace contextRef="#ctx0" brushRef="#br0" timeOffset="1521.6039">10054 10107 0</inkml:trace>
  <inkml:trace contextRef="#ctx0" brushRef="#br0" timeOffset="2045.7102">10054 10107 0,'71'53'250,"-18"-35"-235,0-1-15,-1 19 16,-34-36 0,0 0 30,-1 0-30,107-106-16,211-459 16,-159 230-1,18 18 1,18 123 15,-71 123-15,-106 36-1,-17 35 1</inkml:trace>
  <inkml:trace contextRef="#ctx0" brushRef="#br0" timeOffset="21424.7472">10178 11765 0,'70'88'203,"71"1"-187,-52 52-16,69-36 31,-105 1-15,-35-106 15,-1 0 16,1 0-16,17 0-31,1 0 16,140-35 15,-88-36-31,53-17 15,71-88 1,123-53 15,-211 140-15,-36 19 0,71-18-1,-124 70 1,-18 18-1</inkml:trace>
  <inkml:trace contextRef="#ctx0" brushRef="#br0" timeOffset="53063.757">12859 6121 0,'17'70'203,"19"89"-203,-19-106 16,19 88 0,-19-88-16,19 88 31,34-17-16,-70-107 1,0 36 0,18-53 109,-1 0-110,54-106-15,35-17 16,88-548 0,-141 495-16,-36 17 31,-17 89-16,0 105 157,0 0-172,18 18 16,35 53-16,176 300 16,-17-124 15,-71-35-16,-35-88 1,-71-89 0,-35-34-1,0-1 1,35-35 0,36 0-1,35-159 1,17 0-1,-88 71-15,-17-71 16,17-123-16,-70-212 16,-88 71 15,52 211-31,1-88 16,17 89 15,53 193-16,0 0 1</inkml:trace>
  <inkml:trace contextRef="#ctx0" brushRef="#br0" timeOffset="54344.2372">15505 5274 0,'17'-18'203,"19"1"-203,-1-1 15,0 0-15,71 18 16,-53 0 0,0 0 15,-36 0-31,-17 53 16,-105 212 15,69-212-16,-17 53 1,0-53 0,1-18 15,87-35 63,53-35-94,-17 17 15,52-17-15,106 70 16,71 318 0,-247-212 15,-35-53-16,-18 18 1,0 0-16,-141 70 16,-18-35-16,0-70 15,-176-18 1,70-106 0,71-141-16,159 159 15</inkml:trace>
  <inkml:trace contextRef="#ctx0" brushRef="#br0" timeOffset="55983.4876">17709 4957 0,'-17'-36'203,"-18"1"-203,17 17 16,-17 1 15,17 17-31,0 0 16,1 0-1,-1 0 1,-70 17-1,17 54 1,18 17 0,-17 36 15,35-124-31,35 35 16,0-18 15,17 1-16,1 0-15,-1 35 16,1-53-16,0 0 16,70 35-1,-88-17 1,35-1 0,0 1-1,1 0 16,17-18-31,35 17 16,35 36 0,-70-35-1,0-18 1,-35 35 31,-1 18-32,36 88 1,-53-53 0,0-17-1,0-36 1,0 0 0,-35-17 15,17-18-31,1 0 0,-1 0 15,-35 0 1,-123 53 15,105-18-15,18-35-16,-17 18 31,52-18-31</inkml:trace>
  <inkml:trace contextRef="#ctx0" brushRef="#br0" timeOffset="60268.2825">18697 4568 0,'-70'159'219,"17"35"-219,35-53 15,36 142 1,-1-230 0,72 105-1,-37-87 1,-34-36-16,35 18 16,18-35-16,17-18 15,335 0 16,-388 0-31,36 0 16,-36 0 0,1 0-1,122-353 1,-140 18 0,-18 17-1,-35 54 1,-54-89 15,1 18-15,88 317-1,0 0 1,0 1-16,0-18 31,0 70 63,0 71-78,0-1-16,36 354 15,87 17 16,-70-352-31,17 176 16,-17-142-16,-35-105 16,-18 0-1,0-17 1,0-19-16,0 1 31,35-53 32,1-71-48,16-124 1,-34 107-16,0 17 0,-1 36 16,-17 34 15,0 1-16,18 35 64,0 0-64,35 18-15,-18-1 16,0 54-1,159 264 17,-141-212-32,-18 1 15,-35-89 1,0-17 0,0 17-1,36-17 1,-19-18-1,19 17 1,-19-17 0,1 0-16,52-17 15,-34-19-15,52-175 16,-70 123 0,-18-89-1,0 71-15,0-229 31,0 265-31,0 34 0,0 19 16,0-19 0,0 89 77,0 0-77,17 18-16,36-18 16,-18 123-1,-17-105 1,17 52 0,1 1-1,34-71 1,-52-18-1,-1 18 1,1-36 0,35-17-1,0-35 1,17-71 0,-34-35-1,-36 71 1,0 34 15,0-34-15,-36-54-1,19 89 1,-36-18 0,18 18-1,17 0 1,-35 17-1,18 18 1,-1 0 0,1 0-1,18 0 1,17-18 156,17 18-157,54-35 1,-36 17-16,18-35 16,88-17-1,-106 52-15,89-35 32,-107 53-17,1 0 95,-18 18-95,0 0 1,18 70-16,-1-35 15,36 70-15,-17 18 16,-1-70-16,-18-36 16,1 36-1,-18-36 1,0 0 0,18-17-16,-1 0 15,1-18 1,0 0-16,17 0 31,-17 0-31,35-18 16,-36-17-16,1 17 15,17-17 1,18-142 0,-53 142-1,0-71 1,-71-53 15,71 142-15,0-1-16,-35-17 15,0 17 1,-53 18 0,52 0-1,-34 0 16,52 0-15,-17 0 0,0 0-1,35-17 142,35-19-142,0 19 1,36-19-1,17 1 1,0-35 0,-17-71-1,-1-54 1,-17 1 0,-53 36-1,0-19 1,0 36 15,0 106-31,0 53 141,0 17-141,18 18 15,17 247 1,53 70 0,71-70-1,-53-18 1,-71-229-16,71 88 15,-88-106-15,-1-17 16,-17 70 15,18-88-31,70 36 16,0-36 15,-70 0-31,17 0 31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85E35C6C-632E-4896-A57D-A5B1E746F4BE}" type="datetimeFigureOut">
              <a:rPr lang="en-IN" smtClean="0"/>
              <a:t>15-10-2024</a:t>
            </a:fld>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4D73FA0-9026-41C6-950B-0EAF0132A897}" type="slidenum">
              <a:rPr lang="en-IN" smtClean="0"/>
              <a:t>‹#›</a:t>
            </a:fld>
            <a:endParaRPr lang="en-IN"/>
          </a:p>
        </p:txBody>
      </p:sp>
    </p:spTree>
    <p:extLst>
      <p:ext uri="{BB962C8B-B14F-4D97-AF65-F5344CB8AC3E}">
        <p14:creationId xmlns:p14="http://schemas.microsoft.com/office/powerpoint/2010/main" val="29390762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E35C6C-632E-4896-A57D-A5B1E746F4BE}" type="datetimeFigureOut">
              <a:rPr lang="en-IN" smtClean="0"/>
              <a:t>15-10-2024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fld id="{54D73FA0-9026-41C6-950B-0EAF0132A897}" type="slidenum">
              <a:rPr lang="en-IN" smtClean="0"/>
              <a:t>‹#›</a:t>
            </a:fld>
            <a:endParaRPr lang="en-IN"/>
          </a:p>
        </p:txBody>
      </p:sp>
    </p:spTree>
    <p:extLst>
      <p:ext uri="{BB962C8B-B14F-4D97-AF65-F5344CB8AC3E}">
        <p14:creationId xmlns:p14="http://schemas.microsoft.com/office/powerpoint/2010/main" val="3323270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85E35C6C-632E-4896-A57D-A5B1E746F4BE}" type="datetimeFigureOut">
              <a:rPr lang="en-IN" smtClean="0"/>
              <a:t>15-10-2024</a:t>
            </a:fld>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4D73FA0-9026-41C6-950B-0EAF0132A897}" type="slidenum">
              <a:rPr lang="en-IN" smtClean="0"/>
              <a:t>‹#›</a:t>
            </a:fld>
            <a:endParaRPr lang="en-IN"/>
          </a:p>
        </p:txBody>
      </p:sp>
    </p:spTree>
    <p:extLst>
      <p:ext uri="{BB962C8B-B14F-4D97-AF65-F5344CB8AC3E}">
        <p14:creationId xmlns:p14="http://schemas.microsoft.com/office/powerpoint/2010/main" val="4110208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E35C6C-632E-4896-A57D-A5B1E746F4BE}" type="datetimeFigureOut">
              <a:rPr lang="en-IN" smtClean="0"/>
              <a:t>15-10-2024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D73FA0-9026-41C6-950B-0EAF0132A897}" type="slidenum">
              <a:rPr lang="en-IN" smtClean="0"/>
              <a:t>‹#›</a:t>
            </a:fld>
            <a:endParaRPr lang="en-IN"/>
          </a:p>
        </p:txBody>
      </p:sp>
    </p:spTree>
    <p:extLst>
      <p:ext uri="{BB962C8B-B14F-4D97-AF65-F5344CB8AC3E}">
        <p14:creationId xmlns:p14="http://schemas.microsoft.com/office/powerpoint/2010/main" val="4240580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E35C6C-632E-4896-A57D-A5B1E746F4BE}" type="datetimeFigureOut">
              <a:rPr lang="en-IN" smtClean="0"/>
              <a:t>15-10-2024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4D73FA0-9026-41C6-950B-0EAF0132A897}" type="slidenum">
              <a:rPr lang="en-IN" smtClean="0"/>
              <a:t>‹#›</a:t>
            </a:fld>
            <a:endParaRPr lang="en-IN"/>
          </a:p>
        </p:txBody>
      </p:sp>
    </p:spTree>
    <p:extLst>
      <p:ext uri="{BB962C8B-B14F-4D97-AF65-F5344CB8AC3E}">
        <p14:creationId xmlns:p14="http://schemas.microsoft.com/office/powerpoint/2010/main" val="4237508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5E35C6C-632E-4896-A57D-A5B1E746F4BE}" type="datetimeFigureOut">
              <a:rPr lang="en-IN" smtClean="0"/>
              <a:t>15-10-2024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4D73FA0-9026-41C6-950B-0EAF0132A897}" type="slidenum">
              <a:rPr lang="en-IN" smtClean="0"/>
              <a:t>‹#›</a:t>
            </a:fld>
            <a:endParaRPr lang="en-IN"/>
          </a:p>
        </p:txBody>
      </p:sp>
    </p:spTree>
    <p:extLst>
      <p:ext uri="{BB962C8B-B14F-4D97-AF65-F5344CB8AC3E}">
        <p14:creationId xmlns:p14="http://schemas.microsoft.com/office/powerpoint/2010/main" val="3654440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E35C6C-632E-4896-A57D-A5B1E746F4BE}" type="datetimeFigureOut">
              <a:rPr lang="en-IN" smtClean="0"/>
              <a:t>15-10-2024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4D73FA0-9026-41C6-950B-0EAF0132A897}" type="slidenum">
              <a:rPr lang="en-IN" smtClean="0"/>
              <a:t>‹#›</a:t>
            </a:fld>
            <a:endParaRPr lang="en-IN"/>
          </a:p>
        </p:txBody>
      </p:sp>
    </p:spTree>
    <p:extLst>
      <p:ext uri="{BB962C8B-B14F-4D97-AF65-F5344CB8AC3E}">
        <p14:creationId xmlns:p14="http://schemas.microsoft.com/office/powerpoint/2010/main" val="4287958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85E35C6C-632E-4896-A57D-A5B1E746F4BE}" type="datetimeFigureOut">
              <a:rPr lang="en-IN" smtClean="0"/>
              <a:t>15-10-2024</a:t>
            </a:fld>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4D73FA0-9026-41C6-950B-0EAF0132A897}" type="slidenum">
              <a:rPr lang="en-IN" smtClean="0"/>
              <a:t>‹#›</a:t>
            </a:fld>
            <a:endParaRPr lang="en-IN"/>
          </a:p>
        </p:txBody>
      </p:sp>
    </p:spTree>
    <p:extLst>
      <p:ext uri="{BB962C8B-B14F-4D97-AF65-F5344CB8AC3E}">
        <p14:creationId xmlns:p14="http://schemas.microsoft.com/office/powerpoint/2010/main" val="690465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E35C6C-632E-4896-A57D-A5B1E746F4BE}" type="datetimeFigureOut">
              <a:rPr lang="en-IN" smtClean="0"/>
              <a:t>15-10-2024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D73FA0-9026-41C6-950B-0EAF0132A897}" type="slidenum">
              <a:rPr lang="en-IN" smtClean="0"/>
              <a:t>‹#›</a:t>
            </a:fld>
            <a:endParaRPr lang="en-IN"/>
          </a:p>
        </p:txBody>
      </p:sp>
    </p:spTree>
    <p:extLst>
      <p:ext uri="{BB962C8B-B14F-4D97-AF65-F5344CB8AC3E}">
        <p14:creationId xmlns:p14="http://schemas.microsoft.com/office/powerpoint/2010/main" val="2202314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E35C6C-632E-4896-A57D-A5B1E746F4BE}" type="datetimeFigureOut">
              <a:rPr lang="en-IN" smtClean="0"/>
              <a:t>15-10-2024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D73FA0-9026-41C6-950B-0EAF0132A897}" type="slidenum">
              <a:rPr lang="en-IN" smtClean="0"/>
              <a:t>‹#›</a:t>
            </a:fld>
            <a:endParaRPr lang="en-IN"/>
          </a:p>
        </p:txBody>
      </p:sp>
    </p:spTree>
    <p:extLst>
      <p:ext uri="{BB962C8B-B14F-4D97-AF65-F5344CB8AC3E}">
        <p14:creationId xmlns:p14="http://schemas.microsoft.com/office/powerpoint/2010/main" val="781139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85E35C6C-632E-4896-A57D-A5B1E746F4BE}" type="datetimeFigureOut">
              <a:rPr lang="en-IN" smtClean="0"/>
              <a:t>15-10-2024</a:t>
            </a:fld>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4D73FA0-9026-41C6-950B-0EAF0132A897}" type="slidenum">
              <a:rPr lang="en-IN" smtClean="0"/>
              <a:t>‹#›</a:t>
            </a:fld>
            <a:endParaRPr lang="en-IN"/>
          </a:p>
        </p:txBody>
      </p:sp>
    </p:spTree>
    <p:extLst>
      <p:ext uri="{BB962C8B-B14F-4D97-AF65-F5344CB8AC3E}">
        <p14:creationId xmlns:p14="http://schemas.microsoft.com/office/powerpoint/2010/main" val="3776743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85E35C6C-632E-4896-A57D-A5B1E746F4BE}" type="datetimeFigureOut">
              <a:rPr lang="en-IN" smtClean="0"/>
              <a:t>15-10-2024</a:t>
            </a:fld>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54D73FA0-9026-41C6-950B-0EAF0132A897}" type="slidenum">
              <a:rPr lang="en-IN" smtClean="0"/>
              <a:t>‹#›</a:t>
            </a:fld>
            <a:endParaRPr lang="en-IN"/>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4139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www.w3schools.com/tags/tag_sup.asp" TargetMode="External"/><Relationship Id="rId3" Type="http://schemas.openxmlformats.org/officeDocument/2006/relationships/hyperlink" Target="https://www.w3schools.com/tags/tag_em.asp" TargetMode="External"/><Relationship Id="rId7" Type="http://schemas.openxmlformats.org/officeDocument/2006/relationships/hyperlink" Target="https://www.w3schools.com/tags/tag_sub.asp" TargetMode="External"/><Relationship Id="rId2" Type="http://schemas.openxmlformats.org/officeDocument/2006/relationships/hyperlink" Target="https://www.w3schools.com/tags/tag_b.asp" TargetMode="External"/><Relationship Id="rId1" Type="http://schemas.openxmlformats.org/officeDocument/2006/relationships/slideLayout" Target="../slideLayouts/slideLayout2.xml"/><Relationship Id="rId6" Type="http://schemas.openxmlformats.org/officeDocument/2006/relationships/hyperlink" Target="https://www.w3schools.com/tags/tag_strong.asp" TargetMode="External"/><Relationship Id="rId11" Type="http://schemas.openxmlformats.org/officeDocument/2006/relationships/hyperlink" Target="https://www.w3schools.com/tags/tag_mark.asp" TargetMode="External"/><Relationship Id="rId5" Type="http://schemas.openxmlformats.org/officeDocument/2006/relationships/hyperlink" Target="https://www.w3schools.com/tags/tag_small.asp" TargetMode="External"/><Relationship Id="rId10" Type="http://schemas.openxmlformats.org/officeDocument/2006/relationships/hyperlink" Target="https://www.w3schools.com/tags/tag_del.asp" TargetMode="External"/><Relationship Id="rId4" Type="http://schemas.openxmlformats.org/officeDocument/2006/relationships/hyperlink" Target="https://www.w3schools.com/tags/tag_i.asp" TargetMode="External"/><Relationship Id="rId9" Type="http://schemas.openxmlformats.org/officeDocument/2006/relationships/hyperlink" Target="https://www.w3schools.com/tags/tag_ins.asp"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wikipedia.org/"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6708D-0DC9-22A3-266B-A1C57B9C3C5B}"/>
              </a:ext>
            </a:extLst>
          </p:cNvPr>
          <p:cNvSpPr>
            <a:spLocks noGrp="1"/>
          </p:cNvSpPr>
          <p:nvPr>
            <p:ph type="ctrTitle"/>
          </p:nvPr>
        </p:nvSpPr>
        <p:spPr/>
        <p:txBody>
          <a:bodyPr/>
          <a:lstStyle/>
          <a:p>
            <a:r>
              <a:rPr lang="en-IN" dirty="0"/>
              <a:t>HTML: Hyper Text Markup Language</a:t>
            </a:r>
          </a:p>
        </p:txBody>
      </p:sp>
      <p:sp>
        <p:nvSpPr>
          <p:cNvPr id="3" name="Subtitle 2">
            <a:extLst>
              <a:ext uri="{FF2B5EF4-FFF2-40B4-BE49-F238E27FC236}">
                <a16:creationId xmlns:a16="http://schemas.microsoft.com/office/drawing/2014/main" id="{DAD0E09F-0EF9-C475-4982-2C5E1427D85F}"/>
              </a:ext>
            </a:extLst>
          </p:cNvPr>
          <p:cNvSpPr>
            <a:spLocks noGrp="1"/>
          </p:cNvSpPr>
          <p:nvPr>
            <p:ph type="subTitle" idx="1"/>
          </p:nvPr>
        </p:nvSpPr>
        <p:spPr/>
        <p:txBody>
          <a:bodyPr/>
          <a:lstStyle/>
          <a:p>
            <a:r>
              <a:rPr lang="en-IN" dirty="0"/>
              <a:t>By Arpita Tiwari</a:t>
            </a:r>
          </a:p>
        </p:txBody>
      </p:sp>
    </p:spTree>
    <p:extLst>
      <p:ext uri="{BB962C8B-B14F-4D97-AF65-F5344CB8AC3E}">
        <p14:creationId xmlns:p14="http://schemas.microsoft.com/office/powerpoint/2010/main" val="34660602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CBE86-9A77-D1D7-D396-DC55CDC25838}"/>
              </a:ext>
            </a:extLst>
          </p:cNvPr>
          <p:cNvSpPr>
            <a:spLocks noGrp="1"/>
          </p:cNvSpPr>
          <p:nvPr>
            <p:ph type="title"/>
          </p:nvPr>
        </p:nvSpPr>
        <p:spPr/>
        <p:txBody>
          <a:bodyPr>
            <a:normAutofit/>
          </a:bodyPr>
          <a:lstStyle/>
          <a:p>
            <a:r>
              <a:rPr lang="en-IN" sz="3200" dirty="0"/>
              <a:t>Introduction of HTML</a:t>
            </a:r>
          </a:p>
        </p:txBody>
      </p:sp>
      <p:sp>
        <p:nvSpPr>
          <p:cNvPr id="3" name="Content Placeholder 2">
            <a:extLst>
              <a:ext uri="{FF2B5EF4-FFF2-40B4-BE49-F238E27FC236}">
                <a16:creationId xmlns:a16="http://schemas.microsoft.com/office/drawing/2014/main" id="{C3BDC431-6E52-BE3C-27E4-2DB65E6A8E98}"/>
              </a:ext>
            </a:extLst>
          </p:cNvPr>
          <p:cNvSpPr>
            <a:spLocks noGrp="1"/>
          </p:cNvSpPr>
          <p:nvPr>
            <p:ph idx="1"/>
          </p:nvPr>
        </p:nvSpPr>
        <p:spPr/>
        <p:txBody>
          <a:bodyPr>
            <a:normAutofit/>
          </a:bodyPr>
          <a:lstStyle/>
          <a:p>
            <a:r>
              <a:rPr lang="en-US" sz="2400" dirty="0"/>
              <a:t> HTML provides structure to the content appearing on a website, such as images, text, or videos. Right-click on any page on the internet, choose “Inspect,” and you’ll see HTML in a panel of your screen.</a:t>
            </a:r>
          </a:p>
          <a:p>
            <a:r>
              <a:rPr lang="en-US" sz="2400" dirty="0"/>
              <a:t>HTML stands for </a:t>
            </a:r>
            <a:r>
              <a:rPr lang="en-US" sz="2400" dirty="0" err="1"/>
              <a:t>HyperText</a:t>
            </a:r>
            <a:r>
              <a:rPr lang="en-US" sz="2400" dirty="0"/>
              <a:t> Markup Language:</a:t>
            </a:r>
          </a:p>
          <a:p>
            <a:pPr lvl="1"/>
            <a:r>
              <a:rPr lang="en-US" sz="2000" dirty="0"/>
              <a:t>A markup language is a computer language that defines the structure and presentation of raw text.</a:t>
            </a:r>
          </a:p>
          <a:p>
            <a:pPr lvl="1"/>
            <a:r>
              <a:rPr lang="en-US" sz="2000" dirty="0"/>
              <a:t>In HTML, the computer can interpret raw text that is wrapped in HTML elements.</a:t>
            </a:r>
          </a:p>
          <a:p>
            <a:pPr lvl="1"/>
            <a:r>
              <a:rPr lang="en-US" sz="2000" dirty="0" err="1"/>
              <a:t>HyperText</a:t>
            </a:r>
            <a:r>
              <a:rPr lang="en-US" sz="2000" dirty="0"/>
              <a:t> is text displayed on a computer or device that provides access to other text through links, also known as hyperlinks. </a:t>
            </a:r>
            <a:endParaRPr lang="en-IN" sz="2000" dirty="0"/>
          </a:p>
        </p:txBody>
      </p:sp>
    </p:spTree>
    <p:extLst>
      <p:ext uri="{BB962C8B-B14F-4D97-AF65-F5344CB8AC3E}">
        <p14:creationId xmlns:p14="http://schemas.microsoft.com/office/powerpoint/2010/main" val="23874979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E6E73-9A54-5D08-9035-1DDA98D8D684}"/>
              </a:ext>
            </a:extLst>
          </p:cNvPr>
          <p:cNvSpPr>
            <a:spLocks noGrp="1"/>
          </p:cNvSpPr>
          <p:nvPr>
            <p:ph type="title"/>
          </p:nvPr>
        </p:nvSpPr>
        <p:spPr/>
        <p:txBody>
          <a:bodyPr/>
          <a:lstStyle/>
          <a:p>
            <a:r>
              <a:rPr lang="en-IN" dirty="0"/>
              <a:t>HTLM Basic syntax</a:t>
            </a:r>
          </a:p>
        </p:txBody>
      </p:sp>
      <p:sp>
        <p:nvSpPr>
          <p:cNvPr id="3" name="Content Placeholder 2">
            <a:extLst>
              <a:ext uri="{FF2B5EF4-FFF2-40B4-BE49-F238E27FC236}">
                <a16:creationId xmlns:a16="http://schemas.microsoft.com/office/drawing/2014/main" id="{9709BC85-6B8E-56F8-D976-5718E95C6508}"/>
              </a:ext>
            </a:extLst>
          </p:cNvPr>
          <p:cNvSpPr>
            <a:spLocks noGrp="1"/>
          </p:cNvSpPr>
          <p:nvPr>
            <p:ph idx="1"/>
          </p:nvPr>
        </p:nvSpPr>
        <p:spPr>
          <a:xfrm>
            <a:off x="474189" y="2500009"/>
            <a:ext cx="6782646" cy="3917818"/>
          </a:xfrm>
        </p:spPr>
        <p:txBody>
          <a:bodyPr>
            <a:normAutofit fontScale="85000" lnSpcReduction="20000"/>
          </a:bodyPr>
          <a:lstStyle/>
          <a:p>
            <a:endParaRPr lang="en-IN" dirty="0">
              <a:solidFill>
                <a:schemeClr val="tx1"/>
              </a:solidFill>
            </a:endParaRPr>
          </a:p>
          <a:p>
            <a:endParaRPr lang="en-IN" dirty="0">
              <a:solidFill>
                <a:schemeClr val="tx1"/>
              </a:solidFill>
            </a:endParaRPr>
          </a:p>
          <a:p>
            <a:endParaRPr lang="en-IN" dirty="0">
              <a:solidFill>
                <a:schemeClr val="tx1"/>
              </a:solidFill>
            </a:endParaRPr>
          </a:p>
          <a:p>
            <a:r>
              <a:rPr lang="en-IN" dirty="0">
                <a:solidFill>
                  <a:schemeClr val="tx1"/>
                </a:solidFill>
              </a:rPr>
              <a:t>HTML code starts with: </a:t>
            </a:r>
          </a:p>
          <a:p>
            <a:pPr marL="0" indent="0">
              <a:buNone/>
            </a:pPr>
            <a:r>
              <a:rPr lang="en-IN" b="0" i="0" dirty="0">
                <a:solidFill>
                  <a:schemeClr val="tx1"/>
                </a:solidFill>
                <a:effectLst/>
                <a:latin typeface="Consolas" panose="020B0609020204030204" pitchFamily="49" charset="0"/>
              </a:rPr>
              <a:t>&lt;!DOCTYPE html&gt;</a:t>
            </a:r>
            <a:endParaRPr lang="en-IN" dirty="0">
              <a:solidFill>
                <a:schemeClr val="tx1"/>
              </a:solidFill>
            </a:endParaRPr>
          </a:p>
          <a:p>
            <a:r>
              <a:rPr lang="en-IN" dirty="0">
                <a:solidFill>
                  <a:schemeClr val="tx1"/>
                </a:solidFill>
              </a:rPr>
              <a:t> The </a:t>
            </a:r>
            <a:r>
              <a:rPr lang="en-IN" b="0" i="0" dirty="0">
                <a:solidFill>
                  <a:srgbClr val="FF0000"/>
                </a:solidFill>
                <a:effectLst/>
                <a:latin typeface="Consolas" panose="020B0609020204030204" pitchFamily="49" charset="0"/>
              </a:rPr>
              <a:t>&lt;!DOCTYPE html&gt; </a:t>
            </a:r>
            <a:r>
              <a:rPr lang="en-IN" dirty="0">
                <a:solidFill>
                  <a:schemeClr val="tx1"/>
                </a:solidFill>
              </a:rPr>
              <a:t>declaration defines that this document is an HTML5 document.</a:t>
            </a:r>
            <a:r>
              <a:rPr lang="en-IN" dirty="0"/>
              <a:t> </a:t>
            </a:r>
            <a:r>
              <a:rPr kumimoji="0" lang="en-US" altLang="en-US" sz="1800" b="0" i="0" u="none" strike="noStrike" cap="none" normalizeH="0" baseline="0" dirty="0">
                <a:ln>
                  <a:noFill/>
                </a:ln>
                <a:solidFill>
                  <a:srgbClr val="000000"/>
                </a:solidFill>
                <a:effectLst/>
                <a:latin typeface="Verdana" panose="020B0604030504040204" pitchFamily="34" charset="0"/>
              </a:rPr>
              <a:t>The </a:t>
            </a:r>
            <a:r>
              <a:rPr kumimoji="0" lang="en-US" altLang="en-US" sz="1800" b="0" i="0" u="none" strike="noStrike" cap="none" normalizeH="0" baseline="0" dirty="0">
                <a:ln>
                  <a:noFill/>
                </a:ln>
                <a:solidFill>
                  <a:srgbClr val="DC143C"/>
                </a:solidFill>
                <a:effectLst/>
                <a:latin typeface="Consolas" panose="020B0609020204030204" pitchFamily="49" charset="0"/>
              </a:rPr>
              <a:t>&lt;!DOCTYPE&gt;</a:t>
            </a:r>
            <a:r>
              <a:rPr kumimoji="0" lang="en-US" altLang="en-US" sz="1800" b="0" i="0" u="none" strike="noStrike" cap="none" normalizeH="0" baseline="0" dirty="0">
                <a:ln>
                  <a:noFill/>
                </a:ln>
                <a:solidFill>
                  <a:srgbClr val="000000"/>
                </a:solidFill>
                <a:effectLst/>
                <a:latin typeface="Verdana" panose="020B0604030504040204" pitchFamily="34" charset="0"/>
              </a:rPr>
              <a:t> declaration is not case sensitive.</a:t>
            </a:r>
            <a:endParaRPr lang="en-IN" dirty="0"/>
          </a:p>
          <a:p>
            <a:r>
              <a:rPr kumimoji="0" lang="en-US" altLang="en-US" sz="1800" b="0" i="0" u="none" strike="noStrike" cap="none" normalizeH="0" baseline="0" dirty="0">
                <a:ln>
                  <a:noFill/>
                </a:ln>
                <a:solidFill>
                  <a:srgbClr val="000000"/>
                </a:solidFill>
                <a:effectLst/>
                <a:latin typeface="Verdana" panose="020B0604030504040204" pitchFamily="34" charset="0"/>
              </a:rPr>
              <a:t>The </a:t>
            </a:r>
            <a:r>
              <a:rPr kumimoji="0" lang="en-US" altLang="en-US" sz="1800" b="0" i="0" u="none" strike="noStrike" cap="none" normalizeH="0" baseline="0" dirty="0">
                <a:ln>
                  <a:noFill/>
                </a:ln>
                <a:solidFill>
                  <a:srgbClr val="DC143C"/>
                </a:solidFill>
                <a:effectLst/>
                <a:latin typeface="Consolas" panose="020B0609020204030204" pitchFamily="49" charset="0"/>
              </a:rPr>
              <a:t>&lt;html&gt;</a:t>
            </a:r>
            <a:r>
              <a:rPr kumimoji="0" lang="en-US" altLang="en-US" sz="1800" b="0" i="0" u="none" strike="noStrike" cap="none" normalizeH="0" baseline="0" dirty="0">
                <a:ln>
                  <a:noFill/>
                </a:ln>
                <a:solidFill>
                  <a:srgbClr val="000000"/>
                </a:solidFill>
                <a:effectLst/>
                <a:latin typeface="Verdana" panose="020B0604030504040204" pitchFamily="34" charset="0"/>
              </a:rPr>
              <a:t> element is the root element of an HTML page.</a:t>
            </a:r>
          </a:p>
          <a:p>
            <a:r>
              <a:rPr kumimoji="0" lang="en-US" altLang="en-US" sz="1800" b="0" i="0" u="none" strike="noStrike" cap="none" normalizeH="0" baseline="0" dirty="0">
                <a:ln>
                  <a:noFill/>
                </a:ln>
                <a:solidFill>
                  <a:srgbClr val="000000"/>
                </a:solidFill>
                <a:effectLst/>
                <a:latin typeface="Verdana" panose="020B0604030504040204" pitchFamily="34" charset="0"/>
              </a:rPr>
              <a:t>The </a:t>
            </a:r>
            <a:r>
              <a:rPr kumimoji="0" lang="en-US" altLang="en-US" sz="1800" b="0" i="0" u="none" strike="noStrike" cap="none" normalizeH="0" baseline="0" dirty="0">
                <a:ln>
                  <a:noFill/>
                </a:ln>
                <a:solidFill>
                  <a:srgbClr val="DC143C"/>
                </a:solidFill>
                <a:effectLst/>
                <a:latin typeface="Consolas" panose="020B0609020204030204" pitchFamily="49" charset="0"/>
              </a:rPr>
              <a:t>&lt;head&gt;</a:t>
            </a:r>
            <a:r>
              <a:rPr kumimoji="0" lang="en-US" altLang="en-US" sz="1800" b="0" i="0" u="none" strike="noStrike" cap="none" normalizeH="0" baseline="0" dirty="0">
                <a:ln>
                  <a:noFill/>
                </a:ln>
                <a:solidFill>
                  <a:srgbClr val="000000"/>
                </a:solidFill>
                <a:effectLst/>
                <a:latin typeface="Verdana" panose="020B0604030504040204" pitchFamily="34" charset="0"/>
              </a:rPr>
              <a:t> element contains meta information about the HTML page.</a:t>
            </a:r>
          </a:p>
          <a:p>
            <a:r>
              <a:rPr kumimoji="0" lang="en-US" altLang="en-US" sz="1800" b="0" i="0" u="none" strike="noStrike" cap="none" normalizeH="0" baseline="0" dirty="0">
                <a:ln>
                  <a:noFill/>
                </a:ln>
                <a:solidFill>
                  <a:srgbClr val="000000"/>
                </a:solidFill>
                <a:effectLst/>
                <a:latin typeface="Verdana" panose="020B0604030504040204" pitchFamily="34" charset="0"/>
              </a:rPr>
              <a:t>The </a:t>
            </a:r>
            <a:r>
              <a:rPr kumimoji="0" lang="en-US" altLang="en-US" sz="1800" b="0" i="0" u="none" strike="noStrike" cap="none" normalizeH="0" baseline="0" dirty="0">
                <a:ln>
                  <a:noFill/>
                </a:ln>
                <a:solidFill>
                  <a:srgbClr val="DC143C"/>
                </a:solidFill>
                <a:effectLst/>
                <a:latin typeface="Consolas" panose="020B0609020204030204" pitchFamily="49" charset="0"/>
              </a:rPr>
              <a:t>&lt;title&gt;</a:t>
            </a:r>
            <a:r>
              <a:rPr kumimoji="0" lang="en-US" altLang="en-US" sz="1800" b="0" i="0" u="none" strike="noStrike" cap="none" normalizeH="0" baseline="0" dirty="0">
                <a:ln>
                  <a:noFill/>
                </a:ln>
                <a:solidFill>
                  <a:srgbClr val="000000"/>
                </a:solidFill>
                <a:effectLst/>
                <a:latin typeface="Verdana" panose="020B0604030504040204" pitchFamily="34" charset="0"/>
              </a:rPr>
              <a:t> element specifies a title for the HTML page.</a:t>
            </a:r>
          </a:p>
          <a:p>
            <a:r>
              <a:rPr lang="en-US" b="0" i="0" dirty="0">
                <a:solidFill>
                  <a:srgbClr val="000000"/>
                </a:solidFill>
                <a:effectLst/>
                <a:latin typeface="Verdana" panose="020B0604030504040204" pitchFamily="34" charset="0"/>
              </a:rPr>
              <a:t>comments in HTML source is written as: </a:t>
            </a:r>
          </a:p>
          <a:p>
            <a:pPr marL="0" indent="0">
              <a:buNone/>
            </a:pPr>
            <a:r>
              <a:rPr lang="en-IN" b="0" i="0" dirty="0">
                <a:solidFill>
                  <a:srgbClr val="008000"/>
                </a:solidFill>
                <a:effectLst/>
                <a:latin typeface="Consolas" panose="020B0609020204030204" pitchFamily="49" charset="0"/>
              </a:rPr>
              <a:t>&lt;!-- Write your comments here --&gt;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endParaRPr lang="en-IN" b="0" i="0" dirty="0">
              <a:solidFill>
                <a:srgbClr val="DC143C"/>
              </a:solidFill>
              <a:effectLst/>
              <a:latin typeface="Consolas" panose="020B0609020204030204" pitchFamily="49" charset="0"/>
            </a:endParaRPr>
          </a:p>
          <a:p>
            <a:endParaRPr lang="en-IN" dirty="0"/>
          </a:p>
          <a:p>
            <a:endParaRPr lang="en-IN" dirty="0"/>
          </a:p>
          <a:p>
            <a:pPr marL="0" indent="0">
              <a:buNone/>
            </a:pPr>
            <a:endParaRPr lang="en-IN" dirty="0"/>
          </a:p>
        </p:txBody>
      </p:sp>
      <p:sp>
        <p:nvSpPr>
          <p:cNvPr id="8" name="TextBox 7">
            <a:extLst>
              <a:ext uri="{FF2B5EF4-FFF2-40B4-BE49-F238E27FC236}">
                <a16:creationId xmlns:a16="http://schemas.microsoft.com/office/drawing/2014/main" id="{A8F46FCC-784C-229A-79DE-7B9D5A675B4E}"/>
              </a:ext>
            </a:extLst>
          </p:cNvPr>
          <p:cNvSpPr txBox="1"/>
          <p:nvPr/>
        </p:nvSpPr>
        <p:spPr>
          <a:xfrm>
            <a:off x="8072370" y="2739524"/>
            <a:ext cx="3645441" cy="3416320"/>
          </a:xfrm>
          <a:prstGeom prst="rect">
            <a:avLst/>
          </a:prstGeom>
          <a:noFill/>
        </p:spPr>
        <p:txBody>
          <a:bodyPr wrap="square">
            <a:spAutoFit/>
          </a:bodyPr>
          <a:lstStyle/>
          <a:p>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!DOCTYPE</a:t>
            </a:r>
            <a:r>
              <a:rPr lang="en-US" b="0" i="0" dirty="0">
                <a:solidFill>
                  <a:srgbClr val="FF0000"/>
                </a:solidFill>
                <a:effectLst/>
                <a:latin typeface="Consolas" panose="020B0609020204030204" pitchFamily="49" charset="0"/>
              </a:rPr>
              <a:t> html</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html</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head</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title</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Page Title</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/title</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/head</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body</a:t>
            </a:r>
            <a:r>
              <a:rPr lang="en-US" b="0" i="0" dirty="0">
                <a:solidFill>
                  <a:srgbClr val="0000CD"/>
                </a:solidFill>
                <a:effectLst/>
                <a:latin typeface="Consolas" panose="020B0609020204030204" pitchFamily="49" charset="0"/>
              </a:rPr>
              <a:t>&gt;</a:t>
            </a:r>
            <a:r>
              <a:rPr lang="en-US" dirty="0"/>
              <a:t/>
            </a:r>
            <a:br>
              <a:rPr lang="en-US" dirty="0"/>
            </a:br>
            <a:r>
              <a:rPr lang="en-US" dirty="0"/>
              <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My First Heading</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My first paragraph.</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r>
              <a:rPr lang="en-US" dirty="0"/>
              <a:t/>
            </a:r>
            <a:br>
              <a:rPr lang="en-US" dirty="0"/>
            </a:br>
            <a:r>
              <a:rPr lang="en-US" dirty="0"/>
              <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/body</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/html</a:t>
            </a:r>
            <a:r>
              <a:rPr lang="en-US" b="0" i="0" dirty="0">
                <a:solidFill>
                  <a:srgbClr val="0000CD"/>
                </a:solidFill>
                <a:effectLst/>
                <a:latin typeface="Consolas" panose="020B0609020204030204" pitchFamily="49" charset="0"/>
              </a:rPr>
              <a:t>&gt;</a:t>
            </a:r>
            <a:endParaRPr lang="en-IN" dirty="0"/>
          </a:p>
        </p:txBody>
      </p:sp>
      <p:sp>
        <p:nvSpPr>
          <p:cNvPr id="9" name="Rectangle 4">
            <a:extLst>
              <a:ext uri="{FF2B5EF4-FFF2-40B4-BE49-F238E27FC236}">
                <a16:creationId xmlns:a16="http://schemas.microsoft.com/office/drawing/2014/main" id="{D8B1986E-CFA7-3725-4102-2F8CC833D393}"/>
              </a:ext>
            </a:extLst>
          </p:cNvPr>
          <p:cNvSpPr>
            <a:spLocks noChangeArrowheads="1"/>
          </p:cNvSpPr>
          <p:nvPr/>
        </p:nvSpPr>
        <p:spPr bwMode="auto">
          <a:xfrm>
            <a:off x="0" y="-323165"/>
            <a:ext cx="184731"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5">
            <a:extLst>
              <a:ext uri="{FF2B5EF4-FFF2-40B4-BE49-F238E27FC236}">
                <a16:creationId xmlns:a16="http://schemas.microsoft.com/office/drawing/2014/main" id="{C1768BA2-F746-ACBB-E6E6-7D30B2E1331D}"/>
              </a:ext>
            </a:extLst>
          </p:cNvPr>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333520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DCE66-5270-49E3-D8AD-D68EC78B9EE6}"/>
              </a:ext>
            </a:extLst>
          </p:cNvPr>
          <p:cNvSpPr>
            <a:spLocks noGrp="1"/>
          </p:cNvSpPr>
          <p:nvPr>
            <p:ph type="title"/>
          </p:nvPr>
        </p:nvSpPr>
        <p:spPr/>
        <p:txBody>
          <a:bodyPr>
            <a:normAutofit/>
          </a:bodyPr>
          <a:lstStyle/>
          <a:p>
            <a:r>
              <a:rPr lang="en-IN" sz="3200" dirty="0"/>
              <a:t>The Body</a:t>
            </a:r>
          </a:p>
        </p:txBody>
      </p:sp>
      <p:sp>
        <p:nvSpPr>
          <p:cNvPr id="3" name="Content Placeholder 2">
            <a:extLst>
              <a:ext uri="{FF2B5EF4-FFF2-40B4-BE49-F238E27FC236}">
                <a16:creationId xmlns:a16="http://schemas.microsoft.com/office/drawing/2014/main" id="{249D4FE5-277A-6E5F-903F-206E11E8BE84}"/>
              </a:ext>
            </a:extLst>
          </p:cNvPr>
          <p:cNvSpPr>
            <a:spLocks noGrp="1"/>
          </p:cNvSpPr>
          <p:nvPr>
            <p:ph idx="1"/>
          </p:nvPr>
        </p:nvSpPr>
        <p:spPr>
          <a:xfrm>
            <a:off x="581193" y="2383277"/>
            <a:ext cx="11029615" cy="3772567"/>
          </a:xfrm>
        </p:spPr>
        <p:txBody>
          <a:bodyPr>
            <a:normAutofit/>
          </a:bodyPr>
          <a:lstStyle/>
          <a:p>
            <a:r>
              <a:rPr lang="en-US" dirty="0"/>
              <a:t>One of the key HTML elements we use to build a webpage is the body element. Only content inside the opening and closing body tags can be displayed to the screen.</a:t>
            </a:r>
          </a:p>
          <a:p>
            <a:pPr marL="0" indent="0">
              <a:buNone/>
            </a:pPr>
            <a:r>
              <a:rPr lang="en-US" dirty="0"/>
              <a:t>&lt;body&gt;</a:t>
            </a:r>
          </a:p>
          <a:p>
            <a:pPr marL="0" indent="0">
              <a:buNone/>
            </a:pPr>
            <a:r>
              <a:rPr lang="en-US" dirty="0"/>
              <a:t>…..</a:t>
            </a:r>
          </a:p>
          <a:p>
            <a:pPr marL="0" indent="0">
              <a:buNone/>
            </a:pPr>
            <a:r>
              <a:rPr lang="en-US" dirty="0"/>
              <a:t>&lt;/body&gt;</a:t>
            </a:r>
          </a:p>
          <a:p>
            <a:r>
              <a:rPr lang="en-US" dirty="0"/>
              <a:t>Once the file has a body, many different types of content – including text, images, and buttons – can be added to the body.</a:t>
            </a:r>
          </a:p>
          <a:p>
            <a:r>
              <a:rPr lang="en-US" dirty="0"/>
              <a:t>While some browsers may render some content outside body tags as well to accommodate the occasional mistake in your HTML, not all browsers do this! The best way to ensure that all your HTML renders the same way in all browsers is to ensure that your elements remain within the opening and closing body tags.</a:t>
            </a:r>
            <a:endParaRPr lang="en-IN" dirty="0"/>
          </a:p>
        </p:txBody>
      </p:sp>
    </p:spTree>
    <p:extLst>
      <p:ext uri="{BB962C8B-B14F-4D97-AF65-F5344CB8AC3E}">
        <p14:creationId xmlns:p14="http://schemas.microsoft.com/office/powerpoint/2010/main" val="36154769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725B4-73BB-73AC-44C7-B4A95625D148}"/>
              </a:ext>
            </a:extLst>
          </p:cNvPr>
          <p:cNvSpPr>
            <a:spLocks noGrp="1"/>
          </p:cNvSpPr>
          <p:nvPr>
            <p:ph type="title"/>
          </p:nvPr>
        </p:nvSpPr>
        <p:spPr/>
        <p:txBody>
          <a:bodyPr>
            <a:normAutofit/>
          </a:bodyPr>
          <a:lstStyle/>
          <a:p>
            <a:r>
              <a:rPr lang="en-IN" sz="3600" dirty="0"/>
              <a:t>HTML Element</a:t>
            </a:r>
          </a:p>
        </p:txBody>
      </p:sp>
      <p:sp>
        <p:nvSpPr>
          <p:cNvPr id="3" name="Content Placeholder 2">
            <a:extLst>
              <a:ext uri="{FF2B5EF4-FFF2-40B4-BE49-F238E27FC236}">
                <a16:creationId xmlns:a16="http://schemas.microsoft.com/office/drawing/2014/main" id="{F74E3916-06E8-61E5-8A9E-8C237F5828AB}"/>
              </a:ext>
            </a:extLst>
          </p:cNvPr>
          <p:cNvSpPr>
            <a:spLocks noGrp="1"/>
          </p:cNvSpPr>
          <p:nvPr>
            <p:ph idx="1"/>
          </p:nvPr>
        </p:nvSpPr>
        <p:spPr>
          <a:xfrm>
            <a:off x="581192" y="2180496"/>
            <a:ext cx="5514808" cy="3975348"/>
          </a:xfrm>
        </p:spPr>
        <p:txBody>
          <a:bodyPr>
            <a:normAutofit/>
          </a:bodyPr>
          <a:lstStyle/>
          <a:p>
            <a:r>
              <a:rPr lang="en-US" sz="2400" dirty="0"/>
              <a:t>HTML is composed of elements. These elements structure the webpage and define its content.</a:t>
            </a:r>
          </a:p>
          <a:p>
            <a:r>
              <a:rPr lang="en-US" sz="2400" dirty="0"/>
              <a:t>element is made up of:</a:t>
            </a:r>
          </a:p>
          <a:p>
            <a:pPr lvl="1"/>
            <a:r>
              <a:rPr lang="en-US" sz="2000" dirty="0"/>
              <a:t>An opening tag (&lt;p&gt;)</a:t>
            </a:r>
          </a:p>
          <a:p>
            <a:pPr lvl="1"/>
            <a:r>
              <a:rPr lang="en-US" sz="2000" dirty="0"/>
              <a:t>The content (“Hello World!” text)</a:t>
            </a:r>
          </a:p>
          <a:p>
            <a:pPr lvl="1"/>
            <a:r>
              <a:rPr lang="en-US" sz="2000" dirty="0"/>
              <a:t>A closing tag (&lt;/p&gt;</a:t>
            </a:r>
          </a:p>
          <a:p>
            <a:endParaRPr lang="en-IN" sz="2400" dirty="0"/>
          </a:p>
        </p:txBody>
      </p:sp>
      <p:pic>
        <p:nvPicPr>
          <p:cNvPr id="5" name="Picture 4">
            <a:extLst>
              <a:ext uri="{FF2B5EF4-FFF2-40B4-BE49-F238E27FC236}">
                <a16:creationId xmlns:a16="http://schemas.microsoft.com/office/drawing/2014/main" id="{B7198448-F7E8-AF3A-2DE1-512EB2680748}"/>
              </a:ext>
            </a:extLst>
          </p:cNvPr>
          <p:cNvPicPr>
            <a:picLocks noChangeAspect="1"/>
          </p:cNvPicPr>
          <p:nvPr/>
        </p:nvPicPr>
        <p:blipFill>
          <a:blip r:embed="rId2">
            <a:duotone>
              <a:schemeClr val="accent1">
                <a:shade val="45000"/>
                <a:satMod val="135000"/>
              </a:schemeClr>
              <a:prstClr val="white"/>
            </a:duotone>
          </a:blip>
          <a:stretch>
            <a:fillRect/>
          </a:stretch>
        </p:blipFill>
        <p:spPr>
          <a:xfrm>
            <a:off x="6267531" y="2421381"/>
            <a:ext cx="5343277" cy="2911841"/>
          </a:xfrm>
          <a:prstGeom prst="rect">
            <a:avLst/>
          </a:prstGeom>
        </p:spPr>
      </p:pic>
    </p:spTree>
    <p:extLst>
      <p:ext uri="{BB962C8B-B14F-4D97-AF65-F5344CB8AC3E}">
        <p14:creationId xmlns:p14="http://schemas.microsoft.com/office/powerpoint/2010/main" val="20898064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CE283-7CF7-7A1D-9F5C-A591733C7290}"/>
              </a:ext>
            </a:extLst>
          </p:cNvPr>
          <p:cNvSpPr>
            <a:spLocks noGrp="1"/>
          </p:cNvSpPr>
          <p:nvPr>
            <p:ph type="title"/>
          </p:nvPr>
        </p:nvSpPr>
        <p:spPr/>
        <p:txBody>
          <a:bodyPr/>
          <a:lstStyle/>
          <a:p>
            <a:r>
              <a:rPr lang="en-IN" sz="2800" dirty="0"/>
              <a:t>HTML Element</a:t>
            </a:r>
            <a:endParaRPr lang="en-IN" dirty="0"/>
          </a:p>
        </p:txBody>
      </p:sp>
      <p:sp>
        <p:nvSpPr>
          <p:cNvPr id="3" name="Content Placeholder 2">
            <a:extLst>
              <a:ext uri="{FF2B5EF4-FFF2-40B4-BE49-F238E27FC236}">
                <a16:creationId xmlns:a16="http://schemas.microsoft.com/office/drawing/2014/main" id="{068F4225-75CC-9449-1B72-0C6C08DFC947}"/>
              </a:ext>
            </a:extLst>
          </p:cNvPr>
          <p:cNvSpPr>
            <a:spLocks noGrp="1"/>
          </p:cNvSpPr>
          <p:nvPr>
            <p:ph idx="1"/>
          </p:nvPr>
        </p:nvSpPr>
        <p:spPr>
          <a:xfrm>
            <a:off x="581192" y="2180496"/>
            <a:ext cx="11029615" cy="3975348"/>
          </a:xfrm>
        </p:spPr>
        <p:txBody>
          <a:bodyPr>
            <a:normAutofit/>
          </a:bodyPr>
          <a:lstStyle/>
          <a:p>
            <a:r>
              <a:rPr lang="en-US" dirty="0"/>
              <a:t>HTML element (or simply, element) — a unit of content in an HTML document formed by HTML tags and the text or media it contains.</a:t>
            </a:r>
          </a:p>
          <a:p>
            <a:r>
              <a:rPr lang="en-US" dirty="0"/>
              <a:t>HTML Tag — the element name, surrounded by an opening (&lt;) and closing (&gt;) angle bracket.</a:t>
            </a:r>
          </a:p>
          <a:p>
            <a:r>
              <a:rPr lang="en-US" dirty="0"/>
              <a:t>Opening Tag — the first HTML tag used to start an HTML element. The tag type is surrounded by opening and closing angle brackets.</a:t>
            </a:r>
          </a:p>
          <a:p>
            <a:r>
              <a:rPr lang="en-US" dirty="0"/>
              <a:t>Content — The information (text or other elements) contained between the opening and closing tags of an HTML element.</a:t>
            </a:r>
          </a:p>
          <a:p>
            <a:r>
              <a:rPr lang="en-US" dirty="0"/>
              <a:t>Closing tag — the second HTML tag used to end an HTML element. Closing tags have a forward slash (/) inside of them, directly after the left angle bracket.</a:t>
            </a:r>
            <a:endParaRPr lang="en-IN" dirty="0"/>
          </a:p>
        </p:txBody>
      </p:sp>
    </p:spTree>
    <p:extLst>
      <p:ext uri="{BB962C8B-B14F-4D97-AF65-F5344CB8AC3E}">
        <p14:creationId xmlns:p14="http://schemas.microsoft.com/office/powerpoint/2010/main" val="17825968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9B5E3-298F-33E9-06E3-A9FFE5ADFC93}"/>
              </a:ext>
            </a:extLst>
          </p:cNvPr>
          <p:cNvSpPr>
            <a:spLocks noGrp="1"/>
          </p:cNvSpPr>
          <p:nvPr>
            <p:ph type="title"/>
          </p:nvPr>
        </p:nvSpPr>
        <p:spPr/>
        <p:txBody>
          <a:bodyPr/>
          <a:lstStyle/>
          <a:p>
            <a:r>
              <a:rPr lang="en-IN" dirty="0"/>
              <a:t>HTML Structure</a:t>
            </a:r>
          </a:p>
        </p:txBody>
      </p:sp>
      <p:sp>
        <p:nvSpPr>
          <p:cNvPr id="3" name="Content Placeholder 2">
            <a:extLst>
              <a:ext uri="{FF2B5EF4-FFF2-40B4-BE49-F238E27FC236}">
                <a16:creationId xmlns:a16="http://schemas.microsoft.com/office/drawing/2014/main" id="{5C4CFB21-1FBB-6C73-1902-56E52A586268}"/>
              </a:ext>
            </a:extLst>
          </p:cNvPr>
          <p:cNvSpPr>
            <a:spLocks noGrp="1"/>
          </p:cNvSpPr>
          <p:nvPr>
            <p:ph idx="1"/>
          </p:nvPr>
        </p:nvSpPr>
        <p:spPr>
          <a:xfrm>
            <a:off x="581193" y="2180496"/>
            <a:ext cx="6461634" cy="3678303"/>
          </a:xfrm>
        </p:spPr>
        <p:txBody>
          <a:bodyPr/>
          <a:lstStyle/>
          <a:p>
            <a:r>
              <a:rPr lang="en-US" dirty="0"/>
              <a:t>HTML is organized as a collection of family tree relationships.</a:t>
            </a:r>
          </a:p>
          <a:p>
            <a:r>
              <a:rPr lang="en-US" dirty="0"/>
              <a:t>In this example, the &lt;body&gt; element is the parent of the &lt;div&gt; element. Both the &lt;h1&gt; and &lt;p&gt; elements are children of the &lt;div&gt; element. Because the &lt;h1&gt; and &lt;p&gt; elements are at the same level, they are considered siblings and are both grandchildren of the &lt;body&gt; element. </a:t>
            </a:r>
          </a:p>
          <a:p>
            <a:r>
              <a:rPr lang="en-US" dirty="0"/>
              <a:t>Child elements can inherit behavior and styling from their parent element.</a:t>
            </a:r>
          </a:p>
          <a:p>
            <a:endParaRPr lang="en-IN" dirty="0"/>
          </a:p>
        </p:txBody>
      </p:sp>
      <p:sp>
        <p:nvSpPr>
          <p:cNvPr id="7" name="Rectangle 4">
            <a:extLst>
              <a:ext uri="{FF2B5EF4-FFF2-40B4-BE49-F238E27FC236}">
                <a16:creationId xmlns:a16="http://schemas.microsoft.com/office/drawing/2014/main" id="{81FEDED8-8CEB-CB24-1AF1-510D56B3FAB0}"/>
              </a:ext>
            </a:extLst>
          </p:cNvPr>
          <p:cNvSpPr>
            <a:spLocks noChangeArrowheads="1"/>
          </p:cNvSpPr>
          <p:nvPr/>
        </p:nvSpPr>
        <p:spPr bwMode="auto">
          <a:xfrm>
            <a:off x="0" y="-184666"/>
            <a:ext cx="184731" cy="369332"/>
          </a:xfrm>
          <a:prstGeom prst="rect">
            <a:avLst/>
          </a:prstGeom>
          <a:solidFill>
            <a:srgbClr val="EAE9E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5BA143C6-D6B5-8F14-5501-090FC63729DB}"/>
              </a:ext>
            </a:extLst>
          </p:cNvPr>
          <p:cNvSpPr txBox="1"/>
          <p:nvPr/>
        </p:nvSpPr>
        <p:spPr>
          <a:xfrm>
            <a:off x="7958072" y="2588486"/>
            <a:ext cx="2674260" cy="2862322"/>
          </a:xfrm>
          <a:prstGeom prst="rect">
            <a:avLst/>
          </a:prstGeom>
          <a:noFill/>
          <a:ln>
            <a:solidFill>
              <a:schemeClr val="bg2">
                <a:lumMod val="25000"/>
              </a:schemeClr>
            </a:solidFill>
          </a:ln>
        </p:spPr>
        <p:txBody>
          <a:bodyPr wrap="square">
            <a:spAutoFit/>
          </a:bodyPr>
          <a:lstStyle/>
          <a:p>
            <a:r>
              <a:rPr lang="en-US" b="0" i="0" dirty="0">
                <a:solidFill>
                  <a:srgbClr val="EA6C8B"/>
                </a:solidFill>
                <a:effectLst/>
                <a:latin typeface="Monaco"/>
              </a:rPr>
              <a:t>&lt;body&gt;</a:t>
            </a:r>
            <a:r>
              <a:rPr lang="en-US" dirty="0"/>
              <a:t/>
            </a:r>
            <a:br>
              <a:rPr lang="en-US" dirty="0"/>
            </a:br>
            <a:r>
              <a:rPr lang="en-US" b="0" i="0" dirty="0">
                <a:solidFill>
                  <a:srgbClr val="FFFFFF"/>
                </a:solidFill>
                <a:effectLst/>
                <a:latin typeface="Monaco"/>
              </a:rPr>
              <a:t>  	</a:t>
            </a:r>
            <a:r>
              <a:rPr lang="en-US" b="0" i="0" dirty="0">
                <a:solidFill>
                  <a:srgbClr val="EA6C8B"/>
                </a:solidFill>
                <a:effectLst/>
                <a:latin typeface="Monaco"/>
              </a:rPr>
              <a:t>&lt;div&gt;</a:t>
            </a:r>
            <a:r>
              <a:rPr lang="en-US" dirty="0"/>
              <a:t/>
            </a:r>
            <a:br>
              <a:rPr lang="en-US" dirty="0"/>
            </a:br>
            <a:r>
              <a:rPr lang="en-US" b="0" i="0" dirty="0">
                <a:solidFill>
                  <a:srgbClr val="FFFFFF"/>
                </a:solidFill>
                <a:effectLst/>
                <a:latin typeface="Monaco"/>
              </a:rPr>
              <a:t>    		</a:t>
            </a:r>
            <a:r>
              <a:rPr lang="en-US" b="0" i="0" dirty="0">
                <a:solidFill>
                  <a:srgbClr val="EA6C8B"/>
                </a:solidFill>
                <a:effectLst/>
                <a:latin typeface="Monaco"/>
              </a:rPr>
              <a:t>&lt;h1&gt;</a:t>
            </a:r>
            <a:r>
              <a:rPr lang="en-US" b="0" i="0" dirty="0">
                <a:solidFill>
                  <a:srgbClr val="FFFFFF"/>
                </a:solidFill>
                <a:effectLst/>
                <a:latin typeface="Monaco"/>
              </a:rPr>
              <a:t> ………..bling to p, but also grandchild of body	</a:t>
            </a:r>
            <a:r>
              <a:rPr lang="en-US" b="0" i="0" dirty="0">
                <a:solidFill>
                  <a:srgbClr val="EA6C8B"/>
                </a:solidFill>
                <a:effectLst/>
                <a:latin typeface="Monaco"/>
              </a:rPr>
              <a:t>&lt;/h1&gt;</a:t>
            </a:r>
            <a:r>
              <a:rPr lang="en-US" dirty="0"/>
              <a:t/>
            </a:r>
            <a:br>
              <a:rPr lang="en-US" dirty="0"/>
            </a:br>
            <a:r>
              <a:rPr lang="en-US" b="0" i="0" dirty="0">
                <a:solidFill>
                  <a:srgbClr val="FFFFFF"/>
                </a:solidFill>
                <a:effectLst/>
                <a:latin typeface="Monaco"/>
              </a:rPr>
              <a:t>    		</a:t>
            </a:r>
            <a:r>
              <a:rPr lang="en-US" b="0" i="0" dirty="0">
                <a:solidFill>
                  <a:srgbClr val="EA6C8B"/>
                </a:solidFill>
                <a:effectLst/>
                <a:latin typeface="Monaco"/>
              </a:rPr>
              <a:t>&lt;p&gt;</a:t>
            </a:r>
            <a:r>
              <a:rPr lang="en-US" b="0" i="0" dirty="0">
                <a:solidFill>
                  <a:srgbClr val="FFFFFF"/>
                </a:solidFill>
                <a:effectLst/>
                <a:latin typeface="Monaco"/>
              </a:rPr>
              <a:t>Sibling to h1, but also grandchild of body	</a:t>
            </a:r>
            <a:r>
              <a:rPr lang="en-US" b="0" i="0" dirty="0">
                <a:solidFill>
                  <a:srgbClr val="EA6C8B"/>
                </a:solidFill>
                <a:effectLst/>
                <a:latin typeface="Monaco"/>
              </a:rPr>
              <a:t>&lt;/p&gt;</a:t>
            </a:r>
            <a:r>
              <a:rPr lang="en-US" dirty="0"/>
              <a:t/>
            </a:r>
            <a:br>
              <a:rPr lang="en-US" dirty="0"/>
            </a:br>
            <a:r>
              <a:rPr lang="en-US" b="0" i="0" dirty="0">
                <a:solidFill>
                  <a:srgbClr val="FFFFFF"/>
                </a:solidFill>
                <a:effectLst/>
                <a:latin typeface="Monaco"/>
              </a:rPr>
              <a:t>  	</a:t>
            </a:r>
            <a:r>
              <a:rPr lang="en-US" b="0" i="0" dirty="0">
                <a:solidFill>
                  <a:srgbClr val="EA6C8B"/>
                </a:solidFill>
                <a:effectLst/>
                <a:latin typeface="Monaco"/>
              </a:rPr>
              <a:t>&lt;/div&gt;</a:t>
            </a:r>
            <a:r>
              <a:rPr lang="en-US" dirty="0"/>
              <a:t/>
            </a:r>
            <a:br>
              <a:rPr lang="en-US" dirty="0"/>
            </a:br>
            <a:r>
              <a:rPr lang="en-US" b="0" i="0" dirty="0">
                <a:solidFill>
                  <a:srgbClr val="EA6C8B"/>
                </a:solidFill>
                <a:effectLst/>
                <a:latin typeface="Monaco"/>
              </a:rPr>
              <a:t>&lt;/body&gt;</a:t>
            </a:r>
            <a:endParaRPr lang="en-IN" dirty="0"/>
          </a:p>
        </p:txBody>
      </p:sp>
    </p:spTree>
    <p:extLst>
      <p:ext uri="{BB962C8B-B14F-4D97-AF65-F5344CB8AC3E}">
        <p14:creationId xmlns:p14="http://schemas.microsoft.com/office/powerpoint/2010/main" val="29064782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88589-060F-2B47-1C48-C19BCA4FE26F}"/>
              </a:ext>
            </a:extLst>
          </p:cNvPr>
          <p:cNvSpPr>
            <a:spLocks noGrp="1"/>
          </p:cNvSpPr>
          <p:nvPr>
            <p:ph type="title"/>
          </p:nvPr>
        </p:nvSpPr>
        <p:spPr/>
        <p:txBody>
          <a:bodyPr/>
          <a:lstStyle/>
          <a:p>
            <a:r>
              <a:rPr lang="en-IN" dirty="0"/>
              <a:t>Headings</a:t>
            </a:r>
          </a:p>
        </p:txBody>
      </p:sp>
      <p:sp>
        <p:nvSpPr>
          <p:cNvPr id="3" name="Content Placeholder 2">
            <a:extLst>
              <a:ext uri="{FF2B5EF4-FFF2-40B4-BE49-F238E27FC236}">
                <a16:creationId xmlns:a16="http://schemas.microsoft.com/office/drawing/2014/main" id="{2C4B664E-74E6-B4A4-1DD9-1A57264B375A}"/>
              </a:ext>
            </a:extLst>
          </p:cNvPr>
          <p:cNvSpPr>
            <a:spLocks noGrp="1"/>
          </p:cNvSpPr>
          <p:nvPr>
            <p:ph idx="1"/>
          </p:nvPr>
        </p:nvSpPr>
        <p:spPr>
          <a:xfrm>
            <a:off x="581192" y="2180496"/>
            <a:ext cx="11029615" cy="4210576"/>
          </a:xfrm>
        </p:spPr>
        <p:txBody>
          <a:bodyPr>
            <a:normAutofit fontScale="85000" lnSpcReduction="20000"/>
          </a:bodyPr>
          <a:lstStyle/>
          <a:p>
            <a:r>
              <a:rPr lang="en-US" b="0" i="0" dirty="0">
                <a:solidFill>
                  <a:srgbClr val="10162F"/>
                </a:solidFill>
                <a:effectLst/>
                <a:latin typeface="Apercu"/>
              </a:rPr>
              <a:t>Headings in HTML are similar to headings in other types of media. For example, in newspapers, large headings are typically used to capture a reader’s attention. HTML follows a similar pattern. In HTML, there are six different </a:t>
            </a:r>
            <a:r>
              <a:rPr lang="en-US" b="0" i="1" dirty="0">
                <a:solidFill>
                  <a:srgbClr val="10162F"/>
                </a:solidFill>
                <a:effectLst/>
                <a:latin typeface="Apercu"/>
              </a:rPr>
              <a:t>headings</a:t>
            </a:r>
            <a:r>
              <a:rPr lang="en-US" b="0" i="0" dirty="0">
                <a:solidFill>
                  <a:srgbClr val="10162F"/>
                </a:solidFill>
                <a:effectLst/>
                <a:latin typeface="Apercu"/>
              </a:rPr>
              <a:t>, or </a:t>
            </a:r>
            <a:r>
              <a:rPr lang="en-US" b="0" i="1" dirty="0">
                <a:solidFill>
                  <a:srgbClr val="10162F"/>
                </a:solidFill>
                <a:effectLst/>
                <a:latin typeface="Apercu"/>
              </a:rPr>
              <a:t>heading elements</a:t>
            </a:r>
            <a:r>
              <a:rPr lang="en-US" b="0" i="0" dirty="0">
                <a:solidFill>
                  <a:srgbClr val="10162F"/>
                </a:solidFill>
                <a:effectLst/>
                <a:latin typeface="Apercu"/>
              </a:rPr>
              <a:t>.</a:t>
            </a:r>
          </a:p>
          <a:p>
            <a:r>
              <a:rPr lang="en-US" b="0" i="0" dirty="0">
                <a:solidFill>
                  <a:srgbClr val="10162F"/>
                </a:solidFill>
                <a:effectLst/>
                <a:latin typeface="Apercu"/>
              </a:rPr>
              <a:t>HTML follows a similar pattern. In HTML, there are six different </a:t>
            </a:r>
            <a:r>
              <a:rPr lang="en-US" b="0" i="1" dirty="0">
                <a:solidFill>
                  <a:srgbClr val="10162F"/>
                </a:solidFill>
                <a:effectLst/>
                <a:latin typeface="Apercu"/>
              </a:rPr>
              <a:t>headings</a:t>
            </a:r>
            <a:r>
              <a:rPr lang="en-US" b="0" i="0" dirty="0">
                <a:solidFill>
                  <a:srgbClr val="10162F"/>
                </a:solidFill>
                <a:effectLst/>
                <a:latin typeface="Apercu"/>
              </a:rPr>
              <a:t>, or </a:t>
            </a:r>
            <a:r>
              <a:rPr lang="en-US" b="0" i="1" dirty="0">
                <a:solidFill>
                  <a:srgbClr val="10162F"/>
                </a:solidFill>
                <a:effectLst/>
                <a:latin typeface="Apercu"/>
              </a:rPr>
              <a:t>heading elements</a:t>
            </a:r>
            <a:r>
              <a:rPr lang="en-US" b="0" i="0" dirty="0">
                <a:solidFill>
                  <a:srgbClr val="10162F"/>
                </a:solidFill>
                <a:effectLst/>
                <a:latin typeface="Apercu"/>
              </a:rPr>
              <a:t>. The following is the list of heading elements available in HTML. They are ordered from largest to smallest in size.</a:t>
            </a:r>
          </a:p>
          <a:p>
            <a:r>
              <a:rPr lang="en-US" b="0" i="0" dirty="0">
                <a:solidFill>
                  <a:srgbClr val="10162F"/>
                </a:solidFill>
                <a:effectLst/>
                <a:latin typeface="Apercu"/>
              </a:rPr>
              <a:t>Each HTML heading has a default size. However, you can specify </a:t>
            </a:r>
            <a:r>
              <a:rPr lang="en-US" b="0" i="0" dirty="0">
                <a:solidFill>
                  <a:srgbClr val="FF0000"/>
                </a:solidFill>
                <a:effectLst/>
                <a:latin typeface="Apercu"/>
              </a:rPr>
              <a:t>the size </a:t>
            </a:r>
            <a:r>
              <a:rPr lang="en-US" b="0" i="0" dirty="0">
                <a:solidFill>
                  <a:srgbClr val="10162F"/>
                </a:solidFill>
                <a:effectLst/>
                <a:latin typeface="Apercu"/>
              </a:rPr>
              <a:t>for any heading with the </a:t>
            </a:r>
            <a:r>
              <a:rPr lang="en-US" b="0" i="0" dirty="0">
                <a:solidFill>
                  <a:srgbClr val="FF0000"/>
                </a:solidFill>
                <a:effectLst/>
                <a:latin typeface="Apercu"/>
              </a:rPr>
              <a:t>style attribute</a:t>
            </a:r>
            <a:r>
              <a:rPr lang="en-US" b="0" i="0" dirty="0">
                <a:solidFill>
                  <a:srgbClr val="10162F"/>
                </a:solidFill>
                <a:effectLst/>
                <a:latin typeface="Apercu"/>
              </a:rPr>
              <a:t>, using the CSS font-size property </a:t>
            </a:r>
          </a:p>
          <a:p>
            <a:endParaRPr lang="en-US" b="0" i="0" dirty="0">
              <a:solidFill>
                <a:srgbClr val="10162F"/>
              </a:solidFill>
              <a:effectLst/>
              <a:latin typeface="Apercu"/>
            </a:endParaRPr>
          </a:p>
          <a:p>
            <a:pPr marL="0" indent="0">
              <a:buNone/>
            </a:pPr>
            <a:r>
              <a:rPr lang="en-US" b="0" i="0" dirty="0">
                <a:solidFill>
                  <a:srgbClr val="10162F"/>
                </a:solidFill>
                <a:effectLst/>
                <a:latin typeface="Apercu"/>
              </a:rPr>
              <a:t>&lt;h1&gt; — used for main headings. All other smaller headings are used for subheadings.</a:t>
            </a:r>
          </a:p>
          <a:p>
            <a:pPr marL="0" indent="0">
              <a:buNone/>
            </a:pPr>
            <a:r>
              <a:rPr lang="en-US" b="0" i="0" dirty="0">
                <a:solidFill>
                  <a:srgbClr val="10162F"/>
                </a:solidFill>
                <a:effectLst/>
                <a:latin typeface="Apercu"/>
              </a:rPr>
              <a:t>&lt;h2&gt;</a:t>
            </a:r>
          </a:p>
          <a:p>
            <a:pPr marL="0" indent="0">
              <a:buNone/>
            </a:pPr>
            <a:r>
              <a:rPr lang="en-US" b="0" i="0" dirty="0">
                <a:solidFill>
                  <a:srgbClr val="10162F"/>
                </a:solidFill>
                <a:effectLst/>
                <a:latin typeface="Apercu"/>
              </a:rPr>
              <a:t>&lt;h3&gt;</a:t>
            </a:r>
          </a:p>
          <a:p>
            <a:pPr marL="0" indent="0">
              <a:buNone/>
            </a:pPr>
            <a:r>
              <a:rPr lang="en-US" b="0" i="0" dirty="0">
                <a:solidFill>
                  <a:srgbClr val="10162F"/>
                </a:solidFill>
                <a:effectLst/>
                <a:latin typeface="Apercu"/>
              </a:rPr>
              <a:t>&lt;h4&gt;</a:t>
            </a:r>
          </a:p>
          <a:p>
            <a:pPr marL="0" indent="0">
              <a:buNone/>
            </a:pPr>
            <a:r>
              <a:rPr lang="en-US" b="0" i="0" dirty="0">
                <a:solidFill>
                  <a:srgbClr val="10162F"/>
                </a:solidFill>
                <a:effectLst/>
                <a:latin typeface="Apercu"/>
              </a:rPr>
              <a:t>&lt;h5&gt;</a:t>
            </a:r>
          </a:p>
          <a:p>
            <a:pPr marL="0" indent="0">
              <a:buNone/>
            </a:pPr>
            <a:r>
              <a:rPr lang="en-US" b="0" i="0" dirty="0">
                <a:solidFill>
                  <a:srgbClr val="10162F"/>
                </a:solidFill>
                <a:effectLst/>
                <a:latin typeface="Apercu"/>
              </a:rPr>
              <a:t>&lt;h6&gt;</a:t>
            </a:r>
          </a:p>
          <a:p>
            <a:pPr marL="0" indent="0">
              <a:buNone/>
            </a:pPr>
            <a:r>
              <a:rPr lang="en-US" b="0" i="0" dirty="0">
                <a:solidFill>
                  <a:srgbClr val="000000"/>
                </a:solidFill>
                <a:effectLst/>
                <a:highlight>
                  <a:srgbClr val="FFFF00"/>
                </a:highlight>
                <a:latin typeface="Verdana" panose="020B0604030504040204" pitchFamily="34" charset="0"/>
              </a:rPr>
              <a:t>Use HTML headings for headings only. Don't use headings to make text </a:t>
            </a:r>
            <a:r>
              <a:rPr lang="en-US" b="1" i="0" dirty="0">
                <a:solidFill>
                  <a:srgbClr val="000000"/>
                </a:solidFill>
                <a:effectLst/>
                <a:highlight>
                  <a:srgbClr val="FFFF00"/>
                </a:highlight>
                <a:latin typeface="Verdana" panose="020B0604030504040204" pitchFamily="34" charset="0"/>
              </a:rPr>
              <a:t>BIG</a:t>
            </a:r>
            <a:r>
              <a:rPr lang="en-US" b="0" i="0" dirty="0">
                <a:solidFill>
                  <a:srgbClr val="000000"/>
                </a:solidFill>
                <a:effectLst/>
                <a:highlight>
                  <a:srgbClr val="FFFF00"/>
                </a:highlight>
                <a:latin typeface="Verdana" panose="020B0604030504040204" pitchFamily="34" charset="0"/>
              </a:rPr>
              <a:t> or </a:t>
            </a:r>
            <a:r>
              <a:rPr lang="en-US" b="1" i="0" dirty="0">
                <a:solidFill>
                  <a:srgbClr val="000000"/>
                </a:solidFill>
                <a:effectLst/>
                <a:highlight>
                  <a:srgbClr val="FFFF00"/>
                </a:highlight>
                <a:latin typeface="Verdana" panose="020B0604030504040204" pitchFamily="34" charset="0"/>
              </a:rPr>
              <a:t>bold</a:t>
            </a:r>
            <a:r>
              <a:rPr lang="en-US" b="0" i="0" dirty="0">
                <a:solidFill>
                  <a:srgbClr val="000000"/>
                </a:solidFill>
                <a:effectLst/>
                <a:highlight>
                  <a:srgbClr val="FFFF00"/>
                </a:highlight>
                <a:latin typeface="Verdana" panose="020B0604030504040204" pitchFamily="34" charset="0"/>
              </a:rPr>
              <a:t>.</a:t>
            </a:r>
            <a:endParaRPr lang="en-IN" dirty="0">
              <a:highlight>
                <a:srgbClr val="FFFF00"/>
              </a:highlight>
            </a:endParaRPr>
          </a:p>
        </p:txBody>
      </p:sp>
    </p:spTree>
    <p:extLst>
      <p:ext uri="{BB962C8B-B14F-4D97-AF65-F5344CB8AC3E}">
        <p14:creationId xmlns:p14="http://schemas.microsoft.com/office/powerpoint/2010/main" val="30659867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A7C89-0A6B-C020-8954-9093346B2CFC}"/>
              </a:ext>
            </a:extLst>
          </p:cNvPr>
          <p:cNvSpPr>
            <a:spLocks noGrp="1"/>
          </p:cNvSpPr>
          <p:nvPr>
            <p:ph type="title"/>
          </p:nvPr>
        </p:nvSpPr>
        <p:spPr/>
        <p:txBody>
          <a:bodyPr>
            <a:normAutofit/>
          </a:bodyPr>
          <a:lstStyle/>
          <a:p>
            <a:r>
              <a:rPr lang="en-IN" sz="3200" dirty="0" err="1"/>
              <a:t>Div</a:t>
            </a:r>
            <a:r>
              <a:rPr lang="en-IN" sz="3200" dirty="0"/>
              <a:t> Element</a:t>
            </a:r>
          </a:p>
        </p:txBody>
      </p:sp>
      <p:sp>
        <p:nvSpPr>
          <p:cNvPr id="3" name="Content Placeholder 2">
            <a:extLst>
              <a:ext uri="{FF2B5EF4-FFF2-40B4-BE49-F238E27FC236}">
                <a16:creationId xmlns:a16="http://schemas.microsoft.com/office/drawing/2014/main" id="{13ACD73A-567D-9B89-12DA-7DCE0EA33267}"/>
              </a:ext>
            </a:extLst>
          </p:cNvPr>
          <p:cNvSpPr>
            <a:spLocks noGrp="1"/>
          </p:cNvSpPr>
          <p:nvPr>
            <p:ph idx="1"/>
          </p:nvPr>
        </p:nvSpPr>
        <p:spPr>
          <a:xfrm>
            <a:off x="581192" y="2180496"/>
            <a:ext cx="6539455" cy="4298125"/>
          </a:xfrm>
        </p:spPr>
        <p:txBody>
          <a:bodyPr>
            <a:normAutofit/>
          </a:bodyPr>
          <a:lstStyle/>
          <a:p>
            <a:pPr algn="just"/>
            <a:r>
              <a:rPr lang="en-US" sz="2400" dirty="0"/>
              <a:t>One of the most popular elements in HTML is the &lt;div&gt; element. &lt;div&gt; is short for “division” or a container that divides the page into sections. These sections are very useful for grouping elements in your HTML together.</a:t>
            </a:r>
            <a:endParaRPr lang="en-IN" sz="2400" dirty="0"/>
          </a:p>
        </p:txBody>
      </p:sp>
      <p:sp>
        <p:nvSpPr>
          <p:cNvPr id="6" name="TextBox 5">
            <a:extLst>
              <a:ext uri="{FF2B5EF4-FFF2-40B4-BE49-F238E27FC236}">
                <a16:creationId xmlns:a16="http://schemas.microsoft.com/office/drawing/2014/main" id="{516C1037-5252-E498-66E2-415452276451}"/>
              </a:ext>
            </a:extLst>
          </p:cNvPr>
          <p:cNvSpPr txBox="1"/>
          <p:nvPr/>
        </p:nvSpPr>
        <p:spPr>
          <a:xfrm>
            <a:off x="7940201" y="3488866"/>
            <a:ext cx="3304973" cy="1754326"/>
          </a:xfrm>
          <a:prstGeom prst="rect">
            <a:avLst/>
          </a:prstGeom>
          <a:noFill/>
          <a:ln>
            <a:solidFill>
              <a:schemeClr val="tx2"/>
            </a:solidFill>
          </a:ln>
        </p:spPr>
        <p:txBody>
          <a:bodyPr wrap="square">
            <a:spAutoFit/>
          </a:bodyPr>
          <a:lstStyle/>
          <a:p>
            <a:r>
              <a:rPr lang="en-US" b="0" i="0" dirty="0">
                <a:solidFill>
                  <a:srgbClr val="FF0000"/>
                </a:solidFill>
                <a:effectLst/>
                <a:latin typeface="Monaco"/>
              </a:rPr>
              <a:t>&lt;body&gt;</a:t>
            </a:r>
            <a:r>
              <a:rPr lang="en-US" dirty="0">
                <a:solidFill>
                  <a:srgbClr val="FF0000"/>
                </a:solidFill>
              </a:rPr>
              <a:t/>
            </a:r>
            <a:br>
              <a:rPr lang="en-US" dirty="0">
                <a:solidFill>
                  <a:srgbClr val="FF0000"/>
                </a:solidFill>
              </a:rPr>
            </a:br>
            <a:r>
              <a:rPr lang="en-US" b="0" i="0" dirty="0">
                <a:solidFill>
                  <a:srgbClr val="FF0000"/>
                </a:solidFill>
                <a:effectLst/>
                <a:latin typeface="Monaco"/>
              </a:rPr>
              <a:t>  	&lt;div&gt;</a:t>
            </a:r>
            <a:r>
              <a:rPr lang="en-US" dirty="0">
                <a:solidFill>
                  <a:srgbClr val="FF0000"/>
                </a:solidFill>
              </a:rPr>
              <a:t/>
            </a:r>
            <a:br>
              <a:rPr lang="en-US" dirty="0">
                <a:solidFill>
                  <a:srgbClr val="FF0000"/>
                </a:solidFill>
              </a:rPr>
            </a:br>
            <a:r>
              <a:rPr lang="en-US" b="0" i="0" dirty="0">
                <a:solidFill>
                  <a:srgbClr val="FF0000"/>
                </a:solidFill>
                <a:effectLst/>
                <a:latin typeface="Monaco"/>
              </a:rPr>
              <a:t>   		 &lt;h1&gt;Why use div&lt;/h1&gt;</a:t>
            </a:r>
            <a:r>
              <a:rPr lang="en-US" dirty="0">
                <a:solidFill>
                  <a:srgbClr val="FF0000"/>
                </a:solidFill>
              </a:rPr>
              <a:t/>
            </a:r>
            <a:br>
              <a:rPr lang="en-US" dirty="0">
                <a:solidFill>
                  <a:srgbClr val="FF0000"/>
                </a:solidFill>
              </a:rPr>
            </a:br>
            <a:r>
              <a:rPr lang="en-US" b="0" i="0" dirty="0">
                <a:solidFill>
                  <a:srgbClr val="FF0000"/>
                </a:solidFill>
                <a:effectLst/>
                <a:latin typeface="Monaco"/>
              </a:rPr>
              <a:t>    		&lt;p&gt;Great for </a:t>
            </a:r>
            <a:r>
              <a:rPr lang="en-US" b="0" i="0" dirty="0" err="1">
                <a:solidFill>
                  <a:srgbClr val="FF0000"/>
                </a:solidFill>
                <a:effectLst/>
                <a:latin typeface="Monaco"/>
              </a:rPr>
              <a:t>gro</a:t>
            </a:r>
            <a:r>
              <a:rPr lang="en-US" b="0" i="0" dirty="0">
                <a:solidFill>
                  <a:srgbClr val="FF0000"/>
                </a:solidFill>
                <a:effectLst/>
                <a:latin typeface="Monaco"/>
              </a:rPr>
              <a:t>  &lt;/p&gt;</a:t>
            </a:r>
            <a:r>
              <a:rPr lang="en-US" dirty="0">
                <a:solidFill>
                  <a:srgbClr val="FF0000"/>
                </a:solidFill>
              </a:rPr>
              <a:t/>
            </a:r>
            <a:br>
              <a:rPr lang="en-US" dirty="0">
                <a:solidFill>
                  <a:srgbClr val="FF0000"/>
                </a:solidFill>
              </a:rPr>
            </a:br>
            <a:r>
              <a:rPr lang="en-US" b="0" i="0" dirty="0">
                <a:solidFill>
                  <a:srgbClr val="FF0000"/>
                </a:solidFill>
                <a:effectLst/>
                <a:latin typeface="Monaco"/>
              </a:rPr>
              <a:t> 	 &lt;/div&gt;</a:t>
            </a:r>
            <a:r>
              <a:rPr lang="en-US" dirty="0">
                <a:solidFill>
                  <a:srgbClr val="FF0000"/>
                </a:solidFill>
              </a:rPr>
              <a:t/>
            </a:r>
            <a:br>
              <a:rPr lang="en-US" dirty="0">
                <a:solidFill>
                  <a:srgbClr val="FF0000"/>
                </a:solidFill>
              </a:rPr>
            </a:br>
            <a:r>
              <a:rPr lang="en-US" b="0" i="0" dirty="0">
                <a:solidFill>
                  <a:srgbClr val="FF0000"/>
                </a:solidFill>
                <a:effectLst/>
                <a:latin typeface="Monaco"/>
              </a:rPr>
              <a:t>&lt;/body&gt;</a:t>
            </a:r>
            <a:endParaRPr lang="en-IN" dirty="0">
              <a:solidFill>
                <a:srgbClr val="FF0000"/>
              </a:solidFill>
            </a:endParaRPr>
          </a:p>
        </p:txBody>
      </p:sp>
    </p:spTree>
    <p:extLst>
      <p:ext uri="{BB962C8B-B14F-4D97-AF65-F5344CB8AC3E}">
        <p14:creationId xmlns:p14="http://schemas.microsoft.com/office/powerpoint/2010/main" val="33695348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A498E-D6A7-A3E6-C46A-4D7D0C3B7400}"/>
              </a:ext>
            </a:extLst>
          </p:cNvPr>
          <p:cNvSpPr>
            <a:spLocks noGrp="1"/>
          </p:cNvSpPr>
          <p:nvPr>
            <p:ph type="title"/>
          </p:nvPr>
        </p:nvSpPr>
        <p:spPr/>
        <p:txBody>
          <a:bodyPr/>
          <a:lstStyle/>
          <a:p>
            <a:r>
              <a:rPr lang="en-IN" dirty="0"/>
              <a:t>Attributes</a:t>
            </a:r>
          </a:p>
        </p:txBody>
      </p:sp>
      <p:sp>
        <p:nvSpPr>
          <p:cNvPr id="3" name="Content Placeholder 2">
            <a:extLst>
              <a:ext uri="{FF2B5EF4-FFF2-40B4-BE49-F238E27FC236}">
                <a16:creationId xmlns:a16="http://schemas.microsoft.com/office/drawing/2014/main" id="{D8E59771-F914-9D8D-A200-5488E3D70660}"/>
              </a:ext>
            </a:extLst>
          </p:cNvPr>
          <p:cNvSpPr>
            <a:spLocks noGrp="1"/>
          </p:cNvSpPr>
          <p:nvPr>
            <p:ph idx="1"/>
          </p:nvPr>
        </p:nvSpPr>
        <p:spPr>
          <a:xfrm>
            <a:off x="581192" y="2180496"/>
            <a:ext cx="5916885" cy="3678303"/>
          </a:xfrm>
        </p:spPr>
        <p:txBody>
          <a:bodyPr/>
          <a:lstStyle/>
          <a:p>
            <a:pPr algn="just"/>
            <a:r>
              <a:rPr lang="en-US" dirty="0">
                <a:solidFill>
                  <a:schemeClr val="tx1"/>
                </a:solidFill>
              </a:rPr>
              <a:t>All HTML elements can have attributes. </a:t>
            </a:r>
          </a:p>
          <a:p>
            <a:pPr algn="just"/>
            <a:r>
              <a:rPr lang="en-US" dirty="0">
                <a:solidFill>
                  <a:schemeClr val="tx1"/>
                </a:solidFill>
              </a:rPr>
              <a:t>Attributes provide additional information about elements.</a:t>
            </a:r>
          </a:p>
          <a:p>
            <a:pPr algn="just"/>
            <a:r>
              <a:rPr lang="en-US" dirty="0">
                <a:solidFill>
                  <a:schemeClr val="tx1"/>
                </a:solidFill>
              </a:rPr>
              <a:t>Attributes are content added to the opening tag of an element and can be used in several different ways, from providing information to changing styling. Attributes are made up of the following two parts:</a:t>
            </a:r>
          </a:p>
          <a:p>
            <a:pPr lvl="1" algn="just"/>
            <a:r>
              <a:rPr lang="en-US" dirty="0">
                <a:solidFill>
                  <a:schemeClr val="tx1"/>
                </a:solidFill>
              </a:rPr>
              <a:t>The name of the attribute</a:t>
            </a:r>
          </a:p>
          <a:p>
            <a:pPr lvl="1" algn="just"/>
            <a:r>
              <a:rPr lang="en-US" dirty="0">
                <a:solidFill>
                  <a:schemeClr val="tx1"/>
                </a:solidFill>
              </a:rPr>
              <a:t>The value of the attribute</a:t>
            </a:r>
            <a:endParaRPr lang="en-IN" dirty="0">
              <a:solidFill>
                <a:schemeClr val="tx1"/>
              </a:solidFill>
            </a:endParaRPr>
          </a:p>
        </p:txBody>
      </p:sp>
      <p:sp>
        <p:nvSpPr>
          <p:cNvPr id="5" name="TextBox 4">
            <a:extLst>
              <a:ext uri="{FF2B5EF4-FFF2-40B4-BE49-F238E27FC236}">
                <a16:creationId xmlns:a16="http://schemas.microsoft.com/office/drawing/2014/main" id="{7B9EC9CA-9DA4-6349-3CA4-B2D113CECAD3}"/>
              </a:ext>
            </a:extLst>
          </p:cNvPr>
          <p:cNvSpPr txBox="1"/>
          <p:nvPr/>
        </p:nvSpPr>
        <p:spPr>
          <a:xfrm>
            <a:off x="6887183" y="2180496"/>
            <a:ext cx="4572000" cy="4524315"/>
          </a:xfrm>
          <a:prstGeom prst="rect">
            <a:avLst/>
          </a:prstGeom>
          <a:noFill/>
        </p:spPr>
        <p:txBody>
          <a:bodyPr wrap="square">
            <a:spAutoFit/>
          </a:bodyPr>
          <a:lstStyle/>
          <a:p>
            <a:r>
              <a:rPr lang="en-IN" b="0" dirty="0">
                <a:effectLst/>
                <a:latin typeface="Monaco, Menlo,  Ubuntu Mono"/>
              </a:rPr>
              <a:t>&lt;body&gt;</a:t>
            </a:r>
          </a:p>
          <a:p>
            <a:r>
              <a:rPr lang="en-IN" b="0" dirty="0">
                <a:effectLst/>
                <a:latin typeface="Monaco, Menlo,  Ubuntu Mono"/>
              </a:rPr>
              <a:t>  &lt;h1&gt;My school&lt;/h1&gt;</a:t>
            </a:r>
          </a:p>
          <a:p>
            <a:r>
              <a:rPr lang="en-IN" b="0" dirty="0">
                <a:effectLst/>
                <a:latin typeface="Monaco, Menlo,  Ubuntu Mono"/>
              </a:rPr>
              <a:t>  &lt;div </a:t>
            </a:r>
            <a:r>
              <a:rPr lang="en-IN" b="0" dirty="0">
                <a:solidFill>
                  <a:schemeClr val="accent1">
                    <a:lumMod val="75000"/>
                    <a:lumOff val="25000"/>
                  </a:schemeClr>
                </a:solidFill>
                <a:effectLst/>
                <a:latin typeface="Monaco, Menlo,  Ubuntu Mono"/>
              </a:rPr>
              <a:t>id="introduction"</a:t>
            </a:r>
            <a:r>
              <a:rPr lang="en-IN" b="0" dirty="0">
                <a:effectLst/>
                <a:latin typeface="Monaco, Menlo,  Ubuntu Mono"/>
              </a:rPr>
              <a:t>&gt;</a:t>
            </a:r>
          </a:p>
          <a:p>
            <a:r>
              <a:rPr lang="en-IN" b="0" dirty="0">
                <a:effectLst/>
                <a:latin typeface="Monaco, Menlo,  Ubuntu Mono"/>
              </a:rPr>
              <a:t>    &lt;h2&gt;………….&lt;/h2&gt;</a:t>
            </a:r>
          </a:p>
          <a:p>
            <a:r>
              <a:rPr lang="en-IN" b="0" dirty="0">
                <a:effectLst/>
                <a:latin typeface="Monaco, Menlo,  Ubuntu Mono"/>
              </a:rPr>
              <a:t>    &lt;h3&gt;…………&lt;/h3&gt;</a:t>
            </a:r>
          </a:p>
          <a:p>
            <a:r>
              <a:rPr lang="en-IN" b="0" dirty="0">
                <a:effectLst/>
                <a:latin typeface="Monaco, Menlo,  Ubuntu Mono"/>
              </a:rPr>
              <a:t>    &lt;h3&gt;………….&lt;/h3&gt;</a:t>
            </a:r>
          </a:p>
          <a:p>
            <a:r>
              <a:rPr lang="en-IN" b="0" dirty="0">
                <a:effectLst/>
                <a:latin typeface="Monaco, Menlo,  Ubuntu Mono"/>
              </a:rPr>
              <a:t>  &lt;/div&gt;</a:t>
            </a:r>
          </a:p>
          <a:p>
            <a:r>
              <a:rPr lang="en-IN" b="0" dirty="0">
                <a:effectLst/>
                <a:latin typeface="Monaco, Menlo,  Ubuntu Mono"/>
              </a:rPr>
              <a:t>  &lt;div </a:t>
            </a:r>
            <a:r>
              <a:rPr lang="en-IN" b="0" dirty="0">
                <a:solidFill>
                  <a:schemeClr val="accent1">
                    <a:lumMod val="75000"/>
                    <a:lumOff val="25000"/>
                  </a:schemeClr>
                </a:solidFill>
                <a:effectLst/>
                <a:latin typeface="Monaco, Menlo,  Ubuntu Mono"/>
              </a:rPr>
              <a:t>id=“content"</a:t>
            </a:r>
            <a:r>
              <a:rPr lang="en-IN" b="0" dirty="0">
                <a:effectLst/>
                <a:latin typeface="Monaco, Menlo,  Ubuntu Mono"/>
              </a:rPr>
              <a:t>&gt;</a:t>
            </a:r>
          </a:p>
          <a:p>
            <a:r>
              <a:rPr lang="en-IN" b="0" dirty="0">
                <a:effectLst/>
                <a:latin typeface="Monaco, Menlo,  Ubuntu Mono"/>
              </a:rPr>
              <a:t>    &lt;h2&gt;……..&lt;/h2&gt;</a:t>
            </a:r>
          </a:p>
          <a:p>
            <a:r>
              <a:rPr lang="en-IN" dirty="0">
                <a:latin typeface="Monaco, Menlo,  Ubuntu Mono"/>
              </a:rPr>
              <a:t>     &lt;p&gt;……&lt;/p&gt;</a:t>
            </a:r>
            <a:endParaRPr lang="en-IN" b="0" dirty="0">
              <a:effectLst/>
              <a:latin typeface="Monaco, Menlo,  Ubuntu Mono"/>
            </a:endParaRPr>
          </a:p>
          <a:p>
            <a:r>
              <a:rPr lang="en-IN" b="0" dirty="0">
                <a:effectLst/>
                <a:latin typeface="Monaco, Menlo,  Ubuntu Mono"/>
              </a:rPr>
              <a:t>    &lt;h3&gt;………&lt;/h3&gt;</a:t>
            </a:r>
          </a:p>
          <a:p>
            <a:r>
              <a:rPr lang="en-IN" b="0" dirty="0">
                <a:effectLst/>
                <a:latin typeface="Monaco, Menlo,  Ubuntu Mono"/>
              </a:rPr>
              <a:t>    &lt;/div&gt;</a:t>
            </a:r>
          </a:p>
          <a:p>
            <a:r>
              <a:rPr lang="en-IN" b="0" dirty="0">
                <a:effectLst/>
                <a:latin typeface="Monaco, Menlo,  Ubuntu Mono"/>
              </a:rPr>
              <a:t>  &lt;div id= </a:t>
            </a:r>
            <a:r>
              <a:rPr lang="en-IN" b="0" dirty="0">
                <a:solidFill>
                  <a:schemeClr val="accent1">
                    <a:lumMod val="75000"/>
                    <a:lumOff val="25000"/>
                  </a:schemeClr>
                </a:solidFill>
                <a:effectLst/>
                <a:latin typeface="Monaco, Menlo,  Ubuntu Mono"/>
              </a:rPr>
              <a:t>“conclusion"</a:t>
            </a:r>
            <a:r>
              <a:rPr lang="en-IN" b="0" dirty="0">
                <a:effectLst/>
                <a:latin typeface="Monaco, Menlo,  Ubuntu Mono"/>
              </a:rPr>
              <a:t>&gt;</a:t>
            </a:r>
          </a:p>
          <a:p>
            <a:r>
              <a:rPr lang="en-IN" b="0" dirty="0">
                <a:effectLst/>
                <a:latin typeface="Monaco, Menlo,  Ubuntu Mono"/>
              </a:rPr>
              <a:t>    &lt;h2&gt;……….&lt;/h2&gt;</a:t>
            </a:r>
          </a:p>
          <a:p>
            <a:r>
              <a:rPr lang="en-IN" b="0" dirty="0">
                <a:effectLst/>
                <a:latin typeface="Monaco, Menlo,  Ubuntu Mono"/>
              </a:rPr>
              <a:t>  &lt;/div&gt;</a:t>
            </a:r>
          </a:p>
          <a:p>
            <a:r>
              <a:rPr lang="en-IN" b="0" dirty="0">
                <a:effectLst/>
                <a:latin typeface="Monaco, Menlo,  Ubuntu Mono"/>
              </a:rPr>
              <a:t>&lt;/body&gt;</a:t>
            </a:r>
          </a:p>
        </p:txBody>
      </p:sp>
    </p:spTree>
    <p:extLst>
      <p:ext uri="{BB962C8B-B14F-4D97-AF65-F5344CB8AC3E}">
        <p14:creationId xmlns:p14="http://schemas.microsoft.com/office/powerpoint/2010/main" val="13202538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862A2-8E10-97E2-2D68-5249B5764A10}"/>
              </a:ext>
            </a:extLst>
          </p:cNvPr>
          <p:cNvSpPr>
            <a:spLocks noGrp="1"/>
          </p:cNvSpPr>
          <p:nvPr>
            <p:ph type="title"/>
          </p:nvPr>
        </p:nvSpPr>
        <p:spPr/>
        <p:txBody>
          <a:bodyPr/>
          <a:lstStyle/>
          <a:p>
            <a:r>
              <a:rPr lang="en-IN" dirty="0"/>
              <a:t>Display Text </a:t>
            </a:r>
          </a:p>
        </p:txBody>
      </p:sp>
      <p:sp>
        <p:nvSpPr>
          <p:cNvPr id="3" name="Content Placeholder 2">
            <a:extLst>
              <a:ext uri="{FF2B5EF4-FFF2-40B4-BE49-F238E27FC236}">
                <a16:creationId xmlns:a16="http://schemas.microsoft.com/office/drawing/2014/main" id="{0500E46B-36F2-83BA-A625-6D7B87CD5773}"/>
              </a:ext>
            </a:extLst>
          </p:cNvPr>
          <p:cNvSpPr>
            <a:spLocks noGrp="1"/>
          </p:cNvSpPr>
          <p:nvPr>
            <p:ph idx="1"/>
          </p:nvPr>
        </p:nvSpPr>
        <p:spPr/>
        <p:txBody>
          <a:bodyPr/>
          <a:lstStyle/>
          <a:p>
            <a:pPr algn="just"/>
            <a:r>
              <a:rPr lang="en-US" dirty="0"/>
              <a:t>If you want to display text in HTML, you can use a paragraph or span element:</a:t>
            </a:r>
          </a:p>
          <a:p>
            <a:pPr algn="just"/>
            <a:r>
              <a:rPr lang="en-US" dirty="0"/>
              <a:t>Paragraphs (&lt;p&gt;)contain a block of plain text. With HTML, you cannot change the display by adding extra spaces or extra lines in your HTML code.</a:t>
            </a:r>
          </a:p>
          <a:p>
            <a:pPr algn="just"/>
            <a:r>
              <a:rPr lang="en-US" dirty="0"/>
              <a:t>The browser will automatically remove any extra spaces and lines when the page is displayed</a:t>
            </a:r>
          </a:p>
          <a:p>
            <a:pPr algn="just"/>
            <a:r>
              <a:rPr lang="en-US" dirty="0"/>
              <a:t>&lt;span&gt; contains short pieces of text or other HTML. They are used to separate small pieces of content that are on the same line as other content.</a:t>
            </a:r>
          </a:p>
          <a:p>
            <a:pPr algn="just"/>
            <a:r>
              <a:rPr lang="en-US" dirty="0"/>
              <a:t>Use &lt;</a:t>
            </a:r>
            <a:r>
              <a:rPr lang="en-US" dirty="0" err="1"/>
              <a:t>br</a:t>
            </a:r>
            <a:r>
              <a:rPr lang="en-US" dirty="0"/>
              <a:t>&gt; if you want a line break (a new line). </a:t>
            </a:r>
          </a:p>
          <a:p>
            <a:pPr algn="just"/>
            <a:r>
              <a:rPr lang="en-US" dirty="0"/>
              <a:t>The &lt;</a:t>
            </a:r>
            <a:r>
              <a:rPr lang="en-US" dirty="0" err="1"/>
              <a:t>hr</a:t>
            </a:r>
            <a:r>
              <a:rPr lang="en-US" dirty="0"/>
              <a:t>&gt;  element is used to separate content by horizontal line.</a:t>
            </a:r>
            <a:endParaRPr lang="en-IN" dirty="0"/>
          </a:p>
        </p:txBody>
      </p:sp>
      <p:sp>
        <p:nvSpPr>
          <p:cNvPr id="5" name="Rectangle 3">
            <a:extLst>
              <a:ext uri="{FF2B5EF4-FFF2-40B4-BE49-F238E27FC236}">
                <a16:creationId xmlns:a16="http://schemas.microsoft.com/office/drawing/2014/main" id="{C44CC115-EA18-7445-E4FA-E24AF3D74528}"/>
              </a:ext>
            </a:extLst>
          </p:cNvPr>
          <p:cNvSpPr>
            <a:spLocks noChangeArrowheads="1"/>
          </p:cNvSpPr>
          <p:nvPr/>
        </p:nvSpPr>
        <p:spPr bwMode="auto">
          <a:xfrm>
            <a:off x="0" y="-107722"/>
            <a:ext cx="21352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DE17291E-7644-9793-1089-6C0CD52A576F}"/>
              </a:ext>
            </a:extLst>
          </p:cNvPr>
          <p:cNvSpPr>
            <a:spLocks noChangeArrowheads="1"/>
          </p:cNvSpPr>
          <p:nvPr/>
        </p:nvSpPr>
        <p:spPr bwMode="auto">
          <a:xfrm>
            <a:off x="0" y="-107722"/>
            <a:ext cx="21352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456979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4AEB5-5D2A-03F2-A15B-ACC17B5FF391}"/>
              </a:ext>
            </a:extLst>
          </p:cNvPr>
          <p:cNvSpPr>
            <a:spLocks noGrp="1"/>
          </p:cNvSpPr>
          <p:nvPr>
            <p:ph type="title"/>
          </p:nvPr>
        </p:nvSpPr>
        <p:spPr/>
        <p:txBody>
          <a:bodyPr/>
          <a:lstStyle/>
          <a:p>
            <a:r>
              <a:rPr lang="en-IN" dirty="0"/>
              <a:t>Styling Text</a:t>
            </a:r>
          </a:p>
        </p:txBody>
      </p:sp>
      <p:graphicFrame>
        <p:nvGraphicFramePr>
          <p:cNvPr id="4" name="Content Placeholder 3">
            <a:extLst>
              <a:ext uri="{FF2B5EF4-FFF2-40B4-BE49-F238E27FC236}">
                <a16:creationId xmlns:a16="http://schemas.microsoft.com/office/drawing/2014/main" id="{D1875BB7-3F57-A7A2-54E7-AB87BBCE42AD}"/>
              </a:ext>
            </a:extLst>
          </p:cNvPr>
          <p:cNvGraphicFramePr>
            <a:graphicFrameLocks noGrp="1"/>
          </p:cNvGraphicFramePr>
          <p:nvPr>
            <p:ph idx="1"/>
            <p:extLst>
              <p:ext uri="{D42A27DB-BD31-4B8C-83A1-F6EECF244321}">
                <p14:modId xmlns:p14="http://schemas.microsoft.com/office/powerpoint/2010/main" val="2869217583"/>
              </p:ext>
            </p:extLst>
          </p:nvPr>
        </p:nvGraphicFramePr>
        <p:xfrm>
          <a:off x="1575881" y="2181226"/>
          <a:ext cx="7957225" cy="4149288"/>
        </p:xfrm>
        <a:graphic>
          <a:graphicData uri="http://schemas.openxmlformats.org/drawingml/2006/table">
            <a:tbl>
              <a:tblPr/>
              <a:tblGrid>
                <a:gridCol w="1589827">
                  <a:extLst>
                    <a:ext uri="{9D8B030D-6E8A-4147-A177-3AD203B41FA5}">
                      <a16:colId xmlns:a16="http://schemas.microsoft.com/office/drawing/2014/main" val="3467885118"/>
                    </a:ext>
                  </a:extLst>
                </a:gridCol>
                <a:gridCol w="6367398">
                  <a:extLst>
                    <a:ext uri="{9D8B030D-6E8A-4147-A177-3AD203B41FA5}">
                      <a16:colId xmlns:a16="http://schemas.microsoft.com/office/drawing/2014/main" val="4280839254"/>
                    </a:ext>
                  </a:extLst>
                </a:gridCol>
              </a:tblGrid>
              <a:tr h="367680">
                <a:tc>
                  <a:txBody>
                    <a:bodyPr/>
                    <a:lstStyle/>
                    <a:p>
                      <a:pPr algn="l" fontAlgn="t"/>
                      <a:r>
                        <a:rPr lang="en-IN" sz="1800">
                          <a:solidFill>
                            <a:schemeClr val="tx1"/>
                          </a:solidFill>
                          <a:effectLst/>
                        </a:rPr>
                        <a:t>Tag</a:t>
                      </a:r>
                    </a:p>
                  </a:txBody>
                  <a:tcPr marL="102888"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800" dirty="0">
                          <a:solidFill>
                            <a:schemeClr val="tx1"/>
                          </a:solidFill>
                          <a:effectLst/>
                        </a:rPr>
                        <a:t>Description</a:t>
                      </a:r>
                    </a:p>
                  </a:txBody>
                  <a:tcPr marL="51444"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081031850"/>
                  </a:ext>
                </a:extLst>
              </a:tr>
              <a:tr h="367680">
                <a:tc>
                  <a:txBody>
                    <a:bodyPr/>
                    <a:lstStyle/>
                    <a:p>
                      <a:pPr algn="l" fontAlgn="t"/>
                      <a:r>
                        <a:rPr lang="en-IN" sz="1800">
                          <a:solidFill>
                            <a:schemeClr val="tx1"/>
                          </a:solidFill>
                          <a:effectLst/>
                          <a:hlinkClick r:id="rId2">
                            <a:extLst>
                              <a:ext uri="{A12FA001-AC4F-418D-AE19-62706E023703}">
                                <ahyp:hlinkClr xmlns:ahyp="http://schemas.microsoft.com/office/drawing/2018/hyperlinkcolor" xmlns="" val="tx"/>
                              </a:ext>
                            </a:extLst>
                          </a:hlinkClick>
                        </a:rPr>
                        <a:t>&lt;b&gt;</a:t>
                      </a:r>
                      <a:endParaRPr lang="en-IN" sz="1800">
                        <a:solidFill>
                          <a:schemeClr val="tx1"/>
                        </a:solidFill>
                        <a:effectLst/>
                      </a:endParaRPr>
                    </a:p>
                  </a:txBody>
                  <a:tcPr marL="102888"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1800">
                          <a:solidFill>
                            <a:schemeClr val="tx1"/>
                          </a:solidFill>
                          <a:effectLst/>
                        </a:rPr>
                        <a:t>Defines bold text</a:t>
                      </a:r>
                    </a:p>
                  </a:txBody>
                  <a:tcPr marL="51444"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439959932"/>
                  </a:ext>
                </a:extLst>
              </a:tr>
              <a:tr h="367680">
                <a:tc>
                  <a:txBody>
                    <a:bodyPr/>
                    <a:lstStyle/>
                    <a:p>
                      <a:pPr algn="l" fontAlgn="t"/>
                      <a:r>
                        <a:rPr lang="en-IN" sz="1800">
                          <a:solidFill>
                            <a:schemeClr val="tx1"/>
                          </a:solidFill>
                          <a:effectLst/>
                          <a:hlinkClick r:id="rId3">
                            <a:extLst>
                              <a:ext uri="{A12FA001-AC4F-418D-AE19-62706E023703}">
                                <ahyp:hlinkClr xmlns:ahyp="http://schemas.microsoft.com/office/drawing/2018/hyperlinkcolor" xmlns="" val="tx"/>
                              </a:ext>
                            </a:extLst>
                          </a:hlinkClick>
                        </a:rPr>
                        <a:t>&lt;em&gt;</a:t>
                      </a:r>
                      <a:endParaRPr lang="en-IN" sz="1800">
                        <a:solidFill>
                          <a:schemeClr val="tx1"/>
                        </a:solidFill>
                        <a:effectLst/>
                      </a:endParaRPr>
                    </a:p>
                  </a:txBody>
                  <a:tcPr marL="102888"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800">
                          <a:solidFill>
                            <a:schemeClr val="tx1"/>
                          </a:solidFill>
                          <a:effectLst/>
                        </a:rPr>
                        <a:t>Defines emphasized text </a:t>
                      </a:r>
                    </a:p>
                  </a:txBody>
                  <a:tcPr marL="51444"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207123080"/>
                  </a:ext>
                </a:extLst>
              </a:tr>
              <a:tr h="367680">
                <a:tc>
                  <a:txBody>
                    <a:bodyPr/>
                    <a:lstStyle/>
                    <a:p>
                      <a:pPr algn="l" fontAlgn="t"/>
                      <a:r>
                        <a:rPr lang="en-IN" sz="1800">
                          <a:solidFill>
                            <a:schemeClr val="tx1"/>
                          </a:solidFill>
                          <a:effectLst/>
                          <a:hlinkClick r:id="rId4">
                            <a:extLst>
                              <a:ext uri="{A12FA001-AC4F-418D-AE19-62706E023703}">
                                <ahyp:hlinkClr xmlns:ahyp="http://schemas.microsoft.com/office/drawing/2018/hyperlinkcolor" xmlns="" val="tx"/>
                              </a:ext>
                            </a:extLst>
                          </a:hlinkClick>
                        </a:rPr>
                        <a:t>&lt;i&gt;</a:t>
                      </a:r>
                      <a:endParaRPr lang="en-IN" sz="1800">
                        <a:solidFill>
                          <a:schemeClr val="tx1"/>
                        </a:solidFill>
                        <a:effectLst/>
                      </a:endParaRPr>
                    </a:p>
                  </a:txBody>
                  <a:tcPr marL="102888"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800">
                          <a:solidFill>
                            <a:schemeClr val="tx1"/>
                          </a:solidFill>
                          <a:effectLst/>
                        </a:rPr>
                        <a:t>Defines a part of text in an alternate voice or mood</a:t>
                      </a:r>
                    </a:p>
                  </a:txBody>
                  <a:tcPr marL="51444"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366688051"/>
                  </a:ext>
                </a:extLst>
              </a:tr>
              <a:tr h="367680">
                <a:tc>
                  <a:txBody>
                    <a:bodyPr/>
                    <a:lstStyle/>
                    <a:p>
                      <a:pPr algn="l" fontAlgn="t"/>
                      <a:r>
                        <a:rPr lang="en-IN" sz="1800">
                          <a:solidFill>
                            <a:schemeClr val="tx1"/>
                          </a:solidFill>
                          <a:effectLst/>
                          <a:hlinkClick r:id="rId5">
                            <a:extLst>
                              <a:ext uri="{A12FA001-AC4F-418D-AE19-62706E023703}">
                                <ahyp:hlinkClr xmlns:ahyp="http://schemas.microsoft.com/office/drawing/2018/hyperlinkcolor" xmlns="" val="tx"/>
                              </a:ext>
                            </a:extLst>
                          </a:hlinkClick>
                        </a:rPr>
                        <a:t>&lt;small&gt;</a:t>
                      </a:r>
                      <a:endParaRPr lang="en-IN" sz="1800">
                        <a:solidFill>
                          <a:schemeClr val="tx1"/>
                        </a:solidFill>
                        <a:effectLst/>
                      </a:endParaRPr>
                    </a:p>
                  </a:txBody>
                  <a:tcPr marL="102888"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800">
                          <a:solidFill>
                            <a:schemeClr val="tx1"/>
                          </a:solidFill>
                          <a:effectLst/>
                        </a:rPr>
                        <a:t>Defines smaller text</a:t>
                      </a:r>
                    </a:p>
                  </a:txBody>
                  <a:tcPr marL="51444"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809673455"/>
                  </a:ext>
                </a:extLst>
              </a:tr>
              <a:tr h="367680">
                <a:tc>
                  <a:txBody>
                    <a:bodyPr/>
                    <a:lstStyle/>
                    <a:p>
                      <a:pPr algn="l" fontAlgn="t"/>
                      <a:r>
                        <a:rPr lang="en-IN" sz="1800">
                          <a:solidFill>
                            <a:schemeClr val="tx1"/>
                          </a:solidFill>
                          <a:effectLst/>
                          <a:hlinkClick r:id="rId6">
                            <a:extLst>
                              <a:ext uri="{A12FA001-AC4F-418D-AE19-62706E023703}">
                                <ahyp:hlinkClr xmlns:ahyp="http://schemas.microsoft.com/office/drawing/2018/hyperlinkcolor" xmlns="" val="tx"/>
                              </a:ext>
                            </a:extLst>
                          </a:hlinkClick>
                        </a:rPr>
                        <a:t>&lt;strong&gt;</a:t>
                      </a:r>
                      <a:endParaRPr lang="en-IN" sz="1800">
                        <a:solidFill>
                          <a:schemeClr val="tx1"/>
                        </a:solidFill>
                        <a:effectLst/>
                      </a:endParaRPr>
                    </a:p>
                  </a:txBody>
                  <a:tcPr marL="102888"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1800">
                          <a:solidFill>
                            <a:schemeClr val="tx1"/>
                          </a:solidFill>
                          <a:effectLst/>
                        </a:rPr>
                        <a:t>Defines important text</a:t>
                      </a:r>
                    </a:p>
                  </a:txBody>
                  <a:tcPr marL="51444"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145523410"/>
                  </a:ext>
                </a:extLst>
              </a:tr>
              <a:tr h="367680">
                <a:tc>
                  <a:txBody>
                    <a:bodyPr/>
                    <a:lstStyle/>
                    <a:p>
                      <a:pPr algn="l" fontAlgn="t"/>
                      <a:r>
                        <a:rPr lang="en-IN" sz="1800">
                          <a:solidFill>
                            <a:schemeClr val="tx1"/>
                          </a:solidFill>
                          <a:effectLst/>
                          <a:hlinkClick r:id="rId7">
                            <a:extLst>
                              <a:ext uri="{A12FA001-AC4F-418D-AE19-62706E023703}">
                                <ahyp:hlinkClr xmlns:ahyp="http://schemas.microsoft.com/office/drawing/2018/hyperlinkcolor" xmlns="" val="tx"/>
                              </a:ext>
                            </a:extLst>
                          </a:hlinkClick>
                        </a:rPr>
                        <a:t>&lt;sub&gt;</a:t>
                      </a:r>
                      <a:endParaRPr lang="en-IN" sz="1800">
                        <a:solidFill>
                          <a:schemeClr val="tx1"/>
                        </a:solidFill>
                        <a:effectLst/>
                      </a:endParaRPr>
                    </a:p>
                  </a:txBody>
                  <a:tcPr marL="102888"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800">
                          <a:solidFill>
                            <a:schemeClr val="tx1"/>
                          </a:solidFill>
                          <a:effectLst/>
                        </a:rPr>
                        <a:t>Defines subscripted text</a:t>
                      </a:r>
                    </a:p>
                  </a:txBody>
                  <a:tcPr marL="51444"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353637886"/>
                  </a:ext>
                </a:extLst>
              </a:tr>
              <a:tr h="367680">
                <a:tc>
                  <a:txBody>
                    <a:bodyPr/>
                    <a:lstStyle/>
                    <a:p>
                      <a:pPr algn="l" fontAlgn="t"/>
                      <a:r>
                        <a:rPr lang="en-IN" sz="1800">
                          <a:solidFill>
                            <a:schemeClr val="tx1"/>
                          </a:solidFill>
                          <a:effectLst/>
                          <a:hlinkClick r:id="rId8">
                            <a:extLst>
                              <a:ext uri="{A12FA001-AC4F-418D-AE19-62706E023703}">
                                <ahyp:hlinkClr xmlns:ahyp="http://schemas.microsoft.com/office/drawing/2018/hyperlinkcolor" xmlns="" val="tx"/>
                              </a:ext>
                            </a:extLst>
                          </a:hlinkClick>
                        </a:rPr>
                        <a:t>&lt;sup&gt;</a:t>
                      </a:r>
                      <a:endParaRPr lang="en-IN" sz="1800">
                        <a:solidFill>
                          <a:schemeClr val="tx1"/>
                        </a:solidFill>
                        <a:effectLst/>
                      </a:endParaRPr>
                    </a:p>
                  </a:txBody>
                  <a:tcPr marL="102888"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1800">
                          <a:solidFill>
                            <a:schemeClr val="tx1"/>
                          </a:solidFill>
                          <a:effectLst/>
                        </a:rPr>
                        <a:t>Defines superscripted text</a:t>
                      </a:r>
                    </a:p>
                  </a:txBody>
                  <a:tcPr marL="51444"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353376597"/>
                  </a:ext>
                </a:extLst>
              </a:tr>
              <a:tr h="367680">
                <a:tc>
                  <a:txBody>
                    <a:bodyPr/>
                    <a:lstStyle/>
                    <a:p>
                      <a:pPr algn="l" fontAlgn="t"/>
                      <a:r>
                        <a:rPr lang="en-IN" sz="1800">
                          <a:solidFill>
                            <a:schemeClr val="tx1"/>
                          </a:solidFill>
                          <a:effectLst/>
                          <a:hlinkClick r:id="rId9">
                            <a:extLst>
                              <a:ext uri="{A12FA001-AC4F-418D-AE19-62706E023703}">
                                <ahyp:hlinkClr xmlns:ahyp="http://schemas.microsoft.com/office/drawing/2018/hyperlinkcolor" xmlns="" val="tx"/>
                              </a:ext>
                            </a:extLst>
                          </a:hlinkClick>
                        </a:rPr>
                        <a:t>&lt;ins&gt;</a:t>
                      </a:r>
                      <a:endParaRPr lang="en-IN" sz="1800">
                        <a:solidFill>
                          <a:schemeClr val="tx1"/>
                        </a:solidFill>
                        <a:effectLst/>
                      </a:endParaRPr>
                    </a:p>
                  </a:txBody>
                  <a:tcPr marL="102888"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800">
                          <a:solidFill>
                            <a:schemeClr val="tx1"/>
                          </a:solidFill>
                          <a:effectLst/>
                        </a:rPr>
                        <a:t>Defines inserted text</a:t>
                      </a:r>
                    </a:p>
                  </a:txBody>
                  <a:tcPr marL="51444"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585631329"/>
                  </a:ext>
                </a:extLst>
              </a:tr>
              <a:tr h="367680">
                <a:tc>
                  <a:txBody>
                    <a:bodyPr/>
                    <a:lstStyle/>
                    <a:p>
                      <a:pPr algn="l" fontAlgn="t"/>
                      <a:r>
                        <a:rPr lang="en-IN" sz="1800">
                          <a:solidFill>
                            <a:schemeClr val="tx1"/>
                          </a:solidFill>
                          <a:effectLst/>
                          <a:hlinkClick r:id="rId10">
                            <a:extLst>
                              <a:ext uri="{A12FA001-AC4F-418D-AE19-62706E023703}">
                                <ahyp:hlinkClr xmlns:ahyp="http://schemas.microsoft.com/office/drawing/2018/hyperlinkcolor" xmlns="" val="tx"/>
                              </a:ext>
                            </a:extLst>
                          </a:hlinkClick>
                        </a:rPr>
                        <a:t>&lt;del&gt;</a:t>
                      </a:r>
                      <a:endParaRPr lang="en-IN" sz="1800">
                        <a:solidFill>
                          <a:schemeClr val="tx1"/>
                        </a:solidFill>
                        <a:effectLst/>
                      </a:endParaRPr>
                    </a:p>
                  </a:txBody>
                  <a:tcPr marL="102888"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1800">
                          <a:solidFill>
                            <a:schemeClr val="tx1"/>
                          </a:solidFill>
                          <a:effectLst/>
                        </a:rPr>
                        <a:t>Defines deleted text</a:t>
                      </a:r>
                    </a:p>
                  </a:txBody>
                  <a:tcPr marL="51444"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946957338"/>
                  </a:ext>
                </a:extLst>
              </a:tr>
              <a:tr h="367680">
                <a:tc>
                  <a:txBody>
                    <a:bodyPr/>
                    <a:lstStyle/>
                    <a:p>
                      <a:pPr algn="l" fontAlgn="t"/>
                      <a:r>
                        <a:rPr lang="en-IN" sz="1800">
                          <a:solidFill>
                            <a:schemeClr val="tx1"/>
                          </a:solidFill>
                          <a:effectLst/>
                          <a:hlinkClick r:id="rId11">
                            <a:extLst>
                              <a:ext uri="{A12FA001-AC4F-418D-AE19-62706E023703}">
                                <ahyp:hlinkClr xmlns:ahyp="http://schemas.microsoft.com/office/drawing/2018/hyperlinkcolor" xmlns="" val="tx"/>
                              </a:ext>
                            </a:extLst>
                          </a:hlinkClick>
                        </a:rPr>
                        <a:t>&lt;mark&gt;</a:t>
                      </a:r>
                      <a:endParaRPr lang="en-IN" sz="1800">
                        <a:solidFill>
                          <a:schemeClr val="tx1"/>
                        </a:solidFill>
                        <a:effectLst/>
                      </a:endParaRPr>
                    </a:p>
                  </a:txBody>
                  <a:tcPr marL="102888"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800" dirty="0">
                          <a:solidFill>
                            <a:schemeClr val="tx1"/>
                          </a:solidFill>
                          <a:effectLst/>
                        </a:rPr>
                        <a:t>Defines marked/highlighted text</a:t>
                      </a:r>
                    </a:p>
                  </a:txBody>
                  <a:tcPr marL="51444" marR="51444" marT="51444" marB="5144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836777860"/>
                  </a:ext>
                </a:extLst>
              </a:tr>
            </a:tbl>
          </a:graphicData>
        </a:graphic>
      </p:graphicFrame>
    </p:spTree>
    <p:extLst>
      <p:ext uri="{BB962C8B-B14F-4D97-AF65-F5344CB8AC3E}">
        <p14:creationId xmlns:p14="http://schemas.microsoft.com/office/powerpoint/2010/main" val="14651876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DE19E-2D2A-1E0A-7BF2-EB4CA80ED3C9}"/>
              </a:ext>
            </a:extLst>
          </p:cNvPr>
          <p:cNvSpPr>
            <a:spLocks noGrp="1"/>
          </p:cNvSpPr>
          <p:nvPr>
            <p:ph type="title"/>
          </p:nvPr>
        </p:nvSpPr>
        <p:spPr/>
        <p:txBody>
          <a:bodyPr/>
          <a:lstStyle/>
          <a:p>
            <a:r>
              <a:rPr lang="en-IN" dirty="0"/>
              <a:t>Unordered Lists</a:t>
            </a:r>
          </a:p>
        </p:txBody>
      </p:sp>
      <p:sp>
        <p:nvSpPr>
          <p:cNvPr id="3" name="Content Placeholder 2">
            <a:extLst>
              <a:ext uri="{FF2B5EF4-FFF2-40B4-BE49-F238E27FC236}">
                <a16:creationId xmlns:a16="http://schemas.microsoft.com/office/drawing/2014/main" id="{78509BCA-4407-7930-1B9C-76FD5A465C5C}"/>
              </a:ext>
            </a:extLst>
          </p:cNvPr>
          <p:cNvSpPr>
            <a:spLocks noGrp="1"/>
          </p:cNvSpPr>
          <p:nvPr>
            <p:ph idx="1"/>
          </p:nvPr>
        </p:nvSpPr>
        <p:spPr>
          <a:xfrm>
            <a:off x="581192" y="2394505"/>
            <a:ext cx="4876025" cy="3678303"/>
          </a:xfrm>
        </p:spPr>
        <p:txBody>
          <a:bodyPr>
            <a:normAutofit fontScale="85000" lnSpcReduction="10000"/>
          </a:bodyPr>
          <a:lstStyle/>
          <a:p>
            <a:pPr algn="just"/>
            <a:r>
              <a:rPr lang="en-US" sz="2400" dirty="0"/>
              <a:t>In HTML, you can use an unordered list tag (&lt;</a:t>
            </a:r>
            <a:r>
              <a:rPr lang="en-US" sz="2400" dirty="0" err="1"/>
              <a:t>ul</a:t>
            </a:r>
            <a:r>
              <a:rPr lang="en-US" sz="2400" dirty="0"/>
              <a:t>&gt;) to create a list of items in no particular order. An unordered list outlines individual list items with a bullet point.</a:t>
            </a:r>
          </a:p>
          <a:p>
            <a:pPr algn="just"/>
            <a:r>
              <a:rPr lang="en-US" sz="2400" dirty="0"/>
              <a:t>The &lt;</a:t>
            </a:r>
            <a:r>
              <a:rPr lang="en-US" sz="2400" dirty="0" err="1"/>
              <a:t>ul</a:t>
            </a:r>
            <a:r>
              <a:rPr lang="en-US" sz="2400" dirty="0"/>
              <a:t>&gt; element should not hold raw text and won’t automatically format raw text into an unordered list of items. Individual list items must be added to the unordered list using the &lt;li&gt; tag. The &lt;li&gt; or list item tag is used to describe an item in a list.</a:t>
            </a:r>
            <a:endParaRPr lang="en-IN" sz="2400" dirty="0"/>
          </a:p>
        </p:txBody>
      </p:sp>
      <p:sp>
        <p:nvSpPr>
          <p:cNvPr id="8" name="TextBox 7">
            <a:extLst>
              <a:ext uri="{FF2B5EF4-FFF2-40B4-BE49-F238E27FC236}">
                <a16:creationId xmlns:a16="http://schemas.microsoft.com/office/drawing/2014/main" id="{8298FA39-917F-74C7-A86F-C94518842C9B}"/>
              </a:ext>
            </a:extLst>
          </p:cNvPr>
          <p:cNvSpPr txBox="1"/>
          <p:nvPr/>
        </p:nvSpPr>
        <p:spPr>
          <a:xfrm>
            <a:off x="6498980" y="1941374"/>
            <a:ext cx="4270441" cy="2554545"/>
          </a:xfrm>
          <a:prstGeom prst="rect">
            <a:avLst/>
          </a:prstGeom>
          <a:noFill/>
          <a:ln>
            <a:solidFill>
              <a:schemeClr val="tx2"/>
            </a:solidFill>
          </a:ln>
        </p:spPr>
        <p:txBody>
          <a:bodyPr wrap="square">
            <a:spAutoFit/>
          </a:bodyPr>
          <a:lstStyle/>
          <a:p>
            <a:r>
              <a:rPr lang="it-IT" sz="2000" b="0" dirty="0">
                <a:solidFill>
                  <a:srgbClr val="800000"/>
                </a:solidFill>
                <a:effectLst/>
                <a:latin typeface="Consolas" panose="020B0609020204030204" pitchFamily="49" charset="0"/>
              </a:rPr>
              <a:t>&lt;h2&gt;</a:t>
            </a:r>
            <a:r>
              <a:rPr lang="it-IT" sz="2000" b="0" dirty="0">
                <a:solidFill>
                  <a:srgbClr val="000000"/>
                </a:solidFill>
                <a:effectLst/>
                <a:latin typeface="Consolas" panose="020B0609020204030204" pitchFamily="49" charset="0"/>
              </a:rPr>
              <a:t>Skill Set:</a:t>
            </a:r>
            <a:r>
              <a:rPr lang="it-IT" sz="2000" b="0" dirty="0">
                <a:solidFill>
                  <a:srgbClr val="800000"/>
                </a:solidFill>
                <a:effectLst/>
                <a:latin typeface="Consolas" panose="020B0609020204030204" pitchFamily="49" charset="0"/>
              </a:rPr>
              <a:t>&lt;/h2&gt;</a:t>
            </a:r>
            <a:endParaRPr lang="it-IT" sz="2000" b="0" dirty="0">
              <a:solidFill>
                <a:srgbClr val="000000"/>
              </a:solidFill>
              <a:effectLst/>
              <a:latin typeface="Consolas" panose="020B0609020204030204" pitchFamily="49" charset="0"/>
            </a:endParaRPr>
          </a:p>
          <a:p>
            <a:r>
              <a:rPr lang="it-IT" sz="2000" b="0" dirty="0">
                <a:solidFill>
                  <a:srgbClr val="000000"/>
                </a:solidFill>
                <a:effectLst/>
                <a:latin typeface="Consolas" panose="020B0609020204030204" pitchFamily="49" charset="0"/>
              </a:rPr>
              <a:t>    </a:t>
            </a:r>
            <a:r>
              <a:rPr lang="it-IT" sz="2000" b="0" dirty="0">
                <a:solidFill>
                  <a:srgbClr val="800000"/>
                </a:solidFill>
                <a:effectLst/>
                <a:latin typeface="Consolas" panose="020B0609020204030204" pitchFamily="49" charset="0"/>
              </a:rPr>
              <a:t>&lt;ul&gt;</a:t>
            </a:r>
            <a:endParaRPr lang="it-IT" sz="2000" b="0" dirty="0">
              <a:solidFill>
                <a:srgbClr val="000000"/>
              </a:solidFill>
              <a:effectLst/>
              <a:latin typeface="Consolas" panose="020B0609020204030204" pitchFamily="49" charset="0"/>
            </a:endParaRPr>
          </a:p>
          <a:p>
            <a:r>
              <a:rPr lang="it-IT" sz="2000" b="0" dirty="0">
                <a:solidFill>
                  <a:srgbClr val="000000"/>
                </a:solidFill>
                <a:effectLst/>
                <a:latin typeface="Consolas" panose="020B0609020204030204" pitchFamily="49" charset="0"/>
              </a:rPr>
              <a:t>        </a:t>
            </a:r>
            <a:r>
              <a:rPr lang="it-IT" sz="2000" b="0" dirty="0">
                <a:solidFill>
                  <a:srgbClr val="800000"/>
                </a:solidFill>
                <a:effectLst/>
                <a:latin typeface="Consolas" panose="020B0609020204030204" pitchFamily="49" charset="0"/>
              </a:rPr>
              <a:t>&lt;li&gt;</a:t>
            </a:r>
            <a:r>
              <a:rPr lang="it-IT" sz="2000" b="0" dirty="0">
                <a:solidFill>
                  <a:srgbClr val="000000"/>
                </a:solidFill>
                <a:effectLst/>
                <a:latin typeface="Consolas" panose="020B0609020204030204" pitchFamily="49" charset="0"/>
              </a:rPr>
              <a:t>Java</a:t>
            </a:r>
            <a:r>
              <a:rPr lang="it-IT" sz="2000" b="0" dirty="0">
                <a:solidFill>
                  <a:srgbClr val="800000"/>
                </a:solidFill>
                <a:effectLst/>
                <a:latin typeface="Consolas" panose="020B0609020204030204" pitchFamily="49" charset="0"/>
              </a:rPr>
              <a:t>&lt;/li&gt;</a:t>
            </a:r>
            <a:endParaRPr lang="it-IT" sz="2000" b="0" dirty="0">
              <a:solidFill>
                <a:srgbClr val="000000"/>
              </a:solidFill>
              <a:effectLst/>
              <a:latin typeface="Consolas" panose="020B0609020204030204" pitchFamily="49" charset="0"/>
            </a:endParaRPr>
          </a:p>
          <a:p>
            <a:r>
              <a:rPr lang="it-IT" sz="2000" b="0" dirty="0">
                <a:solidFill>
                  <a:srgbClr val="000000"/>
                </a:solidFill>
                <a:effectLst/>
                <a:latin typeface="Consolas" panose="020B0609020204030204" pitchFamily="49" charset="0"/>
              </a:rPr>
              <a:t>        </a:t>
            </a:r>
            <a:r>
              <a:rPr lang="it-IT" sz="2000" b="0" dirty="0">
                <a:solidFill>
                  <a:srgbClr val="800000"/>
                </a:solidFill>
                <a:effectLst/>
                <a:latin typeface="Consolas" panose="020B0609020204030204" pitchFamily="49" charset="0"/>
              </a:rPr>
              <a:t>&lt;li&gt;</a:t>
            </a:r>
            <a:r>
              <a:rPr lang="it-IT" sz="2000" b="0" dirty="0">
                <a:solidFill>
                  <a:srgbClr val="000000"/>
                </a:solidFill>
                <a:effectLst/>
                <a:latin typeface="Consolas" panose="020B0609020204030204" pitchFamily="49" charset="0"/>
              </a:rPr>
              <a:t>C/C++</a:t>
            </a:r>
            <a:r>
              <a:rPr lang="it-IT" sz="2000" b="0" dirty="0">
                <a:solidFill>
                  <a:srgbClr val="800000"/>
                </a:solidFill>
                <a:effectLst/>
                <a:latin typeface="Consolas" panose="020B0609020204030204" pitchFamily="49" charset="0"/>
              </a:rPr>
              <a:t>&lt;/li&gt;</a:t>
            </a:r>
            <a:endParaRPr lang="it-IT" sz="2000" b="0" dirty="0">
              <a:solidFill>
                <a:srgbClr val="000000"/>
              </a:solidFill>
              <a:effectLst/>
              <a:latin typeface="Consolas" panose="020B0609020204030204" pitchFamily="49" charset="0"/>
            </a:endParaRPr>
          </a:p>
          <a:p>
            <a:r>
              <a:rPr lang="it-IT" sz="2000" b="0" dirty="0">
                <a:solidFill>
                  <a:srgbClr val="000000"/>
                </a:solidFill>
                <a:effectLst/>
                <a:latin typeface="Consolas" panose="020B0609020204030204" pitchFamily="49" charset="0"/>
              </a:rPr>
              <a:t>        </a:t>
            </a:r>
            <a:r>
              <a:rPr lang="it-IT" sz="2000" b="0" dirty="0">
                <a:solidFill>
                  <a:srgbClr val="800000"/>
                </a:solidFill>
                <a:effectLst/>
                <a:latin typeface="Consolas" panose="020B0609020204030204" pitchFamily="49" charset="0"/>
              </a:rPr>
              <a:t>&lt;li&gt;</a:t>
            </a:r>
            <a:r>
              <a:rPr lang="it-IT" sz="2000" b="0" dirty="0">
                <a:solidFill>
                  <a:srgbClr val="000000"/>
                </a:solidFill>
                <a:effectLst/>
                <a:latin typeface="Consolas" panose="020B0609020204030204" pitchFamily="49" charset="0"/>
              </a:rPr>
              <a:t>Python</a:t>
            </a:r>
            <a:r>
              <a:rPr lang="it-IT" sz="2000" b="0" dirty="0">
                <a:solidFill>
                  <a:srgbClr val="800000"/>
                </a:solidFill>
                <a:effectLst/>
                <a:latin typeface="Consolas" panose="020B0609020204030204" pitchFamily="49" charset="0"/>
              </a:rPr>
              <a:t>&lt;/li&gt;</a:t>
            </a:r>
            <a:endParaRPr lang="it-IT" sz="2000" b="0" dirty="0">
              <a:solidFill>
                <a:srgbClr val="000000"/>
              </a:solidFill>
              <a:effectLst/>
              <a:latin typeface="Consolas" panose="020B0609020204030204" pitchFamily="49" charset="0"/>
            </a:endParaRPr>
          </a:p>
          <a:p>
            <a:r>
              <a:rPr lang="it-IT" sz="2000" b="0" dirty="0">
                <a:solidFill>
                  <a:srgbClr val="000000"/>
                </a:solidFill>
                <a:effectLst/>
                <a:latin typeface="Consolas" panose="020B0609020204030204" pitchFamily="49" charset="0"/>
              </a:rPr>
              <a:t>        </a:t>
            </a:r>
            <a:r>
              <a:rPr lang="it-IT" sz="2000" b="0" dirty="0">
                <a:solidFill>
                  <a:srgbClr val="800000"/>
                </a:solidFill>
                <a:effectLst/>
                <a:latin typeface="Consolas" panose="020B0609020204030204" pitchFamily="49" charset="0"/>
              </a:rPr>
              <a:t>&lt;li&gt;</a:t>
            </a:r>
            <a:r>
              <a:rPr lang="it-IT" sz="2000" b="0" dirty="0">
                <a:solidFill>
                  <a:srgbClr val="000000"/>
                </a:solidFill>
                <a:effectLst/>
                <a:latin typeface="Consolas" panose="020B0609020204030204" pitchFamily="49" charset="0"/>
              </a:rPr>
              <a:t>HTML,CSS, JS</a:t>
            </a:r>
            <a:r>
              <a:rPr lang="it-IT" sz="2000" b="0" dirty="0">
                <a:solidFill>
                  <a:srgbClr val="800000"/>
                </a:solidFill>
                <a:effectLst/>
                <a:latin typeface="Consolas" panose="020B0609020204030204" pitchFamily="49" charset="0"/>
              </a:rPr>
              <a:t>&lt;/li&gt;</a:t>
            </a:r>
            <a:endParaRPr lang="it-IT" sz="2000" b="0" dirty="0">
              <a:solidFill>
                <a:srgbClr val="000000"/>
              </a:solidFill>
              <a:effectLst/>
              <a:latin typeface="Consolas" panose="020B0609020204030204" pitchFamily="49" charset="0"/>
            </a:endParaRPr>
          </a:p>
          <a:p>
            <a:r>
              <a:rPr lang="it-IT" sz="2000" b="0" dirty="0">
                <a:solidFill>
                  <a:srgbClr val="000000"/>
                </a:solidFill>
                <a:effectLst/>
                <a:latin typeface="Consolas" panose="020B0609020204030204" pitchFamily="49" charset="0"/>
              </a:rPr>
              <a:t>        </a:t>
            </a:r>
            <a:r>
              <a:rPr lang="it-IT" sz="2000" b="0" dirty="0">
                <a:solidFill>
                  <a:srgbClr val="800000"/>
                </a:solidFill>
                <a:effectLst/>
                <a:latin typeface="Consolas" panose="020B0609020204030204" pitchFamily="49" charset="0"/>
              </a:rPr>
              <a:t>&lt;li&gt;</a:t>
            </a:r>
            <a:r>
              <a:rPr lang="it-IT" sz="2000" b="0" dirty="0">
                <a:solidFill>
                  <a:srgbClr val="000000"/>
                </a:solidFill>
                <a:effectLst/>
                <a:latin typeface="Consolas" panose="020B0609020204030204" pitchFamily="49" charset="0"/>
              </a:rPr>
              <a:t>SQL</a:t>
            </a:r>
            <a:r>
              <a:rPr lang="it-IT" sz="2000" b="0" dirty="0">
                <a:solidFill>
                  <a:srgbClr val="800000"/>
                </a:solidFill>
                <a:effectLst/>
                <a:latin typeface="Consolas" panose="020B0609020204030204" pitchFamily="49" charset="0"/>
              </a:rPr>
              <a:t>&lt;/li&gt;</a:t>
            </a:r>
            <a:r>
              <a:rPr lang="it-IT" sz="2000" b="0" dirty="0">
                <a:solidFill>
                  <a:srgbClr val="000000"/>
                </a:solidFill>
                <a:effectLst/>
                <a:latin typeface="Consolas" panose="020B0609020204030204" pitchFamily="49" charset="0"/>
              </a:rPr>
              <a:t>  </a:t>
            </a:r>
          </a:p>
          <a:p>
            <a:r>
              <a:rPr lang="it-IT" sz="2000" b="0" dirty="0">
                <a:solidFill>
                  <a:srgbClr val="000000"/>
                </a:solidFill>
                <a:effectLst/>
                <a:latin typeface="Consolas" panose="020B0609020204030204" pitchFamily="49" charset="0"/>
              </a:rPr>
              <a:t>    </a:t>
            </a:r>
            <a:r>
              <a:rPr lang="it-IT" sz="2000" b="0" dirty="0">
                <a:solidFill>
                  <a:srgbClr val="800000"/>
                </a:solidFill>
                <a:effectLst/>
                <a:latin typeface="Consolas" panose="020B0609020204030204" pitchFamily="49" charset="0"/>
              </a:rPr>
              <a:t>&lt;/ul&gt;</a:t>
            </a:r>
            <a:endParaRPr lang="it-IT" sz="2000" b="0" dirty="0">
              <a:solidFill>
                <a:srgbClr val="000000"/>
              </a:solidFill>
              <a:effectLst/>
              <a:latin typeface="Consolas" panose="020B0609020204030204" pitchFamily="49" charset="0"/>
            </a:endParaRPr>
          </a:p>
        </p:txBody>
      </p:sp>
      <p:pic>
        <p:nvPicPr>
          <p:cNvPr id="10" name="Picture 9">
            <a:extLst>
              <a:ext uri="{FF2B5EF4-FFF2-40B4-BE49-F238E27FC236}">
                <a16:creationId xmlns:a16="http://schemas.microsoft.com/office/drawing/2014/main" id="{CCDCF6B2-AE83-1AA8-0ECC-5E5373EE6F41}"/>
              </a:ext>
            </a:extLst>
          </p:cNvPr>
          <p:cNvPicPr>
            <a:picLocks noChangeAspect="1"/>
          </p:cNvPicPr>
          <p:nvPr/>
        </p:nvPicPr>
        <p:blipFill>
          <a:blip r:embed="rId2"/>
          <a:stretch>
            <a:fillRect/>
          </a:stretch>
        </p:blipFill>
        <p:spPr>
          <a:xfrm>
            <a:off x="9242599" y="4608216"/>
            <a:ext cx="2052795" cy="1882219"/>
          </a:xfrm>
          <a:prstGeom prst="rect">
            <a:avLst/>
          </a:prstGeom>
        </p:spPr>
      </p:pic>
      <p:sp>
        <p:nvSpPr>
          <p:cNvPr id="11" name="TextBox 10">
            <a:extLst>
              <a:ext uri="{FF2B5EF4-FFF2-40B4-BE49-F238E27FC236}">
                <a16:creationId xmlns:a16="http://schemas.microsoft.com/office/drawing/2014/main" id="{6CC60E03-6DAE-5631-121A-9737498F48E0}"/>
              </a:ext>
            </a:extLst>
          </p:cNvPr>
          <p:cNvSpPr txBox="1"/>
          <p:nvPr/>
        </p:nvSpPr>
        <p:spPr>
          <a:xfrm>
            <a:off x="7194506" y="5279818"/>
            <a:ext cx="1439694" cy="369332"/>
          </a:xfrm>
          <a:prstGeom prst="rect">
            <a:avLst/>
          </a:prstGeom>
          <a:noFill/>
        </p:spPr>
        <p:txBody>
          <a:bodyPr wrap="square" rtlCol="0">
            <a:spAutoFit/>
          </a:bodyPr>
          <a:lstStyle/>
          <a:p>
            <a:r>
              <a:rPr lang="en-IN" b="1" dirty="0"/>
              <a:t>Output</a:t>
            </a:r>
            <a:r>
              <a:rPr lang="en-IN" b="1" dirty="0">
                <a:sym typeface="Wingdings" panose="05000000000000000000" pitchFamily="2" charset="2"/>
              </a:rPr>
              <a:t></a:t>
            </a:r>
            <a:endParaRPr lang="en-IN" b="1" dirty="0"/>
          </a:p>
        </p:txBody>
      </p:sp>
    </p:spTree>
    <p:extLst>
      <p:ext uri="{BB962C8B-B14F-4D97-AF65-F5344CB8AC3E}">
        <p14:creationId xmlns:p14="http://schemas.microsoft.com/office/powerpoint/2010/main" val="39258561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4C8C6-4BD9-F3EA-3CDE-69866BCF342A}"/>
              </a:ext>
            </a:extLst>
          </p:cNvPr>
          <p:cNvSpPr>
            <a:spLocks noGrp="1"/>
          </p:cNvSpPr>
          <p:nvPr>
            <p:ph type="title"/>
          </p:nvPr>
        </p:nvSpPr>
        <p:spPr/>
        <p:txBody>
          <a:bodyPr/>
          <a:lstStyle/>
          <a:p>
            <a:r>
              <a:rPr lang="en-IN" dirty="0"/>
              <a:t>Ordered Lists</a:t>
            </a:r>
          </a:p>
        </p:txBody>
      </p:sp>
      <p:sp>
        <p:nvSpPr>
          <p:cNvPr id="3" name="Content Placeholder 2">
            <a:extLst>
              <a:ext uri="{FF2B5EF4-FFF2-40B4-BE49-F238E27FC236}">
                <a16:creationId xmlns:a16="http://schemas.microsoft.com/office/drawing/2014/main" id="{745B6E31-A3F5-F795-5219-6DF022127CEC}"/>
              </a:ext>
            </a:extLst>
          </p:cNvPr>
          <p:cNvSpPr>
            <a:spLocks noGrp="1"/>
          </p:cNvSpPr>
          <p:nvPr>
            <p:ph idx="1"/>
          </p:nvPr>
        </p:nvSpPr>
        <p:spPr>
          <a:xfrm>
            <a:off x="581193" y="2180496"/>
            <a:ext cx="5216492" cy="3678303"/>
          </a:xfrm>
        </p:spPr>
        <p:txBody>
          <a:bodyPr>
            <a:normAutofit/>
          </a:bodyPr>
          <a:lstStyle/>
          <a:p>
            <a:pPr algn="just"/>
            <a:r>
              <a:rPr lang="en-US" sz="2000" dirty="0"/>
              <a:t>Ordered lists (&lt;</a:t>
            </a:r>
            <a:r>
              <a:rPr lang="en-US" sz="2000" dirty="0" err="1"/>
              <a:t>ol</a:t>
            </a:r>
            <a:r>
              <a:rPr lang="en-US" sz="2000" dirty="0"/>
              <a:t>&gt;) are like unordered lists, except that each list item is numbered. They are useful when you need to list different steps in a process or rank items for first to last.</a:t>
            </a:r>
          </a:p>
          <a:p>
            <a:pPr algn="just"/>
            <a:r>
              <a:rPr lang="en-US" sz="2000" dirty="0"/>
              <a:t>You can create the ordered list with the &lt;</a:t>
            </a:r>
            <a:r>
              <a:rPr lang="en-US" sz="2000" dirty="0" err="1"/>
              <a:t>ol</a:t>
            </a:r>
            <a:r>
              <a:rPr lang="en-US" sz="2000" dirty="0"/>
              <a:t>&gt; tag and then add individual list items to the list using &lt;li&gt; tags.</a:t>
            </a:r>
            <a:endParaRPr lang="en-IN" sz="2000" dirty="0"/>
          </a:p>
        </p:txBody>
      </p:sp>
      <p:sp>
        <p:nvSpPr>
          <p:cNvPr id="6" name="TextBox 5">
            <a:extLst>
              <a:ext uri="{FF2B5EF4-FFF2-40B4-BE49-F238E27FC236}">
                <a16:creationId xmlns:a16="http://schemas.microsoft.com/office/drawing/2014/main" id="{9749C7A0-DF7F-20B5-CC4E-5C743F47ACC0}"/>
              </a:ext>
            </a:extLst>
          </p:cNvPr>
          <p:cNvSpPr txBox="1"/>
          <p:nvPr/>
        </p:nvSpPr>
        <p:spPr>
          <a:xfrm>
            <a:off x="7006346" y="1815275"/>
            <a:ext cx="4054002" cy="2862322"/>
          </a:xfrm>
          <a:prstGeom prst="rect">
            <a:avLst/>
          </a:prstGeom>
          <a:noFill/>
          <a:ln>
            <a:solidFill>
              <a:schemeClr val="tx2"/>
            </a:solidFill>
          </a:ln>
        </p:spPr>
        <p:txBody>
          <a:bodyPr wrap="square">
            <a:spAutoFit/>
          </a:bodyPr>
          <a:lstStyle/>
          <a:p>
            <a:r>
              <a:rPr lang="it-IT" sz="2000" b="0" dirty="0">
                <a:solidFill>
                  <a:srgbClr val="800000"/>
                </a:solidFill>
                <a:effectLst/>
                <a:latin typeface="Consolas" panose="020B0609020204030204" pitchFamily="49" charset="0"/>
              </a:rPr>
              <a:t>&lt;h2&gt;</a:t>
            </a:r>
            <a:r>
              <a:rPr lang="it-IT" sz="2000" b="0" dirty="0">
                <a:solidFill>
                  <a:srgbClr val="000000"/>
                </a:solidFill>
                <a:effectLst/>
                <a:latin typeface="Consolas" panose="020B0609020204030204" pitchFamily="49" charset="0"/>
              </a:rPr>
              <a:t>Skill Set:</a:t>
            </a:r>
            <a:r>
              <a:rPr lang="it-IT" sz="2000" b="0" dirty="0">
                <a:solidFill>
                  <a:srgbClr val="800000"/>
                </a:solidFill>
                <a:effectLst/>
                <a:latin typeface="Consolas" panose="020B0609020204030204" pitchFamily="49" charset="0"/>
              </a:rPr>
              <a:t>&lt;/h2&gt;</a:t>
            </a:r>
            <a:endParaRPr lang="it-IT" sz="2000" b="0" dirty="0">
              <a:solidFill>
                <a:srgbClr val="000000"/>
              </a:solidFill>
              <a:effectLst/>
              <a:latin typeface="Consolas" panose="020B0609020204030204" pitchFamily="49" charset="0"/>
            </a:endParaRPr>
          </a:p>
          <a:p>
            <a:r>
              <a:rPr lang="it-IT" sz="2000" b="0" dirty="0">
                <a:solidFill>
                  <a:srgbClr val="000000"/>
                </a:solidFill>
                <a:effectLst/>
                <a:latin typeface="Consolas" panose="020B0609020204030204" pitchFamily="49" charset="0"/>
              </a:rPr>
              <a:t>    </a:t>
            </a:r>
            <a:r>
              <a:rPr lang="it-IT" sz="2000" b="0" dirty="0">
                <a:solidFill>
                  <a:srgbClr val="800000"/>
                </a:solidFill>
                <a:effectLst/>
                <a:latin typeface="Consolas" panose="020B0609020204030204" pitchFamily="49" charset="0"/>
              </a:rPr>
              <a:t>&lt;ol&gt;</a:t>
            </a:r>
            <a:endParaRPr lang="it-IT" sz="2000" b="0" dirty="0">
              <a:solidFill>
                <a:srgbClr val="000000"/>
              </a:solidFill>
              <a:effectLst/>
              <a:latin typeface="Consolas" panose="020B0609020204030204" pitchFamily="49" charset="0"/>
            </a:endParaRPr>
          </a:p>
          <a:p>
            <a:r>
              <a:rPr lang="it-IT" sz="2000" b="0" dirty="0">
                <a:solidFill>
                  <a:srgbClr val="000000"/>
                </a:solidFill>
                <a:effectLst/>
                <a:latin typeface="Consolas" panose="020B0609020204030204" pitchFamily="49" charset="0"/>
              </a:rPr>
              <a:t>        </a:t>
            </a:r>
            <a:r>
              <a:rPr lang="it-IT" sz="2000" b="0" dirty="0">
                <a:solidFill>
                  <a:srgbClr val="800000"/>
                </a:solidFill>
                <a:effectLst/>
                <a:latin typeface="Consolas" panose="020B0609020204030204" pitchFamily="49" charset="0"/>
              </a:rPr>
              <a:t>&lt;li&gt;</a:t>
            </a:r>
            <a:r>
              <a:rPr lang="it-IT" sz="2000" b="0" dirty="0">
                <a:solidFill>
                  <a:srgbClr val="000000"/>
                </a:solidFill>
                <a:effectLst/>
                <a:latin typeface="Consolas" panose="020B0609020204030204" pitchFamily="49" charset="0"/>
              </a:rPr>
              <a:t>Java</a:t>
            </a:r>
            <a:r>
              <a:rPr lang="it-IT" sz="2000" b="0" dirty="0">
                <a:solidFill>
                  <a:srgbClr val="800000"/>
                </a:solidFill>
                <a:effectLst/>
                <a:latin typeface="Consolas" panose="020B0609020204030204" pitchFamily="49" charset="0"/>
              </a:rPr>
              <a:t>&lt;/li&gt;</a:t>
            </a:r>
            <a:endParaRPr lang="it-IT" sz="2000" b="0" dirty="0">
              <a:solidFill>
                <a:srgbClr val="000000"/>
              </a:solidFill>
              <a:effectLst/>
              <a:latin typeface="Consolas" panose="020B0609020204030204" pitchFamily="49" charset="0"/>
            </a:endParaRPr>
          </a:p>
          <a:p>
            <a:r>
              <a:rPr lang="it-IT" sz="2000" b="0" dirty="0">
                <a:solidFill>
                  <a:srgbClr val="000000"/>
                </a:solidFill>
                <a:effectLst/>
                <a:latin typeface="Consolas" panose="020B0609020204030204" pitchFamily="49" charset="0"/>
              </a:rPr>
              <a:t>        </a:t>
            </a:r>
            <a:r>
              <a:rPr lang="it-IT" sz="2000" b="0" dirty="0">
                <a:solidFill>
                  <a:srgbClr val="800000"/>
                </a:solidFill>
                <a:effectLst/>
                <a:latin typeface="Consolas" panose="020B0609020204030204" pitchFamily="49" charset="0"/>
              </a:rPr>
              <a:t>&lt;li&gt;</a:t>
            </a:r>
            <a:r>
              <a:rPr lang="it-IT" sz="2000" b="0" dirty="0">
                <a:solidFill>
                  <a:srgbClr val="000000"/>
                </a:solidFill>
                <a:effectLst/>
                <a:latin typeface="Consolas" panose="020B0609020204030204" pitchFamily="49" charset="0"/>
              </a:rPr>
              <a:t>C/C++</a:t>
            </a:r>
            <a:r>
              <a:rPr lang="it-IT" sz="2000" b="0" dirty="0">
                <a:solidFill>
                  <a:srgbClr val="800000"/>
                </a:solidFill>
                <a:effectLst/>
                <a:latin typeface="Consolas" panose="020B0609020204030204" pitchFamily="49" charset="0"/>
              </a:rPr>
              <a:t>&lt;/li&gt;</a:t>
            </a:r>
            <a:endParaRPr lang="it-IT" sz="2000" b="0" dirty="0">
              <a:solidFill>
                <a:srgbClr val="000000"/>
              </a:solidFill>
              <a:effectLst/>
              <a:latin typeface="Consolas" panose="020B0609020204030204" pitchFamily="49" charset="0"/>
            </a:endParaRPr>
          </a:p>
          <a:p>
            <a:r>
              <a:rPr lang="it-IT" sz="2000" b="0" dirty="0">
                <a:solidFill>
                  <a:srgbClr val="000000"/>
                </a:solidFill>
                <a:effectLst/>
                <a:latin typeface="Consolas" panose="020B0609020204030204" pitchFamily="49" charset="0"/>
              </a:rPr>
              <a:t>        </a:t>
            </a:r>
            <a:r>
              <a:rPr lang="it-IT" sz="2000" b="0" dirty="0">
                <a:solidFill>
                  <a:srgbClr val="800000"/>
                </a:solidFill>
                <a:effectLst/>
                <a:latin typeface="Consolas" panose="020B0609020204030204" pitchFamily="49" charset="0"/>
              </a:rPr>
              <a:t>&lt;li&gt;</a:t>
            </a:r>
            <a:r>
              <a:rPr lang="it-IT" sz="2000" b="0" dirty="0">
                <a:solidFill>
                  <a:srgbClr val="000000"/>
                </a:solidFill>
                <a:effectLst/>
                <a:latin typeface="Consolas" panose="020B0609020204030204" pitchFamily="49" charset="0"/>
              </a:rPr>
              <a:t>Python</a:t>
            </a:r>
            <a:r>
              <a:rPr lang="it-IT" sz="2000" b="0" dirty="0">
                <a:solidFill>
                  <a:srgbClr val="800000"/>
                </a:solidFill>
                <a:effectLst/>
                <a:latin typeface="Consolas" panose="020B0609020204030204" pitchFamily="49" charset="0"/>
              </a:rPr>
              <a:t>&lt;/li&gt;</a:t>
            </a:r>
            <a:endParaRPr lang="it-IT" sz="2000" b="0" dirty="0">
              <a:solidFill>
                <a:srgbClr val="000000"/>
              </a:solidFill>
              <a:effectLst/>
              <a:latin typeface="Consolas" panose="020B0609020204030204" pitchFamily="49" charset="0"/>
            </a:endParaRPr>
          </a:p>
          <a:p>
            <a:r>
              <a:rPr lang="it-IT" sz="2000" b="0" dirty="0">
                <a:solidFill>
                  <a:srgbClr val="000000"/>
                </a:solidFill>
                <a:effectLst/>
                <a:latin typeface="Consolas" panose="020B0609020204030204" pitchFamily="49" charset="0"/>
              </a:rPr>
              <a:t>        </a:t>
            </a:r>
            <a:r>
              <a:rPr lang="it-IT" sz="2000" b="0" dirty="0">
                <a:solidFill>
                  <a:srgbClr val="800000"/>
                </a:solidFill>
                <a:effectLst/>
                <a:latin typeface="Consolas" panose="020B0609020204030204" pitchFamily="49" charset="0"/>
              </a:rPr>
              <a:t>&lt;li&gt;</a:t>
            </a:r>
            <a:r>
              <a:rPr lang="it-IT" sz="2000" b="0" dirty="0">
                <a:solidFill>
                  <a:srgbClr val="000000"/>
                </a:solidFill>
                <a:effectLst/>
                <a:latin typeface="Consolas" panose="020B0609020204030204" pitchFamily="49" charset="0"/>
              </a:rPr>
              <a:t>HTML,CSS, JS</a:t>
            </a:r>
            <a:r>
              <a:rPr lang="it-IT" sz="2000" b="0" dirty="0">
                <a:solidFill>
                  <a:srgbClr val="800000"/>
                </a:solidFill>
                <a:effectLst/>
                <a:latin typeface="Consolas" panose="020B0609020204030204" pitchFamily="49" charset="0"/>
              </a:rPr>
              <a:t>&lt;/li&gt;</a:t>
            </a:r>
            <a:endParaRPr lang="it-IT" sz="2000" b="0" dirty="0">
              <a:solidFill>
                <a:srgbClr val="000000"/>
              </a:solidFill>
              <a:effectLst/>
              <a:latin typeface="Consolas" panose="020B0609020204030204" pitchFamily="49" charset="0"/>
            </a:endParaRPr>
          </a:p>
          <a:p>
            <a:r>
              <a:rPr lang="it-IT" sz="2000" b="0" dirty="0">
                <a:solidFill>
                  <a:srgbClr val="000000"/>
                </a:solidFill>
                <a:effectLst/>
                <a:latin typeface="Consolas" panose="020B0609020204030204" pitchFamily="49" charset="0"/>
              </a:rPr>
              <a:t>        </a:t>
            </a:r>
            <a:r>
              <a:rPr lang="it-IT" sz="2000" b="0" dirty="0">
                <a:solidFill>
                  <a:srgbClr val="800000"/>
                </a:solidFill>
                <a:effectLst/>
                <a:latin typeface="Consolas" panose="020B0609020204030204" pitchFamily="49" charset="0"/>
              </a:rPr>
              <a:t>&lt;li&gt;</a:t>
            </a:r>
            <a:r>
              <a:rPr lang="it-IT" sz="2000" b="0" dirty="0">
                <a:solidFill>
                  <a:srgbClr val="000000"/>
                </a:solidFill>
                <a:effectLst/>
                <a:latin typeface="Consolas" panose="020B0609020204030204" pitchFamily="49" charset="0"/>
              </a:rPr>
              <a:t>SQL</a:t>
            </a:r>
            <a:r>
              <a:rPr lang="it-IT" sz="2000" b="0" dirty="0">
                <a:solidFill>
                  <a:srgbClr val="800000"/>
                </a:solidFill>
                <a:effectLst/>
                <a:latin typeface="Consolas" panose="020B0609020204030204" pitchFamily="49" charset="0"/>
              </a:rPr>
              <a:t>&lt;/li&gt;</a:t>
            </a:r>
            <a:r>
              <a:rPr lang="it-IT" sz="2000" b="0" dirty="0">
                <a:solidFill>
                  <a:srgbClr val="000000"/>
                </a:solidFill>
                <a:effectLst/>
                <a:latin typeface="Consolas" panose="020B0609020204030204" pitchFamily="49" charset="0"/>
              </a:rPr>
              <a:t>  </a:t>
            </a:r>
          </a:p>
          <a:p>
            <a:r>
              <a:rPr lang="it-IT" sz="2000" b="0" dirty="0">
                <a:solidFill>
                  <a:srgbClr val="000000"/>
                </a:solidFill>
                <a:effectLst/>
                <a:latin typeface="Consolas" panose="020B0609020204030204" pitchFamily="49" charset="0"/>
              </a:rPr>
              <a:t>    </a:t>
            </a:r>
            <a:r>
              <a:rPr lang="it-IT" sz="2000" b="0" dirty="0">
                <a:solidFill>
                  <a:srgbClr val="800000"/>
                </a:solidFill>
                <a:effectLst/>
                <a:latin typeface="Consolas" panose="020B0609020204030204" pitchFamily="49" charset="0"/>
              </a:rPr>
              <a:t>&lt;/ol&gt;</a:t>
            </a:r>
            <a:endParaRPr lang="it-IT" sz="2000" b="0" dirty="0">
              <a:solidFill>
                <a:srgbClr val="000000"/>
              </a:solidFill>
              <a:effectLst/>
              <a:latin typeface="Consolas" panose="020B0609020204030204" pitchFamily="49" charset="0"/>
            </a:endParaRPr>
          </a:p>
        </p:txBody>
      </p:sp>
      <p:pic>
        <p:nvPicPr>
          <p:cNvPr id="8" name="Picture 7">
            <a:extLst>
              <a:ext uri="{FF2B5EF4-FFF2-40B4-BE49-F238E27FC236}">
                <a16:creationId xmlns:a16="http://schemas.microsoft.com/office/drawing/2014/main" id="{162D260D-3129-A0E9-A1B1-CF770E75AB90}"/>
              </a:ext>
            </a:extLst>
          </p:cNvPr>
          <p:cNvPicPr>
            <a:picLocks noChangeAspect="1"/>
          </p:cNvPicPr>
          <p:nvPr/>
        </p:nvPicPr>
        <p:blipFill>
          <a:blip r:embed="rId2"/>
          <a:stretch>
            <a:fillRect/>
          </a:stretch>
        </p:blipFill>
        <p:spPr>
          <a:xfrm>
            <a:off x="8745166" y="4744185"/>
            <a:ext cx="2110902" cy="1959220"/>
          </a:xfrm>
          <a:prstGeom prst="rect">
            <a:avLst/>
          </a:prstGeom>
        </p:spPr>
      </p:pic>
      <p:sp>
        <p:nvSpPr>
          <p:cNvPr id="9" name="TextBox 8">
            <a:extLst>
              <a:ext uri="{FF2B5EF4-FFF2-40B4-BE49-F238E27FC236}">
                <a16:creationId xmlns:a16="http://schemas.microsoft.com/office/drawing/2014/main" id="{5CE51565-A2BE-12AD-6750-8A1D4E1134D5}"/>
              </a:ext>
            </a:extLst>
          </p:cNvPr>
          <p:cNvSpPr txBox="1"/>
          <p:nvPr/>
        </p:nvSpPr>
        <p:spPr>
          <a:xfrm>
            <a:off x="7006346" y="5690501"/>
            <a:ext cx="1439694" cy="369332"/>
          </a:xfrm>
          <a:prstGeom prst="rect">
            <a:avLst/>
          </a:prstGeom>
          <a:noFill/>
        </p:spPr>
        <p:txBody>
          <a:bodyPr wrap="square" rtlCol="0">
            <a:spAutoFit/>
          </a:bodyPr>
          <a:lstStyle/>
          <a:p>
            <a:r>
              <a:rPr lang="en-IN" b="1" dirty="0"/>
              <a:t>Output</a:t>
            </a:r>
            <a:r>
              <a:rPr lang="en-IN" b="1" dirty="0">
                <a:sym typeface="Wingdings" panose="05000000000000000000" pitchFamily="2" charset="2"/>
              </a:rPr>
              <a:t></a:t>
            </a:r>
            <a:endParaRPr lang="en-IN" b="1" dirty="0"/>
          </a:p>
        </p:txBody>
      </p:sp>
    </p:spTree>
    <p:extLst>
      <p:ext uri="{BB962C8B-B14F-4D97-AF65-F5344CB8AC3E}">
        <p14:creationId xmlns:p14="http://schemas.microsoft.com/office/powerpoint/2010/main" val="19936305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938EE-E146-849D-7F65-FDE329033AE6}"/>
              </a:ext>
            </a:extLst>
          </p:cNvPr>
          <p:cNvSpPr>
            <a:spLocks noGrp="1"/>
          </p:cNvSpPr>
          <p:nvPr>
            <p:ph type="title"/>
          </p:nvPr>
        </p:nvSpPr>
        <p:spPr/>
        <p:txBody>
          <a:bodyPr/>
          <a:lstStyle/>
          <a:p>
            <a:r>
              <a:rPr lang="en-IN" dirty="0"/>
              <a:t>Images</a:t>
            </a:r>
          </a:p>
        </p:txBody>
      </p:sp>
      <p:sp>
        <p:nvSpPr>
          <p:cNvPr id="3" name="Content Placeholder 2">
            <a:extLst>
              <a:ext uri="{FF2B5EF4-FFF2-40B4-BE49-F238E27FC236}">
                <a16:creationId xmlns:a16="http://schemas.microsoft.com/office/drawing/2014/main" id="{A03D36C0-FA13-3414-D9C3-CE34ECADE77D}"/>
              </a:ext>
            </a:extLst>
          </p:cNvPr>
          <p:cNvSpPr>
            <a:spLocks noGrp="1"/>
          </p:cNvSpPr>
          <p:nvPr>
            <p:ph idx="1"/>
          </p:nvPr>
        </p:nvSpPr>
        <p:spPr>
          <a:xfrm>
            <a:off x="627821" y="2835560"/>
            <a:ext cx="10936357" cy="2776882"/>
          </a:xfrm>
        </p:spPr>
        <p:txBody>
          <a:bodyPr>
            <a:normAutofit fontScale="92500" lnSpcReduction="20000"/>
          </a:bodyPr>
          <a:lstStyle/>
          <a:p>
            <a:pPr algn="just"/>
            <a:r>
              <a:rPr lang="en-US" sz="2000" dirty="0"/>
              <a:t>The &lt;</a:t>
            </a:r>
            <a:r>
              <a:rPr lang="en-US" sz="2000" dirty="0" err="1"/>
              <a:t>img</a:t>
            </a:r>
            <a:r>
              <a:rPr lang="en-US" sz="2000" dirty="0"/>
              <a:t>&gt; tag allows you to add an image to a web page. Most elements require both opening and closing tags, but the &lt;</a:t>
            </a:r>
            <a:r>
              <a:rPr lang="en-US" sz="2000" dirty="0" err="1"/>
              <a:t>img</a:t>
            </a:r>
            <a:r>
              <a:rPr lang="en-US" sz="2000" dirty="0"/>
              <a:t>&gt; tag is a self-closing tag. Note that the end of the &lt;</a:t>
            </a:r>
            <a:r>
              <a:rPr lang="en-US" sz="2000" dirty="0" err="1"/>
              <a:t>img</a:t>
            </a:r>
            <a:r>
              <a:rPr lang="en-US" sz="2000" dirty="0"/>
              <a:t>&gt; tag has a forward slash /. Self-closing tags may include or omit the final slash / both will render properly.</a:t>
            </a:r>
          </a:p>
          <a:p>
            <a:pPr algn="just"/>
            <a:r>
              <a:rPr lang="en-US" sz="2000" dirty="0"/>
              <a:t>The &lt;</a:t>
            </a:r>
            <a:r>
              <a:rPr lang="en-US" sz="2000" dirty="0" err="1"/>
              <a:t>img</a:t>
            </a:r>
            <a:r>
              <a:rPr lang="en-US" sz="2000" dirty="0"/>
              <a:t>&gt; tag has a required attribute called </a:t>
            </a:r>
            <a:r>
              <a:rPr lang="en-US" sz="2000" dirty="0" err="1"/>
              <a:t>src</a:t>
            </a:r>
            <a:r>
              <a:rPr lang="en-US" sz="2000" dirty="0"/>
              <a:t>. The </a:t>
            </a:r>
            <a:r>
              <a:rPr lang="en-US" sz="2000" dirty="0" err="1"/>
              <a:t>src</a:t>
            </a:r>
            <a:r>
              <a:rPr lang="en-US" sz="2000" dirty="0"/>
              <a:t> attribute must be set to the image’s source, or the location of the image. In this case, the value of </a:t>
            </a:r>
            <a:r>
              <a:rPr lang="en-US" sz="2000" dirty="0" err="1"/>
              <a:t>src</a:t>
            </a:r>
            <a:r>
              <a:rPr lang="en-US" sz="2000" dirty="0"/>
              <a:t> must be the uniform resource locator (URL) of the image. A URL is the web address or local address where a file is stored.</a:t>
            </a:r>
          </a:p>
          <a:p>
            <a:pPr marL="0" indent="0" algn="just">
              <a:buNone/>
            </a:pPr>
            <a:r>
              <a:rPr lang="en-IN" sz="2000" b="0" i="0" dirty="0">
                <a:effectLst/>
                <a:latin typeface="Monaco"/>
              </a:rPr>
              <a:t>&lt;</a:t>
            </a:r>
            <a:r>
              <a:rPr lang="en-IN" sz="2000" b="0" i="0" dirty="0" err="1">
                <a:effectLst/>
                <a:latin typeface="Monaco"/>
              </a:rPr>
              <a:t>img</a:t>
            </a:r>
            <a:r>
              <a:rPr lang="en-IN" sz="2000" b="0" i="0" dirty="0">
                <a:effectLst/>
                <a:latin typeface="Monaco"/>
              </a:rPr>
              <a:t> </a:t>
            </a:r>
            <a:r>
              <a:rPr lang="en-IN" sz="2000" b="0" i="0" dirty="0" err="1">
                <a:solidFill>
                  <a:schemeClr val="accent2">
                    <a:lumMod val="75000"/>
                  </a:schemeClr>
                </a:solidFill>
                <a:effectLst/>
                <a:latin typeface="Monaco"/>
              </a:rPr>
              <a:t>src</a:t>
            </a:r>
            <a:r>
              <a:rPr lang="en-IN" sz="2000" b="0" i="0" dirty="0">
                <a:solidFill>
                  <a:schemeClr val="accent2">
                    <a:lumMod val="75000"/>
                  </a:schemeClr>
                </a:solidFill>
                <a:effectLst/>
                <a:latin typeface="Monaco"/>
              </a:rPr>
              <a:t>="image-location.jpg" </a:t>
            </a:r>
            <a:r>
              <a:rPr lang="en-IN" sz="2000" b="0" i="0" dirty="0">
                <a:effectLst/>
                <a:latin typeface="Monaco"/>
              </a:rPr>
              <a:t>/&gt;</a:t>
            </a:r>
            <a:endParaRPr lang="en-IN" sz="2000" dirty="0"/>
          </a:p>
          <a:p>
            <a:pPr algn="just"/>
            <a:r>
              <a:rPr lang="en-US" sz="2000" dirty="0"/>
              <a:t>The required alt attribute provides an alternate text for an image, if the user for some reason cannot view it (because of slow connection, an error in the </a:t>
            </a:r>
            <a:r>
              <a:rPr lang="en-US" sz="2000" dirty="0" err="1"/>
              <a:t>src</a:t>
            </a:r>
            <a:r>
              <a:rPr lang="en-US" sz="2000" dirty="0"/>
              <a:t> attribute, or if the user uses a screen reader). </a:t>
            </a:r>
          </a:p>
          <a:p>
            <a:pPr algn="just"/>
            <a:endParaRPr lang="en-IN" sz="2000" dirty="0"/>
          </a:p>
        </p:txBody>
      </p:sp>
    </p:spTree>
    <p:extLst>
      <p:ext uri="{BB962C8B-B14F-4D97-AF65-F5344CB8AC3E}">
        <p14:creationId xmlns:p14="http://schemas.microsoft.com/office/powerpoint/2010/main" val="25444202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3E96F-660B-91A7-6481-2B064014FD38}"/>
              </a:ext>
            </a:extLst>
          </p:cNvPr>
          <p:cNvSpPr>
            <a:spLocks noGrp="1"/>
          </p:cNvSpPr>
          <p:nvPr>
            <p:ph type="title"/>
          </p:nvPr>
        </p:nvSpPr>
        <p:spPr/>
        <p:txBody>
          <a:bodyPr/>
          <a:lstStyle/>
          <a:p>
            <a:r>
              <a:rPr lang="en-IN" dirty="0"/>
              <a:t>Videos</a:t>
            </a:r>
          </a:p>
        </p:txBody>
      </p:sp>
      <p:sp>
        <p:nvSpPr>
          <p:cNvPr id="3" name="Content Placeholder 2">
            <a:extLst>
              <a:ext uri="{FF2B5EF4-FFF2-40B4-BE49-F238E27FC236}">
                <a16:creationId xmlns:a16="http://schemas.microsoft.com/office/drawing/2014/main" id="{8574BC70-EFB1-4404-7452-7ADE10CECB5B}"/>
              </a:ext>
            </a:extLst>
          </p:cNvPr>
          <p:cNvSpPr>
            <a:spLocks noGrp="1"/>
          </p:cNvSpPr>
          <p:nvPr>
            <p:ph idx="1"/>
          </p:nvPr>
        </p:nvSpPr>
        <p:spPr>
          <a:xfrm>
            <a:off x="581192" y="2180496"/>
            <a:ext cx="11029615" cy="4142483"/>
          </a:xfrm>
        </p:spPr>
        <p:txBody>
          <a:bodyPr>
            <a:normAutofit/>
          </a:bodyPr>
          <a:lstStyle/>
          <a:p>
            <a:r>
              <a:rPr lang="en-US" sz="1600" dirty="0"/>
              <a:t>In addition to images, HTML also supports displaying videos. Like the &lt;</a:t>
            </a:r>
            <a:r>
              <a:rPr lang="en-US" sz="1600" dirty="0" err="1"/>
              <a:t>img</a:t>
            </a:r>
            <a:r>
              <a:rPr lang="en-US" sz="1600" dirty="0"/>
              <a:t>&gt; element, the &lt;video&gt; element requires a </a:t>
            </a:r>
            <a:r>
              <a:rPr lang="en-US" sz="1600" dirty="0" err="1"/>
              <a:t>src</a:t>
            </a:r>
            <a:r>
              <a:rPr lang="en-US" sz="1600" dirty="0"/>
              <a:t> attribute with a link to the video source. Unlike the &lt;</a:t>
            </a:r>
            <a:r>
              <a:rPr lang="en-US" sz="1600" dirty="0" err="1"/>
              <a:t>img</a:t>
            </a:r>
            <a:r>
              <a:rPr lang="en-US" sz="1600" dirty="0"/>
              <a:t>&gt; element however, the &lt;video&gt; element requires an opening and a closing tag.</a:t>
            </a:r>
          </a:p>
          <a:p>
            <a:pPr marL="0" indent="0">
              <a:buNone/>
            </a:pPr>
            <a:r>
              <a:rPr lang="en-US" sz="1600" b="0" i="0" dirty="0">
                <a:solidFill>
                  <a:schemeClr val="accent2">
                    <a:lumMod val="75000"/>
                  </a:schemeClr>
                </a:solidFill>
                <a:effectLst/>
                <a:latin typeface="Monaco"/>
              </a:rPr>
              <a:t>&lt;video </a:t>
            </a:r>
            <a:r>
              <a:rPr lang="en-US" sz="1600" b="0" i="0" dirty="0" err="1">
                <a:solidFill>
                  <a:srgbClr val="00B050"/>
                </a:solidFill>
                <a:effectLst/>
                <a:latin typeface="Monaco"/>
              </a:rPr>
              <a:t>src</a:t>
            </a:r>
            <a:r>
              <a:rPr lang="en-US" sz="1600" b="0" i="0" dirty="0">
                <a:solidFill>
                  <a:srgbClr val="00B050"/>
                </a:solidFill>
                <a:effectLst/>
                <a:latin typeface="Monaco"/>
              </a:rPr>
              <a:t>="myVideo.mp4" width="320" height="240" controls</a:t>
            </a:r>
            <a:r>
              <a:rPr lang="en-US" sz="1600" b="0" i="0" dirty="0">
                <a:solidFill>
                  <a:schemeClr val="accent2">
                    <a:lumMod val="75000"/>
                  </a:schemeClr>
                </a:solidFill>
                <a:effectLst/>
                <a:latin typeface="Monaco"/>
              </a:rPr>
              <a:t>&gt;</a:t>
            </a:r>
            <a:r>
              <a:rPr lang="en-US" sz="1600" dirty="0"/>
              <a:t/>
            </a:r>
            <a:br>
              <a:rPr lang="en-US" sz="1600" dirty="0"/>
            </a:br>
            <a:r>
              <a:rPr lang="en-US" sz="1600" b="0" i="0" dirty="0">
                <a:solidFill>
                  <a:srgbClr val="FFFFFF"/>
                </a:solidFill>
                <a:effectLst/>
                <a:latin typeface="Monaco"/>
              </a:rPr>
              <a:t>  Video not supported</a:t>
            </a:r>
            <a:r>
              <a:rPr lang="en-US" sz="1600" dirty="0"/>
              <a:t/>
            </a:r>
            <a:br>
              <a:rPr lang="en-US" sz="1600" dirty="0"/>
            </a:br>
            <a:r>
              <a:rPr lang="en-US" sz="1600" b="0" i="0" dirty="0">
                <a:solidFill>
                  <a:schemeClr val="accent2">
                    <a:lumMod val="75000"/>
                  </a:schemeClr>
                </a:solidFill>
                <a:effectLst/>
                <a:latin typeface="Monaco"/>
              </a:rPr>
              <a:t>&lt;/video&gt;</a:t>
            </a:r>
          </a:p>
          <a:p>
            <a:r>
              <a:rPr lang="en-US" sz="1600" dirty="0">
                <a:solidFill>
                  <a:schemeClr val="accent2">
                    <a:lumMod val="75000"/>
                  </a:schemeClr>
                </a:solidFill>
              </a:rPr>
              <a:t>In this example, the video source (</a:t>
            </a:r>
            <a:r>
              <a:rPr lang="en-US" sz="1600" dirty="0" err="1">
                <a:solidFill>
                  <a:schemeClr val="accent2">
                    <a:lumMod val="75000"/>
                  </a:schemeClr>
                </a:solidFill>
              </a:rPr>
              <a:t>src</a:t>
            </a:r>
            <a:r>
              <a:rPr lang="en-US" sz="1600" dirty="0">
                <a:solidFill>
                  <a:schemeClr val="accent2">
                    <a:lumMod val="75000"/>
                  </a:schemeClr>
                </a:solidFill>
              </a:rPr>
              <a:t>) is "myVideo.mp4". The source can be a video file that is hosted alongside your webpage, or a URL that points to a video file hosted on another webpage.</a:t>
            </a:r>
          </a:p>
          <a:p>
            <a:r>
              <a:rPr lang="en-US" sz="1600" dirty="0">
                <a:solidFill>
                  <a:schemeClr val="accent2">
                    <a:lumMod val="75000"/>
                  </a:schemeClr>
                </a:solidFill>
              </a:rPr>
              <a:t>After the </a:t>
            </a:r>
            <a:r>
              <a:rPr lang="en-US" sz="1600" dirty="0" err="1">
                <a:solidFill>
                  <a:schemeClr val="accent2">
                    <a:lumMod val="75000"/>
                  </a:schemeClr>
                </a:solidFill>
              </a:rPr>
              <a:t>src</a:t>
            </a:r>
            <a:r>
              <a:rPr lang="en-US" sz="1600" dirty="0">
                <a:solidFill>
                  <a:schemeClr val="accent2">
                    <a:lumMod val="75000"/>
                  </a:schemeClr>
                </a:solidFill>
              </a:rPr>
              <a:t> attribute, the width and height attributes are used to set the size of the video displayed in the browser. The controls attribute instructs the browser to include basic video controls such as pausing and playing.</a:t>
            </a:r>
          </a:p>
          <a:p>
            <a:r>
              <a:rPr lang="en-US" sz="1600" dirty="0">
                <a:solidFill>
                  <a:schemeClr val="accent2">
                    <a:lumMod val="75000"/>
                  </a:schemeClr>
                </a:solidFill>
              </a:rPr>
              <a:t>The text, Video not supported, between the opening and closing video tags will only be displayed if the browser is unable to load the video.</a:t>
            </a:r>
            <a:endParaRPr lang="en-IN" sz="1600" dirty="0">
              <a:solidFill>
                <a:schemeClr val="accent2">
                  <a:lumMod val="75000"/>
                </a:schemeClr>
              </a:solidFill>
            </a:endParaRPr>
          </a:p>
        </p:txBody>
      </p:sp>
    </p:spTree>
    <p:extLst>
      <p:ext uri="{BB962C8B-B14F-4D97-AF65-F5344CB8AC3E}">
        <p14:creationId xmlns:p14="http://schemas.microsoft.com/office/powerpoint/2010/main" val="42192954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CE630-FCA2-4B11-8A5E-9F6CDDE0AC87}"/>
              </a:ext>
            </a:extLst>
          </p:cNvPr>
          <p:cNvSpPr>
            <a:spLocks noGrp="1"/>
          </p:cNvSpPr>
          <p:nvPr>
            <p:ph type="title"/>
          </p:nvPr>
        </p:nvSpPr>
        <p:spPr/>
        <p:txBody>
          <a:bodyPr/>
          <a:lstStyle/>
          <a:p>
            <a:r>
              <a:rPr lang="en-US" dirty="0"/>
              <a:t>Linking to Other Web Pages</a:t>
            </a:r>
            <a:endParaRPr lang="en-IN" dirty="0"/>
          </a:p>
        </p:txBody>
      </p:sp>
      <p:sp>
        <p:nvSpPr>
          <p:cNvPr id="3" name="Content Placeholder 2">
            <a:extLst>
              <a:ext uri="{FF2B5EF4-FFF2-40B4-BE49-F238E27FC236}">
                <a16:creationId xmlns:a16="http://schemas.microsoft.com/office/drawing/2014/main" id="{E2C11EF2-8289-AB42-3D56-15E18823EF7A}"/>
              </a:ext>
            </a:extLst>
          </p:cNvPr>
          <p:cNvSpPr>
            <a:spLocks noGrp="1"/>
          </p:cNvSpPr>
          <p:nvPr>
            <p:ph idx="1"/>
          </p:nvPr>
        </p:nvSpPr>
        <p:spPr>
          <a:xfrm>
            <a:off x="581192" y="2180496"/>
            <a:ext cx="11029615" cy="4268942"/>
          </a:xfrm>
        </p:spPr>
        <p:txBody>
          <a:bodyPr/>
          <a:lstStyle/>
          <a:p>
            <a:r>
              <a:rPr lang="en-US" dirty="0"/>
              <a:t>One of the powerful aspects of HTML (and the Internet), is the ability to link to other web pages.</a:t>
            </a:r>
          </a:p>
          <a:p>
            <a:r>
              <a:rPr lang="en-US" dirty="0"/>
              <a:t>You can add links to a web page by adding an anchor element &lt;a&gt; and including the text of the link in between the opening and closing tags.</a:t>
            </a:r>
          </a:p>
          <a:p>
            <a:r>
              <a:rPr lang="en-US" dirty="0"/>
              <a:t>The anchor element is incomplete without the </a:t>
            </a:r>
            <a:r>
              <a:rPr lang="en-US" dirty="0" err="1">
                <a:solidFill>
                  <a:srgbClr val="FF0000"/>
                </a:solidFill>
              </a:rPr>
              <a:t>href</a:t>
            </a:r>
            <a:r>
              <a:rPr lang="en-US" dirty="0">
                <a:solidFill>
                  <a:srgbClr val="FF0000"/>
                </a:solidFill>
              </a:rPr>
              <a:t> attribute</a:t>
            </a:r>
            <a:r>
              <a:rPr lang="en-US" dirty="0"/>
              <a:t>. This attribute stands for hyperlink reference and is used to link to a path, or the address to where a file is located (whether it is on your computer or another location). The paths provided to the </a:t>
            </a:r>
            <a:r>
              <a:rPr lang="en-US" dirty="0" err="1"/>
              <a:t>href</a:t>
            </a:r>
            <a:r>
              <a:rPr lang="en-US" dirty="0"/>
              <a:t> attribute are often URLs.</a:t>
            </a:r>
          </a:p>
          <a:p>
            <a:pPr marL="0" indent="0">
              <a:buNone/>
            </a:pPr>
            <a:r>
              <a:rPr lang="en-US" dirty="0"/>
              <a:t>&lt;a </a:t>
            </a:r>
            <a:r>
              <a:rPr lang="en-US" dirty="0" err="1">
                <a:solidFill>
                  <a:srgbClr val="FF0000"/>
                </a:solidFill>
              </a:rPr>
              <a:t>href</a:t>
            </a:r>
            <a:r>
              <a:rPr lang="en-US" dirty="0">
                <a:solidFill>
                  <a:srgbClr val="FF0000"/>
                </a:solidFill>
              </a:rPr>
              <a:t>="https://www.wikipedia.org/"</a:t>
            </a:r>
            <a:r>
              <a:rPr lang="en-US" dirty="0"/>
              <a:t>&gt;</a:t>
            </a:r>
            <a:r>
              <a:rPr lang="en-US" dirty="0">
                <a:solidFill>
                  <a:schemeClr val="accent5">
                    <a:lumMod val="75000"/>
                  </a:schemeClr>
                </a:solidFill>
              </a:rPr>
              <a:t>This Is a Link To Wikipedia</a:t>
            </a:r>
            <a:r>
              <a:rPr lang="en-US" dirty="0"/>
              <a:t>&lt;/a&gt;</a:t>
            </a:r>
          </a:p>
          <a:p>
            <a:r>
              <a:rPr lang="en-US" dirty="0"/>
              <a:t>For a link to open in a new window, the target attribute requires a value of _blank. The target attribute can be added directly to the opening tag of the anchor element, just like the </a:t>
            </a:r>
            <a:r>
              <a:rPr lang="en-US" dirty="0" err="1"/>
              <a:t>href</a:t>
            </a:r>
            <a:r>
              <a:rPr lang="en-US" dirty="0"/>
              <a:t> attribute.</a:t>
            </a:r>
          </a:p>
          <a:p>
            <a:pPr marL="0" indent="0">
              <a:buNone/>
            </a:pPr>
            <a:r>
              <a:rPr lang="en-US" dirty="0"/>
              <a:t>&lt;a </a:t>
            </a:r>
            <a:r>
              <a:rPr lang="en-US" dirty="0" err="1">
                <a:solidFill>
                  <a:srgbClr val="FF0000"/>
                </a:solidFill>
              </a:rPr>
              <a:t>href</a:t>
            </a:r>
            <a:r>
              <a:rPr lang="en-US" dirty="0">
                <a:solidFill>
                  <a:srgbClr val="FF0000"/>
                </a:solidFill>
              </a:rPr>
              <a:t>=</a:t>
            </a:r>
            <a:r>
              <a:rPr lang="en-US" dirty="0">
                <a:solidFill>
                  <a:srgbClr val="FF0000"/>
                </a:solidFill>
                <a:hlinkClick r:id="rId2">
                  <a:extLst>
                    <a:ext uri="{A12FA001-AC4F-418D-AE19-62706E023703}">
                      <ahyp:hlinkClr xmlns:ahyp="http://schemas.microsoft.com/office/drawing/2018/hyperlinkcolor" xmlns="" val="tx"/>
                    </a:ext>
                  </a:extLst>
                </a:hlinkClick>
              </a:rPr>
              <a:t>“https://www.wikipedia.org/</a:t>
            </a:r>
            <a:r>
              <a:rPr lang="en-US" dirty="0">
                <a:solidFill>
                  <a:srgbClr val="FF0000"/>
                </a:solidFill>
              </a:rPr>
              <a:t>”, target=“_blank”</a:t>
            </a:r>
            <a:r>
              <a:rPr lang="en-US" dirty="0"/>
              <a:t>&gt;</a:t>
            </a:r>
            <a:r>
              <a:rPr lang="en-US" dirty="0">
                <a:solidFill>
                  <a:schemeClr val="accent5">
                    <a:lumMod val="75000"/>
                  </a:schemeClr>
                </a:solidFill>
              </a:rPr>
              <a:t>This Is a Link To Wikipedia</a:t>
            </a:r>
            <a:r>
              <a:rPr lang="en-US" dirty="0"/>
              <a:t>&lt;/a&gt;</a:t>
            </a:r>
          </a:p>
          <a:p>
            <a:endParaRPr lang="en-US" dirty="0"/>
          </a:p>
        </p:txBody>
      </p:sp>
    </p:spTree>
    <p:extLst>
      <p:ext uri="{BB962C8B-B14F-4D97-AF65-F5344CB8AC3E}">
        <p14:creationId xmlns:p14="http://schemas.microsoft.com/office/powerpoint/2010/main" val="20503426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188DA-C9B4-C056-5F19-79D6F7720ACA}"/>
              </a:ext>
            </a:extLst>
          </p:cNvPr>
          <p:cNvSpPr>
            <a:spLocks noGrp="1"/>
          </p:cNvSpPr>
          <p:nvPr>
            <p:ph type="title"/>
          </p:nvPr>
        </p:nvSpPr>
        <p:spPr/>
        <p:txBody>
          <a:bodyPr/>
          <a:lstStyle/>
          <a:p>
            <a:r>
              <a:rPr lang="en-IN" dirty="0"/>
              <a:t>Linking to Relative Page</a:t>
            </a:r>
          </a:p>
        </p:txBody>
      </p:sp>
      <p:sp>
        <p:nvSpPr>
          <p:cNvPr id="3" name="Content Placeholder 2">
            <a:extLst>
              <a:ext uri="{FF2B5EF4-FFF2-40B4-BE49-F238E27FC236}">
                <a16:creationId xmlns:a16="http://schemas.microsoft.com/office/drawing/2014/main" id="{3018C153-D78B-37B3-15F6-43D510A37F38}"/>
              </a:ext>
            </a:extLst>
          </p:cNvPr>
          <p:cNvSpPr>
            <a:spLocks noGrp="1"/>
          </p:cNvSpPr>
          <p:nvPr>
            <p:ph idx="1"/>
          </p:nvPr>
        </p:nvSpPr>
        <p:spPr/>
        <p:txBody>
          <a:bodyPr/>
          <a:lstStyle/>
          <a:p>
            <a:pPr algn="l"/>
            <a:r>
              <a:rPr lang="en-US" b="0" i="0" dirty="0">
                <a:solidFill>
                  <a:srgbClr val="10162F"/>
                </a:solidFill>
                <a:effectLst/>
                <a:latin typeface="Apercu"/>
              </a:rPr>
              <a:t>Thus far you have learned how to link to external web pages. Many sites also link to internal web pages like Home, About, and Contact.</a:t>
            </a:r>
          </a:p>
          <a:p>
            <a:pPr algn="l"/>
            <a:r>
              <a:rPr lang="en-US" b="0" i="0" dirty="0">
                <a:solidFill>
                  <a:srgbClr val="10162F"/>
                </a:solidFill>
                <a:effectLst/>
                <a:latin typeface="Apercu"/>
              </a:rPr>
              <a:t>Before we learn how to link between internal pages, let’s establish where our files are stored. When making multi-page static websites, web developers often store HTML files in the </a:t>
            </a:r>
            <a:r>
              <a:rPr lang="en-US" b="0" i="1" dirty="0">
                <a:solidFill>
                  <a:srgbClr val="10162F"/>
                </a:solidFill>
                <a:effectLst/>
                <a:latin typeface="Apercu"/>
              </a:rPr>
              <a:t>root directory</a:t>
            </a:r>
            <a:r>
              <a:rPr lang="en-US" b="0" i="0" dirty="0">
                <a:solidFill>
                  <a:srgbClr val="10162F"/>
                </a:solidFill>
                <a:effectLst/>
                <a:latin typeface="Apercu"/>
              </a:rPr>
              <a:t>, or a main folder where all the files for the project are stored. As the size of the projects you create grows, you may use additional folders within the main project folder to organize your code.</a:t>
            </a:r>
          </a:p>
          <a:p>
            <a:endParaRPr lang="en-IN" dirty="0"/>
          </a:p>
        </p:txBody>
      </p:sp>
      <p:pic>
        <p:nvPicPr>
          <p:cNvPr id="5" name="Picture 4">
            <a:extLst>
              <a:ext uri="{FF2B5EF4-FFF2-40B4-BE49-F238E27FC236}">
                <a16:creationId xmlns:a16="http://schemas.microsoft.com/office/drawing/2014/main" id="{255FFAEB-76E8-CBE1-D281-6C9D062503D7}"/>
              </a:ext>
            </a:extLst>
          </p:cNvPr>
          <p:cNvPicPr>
            <a:picLocks noChangeAspect="1"/>
          </p:cNvPicPr>
          <p:nvPr/>
        </p:nvPicPr>
        <p:blipFill>
          <a:blip r:embed="rId2"/>
          <a:stretch>
            <a:fillRect/>
          </a:stretch>
        </p:blipFill>
        <p:spPr>
          <a:xfrm>
            <a:off x="4321450" y="4942291"/>
            <a:ext cx="2023358" cy="1437649"/>
          </a:xfrm>
          <a:prstGeom prst="rect">
            <a:avLst/>
          </a:prstGeom>
        </p:spPr>
      </p:pic>
    </p:spTree>
    <p:extLst>
      <p:ext uri="{BB962C8B-B14F-4D97-AF65-F5344CB8AC3E}">
        <p14:creationId xmlns:p14="http://schemas.microsoft.com/office/powerpoint/2010/main" val="2367223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17F28-7168-D008-E405-10D10F28F09F}"/>
              </a:ext>
            </a:extLst>
          </p:cNvPr>
          <p:cNvSpPr>
            <a:spLocks noGrp="1"/>
          </p:cNvSpPr>
          <p:nvPr>
            <p:ph type="title"/>
          </p:nvPr>
        </p:nvSpPr>
        <p:spPr/>
        <p:txBody>
          <a:bodyPr/>
          <a:lstStyle/>
          <a:p>
            <a:r>
              <a:rPr lang="en-IN" dirty="0"/>
              <a:t>Linking to Relative Page</a:t>
            </a:r>
          </a:p>
        </p:txBody>
      </p:sp>
      <p:sp>
        <p:nvSpPr>
          <p:cNvPr id="3" name="Content Placeholder 2">
            <a:extLst>
              <a:ext uri="{FF2B5EF4-FFF2-40B4-BE49-F238E27FC236}">
                <a16:creationId xmlns:a16="http://schemas.microsoft.com/office/drawing/2014/main" id="{8C6105EB-8DAB-6D9B-0173-4C65D31A929A}"/>
              </a:ext>
            </a:extLst>
          </p:cNvPr>
          <p:cNvSpPr>
            <a:spLocks noGrp="1"/>
          </p:cNvSpPr>
          <p:nvPr>
            <p:ph idx="1"/>
          </p:nvPr>
        </p:nvSpPr>
        <p:spPr>
          <a:xfrm>
            <a:off x="581192" y="2248590"/>
            <a:ext cx="11029615" cy="3678303"/>
          </a:xfrm>
        </p:spPr>
        <p:txBody>
          <a:bodyPr>
            <a:normAutofit lnSpcReduction="10000"/>
          </a:bodyPr>
          <a:lstStyle/>
          <a:p>
            <a:pPr algn="just"/>
            <a:r>
              <a:rPr lang="en-US" sz="2000" b="0" i="0" dirty="0">
                <a:solidFill>
                  <a:schemeClr val="tx1"/>
                </a:solidFill>
                <a:effectLst/>
                <a:latin typeface="Apercu"/>
              </a:rPr>
              <a:t>The example above shows three different files — </a:t>
            </a:r>
            <a:r>
              <a:rPr lang="en-US" sz="2000" b="1" i="0" dirty="0">
                <a:solidFill>
                  <a:schemeClr val="tx1"/>
                </a:solidFill>
                <a:effectLst/>
                <a:latin typeface="Apercu"/>
              </a:rPr>
              <a:t>about.html</a:t>
            </a:r>
            <a:r>
              <a:rPr lang="en-US" sz="2000" b="0" i="0" dirty="0">
                <a:solidFill>
                  <a:schemeClr val="tx1"/>
                </a:solidFill>
                <a:effectLst/>
                <a:latin typeface="Apercu"/>
              </a:rPr>
              <a:t>, </a:t>
            </a:r>
            <a:r>
              <a:rPr lang="en-US" sz="2000" b="1" i="0" dirty="0">
                <a:solidFill>
                  <a:schemeClr val="tx1"/>
                </a:solidFill>
                <a:effectLst/>
                <a:latin typeface="Apercu"/>
              </a:rPr>
              <a:t>contact.html</a:t>
            </a:r>
            <a:r>
              <a:rPr lang="en-US" sz="2000" b="0" i="0" dirty="0">
                <a:solidFill>
                  <a:schemeClr val="tx1"/>
                </a:solidFill>
                <a:effectLst/>
                <a:latin typeface="Apercu"/>
              </a:rPr>
              <a:t>, and </a:t>
            </a:r>
            <a:r>
              <a:rPr lang="en-US" sz="2000" b="1" i="0" dirty="0">
                <a:solidFill>
                  <a:schemeClr val="tx1"/>
                </a:solidFill>
                <a:effectLst/>
                <a:latin typeface="Apercu"/>
              </a:rPr>
              <a:t>index.html</a:t>
            </a:r>
            <a:r>
              <a:rPr lang="en-US" sz="2000" b="0" i="0" dirty="0">
                <a:solidFill>
                  <a:schemeClr val="tx1"/>
                </a:solidFill>
                <a:effectLst/>
                <a:latin typeface="Apercu"/>
              </a:rPr>
              <a:t> in one folder.</a:t>
            </a:r>
          </a:p>
          <a:p>
            <a:pPr algn="just"/>
            <a:r>
              <a:rPr lang="en-US" sz="2000" b="0" i="0" dirty="0">
                <a:solidFill>
                  <a:schemeClr val="tx1"/>
                </a:solidFill>
                <a:effectLst/>
                <a:latin typeface="Apercu"/>
              </a:rPr>
              <a:t>HTML files are often stored in the same folder, as shown in the example above. If the browser is currently displaying </a:t>
            </a:r>
            <a:r>
              <a:rPr lang="en-US" sz="2000" b="1" i="0" dirty="0">
                <a:solidFill>
                  <a:schemeClr val="tx1"/>
                </a:solidFill>
                <a:effectLst/>
                <a:latin typeface="Apercu"/>
              </a:rPr>
              <a:t>index.html</a:t>
            </a:r>
            <a:r>
              <a:rPr lang="en-US" sz="2000" b="0" i="0" dirty="0">
                <a:solidFill>
                  <a:schemeClr val="tx1"/>
                </a:solidFill>
                <a:effectLst/>
                <a:latin typeface="Apercu"/>
              </a:rPr>
              <a:t>, it also knows that </a:t>
            </a:r>
            <a:r>
              <a:rPr lang="en-US" sz="2000" b="1" i="0" dirty="0">
                <a:solidFill>
                  <a:schemeClr val="tx1"/>
                </a:solidFill>
                <a:effectLst/>
                <a:latin typeface="Apercu"/>
              </a:rPr>
              <a:t>about.html</a:t>
            </a:r>
            <a:r>
              <a:rPr lang="en-US" sz="2000" b="0" i="0" dirty="0">
                <a:solidFill>
                  <a:schemeClr val="tx1"/>
                </a:solidFill>
                <a:effectLst/>
                <a:latin typeface="Apercu"/>
              </a:rPr>
              <a:t> and </a:t>
            </a:r>
            <a:r>
              <a:rPr lang="en-US" sz="2000" b="1" i="0" dirty="0">
                <a:solidFill>
                  <a:schemeClr val="tx1"/>
                </a:solidFill>
                <a:effectLst/>
                <a:latin typeface="Apercu"/>
              </a:rPr>
              <a:t>contact.html</a:t>
            </a:r>
            <a:r>
              <a:rPr lang="en-US" sz="2000" b="0" i="0" dirty="0">
                <a:solidFill>
                  <a:schemeClr val="tx1"/>
                </a:solidFill>
                <a:effectLst/>
                <a:latin typeface="Apercu"/>
              </a:rPr>
              <a:t> are in the same folder. Because the files are stored in the same folder, we can link web pages together using a </a:t>
            </a:r>
            <a:r>
              <a:rPr lang="en-US" sz="2000" b="0" i="1" dirty="0">
                <a:solidFill>
                  <a:schemeClr val="tx1"/>
                </a:solidFill>
                <a:effectLst/>
                <a:latin typeface="Apercu"/>
              </a:rPr>
              <a:t>relative path</a:t>
            </a:r>
            <a:r>
              <a:rPr lang="en-US" sz="2000" b="0" i="0" dirty="0">
                <a:solidFill>
                  <a:schemeClr val="tx1"/>
                </a:solidFill>
                <a:effectLst/>
                <a:latin typeface="Apercu"/>
              </a:rPr>
              <a:t>.</a:t>
            </a:r>
          </a:p>
          <a:p>
            <a:pPr algn="just"/>
            <a:r>
              <a:rPr lang="en-IN" sz="2000" dirty="0">
                <a:solidFill>
                  <a:schemeClr val="tx1"/>
                </a:solidFill>
              </a:rPr>
              <a:t>&lt;a </a:t>
            </a:r>
            <a:r>
              <a:rPr lang="en-IN" sz="2000" dirty="0" err="1">
                <a:solidFill>
                  <a:schemeClr val="tx1"/>
                </a:solidFill>
              </a:rPr>
              <a:t>href</a:t>
            </a:r>
            <a:r>
              <a:rPr lang="en-IN" sz="2000" dirty="0">
                <a:solidFill>
                  <a:schemeClr val="tx1"/>
                </a:solidFill>
              </a:rPr>
              <a:t>="./contact.html"&gt;Contact&lt;/a&gt;</a:t>
            </a:r>
          </a:p>
          <a:p>
            <a:pPr algn="just"/>
            <a:r>
              <a:rPr lang="en-US" sz="2000" dirty="0">
                <a:solidFill>
                  <a:schemeClr val="tx1"/>
                </a:solidFill>
              </a:rPr>
              <a:t>In this example, the &lt;a&gt; tag is used with a relative path to link from the current HTML file to the contact.html file in the same folder. On the web page, Contact will appear as a link.</a:t>
            </a:r>
          </a:p>
          <a:p>
            <a:pPr algn="just"/>
            <a:r>
              <a:rPr lang="en-US" sz="2000" dirty="0">
                <a:solidFill>
                  <a:schemeClr val="tx1"/>
                </a:solidFill>
              </a:rPr>
              <a:t>A relative path is a filename that shows the path to a local file.</a:t>
            </a:r>
            <a:endParaRPr lang="en-IN" sz="2000" dirty="0">
              <a:solidFill>
                <a:schemeClr val="tx1"/>
              </a:solidFill>
            </a:endParaRPr>
          </a:p>
        </p:txBody>
      </p:sp>
    </p:spTree>
    <p:extLst>
      <p:ext uri="{BB962C8B-B14F-4D97-AF65-F5344CB8AC3E}">
        <p14:creationId xmlns:p14="http://schemas.microsoft.com/office/powerpoint/2010/main" val="22726715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024FF2-C1CD-7F8B-6148-D6F8D862BD11}"/>
              </a:ext>
            </a:extLst>
          </p:cNvPr>
          <p:cNvSpPr>
            <a:spLocks noGrp="1"/>
          </p:cNvSpPr>
          <p:nvPr>
            <p:ph type="title"/>
          </p:nvPr>
        </p:nvSpPr>
        <p:spPr/>
        <p:txBody>
          <a:bodyPr/>
          <a:lstStyle/>
          <a:p>
            <a:r>
              <a:rPr lang="en-IN" dirty="0"/>
              <a:t>Try this values in target attribute</a:t>
            </a:r>
          </a:p>
        </p:txBody>
      </p:sp>
      <p:sp>
        <p:nvSpPr>
          <p:cNvPr id="6" name="Content Placeholder 5">
            <a:extLst>
              <a:ext uri="{FF2B5EF4-FFF2-40B4-BE49-F238E27FC236}">
                <a16:creationId xmlns:a16="http://schemas.microsoft.com/office/drawing/2014/main" id="{F7E6A95C-101E-B6A7-F6CC-8EF8BCDABC6E}"/>
              </a:ext>
            </a:extLst>
          </p:cNvPr>
          <p:cNvSpPr>
            <a:spLocks noGrp="1"/>
          </p:cNvSpPr>
          <p:nvPr>
            <p:ph idx="1"/>
          </p:nvPr>
        </p:nvSpPr>
        <p:spPr>
          <a:xfrm>
            <a:off x="507389" y="2277412"/>
            <a:ext cx="11029615" cy="3678303"/>
          </a:xfrm>
        </p:spPr>
        <p:txBody>
          <a:bodyPr>
            <a:norm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Verdana" panose="020B0604030504040204" pitchFamily="34" charset="0"/>
              </a:rPr>
              <a:t>The </a:t>
            </a:r>
            <a:r>
              <a:rPr kumimoji="0" lang="en-US" altLang="en-US" sz="2000" b="0" i="0" u="none" strike="noStrike" cap="none" normalizeH="0" baseline="0" dirty="0">
                <a:ln>
                  <a:noFill/>
                </a:ln>
                <a:solidFill>
                  <a:srgbClr val="DC143C"/>
                </a:solidFill>
                <a:effectLst/>
                <a:latin typeface="Consolas" panose="020B0609020204030204" pitchFamily="49" charset="0"/>
              </a:rPr>
              <a:t>target</a:t>
            </a:r>
            <a:r>
              <a:rPr kumimoji="0" lang="en-US" altLang="en-US" sz="2000" b="0" i="0" u="none" strike="noStrike" cap="none" normalizeH="0" baseline="0" dirty="0">
                <a:ln>
                  <a:noFill/>
                </a:ln>
                <a:solidFill>
                  <a:srgbClr val="000000"/>
                </a:solidFill>
                <a:effectLst/>
                <a:latin typeface="Verdana" panose="020B0604030504040204" pitchFamily="34" charset="0"/>
              </a:rPr>
              <a:t> attribute can have one of the following values:</a:t>
            </a:r>
            <a:endParaRPr kumimoji="0" lang="en-US" altLang="en-US" sz="1200" b="0" i="0" u="none" strike="noStrike" cap="none" normalizeH="0" baseline="0" dirty="0">
              <a:ln>
                <a:noFill/>
              </a:ln>
              <a:solidFill>
                <a:schemeClr val="tx1"/>
              </a:solidFill>
              <a:effectLst/>
            </a:endParaRPr>
          </a:p>
          <a:p>
            <a:pPr marL="360363" marR="0" lvl="0" indent="-360363"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rgbClr val="DC143C"/>
                </a:solidFill>
                <a:effectLst/>
                <a:latin typeface="Consolas" panose="020B0609020204030204" pitchFamily="49" charset="0"/>
              </a:rPr>
              <a:t>_self</a:t>
            </a:r>
            <a:r>
              <a:rPr kumimoji="0" lang="en-US" altLang="en-US" sz="2000" b="0" i="0" u="none" strike="noStrike" cap="none" normalizeH="0" baseline="0" dirty="0">
                <a:ln>
                  <a:noFill/>
                </a:ln>
                <a:solidFill>
                  <a:srgbClr val="000000"/>
                </a:solidFill>
                <a:effectLst/>
                <a:latin typeface="Verdana" panose="020B0604030504040204" pitchFamily="34" charset="0"/>
              </a:rPr>
              <a:t> - Default. Opens the document in the same window/tab as it was clicked</a:t>
            </a:r>
          </a:p>
          <a:p>
            <a:pPr marL="360363" marR="0" lvl="0" indent="-360363"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rgbClr val="DC143C"/>
                </a:solidFill>
                <a:effectLst/>
                <a:latin typeface="Consolas" panose="020B0609020204030204" pitchFamily="49" charset="0"/>
              </a:rPr>
              <a:t>_blank</a:t>
            </a:r>
            <a:r>
              <a:rPr kumimoji="0" lang="en-US" altLang="en-US" sz="2000" b="0" i="0" u="none" strike="noStrike" cap="none" normalizeH="0" baseline="0" dirty="0">
                <a:ln>
                  <a:noFill/>
                </a:ln>
                <a:solidFill>
                  <a:srgbClr val="000000"/>
                </a:solidFill>
                <a:effectLst/>
                <a:latin typeface="Verdana" panose="020B0604030504040204" pitchFamily="34" charset="0"/>
              </a:rPr>
              <a:t> - Opens the document in a new window or tab</a:t>
            </a:r>
          </a:p>
          <a:p>
            <a:pPr marL="360363" marR="0" lvl="0" indent="-360363"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rgbClr val="DC143C"/>
                </a:solidFill>
                <a:effectLst/>
                <a:latin typeface="Consolas" panose="020B0609020204030204" pitchFamily="49" charset="0"/>
              </a:rPr>
              <a:t>_parent</a:t>
            </a:r>
            <a:r>
              <a:rPr kumimoji="0" lang="en-US" altLang="en-US" sz="2000" b="0" i="0" u="none" strike="noStrike" cap="none" normalizeH="0" baseline="0" dirty="0">
                <a:ln>
                  <a:noFill/>
                </a:ln>
                <a:solidFill>
                  <a:srgbClr val="000000"/>
                </a:solidFill>
                <a:effectLst/>
                <a:latin typeface="Verdana" panose="020B0604030504040204" pitchFamily="34" charset="0"/>
              </a:rPr>
              <a:t> - Opens the document in the parent frame</a:t>
            </a:r>
          </a:p>
          <a:p>
            <a:pPr marL="360363" marR="0" lvl="0" indent="-360363"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rgbClr val="DC143C"/>
                </a:solidFill>
                <a:effectLst/>
                <a:latin typeface="Consolas" panose="020B0609020204030204" pitchFamily="49" charset="0"/>
              </a:rPr>
              <a:t>_top</a:t>
            </a:r>
            <a:r>
              <a:rPr kumimoji="0" lang="en-US" altLang="en-US" sz="2000" b="0" i="0" u="none" strike="noStrike" cap="none" normalizeH="0" baseline="0" dirty="0">
                <a:ln>
                  <a:noFill/>
                </a:ln>
                <a:solidFill>
                  <a:srgbClr val="000000"/>
                </a:solidFill>
                <a:effectLst/>
                <a:latin typeface="Verdana" panose="020B0604030504040204" pitchFamily="34" charset="0"/>
              </a:rPr>
              <a:t> - Opens the document in the full body of the window.</a:t>
            </a:r>
          </a:p>
        </p:txBody>
      </p:sp>
    </p:spTree>
    <p:extLst>
      <p:ext uri="{BB962C8B-B14F-4D97-AF65-F5344CB8AC3E}">
        <p14:creationId xmlns:p14="http://schemas.microsoft.com/office/powerpoint/2010/main" val="419477144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3DBB2-8F05-D4BF-8A84-4670CB8E11A4}"/>
              </a:ext>
            </a:extLst>
          </p:cNvPr>
          <p:cNvSpPr>
            <a:spLocks noGrp="1"/>
          </p:cNvSpPr>
          <p:nvPr>
            <p:ph type="title"/>
          </p:nvPr>
        </p:nvSpPr>
        <p:spPr/>
        <p:txBody>
          <a:bodyPr/>
          <a:lstStyle/>
          <a:p>
            <a:r>
              <a:rPr lang="en-IN" dirty="0"/>
              <a:t>Introduction to Tables</a:t>
            </a:r>
          </a:p>
        </p:txBody>
      </p:sp>
      <p:sp>
        <p:nvSpPr>
          <p:cNvPr id="3" name="Content Placeholder 2">
            <a:extLst>
              <a:ext uri="{FF2B5EF4-FFF2-40B4-BE49-F238E27FC236}">
                <a16:creationId xmlns:a16="http://schemas.microsoft.com/office/drawing/2014/main" id="{1CA1EB05-3687-35B0-3962-C766BB14BE16}"/>
              </a:ext>
            </a:extLst>
          </p:cNvPr>
          <p:cNvSpPr>
            <a:spLocks noGrp="1"/>
          </p:cNvSpPr>
          <p:nvPr>
            <p:ph idx="1"/>
          </p:nvPr>
        </p:nvSpPr>
        <p:spPr>
          <a:xfrm>
            <a:off x="581192" y="2180496"/>
            <a:ext cx="10576433" cy="3975348"/>
          </a:xfrm>
        </p:spPr>
        <p:txBody>
          <a:bodyPr>
            <a:normAutofit/>
          </a:bodyPr>
          <a:lstStyle/>
          <a:p>
            <a:pPr algn="just"/>
            <a:r>
              <a:rPr lang="en-US" dirty="0"/>
              <a:t>Before displaying data, we must first create the table that will contain the data by using the &lt;table&gt; element.</a:t>
            </a:r>
          </a:p>
          <a:p>
            <a:pPr algn="just"/>
            <a:r>
              <a:rPr lang="en-US" dirty="0">
                <a:solidFill>
                  <a:schemeClr val="accent1">
                    <a:lumMod val="75000"/>
                    <a:lumOff val="25000"/>
                  </a:schemeClr>
                </a:solidFill>
              </a:rPr>
              <a:t>The &lt;table&gt; element </a:t>
            </a:r>
            <a:r>
              <a:rPr lang="en-US" dirty="0"/>
              <a:t>will contain all of the tabular data we plan on displaying.</a:t>
            </a:r>
          </a:p>
          <a:p>
            <a:pPr algn="just"/>
            <a:r>
              <a:rPr lang="en-US" dirty="0"/>
              <a:t>In many programs that use tables, the table is already predefined for you, meaning that it contains the rows, columns, and cells that will hold data. In HTML, all of these components must be created.</a:t>
            </a:r>
          </a:p>
          <a:p>
            <a:pPr algn="just"/>
            <a:r>
              <a:rPr lang="en-US" dirty="0"/>
              <a:t>The first step in entering data into the table is to add rows using the </a:t>
            </a:r>
            <a:r>
              <a:rPr lang="en-US" dirty="0">
                <a:solidFill>
                  <a:schemeClr val="accent1">
                    <a:lumMod val="75000"/>
                    <a:lumOff val="25000"/>
                  </a:schemeClr>
                </a:solidFill>
              </a:rPr>
              <a:t>table row element: &lt;tr&gt;.</a:t>
            </a:r>
          </a:p>
          <a:p>
            <a:pPr algn="just"/>
            <a:r>
              <a:rPr lang="en-US" dirty="0"/>
              <a:t>Rows aren’t sufficient to add data to a table. Each cell element must also be defined. In HTML, you can add data using the </a:t>
            </a:r>
            <a:r>
              <a:rPr lang="en-US" dirty="0">
                <a:solidFill>
                  <a:schemeClr val="accent1">
                    <a:lumMod val="75000"/>
                    <a:lumOff val="25000"/>
                  </a:schemeClr>
                </a:solidFill>
              </a:rPr>
              <a:t>table data element: &lt;td&gt;.</a:t>
            </a:r>
          </a:p>
          <a:p>
            <a:pPr algn="just"/>
            <a:r>
              <a:rPr lang="en-US" dirty="0"/>
              <a:t>Table data doesn’t make much sense without titles to describe what the data represents. To add titles to rows and columns, you can use the </a:t>
            </a:r>
            <a:r>
              <a:rPr lang="en-US" dirty="0">
                <a:solidFill>
                  <a:schemeClr val="accent1">
                    <a:lumMod val="75000"/>
                    <a:lumOff val="25000"/>
                  </a:schemeClr>
                </a:solidFill>
              </a:rPr>
              <a:t>table heading element: &lt;</a:t>
            </a:r>
            <a:r>
              <a:rPr lang="en-US" dirty="0" err="1">
                <a:solidFill>
                  <a:schemeClr val="accent1">
                    <a:lumMod val="75000"/>
                    <a:lumOff val="25000"/>
                  </a:schemeClr>
                </a:solidFill>
              </a:rPr>
              <a:t>th</a:t>
            </a:r>
            <a:r>
              <a:rPr lang="en-US" dirty="0">
                <a:solidFill>
                  <a:schemeClr val="accent1">
                    <a:lumMod val="75000"/>
                    <a:lumOff val="25000"/>
                  </a:schemeClr>
                </a:solidFill>
              </a:rPr>
              <a:t>&gt;.</a:t>
            </a:r>
            <a:endParaRPr lang="en-IN" dirty="0">
              <a:solidFill>
                <a:schemeClr val="accent1">
                  <a:lumMod val="75000"/>
                  <a:lumOff val="25000"/>
                </a:schemeClr>
              </a:solidFill>
            </a:endParaRPr>
          </a:p>
        </p:txBody>
      </p:sp>
    </p:spTree>
    <p:extLst>
      <p:ext uri="{BB962C8B-B14F-4D97-AF65-F5344CB8AC3E}">
        <p14:creationId xmlns:p14="http://schemas.microsoft.com/office/powerpoint/2010/main" val="13863383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5D108-A1AB-40B8-ADD6-0A4B11FD8CF9}"/>
              </a:ext>
            </a:extLst>
          </p:cNvPr>
          <p:cNvSpPr>
            <a:spLocks noGrp="1"/>
          </p:cNvSpPr>
          <p:nvPr>
            <p:ph type="title"/>
          </p:nvPr>
        </p:nvSpPr>
        <p:spPr/>
        <p:txBody>
          <a:bodyPr/>
          <a:lstStyle/>
          <a:p>
            <a:r>
              <a:rPr lang="en-IN" dirty="0"/>
              <a:t>Example of a table:</a:t>
            </a:r>
          </a:p>
        </p:txBody>
      </p:sp>
      <p:sp>
        <p:nvSpPr>
          <p:cNvPr id="3" name="Content Placeholder 2">
            <a:extLst>
              <a:ext uri="{FF2B5EF4-FFF2-40B4-BE49-F238E27FC236}">
                <a16:creationId xmlns:a16="http://schemas.microsoft.com/office/drawing/2014/main" id="{B9D1E1CC-5260-057B-DB85-CA26CFC8E833}"/>
              </a:ext>
            </a:extLst>
          </p:cNvPr>
          <p:cNvSpPr>
            <a:spLocks noGrp="1"/>
          </p:cNvSpPr>
          <p:nvPr>
            <p:ph idx="1"/>
          </p:nvPr>
        </p:nvSpPr>
        <p:spPr>
          <a:xfrm>
            <a:off x="581192" y="2180496"/>
            <a:ext cx="5375379" cy="4200849"/>
          </a:xfrm>
        </p:spPr>
        <p:txBody>
          <a:bodyPr>
            <a:normAutofit lnSpcReduction="10000"/>
          </a:bodyPr>
          <a:lstStyle/>
          <a:p>
            <a:pPr algn="just"/>
            <a:r>
              <a:rPr lang="en-US" sz="2000" dirty="0"/>
              <a:t>What happened in the code above?</a:t>
            </a:r>
          </a:p>
          <a:p>
            <a:pPr algn="just"/>
            <a:r>
              <a:rPr lang="en-US" sz="2000" dirty="0"/>
              <a:t>First, a new row was added to hold the three headings: a blank heading, a Saturday heading, and a Sunday heading. The blank heading creates the extra table cell necessary to align the table headings correctly over the data they correspond to.</a:t>
            </a:r>
          </a:p>
          <a:p>
            <a:pPr algn="just"/>
            <a:r>
              <a:rPr lang="en-US" sz="2000" dirty="0"/>
              <a:t>In the second row, one table heading was added as a row title: Temperature.</a:t>
            </a:r>
          </a:p>
          <a:p>
            <a:pPr algn="just"/>
            <a:r>
              <a:rPr lang="en-US" sz="2000" dirty="0"/>
              <a:t>A border could be added to a table using the border attribute and setting it equal to an integer. This integer would represent the thickness of the border.</a:t>
            </a:r>
            <a:endParaRPr lang="en-IN" sz="2000" dirty="0"/>
          </a:p>
          <a:p>
            <a:pPr algn="just"/>
            <a:endParaRPr lang="en-IN" sz="2000" dirty="0"/>
          </a:p>
        </p:txBody>
      </p:sp>
      <p:sp>
        <p:nvSpPr>
          <p:cNvPr id="5" name="TextBox 4">
            <a:extLst>
              <a:ext uri="{FF2B5EF4-FFF2-40B4-BE49-F238E27FC236}">
                <a16:creationId xmlns:a16="http://schemas.microsoft.com/office/drawing/2014/main" id="{0BB2EAAB-C288-56DA-8B51-D9B1F33063DD}"/>
              </a:ext>
            </a:extLst>
          </p:cNvPr>
          <p:cNvSpPr txBox="1"/>
          <p:nvPr/>
        </p:nvSpPr>
        <p:spPr>
          <a:xfrm>
            <a:off x="6235431" y="2437947"/>
            <a:ext cx="5464511" cy="3416320"/>
          </a:xfrm>
          <a:prstGeom prst="rect">
            <a:avLst/>
          </a:prstGeom>
          <a:noFill/>
        </p:spPr>
        <p:txBody>
          <a:bodyPr wrap="square">
            <a:spAutoFit/>
          </a:bodyPr>
          <a:lstStyle/>
          <a:p>
            <a:r>
              <a:rPr lang="en-US" b="0" dirty="0">
                <a:solidFill>
                  <a:srgbClr val="800000"/>
                </a:solidFill>
                <a:effectLst/>
                <a:latin typeface="Consolas" panose="020B0609020204030204" pitchFamily="49" charset="0"/>
              </a:rPr>
              <a:t>&lt;table </a:t>
            </a:r>
            <a:r>
              <a:rPr lang="en-US" b="0" dirty="0">
                <a:solidFill>
                  <a:schemeClr val="accent6">
                    <a:lumMod val="75000"/>
                  </a:schemeClr>
                </a:solidFill>
                <a:effectLst/>
                <a:latin typeface="Consolas" panose="020B0609020204030204" pitchFamily="49" charset="0"/>
              </a:rPr>
              <a:t>border=“1”</a:t>
            </a:r>
            <a:r>
              <a:rPr lang="en-US" b="0" dirty="0">
                <a:solidFill>
                  <a:srgbClr val="800000"/>
                </a:solidFill>
                <a:effectLst/>
                <a:latin typeface="Consolas" panose="020B0609020204030204" pitchFamily="49" charset="0"/>
              </a:rPr>
              <a:t>&gt;</a:t>
            </a:r>
            <a:endParaRPr lang="en-US" dirty="0">
              <a:solidFill>
                <a:srgbClr val="000000"/>
              </a:solidFill>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&lt;tr&gt;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dirty="0">
                <a:solidFill>
                  <a:srgbClr val="000000"/>
                </a:solidFill>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th</a:t>
            </a:r>
            <a:r>
              <a:rPr lang="en-US" b="0" dirty="0">
                <a:solidFill>
                  <a:srgbClr val="800000"/>
                </a:solidFill>
                <a:effectLst/>
                <a:latin typeface="Consolas" panose="020B0609020204030204" pitchFamily="49" charset="0"/>
              </a:rPr>
              <a:t>&gt;&lt;/</a:t>
            </a:r>
            <a:r>
              <a:rPr lang="en-US" b="0" dirty="0" err="1">
                <a:solidFill>
                  <a:srgbClr val="800000"/>
                </a:solidFill>
                <a:effectLst/>
                <a:latin typeface="Consolas" panose="020B0609020204030204" pitchFamily="49" charset="0"/>
              </a:rPr>
              <a:t>th</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th</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scope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"col"</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Saturday</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th</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th</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scope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"col"</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Sunday</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th</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dirty="0">
                <a:solidFill>
                  <a:srgbClr val="000000"/>
                </a:solidFill>
                <a:latin typeface="Consolas" panose="020B0609020204030204" pitchFamily="49" charset="0"/>
              </a:rPr>
              <a:t>	</a:t>
            </a:r>
            <a:r>
              <a:rPr lang="en-US" b="0" dirty="0">
                <a:solidFill>
                  <a:srgbClr val="800000"/>
                </a:solidFill>
                <a:effectLst/>
                <a:latin typeface="Consolas" panose="020B0609020204030204" pitchFamily="49" charset="0"/>
              </a:rPr>
              <a:t>&lt;/tr&gt;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&lt;tr&gt;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th</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scope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"row"</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Temperature</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th</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&lt;td&gt;</a:t>
            </a:r>
            <a:r>
              <a:rPr lang="en-US" b="0" dirty="0">
                <a:solidFill>
                  <a:srgbClr val="000000"/>
                </a:solidFill>
                <a:effectLst/>
                <a:latin typeface="Consolas" panose="020B0609020204030204" pitchFamily="49" charset="0"/>
              </a:rPr>
              <a:t>73</a:t>
            </a:r>
            <a:r>
              <a:rPr lang="en-US" b="0" dirty="0">
                <a:solidFill>
                  <a:srgbClr val="800000"/>
                </a:solidFill>
                <a:effectLst/>
                <a:latin typeface="Consolas" panose="020B0609020204030204" pitchFamily="49" charset="0"/>
              </a:rPr>
              <a:t>&lt;/td&gt;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&lt;</a:t>
            </a:r>
            <a:r>
              <a:rPr lang="en-US" b="0" dirty="0">
                <a:solidFill>
                  <a:srgbClr val="800000"/>
                </a:solidFill>
                <a:effectLst/>
                <a:latin typeface="Consolas" panose="020B0609020204030204" pitchFamily="49" charset="0"/>
              </a:rPr>
              <a:t>td&gt;</a:t>
            </a:r>
            <a:r>
              <a:rPr lang="en-US" b="0" dirty="0">
                <a:solidFill>
                  <a:srgbClr val="000000"/>
                </a:solidFill>
                <a:effectLst/>
                <a:latin typeface="Consolas" panose="020B0609020204030204" pitchFamily="49" charset="0"/>
              </a:rPr>
              <a:t>81</a:t>
            </a:r>
            <a:r>
              <a:rPr lang="en-US" b="0" dirty="0">
                <a:solidFill>
                  <a:srgbClr val="800000"/>
                </a:solidFill>
                <a:effectLst/>
                <a:latin typeface="Consolas" panose="020B0609020204030204" pitchFamily="49" charset="0"/>
              </a:rPr>
              <a:t>&lt;/td&gt;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	&lt;/tr&gt;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&lt;/table&gt;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075587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334A8-9B7D-1D00-0F52-0630AFAA7F66}"/>
              </a:ext>
            </a:extLst>
          </p:cNvPr>
          <p:cNvSpPr>
            <a:spLocks noGrp="1"/>
          </p:cNvSpPr>
          <p:nvPr>
            <p:ph type="title"/>
          </p:nvPr>
        </p:nvSpPr>
        <p:spPr/>
        <p:txBody>
          <a:bodyPr/>
          <a:lstStyle/>
          <a:p>
            <a:r>
              <a:rPr lang="en-IN" dirty="0"/>
              <a:t>Spanning Columns (Merging column)</a:t>
            </a:r>
          </a:p>
        </p:txBody>
      </p:sp>
      <p:sp>
        <p:nvSpPr>
          <p:cNvPr id="3" name="Content Placeholder 2">
            <a:extLst>
              <a:ext uri="{FF2B5EF4-FFF2-40B4-BE49-F238E27FC236}">
                <a16:creationId xmlns:a16="http://schemas.microsoft.com/office/drawing/2014/main" id="{2A04FA7B-D73A-D810-91CD-D3C34737C131}"/>
              </a:ext>
            </a:extLst>
          </p:cNvPr>
          <p:cNvSpPr>
            <a:spLocks noGrp="1"/>
          </p:cNvSpPr>
          <p:nvPr>
            <p:ph idx="1"/>
          </p:nvPr>
        </p:nvSpPr>
        <p:spPr>
          <a:xfrm>
            <a:off x="581193" y="2559875"/>
            <a:ext cx="5514808" cy="3678303"/>
          </a:xfrm>
        </p:spPr>
        <p:txBody>
          <a:bodyPr>
            <a:normAutofit/>
          </a:bodyPr>
          <a:lstStyle/>
          <a:p>
            <a:pPr algn="just"/>
            <a:r>
              <a:rPr lang="en-US" sz="2000" dirty="0"/>
              <a:t>Data can span columns using the </a:t>
            </a:r>
            <a:r>
              <a:rPr lang="en-US" sz="2000" dirty="0" err="1">
                <a:solidFill>
                  <a:srgbClr val="FF0000"/>
                </a:solidFill>
              </a:rPr>
              <a:t>colspan</a:t>
            </a:r>
            <a:r>
              <a:rPr lang="en-US" sz="2000" dirty="0">
                <a:solidFill>
                  <a:srgbClr val="FF0000"/>
                </a:solidFill>
              </a:rPr>
              <a:t> attribute</a:t>
            </a:r>
            <a:r>
              <a:rPr lang="en-US" sz="2000" dirty="0"/>
              <a:t>. The attribute accepts an integer (greater than or equal to 1) to denote the number of columns it spans across.</a:t>
            </a:r>
            <a:endParaRPr lang="en-IN" sz="2000" dirty="0"/>
          </a:p>
        </p:txBody>
      </p:sp>
      <p:sp>
        <p:nvSpPr>
          <p:cNvPr id="5" name="TextBox 4">
            <a:extLst>
              <a:ext uri="{FF2B5EF4-FFF2-40B4-BE49-F238E27FC236}">
                <a16:creationId xmlns:a16="http://schemas.microsoft.com/office/drawing/2014/main" id="{C5E8F5D0-FD86-4E01-B818-79D3E761038A}"/>
              </a:ext>
            </a:extLst>
          </p:cNvPr>
          <p:cNvSpPr txBox="1"/>
          <p:nvPr/>
        </p:nvSpPr>
        <p:spPr>
          <a:xfrm>
            <a:off x="6096000" y="2754286"/>
            <a:ext cx="6340003" cy="3139321"/>
          </a:xfrm>
          <a:prstGeom prst="rect">
            <a:avLst/>
          </a:prstGeom>
          <a:noFill/>
        </p:spPr>
        <p:txBody>
          <a:bodyPr wrap="square">
            <a:spAutoFit/>
          </a:bodyPr>
          <a:lstStyle/>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&lt;table</a:t>
            </a:r>
            <a:r>
              <a:rPr lang="en-US" b="0" dirty="0">
                <a:solidFill>
                  <a:srgbClr val="000000"/>
                </a:solidFill>
                <a:effectLst/>
                <a:latin typeface="Consolas" panose="020B0609020204030204" pitchFamily="49" charset="0"/>
              </a:rPr>
              <a:t> </a:t>
            </a:r>
            <a:r>
              <a:rPr lang="en-US" b="0" dirty="0">
                <a:solidFill>
                  <a:srgbClr val="CD3131"/>
                </a:solidFill>
                <a:effectLst/>
                <a:latin typeface="Consolas" panose="020B0609020204030204" pitchFamily="49" charset="0"/>
              </a:rPr>
              <a:t>border</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"2"</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&lt;tr&gt;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th</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Monday</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th</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th</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Tuesday</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th</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th</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Wednesday</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th</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&lt;/tr&gt;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&lt;tr&gt;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&lt;td</a:t>
            </a:r>
            <a:r>
              <a:rPr lang="en-US" b="0" dirty="0">
                <a:solidFill>
                  <a:srgbClr val="000000"/>
                </a:solidFill>
                <a:effectLst/>
                <a:latin typeface="Consolas" panose="020B0609020204030204" pitchFamily="49" charset="0"/>
              </a:rPr>
              <a:t> </a:t>
            </a:r>
            <a:r>
              <a:rPr lang="en-US" b="0" dirty="0" err="1">
                <a:solidFill>
                  <a:srgbClr val="E50000"/>
                </a:solidFill>
                <a:effectLst/>
                <a:latin typeface="Consolas" panose="020B0609020204030204" pitchFamily="49" charset="0"/>
              </a:rPr>
              <a:t>colspan</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"2"</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Out of Town</a:t>
            </a:r>
            <a:r>
              <a:rPr lang="en-US" b="0" dirty="0">
                <a:solidFill>
                  <a:srgbClr val="800000"/>
                </a:solidFill>
                <a:effectLst/>
                <a:latin typeface="Consolas" panose="020B0609020204030204" pitchFamily="49" charset="0"/>
              </a:rPr>
              <a:t>&lt;/td&gt;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&lt;td&gt;</a:t>
            </a:r>
            <a:r>
              <a:rPr lang="en-US" b="0" dirty="0">
                <a:solidFill>
                  <a:srgbClr val="000000"/>
                </a:solidFill>
                <a:effectLst/>
                <a:latin typeface="Consolas" panose="020B0609020204030204" pitchFamily="49" charset="0"/>
              </a:rPr>
              <a:t>Back in Town</a:t>
            </a:r>
            <a:r>
              <a:rPr lang="en-US" b="0" dirty="0">
                <a:solidFill>
                  <a:srgbClr val="800000"/>
                </a:solidFill>
                <a:effectLst/>
                <a:latin typeface="Consolas" panose="020B0609020204030204" pitchFamily="49" charset="0"/>
              </a:rPr>
              <a:t>&lt;/td&gt;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&lt;/tr&gt;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&lt;/table&gt;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37395970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3A0BA-3378-6FD2-7971-220DA41E81A0}"/>
              </a:ext>
            </a:extLst>
          </p:cNvPr>
          <p:cNvSpPr>
            <a:spLocks noGrp="1"/>
          </p:cNvSpPr>
          <p:nvPr>
            <p:ph type="title"/>
          </p:nvPr>
        </p:nvSpPr>
        <p:spPr/>
        <p:txBody>
          <a:bodyPr/>
          <a:lstStyle/>
          <a:p>
            <a:r>
              <a:rPr lang="en-IN" dirty="0"/>
              <a:t>Spanning Rows (Merging </a:t>
            </a:r>
            <a:r>
              <a:rPr lang="en-IN" dirty="0" err="1"/>
              <a:t>RoW</a:t>
            </a:r>
            <a:r>
              <a:rPr lang="en-IN" dirty="0"/>
              <a:t>)</a:t>
            </a:r>
          </a:p>
        </p:txBody>
      </p:sp>
      <p:sp>
        <p:nvSpPr>
          <p:cNvPr id="3" name="Content Placeholder 2">
            <a:extLst>
              <a:ext uri="{FF2B5EF4-FFF2-40B4-BE49-F238E27FC236}">
                <a16:creationId xmlns:a16="http://schemas.microsoft.com/office/drawing/2014/main" id="{FE37B805-EAF1-0708-6E18-9A2B4FA8E5DF}"/>
              </a:ext>
            </a:extLst>
          </p:cNvPr>
          <p:cNvSpPr>
            <a:spLocks noGrp="1"/>
          </p:cNvSpPr>
          <p:nvPr>
            <p:ph idx="1"/>
          </p:nvPr>
        </p:nvSpPr>
        <p:spPr>
          <a:xfrm>
            <a:off x="581193" y="2180496"/>
            <a:ext cx="4516102" cy="3678303"/>
          </a:xfrm>
        </p:spPr>
        <p:txBody>
          <a:bodyPr>
            <a:normAutofit/>
          </a:bodyPr>
          <a:lstStyle/>
          <a:p>
            <a:pPr algn="just"/>
            <a:r>
              <a:rPr lang="en-US" sz="2000" dirty="0"/>
              <a:t>Data can also span multiple rows using the </a:t>
            </a:r>
            <a:r>
              <a:rPr lang="en-US" sz="2000" dirty="0" err="1">
                <a:solidFill>
                  <a:srgbClr val="FF0000"/>
                </a:solidFill>
              </a:rPr>
              <a:t>rowspan</a:t>
            </a:r>
            <a:r>
              <a:rPr lang="en-US" sz="2000" dirty="0">
                <a:solidFill>
                  <a:srgbClr val="FF0000"/>
                </a:solidFill>
              </a:rPr>
              <a:t> attribute</a:t>
            </a:r>
            <a:r>
              <a:rPr lang="en-US" sz="2000" dirty="0"/>
              <a:t>.</a:t>
            </a:r>
          </a:p>
          <a:p>
            <a:pPr algn="just"/>
            <a:r>
              <a:rPr lang="en-US" sz="2000" dirty="0"/>
              <a:t>The </a:t>
            </a:r>
            <a:r>
              <a:rPr lang="en-US" sz="2000" dirty="0" err="1"/>
              <a:t>rowspan</a:t>
            </a:r>
            <a:r>
              <a:rPr lang="en-US" sz="2000" dirty="0"/>
              <a:t> attribute is used for data that spans multiple rows (perhaps an event goes on for multiple hours on a certain day). It accepts an integer (greater than or equal to 1) to denote the number of rows it spans across.</a:t>
            </a:r>
            <a:endParaRPr lang="en-IN" sz="2000" dirty="0"/>
          </a:p>
        </p:txBody>
      </p:sp>
      <p:sp>
        <p:nvSpPr>
          <p:cNvPr id="5" name="TextBox 4">
            <a:extLst>
              <a:ext uri="{FF2B5EF4-FFF2-40B4-BE49-F238E27FC236}">
                <a16:creationId xmlns:a16="http://schemas.microsoft.com/office/drawing/2014/main" id="{6EEAAE8B-AFA4-58ED-402D-196742BFC5EC}"/>
              </a:ext>
            </a:extLst>
          </p:cNvPr>
          <p:cNvSpPr txBox="1"/>
          <p:nvPr/>
        </p:nvSpPr>
        <p:spPr>
          <a:xfrm>
            <a:off x="6070060" y="1933575"/>
            <a:ext cx="5628297" cy="4924425"/>
          </a:xfrm>
          <a:prstGeom prst="rect">
            <a:avLst/>
          </a:prstGeom>
          <a:noFill/>
        </p:spPr>
        <p:txBody>
          <a:bodyPr wrap="square">
            <a:spAutoFit/>
          </a:bodyPr>
          <a:lstStyle/>
          <a:p>
            <a:r>
              <a:rPr lang="en-US" sz="1600" b="0" dirty="0">
                <a:solidFill>
                  <a:srgbClr val="800000"/>
                </a:solidFill>
                <a:effectLst/>
                <a:latin typeface="Consolas" panose="020B0609020204030204" pitchFamily="49" charset="0"/>
              </a:rPr>
              <a:t>&lt;table</a:t>
            </a:r>
            <a:r>
              <a:rPr lang="en-US" sz="1600" b="0" dirty="0">
                <a:solidFill>
                  <a:srgbClr val="000000"/>
                </a:solidFill>
                <a:effectLst/>
                <a:latin typeface="Consolas" panose="020B0609020204030204" pitchFamily="49" charset="0"/>
              </a:rPr>
              <a:t> </a:t>
            </a:r>
            <a:r>
              <a:rPr lang="en-US" sz="1600" b="0" dirty="0">
                <a:solidFill>
                  <a:srgbClr val="CD3131"/>
                </a:solidFill>
                <a:effectLst/>
                <a:latin typeface="Consolas" panose="020B0609020204030204" pitchFamily="49" charset="0"/>
              </a:rPr>
              <a:t>border</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"2"</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&lt;tr&gt;</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&lt;!-- Row 1 --&gt;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th</a:t>
            </a:r>
            <a:r>
              <a:rPr lang="en-US" sz="1600" b="0" dirty="0">
                <a:solidFill>
                  <a:srgbClr val="800000"/>
                </a:solidFill>
                <a:effectLst/>
                <a:latin typeface="Consolas" panose="020B0609020204030204" pitchFamily="49" charset="0"/>
              </a:rPr>
              <a:t>&gt;&lt;/</a:t>
            </a:r>
            <a:r>
              <a:rPr lang="en-US" sz="1600" b="0" dirty="0" err="1">
                <a:solidFill>
                  <a:srgbClr val="800000"/>
                </a:solidFill>
                <a:effectLst/>
                <a:latin typeface="Consolas" panose="020B0609020204030204" pitchFamily="49" charset="0"/>
              </a:rPr>
              <a:t>th</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th</a:t>
            </a:r>
            <a:r>
              <a:rPr lang="en-US" sz="1600" b="0" dirty="0">
                <a:solidFill>
                  <a:srgbClr val="800000"/>
                </a:solidFill>
                <a:effectLst/>
                <a:latin typeface="Consolas" panose="020B0609020204030204" pitchFamily="49" charset="0"/>
              </a:rPr>
              <a:t>&gt;</a:t>
            </a:r>
            <a:r>
              <a:rPr lang="en-US" sz="1600" b="0" dirty="0">
                <a:solidFill>
                  <a:srgbClr val="000000"/>
                </a:solidFill>
                <a:effectLst/>
                <a:latin typeface="Consolas" panose="020B0609020204030204" pitchFamily="49" charset="0"/>
              </a:rPr>
              <a:t>Saturday</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th</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th</a:t>
            </a:r>
            <a:r>
              <a:rPr lang="en-US" sz="1600" b="0" dirty="0">
                <a:solidFill>
                  <a:srgbClr val="800000"/>
                </a:solidFill>
                <a:effectLst/>
                <a:latin typeface="Consolas" panose="020B0609020204030204" pitchFamily="49" charset="0"/>
              </a:rPr>
              <a:t>&gt;</a:t>
            </a:r>
            <a:r>
              <a:rPr lang="en-US" sz="1600" b="0" dirty="0">
                <a:solidFill>
                  <a:srgbClr val="000000"/>
                </a:solidFill>
                <a:effectLst/>
                <a:latin typeface="Consolas" panose="020B0609020204030204" pitchFamily="49" charset="0"/>
              </a:rPr>
              <a:t>Sunday</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th</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&lt;/tr&gt;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&lt;tr&gt;</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&lt;!-- Row 2 --&gt;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th</a:t>
            </a:r>
            <a:r>
              <a:rPr lang="en-US" sz="1600" b="0" dirty="0">
                <a:solidFill>
                  <a:srgbClr val="800000"/>
                </a:solidFill>
                <a:effectLst/>
                <a:latin typeface="Consolas" panose="020B0609020204030204" pitchFamily="49" charset="0"/>
              </a:rPr>
              <a:t>&gt;</a:t>
            </a:r>
            <a:r>
              <a:rPr lang="en-US" sz="1600" b="0" dirty="0">
                <a:solidFill>
                  <a:srgbClr val="000000"/>
                </a:solidFill>
                <a:effectLst/>
                <a:latin typeface="Consolas" panose="020B0609020204030204" pitchFamily="49" charset="0"/>
              </a:rPr>
              <a:t>Morning</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th</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&lt;td</a:t>
            </a:r>
            <a:r>
              <a:rPr lang="en-US" sz="1600" b="0" dirty="0">
                <a:solidFill>
                  <a:srgbClr val="000000"/>
                </a:solidFill>
                <a:effectLst/>
                <a:latin typeface="Consolas" panose="020B0609020204030204" pitchFamily="49" charset="0"/>
              </a:rPr>
              <a:t> </a:t>
            </a:r>
            <a:r>
              <a:rPr lang="en-US" sz="1600" b="0" dirty="0" err="1">
                <a:solidFill>
                  <a:srgbClr val="E50000"/>
                </a:solidFill>
                <a:effectLst/>
                <a:latin typeface="Consolas" panose="020B0609020204030204" pitchFamily="49" charset="0"/>
              </a:rPr>
              <a:t>rowspan</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"2"</a:t>
            </a:r>
            <a:r>
              <a:rPr lang="en-US" sz="1600" b="0" dirty="0">
                <a:solidFill>
                  <a:srgbClr val="800000"/>
                </a:solidFill>
                <a:effectLst/>
                <a:latin typeface="Consolas" panose="020B0609020204030204" pitchFamily="49" charset="0"/>
              </a:rPr>
              <a:t>&gt;</a:t>
            </a:r>
            <a:r>
              <a:rPr lang="en-US" sz="1600" b="0" dirty="0">
                <a:solidFill>
                  <a:srgbClr val="000000"/>
                </a:solidFill>
                <a:effectLst/>
                <a:latin typeface="Consolas" panose="020B0609020204030204" pitchFamily="49" charset="0"/>
              </a:rPr>
              <a:t>Work</a:t>
            </a:r>
            <a:r>
              <a:rPr lang="en-US" sz="1600" b="0" dirty="0">
                <a:solidFill>
                  <a:srgbClr val="800000"/>
                </a:solidFill>
                <a:effectLst/>
                <a:latin typeface="Consolas" panose="020B0609020204030204" pitchFamily="49" charset="0"/>
              </a:rPr>
              <a:t>&lt;/td&gt;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&lt;td</a:t>
            </a:r>
            <a:r>
              <a:rPr lang="en-US" sz="1600" b="0" dirty="0">
                <a:solidFill>
                  <a:srgbClr val="000000"/>
                </a:solidFill>
                <a:effectLst/>
                <a:latin typeface="Consolas" panose="020B0609020204030204" pitchFamily="49" charset="0"/>
              </a:rPr>
              <a:t> </a:t>
            </a:r>
            <a:r>
              <a:rPr lang="en-US" sz="1600" b="0" dirty="0" err="1">
                <a:solidFill>
                  <a:srgbClr val="E50000"/>
                </a:solidFill>
                <a:effectLst/>
                <a:latin typeface="Consolas" panose="020B0609020204030204" pitchFamily="49" charset="0"/>
              </a:rPr>
              <a:t>rowspan</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"3"</a:t>
            </a:r>
            <a:r>
              <a:rPr lang="en-US" sz="1600" b="0" dirty="0">
                <a:solidFill>
                  <a:srgbClr val="800000"/>
                </a:solidFill>
                <a:effectLst/>
                <a:latin typeface="Consolas" panose="020B0609020204030204" pitchFamily="49" charset="0"/>
              </a:rPr>
              <a:t>&gt;</a:t>
            </a:r>
            <a:r>
              <a:rPr lang="en-US" sz="1600" b="0" dirty="0">
                <a:solidFill>
                  <a:srgbClr val="000000"/>
                </a:solidFill>
                <a:effectLst/>
                <a:latin typeface="Consolas" panose="020B0609020204030204" pitchFamily="49" charset="0"/>
              </a:rPr>
              <a:t>Relax</a:t>
            </a:r>
            <a:r>
              <a:rPr lang="en-US" sz="1600" b="0" dirty="0">
                <a:solidFill>
                  <a:srgbClr val="800000"/>
                </a:solidFill>
                <a:effectLst/>
                <a:latin typeface="Consolas" panose="020B0609020204030204" pitchFamily="49" charset="0"/>
              </a:rPr>
              <a:t>&lt;/td&gt;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&lt;/tr&gt;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&lt;tr&gt;</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&lt;!-- Row 3 --&gt;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th</a:t>
            </a:r>
            <a:r>
              <a:rPr lang="en-US" sz="1600" b="0" dirty="0">
                <a:solidFill>
                  <a:srgbClr val="800000"/>
                </a:solidFill>
                <a:effectLst/>
                <a:latin typeface="Consolas" panose="020B0609020204030204" pitchFamily="49" charset="0"/>
              </a:rPr>
              <a:t>&gt;</a:t>
            </a:r>
            <a:r>
              <a:rPr lang="en-US" sz="1600" b="0" dirty="0">
                <a:solidFill>
                  <a:srgbClr val="000000"/>
                </a:solidFill>
                <a:effectLst/>
                <a:latin typeface="Consolas" panose="020B0609020204030204" pitchFamily="49" charset="0"/>
              </a:rPr>
              <a:t>Afternoon</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th</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&lt;/tr&gt;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&lt;tr&gt;</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&lt;!-- Row 4 --&gt;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th</a:t>
            </a:r>
            <a:r>
              <a:rPr lang="en-US" sz="1600" b="0" dirty="0">
                <a:solidFill>
                  <a:srgbClr val="800000"/>
                </a:solidFill>
                <a:effectLst/>
                <a:latin typeface="Consolas" panose="020B0609020204030204" pitchFamily="49" charset="0"/>
              </a:rPr>
              <a:t>&gt;</a:t>
            </a:r>
            <a:r>
              <a:rPr lang="en-US" sz="1600" b="0" dirty="0">
                <a:solidFill>
                  <a:srgbClr val="000000"/>
                </a:solidFill>
                <a:effectLst/>
                <a:latin typeface="Consolas" panose="020B0609020204030204" pitchFamily="49" charset="0"/>
              </a:rPr>
              <a:t>Evening</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th</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&lt;td&gt;</a:t>
            </a:r>
            <a:r>
              <a:rPr lang="en-US" sz="1600" b="0" dirty="0">
                <a:solidFill>
                  <a:srgbClr val="000000"/>
                </a:solidFill>
                <a:effectLst/>
                <a:latin typeface="Consolas" panose="020B0609020204030204" pitchFamily="49" charset="0"/>
              </a:rPr>
              <a:t>Dinner</a:t>
            </a:r>
            <a:r>
              <a:rPr lang="en-US" sz="1600" b="0" dirty="0">
                <a:solidFill>
                  <a:srgbClr val="800000"/>
                </a:solidFill>
                <a:effectLst/>
                <a:latin typeface="Consolas" panose="020B0609020204030204" pitchFamily="49" charset="0"/>
              </a:rPr>
              <a:t>&lt;/td&gt;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&lt;/tr&gt;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&lt;/table&gt;</a:t>
            </a:r>
            <a:endParaRPr lang="en-US" sz="16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76925234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97947-D9EC-2FC4-285E-EF6F6F932F2A}"/>
              </a:ext>
            </a:extLst>
          </p:cNvPr>
          <p:cNvSpPr>
            <a:spLocks noGrp="1"/>
          </p:cNvSpPr>
          <p:nvPr>
            <p:ph type="title"/>
          </p:nvPr>
        </p:nvSpPr>
        <p:spPr/>
        <p:txBody>
          <a:bodyPr/>
          <a:lstStyle/>
          <a:p>
            <a:r>
              <a:rPr lang="en-IN" dirty="0"/>
              <a:t>Table Body, Table Head and Table Footer</a:t>
            </a:r>
          </a:p>
        </p:txBody>
      </p:sp>
      <p:sp>
        <p:nvSpPr>
          <p:cNvPr id="3" name="Content Placeholder 2">
            <a:extLst>
              <a:ext uri="{FF2B5EF4-FFF2-40B4-BE49-F238E27FC236}">
                <a16:creationId xmlns:a16="http://schemas.microsoft.com/office/drawing/2014/main" id="{DC2A07CD-BDCC-07BD-2AF0-AE000212298A}"/>
              </a:ext>
            </a:extLst>
          </p:cNvPr>
          <p:cNvSpPr>
            <a:spLocks noGrp="1"/>
          </p:cNvSpPr>
          <p:nvPr>
            <p:ph idx="1"/>
          </p:nvPr>
        </p:nvSpPr>
        <p:spPr/>
        <p:txBody>
          <a:bodyPr>
            <a:normAutofit lnSpcReduction="10000"/>
          </a:bodyPr>
          <a:lstStyle/>
          <a:p>
            <a:pPr algn="just"/>
            <a:r>
              <a:rPr lang="en-US" sz="2400" dirty="0"/>
              <a:t>Over time, a table can grow to contain a lot of data and become very long. When this happens, the table can be sectioned off so that it is easier to manage.</a:t>
            </a:r>
          </a:p>
          <a:p>
            <a:pPr algn="just"/>
            <a:r>
              <a:rPr lang="en-US" sz="2400" dirty="0"/>
              <a:t>Long tables can be sectioned off using the table body element: &lt;</a:t>
            </a:r>
            <a:r>
              <a:rPr lang="en-US" sz="2400" dirty="0" err="1"/>
              <a:t>tbody</a:t>
            </a:r>
            <a:r>
              <a:rPr lang="en-US" sz="2400" dirty="0"/>
              <a:t>&gt;.</a:t>
            </a:r>
          </a:p>
          <a:p>
            <a:pPr algn="just"/>
            <a:r>
              <a:rPr lang="en-US" sz="2400" dirty="0"/>
              <a:t>The &lt;</a:t>
            </a:r>
            <a:r>
              <a:rPr lang="en-US" sz="2400" dirty="0" err="1"/>
              <a:t>tbody</a:t>
            </a:r>
            <a:r>
              <a:rPr lang="en-US" sz="2400" dirty="0"/>
              <a:t>&gt; element should contain all of the table’s data, excluding the </a:t>
            </a:r>
            <a:r>
              <a:rPr lang="en-US" sz="2400"/>
              <a:t>table </a:t>
            </a:r>
            <a:r>
              <a:rPr lang="en-US" sz="2400" smtClean="0"/>
              <a:t>headings.</a:t>
            </a:r>
            <a:endParaRPr lang="en-US" sz="2400" dirty="0"/>
          </a:p>
          <a:p>
            <a:pPr algn="just"/>
            <a:r>
              <a:rPr lang="en-US" sz="2400" dirty="0"/>
              <a:t>When a table’s body is sectioned off, however, it also makes sense to section off the table’s column headings using the &lt;</a:t>
            </a:r>
            <a:r>
              <a:rPr lang="en-US" sz="2400" dirty="0" err="1"/>
              <a:t>thead</a:t>
            </a:r>
            <a:r>
              <a:rPr lang="en-US" sz="2400" dirty="0"/>
              <a:t>&gt; element.</a:t>
            </a:r>
          </a:p>
          <a:p>
            <a:pPr algn="just"/>
            <a:r>
              <a:rPr lang="en-US" sz="2400" dirty="0"/>
              <a:t>The bottom part of a long table can also be sectioned off using the &lt;</a:t>
            </a:r>
            <a:r>
              <a:rPr lang="en-US" sz="2400" dirty="0" err="1"/>
              <a:t>tfoot</a:t>
            </a:r>
            <a:r>
              <a:rPr lang="en-US" sz="2400" dirty="0"/>
              <a:t>&gt; element.</a:t>
            </a:r>
            <a:endParaRPr lang="en-IN" sz="2400" dirty="0"/>
          </a:p>
        </p:txBody>
      </p:sp>
    </p:spTree>
    <p:extLst>
      <p:ext uri="{BB962C8B-B14F-4D97-AF65-F5344CB8AC3E}">
        <p14:creationId xmlns:p14="http://schemas.microsoft.com/office/powerpoint/2010/main" val="206284750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291F-2F30-6A05-114E-CE1D32F2BE59}"/>
              </a:ext>
            </a:extLst>
          </p:cNvPr>
          <p:cNvSpPr>
            <a:spLocks noGrp="1"/>
          </p:cNvSpPr>
          <p:nvPr>
            <p:ph type="title"/>
          </p:nvPr>
        </p:nvSpPr>
        <p:spPr/>
        <p:txBody>
          <a:bodyPr>
            <a:normAutofit/>
          </a:bodyPr>
          <a:lstStyle/>
          <a:p>
            <a:r>
              <a:rPr lang="en-IN" sz="3200" dirty="0"/>
              <a:t>Introduction to HTML Forms</a:t>
            </a:r>
          </a:p>
        </p:txBody>
      </p:sp>
      <p:sp>
        <p:nvSpPr>
          <p:cNvPr id="3" name="Content Placeholder 2">
            <a:extLst>
              <a:ext uri="{FF2B5EF4-FFF2-40B4-BE49-F238E27FC236}">
                <a16:creationId xmlns:a16="http://schemas.microsoft.com/office/drawing/2014/main" id="{279B261D-AABD-EE05-FA9C-AF4F8E893E66}"/>
              </a:ext>
            </a:extLst>
          </p:cNvPr>
          <p:cNvSpPr>
            <a:spLocks noGrp="1"/>
          </p:cNvSpPr>
          <p:nvPr>
            <p:ph idx="1"/>
          </p:nvPr>
        </p:nvSpPr>
        <p:spPr/>
        <p:txBody>
          <a:bodyPr>
            <a:normAutofit/>
          </a:bodyPr>
          <a:lstStyle/>
          <a:p>
            <a:pPr algn="just"/>
            <a:r>
              <a:rPr lang="en-US" sz="2400" dirty="0"/>
              <a:t>Just like a physical form, an HTML &lt;form&gt; element is responsible for collecting information to send somewhere else. Every time we browse the internet we come into contact with many forms and we might not even realize it. There’s a good chance that if you’re typing into a text field or providing an input, the field that you’re typing into is part of a &lt;form&gt;!</a:t>
            </a:r>
          </a:p>
          <a:p>
            <a:pPr algn="just"/>
            <a:r>
              <a:rPr lang="en-US" sz="2400" dirty="0"/>
              <a:t>In this lesson, we’ll go over the structure and syntax of a &lt;form&gt; and the many elements that populate it.</a:t>
            </a:r>
            <a:endParaRPr lang="en-IN" sz="2400" dirty="0"/>
          </a:p>
        </p:txBody>
      </p:sp>
    </p:spTree>
    <p:extLst>
      <p:ext uri="{BB962C8B-B14F-4D97-AF65-F5344CB8AC3E}">
        <p14:creationId xmlns:p14="http://schemas.microsoft.com/office/powerpoint/2010/main" val="216838799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E819-BDDD-3292-C329-14E6AB5FE654}"/>
              </a:ext>
            </a:extLst>
          </p:cNvPr>
          <p:cNvSpPr>
            <a:spLocks noGrp="1"/>
          </p:cNvSpPr>
          <p:nvPr>
            <p:ph type="title"/>
          </p:nvPr>
        </p:nvSpPr>
        <p:spPr/>
        <p:txBody>
          <a:bodyPr/>
          <a:lstStyle/>
          <a:p>
            <a:r>
              <a:rPr lang="en-IN" dirty="0"/>
              <a:t>How a Form Works</a:t>
            </a:r>
          </a:p>
        </p:txBody>
      </p:sp>
      <p:sp>
        <p:nvSpPr>
          <p:cNvPr id="3" name="Content Placeholder 2">
            <a:extLst>
              <a:ext uri="{FF2B5EF4-FFF2-40B4-BE49-F238E27FC236}">
                <a16:creationId xmlns:a16="http://schemas.microsoft.com/office/drawing/2014/main" id="{6CB2669F-0561-58FB-CEF9-5B6E3C7667AF}"/>
              </a:ext>
            </a:extLst>
          </p:cNvPr>
          <p:cNvSpPr>
            <a:spLocks noGrp="1"/>
          </p:cNvSpPr>
          <p:nvPr>
            <p:ph idx="1"/>
          </p:nvPr>
        </p:nvSpPr>
        <p:spPr/>
        <p:txBody>
          <a:bodyPr>
            <a:normAutofit fontScale="92500" lnSpcReduction="10000"/>
          </a:bodyPr>
          <a:lstStyle/>
          <a:p>
            <a:r>
              <a:rPr lang="en-US" dirty="0"/>
              <a:t>We can think of the internet as a network of computers which send and receive information. Computers need an HTTP request to know how to communicate. The HTTP request instructs the receiving computer how to handle the incoming information.</a:t>
            </a:r>
          </a:p>
          <a:p>
            <a:r>
              <a:rPr lang="en-US" dirty="0"/>
              <a:t>The &lt;form&gt; element is a great tool for collecting information, but then we need to send that information somewhere else for processing. We need to supply the &lt;form&gt; element with both the location of where the &lt;form&gt;‘s information goes and what HTTP request to make. Take a look at the sample &lt;form&gt; below:</a:t>
            </a:r>
          </a:p>
          <a:p>
            <a:pPr marL="0" indent="0">
              <a:buNone/>
            </a:pPr>
            <a:r>
              <a:rPr lang="en-US" b="0" i="0" dirty="0">
                <a:solidFill>
                  <a:schemeClr val="tx1"/>
                </a:solidFill>
                <a:effectLst/>
                <a:latin typeface="Monaco"/>
              </a:rPr>
              <a:t>&lt;form action="/example.html" method="POST"&gt;</a:t>
            </a:r>
            <a:r>
              <a:rPr lang="en-US" dirty="0">
                <a:solidFill>
                  <a:schemeClr val="tx1"/>
                </a:solidFill>
              </a:rPr>
              <a:t/>
            </a:r>
            <a:br>
              <a:rPr lang="en-US" dirty="0">
                <a:solidFill>
                  <a:schemeClr val="tx1"/>
                </a:solidFill>
              </a:rPr>
            </a:br>
            <a:r>
              <a:rPr lang="en-US" b="0" i="0" dirty="0">
                <a:solidFill>
                  <a:schemeClr val="tx1"/>
                </a:solidFill>
                <a:effectLst/>
                <a:latin typeface="Monaco"/>
              </a:rPr>
              <a:t>&lt;/form&gt;</a:t>
            </a:r>
          </a:p>
          <a:p>
            <a:r>
              <a:rPr lang="en-US" dirty="0"/>
              <a:t>In the above example, we’ve created the skeleton for a &lt;form&gt; that will send information to example.html as a POST request:</a:t>
            </a:r>
          </a:p>
          <a:p>
            <a:r>
              <a:rPr lang="en-US" dirty="0"/>
              <a:t>The action attribute determines where the information is sent.</a:t>
            </a:r>
          </a:p>
          <a:p>
            <a:r>
              <a:rPr lang="en-US" dirty="0"/>
              <a:t>The method attribute is assigned a HTTP verb that is included in the HTTP request.</a:t>
            </a:r>
          </a:p>
          <a:p>
            <a:endParaRPr lang="en-IN" dirty="0"/>
          </a:p>
        </p:txBody>
      </p:sp>
    </p:spTree>
    <p:extLst>
      <p:ext uri="{BB962C8B-B14F-4D97-AF65-F5344CB8AC3E}">
        <p14:creationId xmlns:p14="http://schemas.microsoft.com/office/powerpoint/2010/main" val="69898568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9CE98-D8FE-046E-749C-701F0E42FF0E}"/>
              </a:ext>
            </a:extLst>
          </p:cNvPr>
          <p:cNvSpPr>
            <a:spLocks noGrp="1"/>
          </p:cNvSpPr>
          <p:nvPr>
            <p:ph type="title"/>
          </p:nvPr>
        </p:nvSpPr>
        <p:spPr/>
        <p:txBody>
          <a:bodyPr/>
          <a:lstStyle/>
          <a:p>
            <a:r>
              <a:rPr lang="en-IN" dirty="0"/>
              <a:t>Text Input</a:t>
            </a:r>
          </a:p>
        </p:txBody>
      </p:sp>
      <p:sp>
        <p:nvSpPr>
          <p:cNvPr id="3" name="Content Placeholder 2">
            <a:extLst>
              <a:ext uri="{FF2B5EF4-FFF2-40B4-BE49-F238E27FC236}">
                <a16:creationId xmlns:a16="http://schemas.microsoft.com/office/drawing/2014/main" id="{AC9879C1-2DB9-2337-9488-D616FAD467A2}"/>
              </a:ext>
            </a:extLst>
          </p:cNvPr>
          <p:cNvSpPr>
            <a:spLocks noGrp="1"/>
          </p:cNvSpPr>
          <p:nvPr>
            <p:ph idx="1"/>
          </p:nvPr>
        </p:nvSpPr>
        <p:spPr/>
        <p:txBody>
          <a:bodyPr/>
          <a:lstStyle/>
          <a:p>
            <a:r>
              <a:rPr lang="en-US" dirty="0"/>
              <a:t>The &lt;input&gt; element has a type attribute which determines how it renders on the web page and what kind of data it can accept.</a:t>
            </a:r>
          </a:p>
          <a:p>
            <a:r>
              <a:rPr lang="en-US" dirty="0"/>
              <a:t>The first value for the type attribute we’re going to explore is "text". When we create an &lt;input&gt; element with type="text", it renders a text field that users can type into. </a:t>
            </a:r>
          </a:p>
          <a:p>
            <a:r>
              <a:rPr lang="en-US" dirty="0"/>
              <a:t>Note that the default value of type is "text". It’s also important that we include a name attribute for the &lt;input&gt; — without the name attribute, information in the &lt;input&gt; won’t be sent when the &lt;form&gt; is submitted. </a:t>
            </a:r>
          </a:p>
          <a:p>
            <a:r>
              <a:rPr lang="en-US" dirty="0"/>
              <a:t>We’ll explain more about submissions and the submit button in a later exercise. </a:t>
            </a:r>
            <a:endParaRPr lang="en-IN" dirty="0"/>
          </a:p>
        </p:txBody>
      </p:sp>
      <p:sp>
        <p:nvSpPr>
          <p:cNvPr id="6" name="TextBox 5">
            <a:extLst>
              <a:ext uri="{FF2B5EF4-FFF2-40B4-BE49-F238E27FC236}">
                <a16:creationId xmlns:a16="http://schemas.microsoft.com/office/drawing/2014/main" id="{804CC074-6CDB-4553-65E2-4D1938BEEAFB}"/>
              </a:ext>
            </a:extLst>
          </p:cNvPr>
          <p:cNvSpPr txBox="1"/>
          <p:nvPr/>
        </p:nvSpPr>
        <p:spPr>
          <a:xfrm>
            <a:off x="1023836" y="5603531"/>
            <a:ext cx="4997585" cy="923330"/>
          </a:xfrm>
          <a:prstGeom prst="rect">
            <a:avLst/>
          </a:prstGeom>
          <a:noFill/>
        </p:spPr>
        <p:txBody>
          <a:bodyPr wrap="square">
            <a:spAutoFit/>
          </a:bodyPr>
          <a:lstStyle/>
          <a:p>
            <a:r>
              <a:rPr lang="en-US" b="0" i="0" dirty="0">
                <a:solidFill>
                  <a:schemeClr val="tx2"/>
                </a:solidFill>
                <a:effectLst/>
                <a:latin typeface="Monaco"/>
              </a:rPr>
              <a:t>&lt;form </a:t>
            </a:r>
            <a:r>
              <a:rPr lang="en-US" b="0" i="0" dirty="0">
                <a:solidFill>
                  <a:srgbClr val="FF0000"/>
                </a:solidFill>
                <a:effectLst/>
                <a:latin typeface="Monaco"/>
              </a:rPr>
              <a:t>action="/example.html" method="POST"</a:t>
            </a:r>
            <a:r>
              <a:rPr lang="en-US" b="0" i="0" dirty="0">
                <a:solidFill>
                  <a:schemeClr val="tx2"/>
                </a:solidFill>
                <a:effectLst/>
                <a:latin typeface="Monaco"/>
              </a:rPr>
              <a:t>&gt;</a:t>
            </a:r>
            <a:r>
              <a:rPr lang="en-US" dirty="0">
                <a:solidFill>
                  <a:schemeClr val="tx2"/>
                </a:solidFill>
              </a:rPr>
              <a:t/>
            </a:r>
            <a:br>
              <a:rPr lang="en-US" dirty="0">
                <a:solidFill>
                  <a:schemeClr val="tx2"/>
                </a:solidFill>
              </a:rPr>
            </a:br>
            <a:r>
              <a:rPr lang="en-US" b="0" i="0" dirty="0">
                <a:solidFill>
                  <a:schemeClr val="tx2"/>
                </a:solidFill>
                <a:effectLst/>
                <a:latin typeface="Monaco"/>
              </a:rPr>
              <a:t>  	&lt;input </a:t>
            </a:r>
            <a:r>
              <a:rPr lang="en-US" b="0" i="0" dirty="0">
                <a:solidFill>
                  <a:srgbClr val="FF0000"/>
                </a:solidFill>
                <a:effectLst/>
                <a:latin typeface="Monaco"/>
              </a:rPr>
              <a:t>type="text" name="first-text-field"</a:t>
            </a:r>
            <a:r>
              <a:rPr lang="en-US" b="0" i="0" dirty="0">
                <a:solidFill>
                  <a:schemeClr val="tx2"/>
                </a:solidFill>
                <a:effectLst/>
                <a:latin typeface="Monaco"/>
              </a:rPr>
              <a:t>&gt;</a:t>
            </a:r>
            <a:r>
              <a:rPr lang="en-US" dirty="0">
                <a:solidFill>
                  <a:schemeClr val="tx2"/>
                </a:solidFill>
              </a:rPr>
              <a:t/>
            </a:r>
            <a:br>
              <a:rPr lang="en-US" dirty="0">
                <a:solidFill>
                  <a:schemeClr val="tx2"/>
                </a:solidFill>
              </a:rPr>
            </a:br>
            <a:r>
              <a:rPr lang="en-US" b="0" i="0" dirty="0">
                <a:solidFill>
                  <a:schemeClr val="tx2"/>
                </a:solidFill>
                <a:effectLst/>
                <a:latin typeface="Monaco"/>
              </a:rPr>
              <a:t>&lt;/form&gt;</a:t>
            </a:r>
            <a:endParaRPr lang="en-IN" dirty="0">
              <a:solidFill>
                <a:schemeClr val="tx2"/>
              </a:solidFill>
            </a:endParaRPr>
          </a:p>
        </p:txBody>
      </p:sp>
      <p:pic>
        <p:nvPicPr>
          <p:cNvPr id="8" name="Picture 7">
            <a:extLst>
              <a:ext uri="{FF2B5EF4-FFF2-40B4-BE49-F238E27FC236}">
                <a16:creationId xmlns:a16="http://schemas.microsoft.com/office/drawing/2014/main" id="{84BF5643-0B56-C4E5-A9D2-FB052A4C2FC0}"/>
              </a:ext>
            </a:extLst>
          </p:cNvPr>
          <p:cNvPicPr>
            <a:picLocks noChangeAspect="1"/>
          </p:cNvPicPr>
          <p:nvPr/>
        </p:nvPicPr>
        <p:blipFill>
          <a:blip r:embed="rId2"/>
          <a:stretch>
            <a:fillRect/>
          </a:stretch>
        </p:blipFill>
        <p:spPr>
          <a:xfrm>
            <a:off x="8528515" y="5607156"/>
            <a:ext cx="2994920" cy="548688"/>
          </a:xfrm>
          <a:prstGeom prst="rect">
            <a:avLst/>
          </a:prstGeom>
        </p:spPr>
      </p:pic>
      <p:sp>
        <p:nvSpPr>
          <p:cNvPr id="9" name="TextBox 8">
            <a:extLst>
              <a:ext uri="{FF2B5EF4-FFF2-40B4-BE49-F238E27FC236}">
                <a16:creationId xmlns:a16="http://schemas.microsoft.com/office/drawing/2014/main" id="{AEE4055A-5399-90D9-D5B8-5F0CFC2A1F38}"/>
              </a:ext>
            </a:extLst>
          </p:cNvPr>
          <p:cNvSpPr txBox="1"/>
          <p:nvPr/>
        </p:nvSpPr>
        <p:spPr>
          <a:xfrm>
            <a:off x="6840976" y="5823498"/>
            <a:ext cx="1439694" cy="369332"/>
          </a:xfrm>
          <a:prstGeom prst="rect">
            <a:avLst/>
          </a:prstGeom>
          <a:noFill/>
        </p:spPr>
        <p:txBody>
          <a:bodyPr wrap="square" rtlCol="0">
            <a:spAutoFit/>
          </a:bodyPr>
          <a:lstStyle/>
          <a:p>
            <a:r>
              <a:rPr lang="en-IN" b="1" dirty="0"/>
              <a:t>Output</a:t>
            </a:r>
            <a:r>
              <a:rPr lang="en-IN" b="1" dirty="0">
                <a:sym typeface="Wingdings" panose="05000000000000000000" pitchFamily="2" charset="2"/>
              </a:rPr>
              <a:t></a:t>
            </a:r>
            <a:endParaRPr lang="en-IN" b="1" dirty="0"/>
          </a:p>
        </p:txBody>
      </p:sp>
    </p:spTree>
    <p:extLst>
      <p:ext uri="{BB962C8B-B14F-4D97-AF65-F5344CB8AC3E}">
        <p14:creationId xmlns:p14="http://schemas.microsoft.com/office/powerpoint/2010/main" val="282541782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F5C3E-CD16-91E5-9D27-B3ABBA7D5FC7}"/>
              </a:ext>
            </a:extLst>
          </p:cNvPr>
          <p:cNvSpPr>
            <a:spLocks noGrp="1"/>
          </p:cNvSpPr>
          <p:nvPr>
            <p:ph type="title"/>
          </p:nvPr>
        </p:nvSpPr>
        <p:spPr/>
        <p:txBody>
          <a:bodyPr/>
          <a:lstStyle/>
          <a:p>
            <a:r>
              <a:rPr lang="en-IN" dirty="0"/>
              <a:t>The &lt;input&gt; Element</a:t>
            </a:r>
          </a:p>
        </p:txBody>
      </p:sp>
      <p:sp>
        <p:nvSpPr>
          <p:cNvPr id="3" name="Content Placeholder 2">
            <a:extLst>
              <a:ext uri="{FF2B5EF4-FFF2-40B4-BE49-F238E27FC236}">
                <a16:creationId xmlns:a16="http://schemas.microsoft.com/office/drawing/2014/main" id="{31E85A2C-E49D-8B43-A70D-0C884A424D05}"/>
              </a:ext>
            </a:extLst>
          </p:cNvPr>
          <p:cNvSpPr>
            <a:spLocks noGrp="1"/>
          </p:cNvSpPr>
          <p:nvPr>
            <p:ph idx="1"/>
          </p:nvPr>
        </p:nvSpPr>
        <p:spPr/>
        <p:txBody>
          <a:bodyPr>
            <a:normAutofit/>
          </a:bodyPr>
          <a:lstStyle/>
          <a:p>
            <a:r>
              <a:rPr lang="en-US" b="0" i="0" dirty="0">
                <a:solidFill>
                  <a:srgbClr val="10162F"/>
                </a:solidFill>
                <a:effectLst/>
                <a:latin typeface="Apercu"/>
              </a:rPr>
              <a:t>When initially loaded, it will be an empty box:</a:t>
            </a:r>
          </a:p>
          <a:p>
            <a:r>
              <a:rPr lang="en-US" dirty="0"/>
              <a:t>After users type into the &lt;input&gt; element, the value of the value attribute becomes what is typed into the text field. The value of the value attribute is paired with the value of the name attribute and sent as text when the form is submitted. For instance, if a user typed in “important details” in the text field created by our &lt;input&gt; element:</a:t>
            </a:r>
          </a:p>
          <a:p>
            <a:r>
              <a:rPr lang="en-US" dirty="0"/>
              <a:t>When the form is submitted, the text: </a:t>
            </a:r>
            <a:r>
              <a:rPr lang="en-US" dirty="0">
                <a:solidFill>
                  <a:schemeClr val="accent2">
                    <a:lumMod val="60000"/>
                    <a:lumOff val="40000"/>
                  </a:schemeClr>
                </a:solidFill>
              </a:rPr>
              <a:t>"first-text-field=important details" </a:t>
            </a:r>
            <a:r>
              <a:rPr lang="en-US" dirty="0"/>
              <a:t>is sent to /example.html because the value of the name attribute is "first-text-field" and the value of value is "important details".</a:t>
            </a:r>
          </a:p>
          <a:p>
            <a:r>
              <a:rPr lang="en-US" dirty="0"/>
              <a:t>We could also assign a default value for the value attribute so that users have a pre-filled text field when they first see the rendered form like so:</a:t>
            </a:r>
            <a:endParaRPr lang="en-IN" dirty="0"/>
          </a:p>
        </p:txBody>
      </p:sp>
    </p:spTree>
    <p:extLst>
      <p:ext uri="{BB962C8B-B14F-4D97-AF65-F5344CB8AC3E}">
        <p14:creationId xmlns:p14="http://schemas.microsoft.com/office/powerpoint/2010/main" val="51843871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E141B-8242-5E2A-7369-AE53D6535BA1}"/>
              </a:ext>
            </a:extLst>
          </p:cNvPr>
          <p:cNvSpPr>
            <a:spLocks noGrp="1"/>
          </p:cNvSpPr>
          <p:nvPr>
            <p:ph type="title"/>
          </p:nvPr>
        </p:nvSpPr>
        <p:spPr/>
        <p:txBody>
          <a:bodyPr/>
          <a:lstStyle/>
          <a:p>
            <a:r>
              <a:rPr lang="en-IN" dirty="0"/>
              <a:t>The &lt;input&gt; Element</a:t>
            </a:r>
          </a:p>
        </p:txBody>
      </p:sp>
      <p:graphicFrame>
        <p:nvGraphicFramePr>
          <p:cNvPr id="4" name="Content Placeholder 3">
            <a:extLst>
              <a:ext uri="{FF2B5EF4-FFF2-40B4-BE49-F238E27FC236}">
                <a16:creationId xmlns:a16="http://schemas.microsoft.com/office/drawing/2014/main" id="{ACAC108D-97B7-6C07-EA0C-13558CE28DE6}"/>
              </a:ext>
            </a:extLst>
          </p:cNvPr>
          <p:cNvGraphicFramePr>
            <a:graphicFrameLocks noGrp="1"/>
          </p:cNvGraphicFramePr>
          <p:nvPr>
            <p:ph idx="1"/>
            <p:extLst>
              <p:ext uri="{D42A27DB-BD31-4B8C-83A1-F6EECF244321}">
                <p14:modId xmlns:p14="http://schemas.microsoft.com/office/powerpoint/2010/main" val="4286377826"/>
              </p:ext>
            </p:extLst>
          </p:nvPr>
        </p:nvGraphicFramePr>
        <p:xfrm>
          <a:off x="1332688" y="2247090"/>
          <a:ext cx="9367738" cy="3908754"/>
        </p:xfrm>
        <a:graphic>
          <a:graphicData uri="http://schemas.openxmlformats.org/drawingml/2006/table">
            <a:tbl>
              <a:tblPr/>
              <a:tblGrid>
                <a:gridCol w="4683869">
                  <a:extLst>
                    <a:ext uri="{9D8B030D-6E8A-4147-A177-3AD203B41FA5}">
                      <a16:colId xmlns:a16="http://schemas.microsoft.com/office/drawing/2014/main" val="4154605495"/>
                    </a:ext>
                  </a:extLst>
                </a:gridCol>
                <a:gridCol w="4683869">
                  <a:extLst>
                    <a:ext uri="{9D8B030D-6E8A-4147-A177-3AD203B41FA5}">
                      <a16:colId xmlns:a16="http://schemas.microsoft.com/office/drawing/2014/main" val="260889632"/>
                    </a:ext>
                  </a:extLst>
                </a:gridCol>
              </a:tblGrid>
              <a:tr h="483941">
                <a:tc>
                  <a:txBody>
                    <a:bodyPr/>
                    <a:lstStyle/>
                    <a:p>
                      <a:pPr algn="l" fontAlgn="t"/>
                      <a:r>
                        <a:rPr lang="en-IN">
                          <a:effectLst/>
                        </a:rPr>
                        <a:t>Type</a:t>
                      </a: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Description</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999266363"/>
                  </a:ext>
                </a:extLst>
              </a:tr>
              <a:tr h="483941">
                <a:tc>
                  <a:txBody>
                    <a:bodyPr/>
                    <a:lstStyle/>
                    <a:p>
                      <a:pPr algn="l" fontAlgn="t"/>
                      <a:r>
                        <a:rPr lang="en-IN">
                          <a:effectLst/>
                        </a:rPr>
                        <a:t>&lt;input type="text"&gt;</a:t>
                      </a: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a:effectLst/>
                        </a:rPr>
                        <a:t>Displays a single-line text input field</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162839308"/>
                  </a:ext>
                </a:extLst>
              </a:tr>
              <a:tr h="818977">
                <a:tc>
                  <a:txBody>
                    <a:bodyPr/>
                    <a:lstStyle/>
                    <a:p>
                      <a:pPr algn="l" fontAlgn="t"/>
                      <a:r>
                        <a:rPr lang="en-IN">
                          <a:effectLst/>
                        </a:rPr>
                        <a:t>&lt;input type="radio"&gt;</a:t>
                      </a: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a:effectLst/>
                        </a:rPr>
                        <a:t>Displays a radio button (for selecting one of many choices)</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826142856"/>
                  </a:ext>
                </a:extLst>
              </a:tr>
              <a:tr h="818977">
                <a:tc>
                  <a:txBody>
                    <a:bodyPr/>
                    <a:lstStyle/>
                    <a:p>
                      <a:pPr algn="l" fontAlgn="t"/>
                      <a:r>
                        <a:rPr lang="en-IN" dirty="0">
                          <a:effectLst/>
                        </a:rPr>
                        <a:t>&lt;input type="checkbox"&gt;</a:t>
                      </a: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a:effectLst/>
                        </a:rPr>
                        <a:t>Displays a checkbox (for selecting zero or more of many choices)</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931651423"/>
                  </a:ext>
                </a:extLst>
              </a:tr>
              <a:tr h="818977">
                <a:tc>
                  <a:txBody>
                    <a:bodyPr/>
                    <a:lstStyle/>
                    <a:p>
                      <a:pPr algn="l" fontAlgn="t"/>
                      <a:r>
                        <a:rPr lang="en-IN">
                          <a:effectLst/>
                        </a:rPr>
                        <a:t>&lt;input type="submit"&gt;</a:t>
                      </a: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a:effectLst/>
                        </a:rPr>
                        <a:t>Displays a submit button (for submitting the form)</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191410124"/>
                  </a:ext>
                </a:extLst>
              </a:tr>
              <a:tr h="483941">
                <a:tc>
                  <a:txBody>
                    <a:bodyPr/>
                    <a:lstStyle/>
                    <a:p>
                      <a:pPr algn="l" fontAlgn="t"/>
                      <a:r>
                        <a:rPr lang="en-IN">
                          <a:effectLst/>
                        </a:rPr>
                        <a:t>&lt;input type="button"&gt;</a:t>
                      </a: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7E9EB"/>
                    </a:solidFill>
                  </a:tcPr>
                </a:tc>
                <a:tc>
                  <a:txBody>
                    <a:bodyPr/>
                    <a:lstStyle/>
                    <a:p>
                      <a:pPr algn="l" fontAlgn="t"/>
                      <a:r>
                        <a:rPr lang="en-IN" dirty="0">
                          <a:effectLst/>
                        </a:rPr>
                        <a:t>Displays a clickable button</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7E9EB"/>
                    </a:solidFill>
                  </a:tcPr>
                </a:tc>
                <a:extLst>
                  <a:ext uri="{0D108BD9-81ED-4DB2-BD59-A6C34878D82A}">
                    <a16:rowId xmlns:a16="http://schemas.microsoft.com/office/drawing/2014/main" val="3504982796"/>
                  </a:ext>
                </a:extLst>
              </a:tr>
            </a:tbl>
          </a:graphicData>
        </a:graphic>
      </p:graphicFrame>
    </p:spTree>
    <p:extLst>
      <p:ext uri="{BB962C8B-B14F-4D97-AF65-F5344CB8AC3E}">
        <p14:creationId xmlns:p14="http://schemas.microsoft.com/office/powerpoint/2010/main" val="81284506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7B14A-1F23-FE4D-73BD-289203495ACA}"/>
              </a:ext>
            </a:extLst>
          </p:cNvPr>
          <p:cNvSpPr>
            <a:spLocks noGrp="1"/>
          </p:cNvSpPr>
          <p:nvPr>
            <p:ph type="title"/>
          </p:nvPr>
        </p:nvSpPr>
        <p:spPr/>
        <p:txBody>
          <a:bodyPr/>
          <a:lstStyle/>
          <a:p>
            <a:r>
              <a:rPr lang="en-IN" dirty="0"/>
              <a:t>HTML Input Types</a:t>
            </a:r>
            <a:br>
              <a:rPr lang="en-IN" dirty="0"/>
            </a:br>
            <a:endParaRPr lang="en-IN" dirty="0"/>
          </a:p>
        </p:txBody>
      </p:sp>
      <p:sp>
        <p:nvSpPr>
          <p:cNvPr id="4" name="Rectangle 1">
            <a:extLst>
              <a:ext uri="{FF2B5EF4-FFF2-40B4-BE49-F238E27FC236}">
                <a16:creationId xmlns:a16="http://schemas.microsoft.com/office/drawing/2014/main" id="{6F846BA7-B324-08FE-6633-4854B8DED755}"/>
              </a:ext>
            </a:extLst>
          </p:cNvPr>
          <p:cNvSpPr>
            <a:spLocks noGrp="1" noChangeArrowheads="1"/>
          </p:cNvSpPr>
          <p:nvPr>
            <p:ph idx="1"/>
          </p:nvPr>
        </p:nvSpPr>
        <p:spPr bwMode="auto">
          <a:xfrm>
            <a:off x="581192" y="2159533"/>
            <a:ext cx="4636011" cy="39087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type="button"&gt;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type="checkbox"&gt;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type="color"&gt;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type="date"&gt;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type="datetime-local"&gt;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type="email"&gt;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type="file"&gt;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type="hidden"&gt;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type="image"&gt;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type="month"&gt;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type="number"&gt;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6059905F-D44D-50F6-C1D2-281F2C6A9B81}"/>
              </a:ext>
            </a:extLst>
          </p:cNvPr>
          <p:cNvSpPr txBox="1"/>
          <p:nvPr/>
        </p:nvSpPr>
        <p:spPr>
          <a:xfrm>
            <a:off x="5865779" y="2675107"/>
            <a:ext cx="4766553" cy="3139321"/>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12"/>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type="password"&gt;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12"/>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type="radio"&gt;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12"/>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type="range"&gt;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12"/>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type="reset"&gt;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12"/>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type="search"&gt;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12"/>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type="submit"&gt;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12"/>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a:t>
            </a:r>
            <a:r>
              <a:rPr kumimoji="0" lang="en-US" altLang="en-US" sz="1800" b="0" i="0" u="none" strike="noStrike" cap="none" normalizeH="0" baseline="0" dirty="0" err="1">
                <a:ln>
                  <a:noFill/>
                </a:ln>
                <a:solidFill>
                  <a:srgbClr val="DC143C"/>
                </a:solidFill>
                <a:effectLst/>
                <a:latin typeface="Consolas" panose="020B0609020204030204" pitchFamily="49" charset="0"/>
              </a:rPr>
              <a:t>tel</a:t>
            </a:r>
            <a:r>
              <a:rPr kumimoji="0" lang="en-US" altLang="en-US" sz="1800" b="0" i="0" u="none" strike="noStrike" cap="none" normalizeH="0" baseline="0" dirty="0">
                <a:ln>
                  <a:noFill/>
                </a:ln>
                <a:solidFill>
                  <a:srgbClr val="DC143C"/>
                </a:solidFill>
                <a:effectLst/>
                <a:latin typeface="Consolas" panose="020B0609020204030204" pitchFamily="49" charset="0"/>
              </a:rPr>
              <a:t>"&gt;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12"/>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type="text"&gt;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12"/>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type="time"&gt;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12"/>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a:t>
            </a:r>
            <a:r>
              <a:rPr kumimoji="0" lang="en-US" altLang="en-US" sz="1800" b="0" i="0" u="none" strike="noStrike" cap="none" normalizeH="0" baseline="0" dirty="0" err="1">
                <a:ln>
                  <a:noFill/>
                </a:ln>
                <a:solidFill>
                  <a:srgbClr val="DC143C"/>
                </a:solidFill>
                <a:effectLst/>
                <a:latin typeface="Consolas" panose="020B0609020204030204" pitchFamily="49" charset="0"/>
              </a:rPr>
              <a:t>url</a:t>
            </a:r>
            <a:r>
              <a:rPr kumimoji="0" lang="en-US" altLang="en-US" sz="1800" b="0" i="0" u="none" strike="noStrike" cap="none" normalizeH="0" baseline="0" dirty="0">
                <a:ln>
                  <a:noFill/>
                </a:ln>
                <a:solidFill>
                  <a:srgbClr val="DC143C"/>
                </a:solidFill>
                <a:effectLst/>
                <a:latin typeface="Consolas" panose="020B0609020204030204" pitchFamily="49" charset="0"/>
              </a:rPr>
              <a:t>"&gt;</a:t>
            </a:r>
            <a:endParaRPr kumimoji="0" lang="en-US" altLang="en-US" sz="1800" b="0" i="0" u="none" strike="noStrike" cap="none" normalizeH="0" baseline="0" dirty="0">
              <a:ln>
                <a:noFill/>
              </a:ln>
              <a:solidFill>
                <a:srgbClr val="000000"/>
              </a:solidFill>
              <a:effectLst/>
              <a:latin typeface="Verdan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12"/>
              <a:tabLst/>
            </a:pPr>
            <a:r>
              <a:rPr kumimoji="0" lang="en-US" altLang="en-US" sz="1800" b="0" i="0" u="none" strike="noStrike" cap="none" normalizeH="0" baseline="0" dirty="0">
                <a:ln>
                  <a:noFill/>
                </a:ln>
                <a:solidFill>
                  <a:srgbClr val="DC143C"/>
                </a:solidFill>
                <a:effectLst/>
                <a:latin typeface="Consolas" panose="020B0609020204030204" pitchFamily="49" charset="0"/>
              </a:rPr>
              <a:t>&lt;input type="week"&gt;</a:t>
            </a:r>
            <a:endParaRPr kumimoji="0" lang="en-US" altLang="en-US" sz="1800" b="0" i="0" u="none" strike="noStrike" cap="none" normalizeH="0" baseline="0" dirty="0">
              <a:ln>
                <a:noFill/>
              </a:ln>
              <a:solidFill>
                <a:srgbClr val="000000"/>
              </a:solidFill>
              <a:effectLst/>
              <a:latin typeface="Verdana" panose="020B0604030504040204" pitchFamily="34" charset="0"/>
            </a:endParaRPr>
          </a:p>
        </p:txBody>
      </p:sp>
      <mc:AlternateContent xmlns:mc="http://schemas.openxmlformats.org/markup-compatibility/2006">
        <mc:Choice xmlns:p14="http://schemas.microsoft.com/office/powerpoint/2010/main" Requires="p14">
          <p:contentPart p14:bwMode="auto" r:id="rId2">
            <p14:nvContentPartPr>
              <p14:cNvPr id="3" name="Ink 2"/>
              <p14:cNvContentPartPr/>
              <p14:nvPr/>
            </p14:nvContentPartPr>
            <p14:xfrm>
              <a:off x="3537000" y="1162080"/>
              <a:ext cx="4724640" cy="3264120"/>
            </p14:xfrm>
          </p:contentPart>
        </mc:Choice>
        <mc:Fallback>
          <p:pic>
            <p:nvPicPr>
              <p:cNvPr id="3" name="Ink 2"/>
              <p:cNvPicPr/>
              <p:nvPr/>
            </p:nvPicPr>
            <p:blipFill>
              <a:blip r:embed="rId3"/>
              <a:stretch>
                <a:fillRect/>
              </a:stretch>
            </p:blipFill>
            <p:spPr>
              <a:xfrm>
                <a:off x="3527640" y="1152720"/>
                <a:ext cx="4743360" cy="3282840"/>
              </a:xfrm>
              <a:prstGeom prst="rect">
                <a:avLst/>
              </a:prstGeom>
            </p:spPr>
          </p:pic>
        </mc:Fallback>
      </mc:AlternateContent>
    </p:spTree>
    <p:extLst>
      <p:ext uri="{BB962C8B-B14F-4D97-AF65-F5344CB8AC3E}">
        <p14:creationId xmlns:p14="http://schemas.microsoft.com/office/powerpoint/2010/main" val="66083976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838BE-43EA-8308-E189-106908CBAD09}"/>
              </a:ext>
            </a:extLst>
          </p:cNvPr>
          <p:cNvSpPr>
            <a:spLocks noGrp="1"/>
          </p:cNvSpPr>
          <p:nvPr>
            <p:ph type="title"/>
          </p:nvPr>
        </p:nvSpPr>
        <p:spPr/>
        <p:txBody>
          <a:bodyPr/>
          <a:lstStyle/>
          <a:p>
            <a:r>
              <a:rPr lang="en-IN" dirty="0"/>
              <a:t>Adding a Label</a:t>
            </a:r>
          </a:p>
        </p:txBody>
      </p:sp>
      <p:sp>
        <p:nvSpPr>
          <p:cNvPr id="3" name="Content Placeholder 2">
            <a:extLst>
              <a:ext uri="{FF2B5EF4-FFF2-40B4-BE49-F238E27FC236}">
                <a16:creationId xmlns:a16="http://schemas.microsoft.com/office/drawing/2014/main" id="{B7CDF3A1-CF97-44D0-AE4D-12CF080FA089}"/>
              </a:ext>
            </a:extLst>
          </p:cNvPr>
          <p:cNvSpPr>
            <a:spLocks noGrp="1"/>
          </p:cNvSpPr>
          <p:nvPr>
            <p:ph idx="1"/>
          </p:nvPr>
        </p:nvSpPr>
        <p:spPr>
          <a:xfrm>
            <a:off x="581192" y="2180497"/>
            <a:ext cx="11029615" cy="1248504"/>
          </a:xfrm>
        </p:spPr>
        <p:txBody>
          <a:bodyPr/>
          <a:lstStyle/>
          <a:p>
            <a:r>
              <a:rPr lang="en-US" dirty="0"/>
              <a:t>The &lt;label&gt; element has an opening and closing tag and displays text that is written between the opening and closing tags. To associate a &lt;label&gt; and an &lt;input&gt;, the &lt;input&gt; needs an id attribute. We then assign the for attribute of the &lt;label&gt; element with the value of the id attribute of &lt;input&gt;, like so:</a:t>
            </a:r>
          </a:p>
          <a:p>
            <a:endParaRPr lang="en-IN" dirty="0"/>
          </a:p>
        </p:txBody>
      </p:sp>
      <p:sp>
        <p:nvSpPr>
          <p:cNvPr id="8" name="TextBox 7">
            <a:extLst>
              <a:ext uri="{FF2B5EF4-FFF2-40B4-BE49-F238E27FC236}">
                <a16:creationId xmlns:a16="http://schemas.microsoft.com/office/drawing/2014/main" id="{85E66C8B-5C55-DE1C-6EBF-142019D37AB8}"/>
              </a:ext>
            </a:extLst>
          </p:cNvPr>
          <p:cNvSpPr txBox="1"/>
          <p:nvPr/>
        </p:nvSpPr>
        <p:spPr>
          <a:xfrm>
            <a:off x="1792321" y="3532019"/>
            <a:ext cx="8314717" cy="1477328"/>
          </a:xfrm>
          <a:prstGeom prst="rect">
            <a:avLst/>
          </a:prstGeom>
          <a:noFill/>
        </p:spPr>
        <p:txBody>
          <a:bodyPr wrap="square">
            <a:spAutoFit/>
          </a:bodyPr>
          <a:lstStyle/>
          <a:p>
            <a:r>
              <a:rPr lang="en-US" b="0" dirty="0">
                <a:solidFill>
                  <a:srgbClr val="800000"/>
                </a:solidFill>
                <a:effectLst/>
                <a:latin typeface="Consolas" panose="020B0609020204030204" pitchFamily="49" charset="0"/>
              </a:rPr>
              <a:t>&lt;form</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action</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"/example.html"</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method</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"POST"</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dirty="0">
                <a:solidFill>
                  <a:srgbClr val="000000"/>
                </a:solidFill>
                <a:latin typeface="Consolas" panose="020B0609020204030204" pitchFamily="49" charset="0"/>
              </a:rPr>
              <a:t>	</a:t>
            </a:r>
            <a:r>
              <a:rPr lang="en-US" b="0" dirty="0">
                <a:solidFill>
                  <a:srgbClr val="800000"/>
                </a:solidFill>
                <a:effectLst/>
                <a:latin typeface="Consolas" panose="020B0609020204030204" pitchFamily="49" charset="0"/>
              </a:rPr>
              <a:t>&lt;label</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for</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FF"/>
                </a:solidFill>
                <a:effectLst/>
                <a:latin typeface="Consolas" panose="020B0609020204030204" pitchFamily="49" charset="0"/>
              </a:rPr>
              <a:t>f</a:t>
            </a:r>
            <a:r>
              <a:rPr lang="en-US" dirty="0" err="1">
                <a:solidFill>
                  <a:srgbClr val="0000FF"/>
                </a:solidFill>
                <a:latin typeface="Consolas" panose="020B0609020204030204" pitchFamily="49" charset="0"/>
              </a:rPr>
              <a:t>name</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What is your first name?</a:t>
            </a:r>
            <a:r>
              <a:rPr lang="en-US" b="0" dirty="0">
                <a:solidFill>
                  <a:srgbClr val="800000"/>
                </a:solidFill>
                <a:effectLst/>
                <a:latin typeface="Consolas" panose="020B0609020204030204" pitchFamily="49" charset="0"/>
              </a:rPr>
              <a:t>&lt;/label&gt;</a:t>
            </a:r>
            <a:endParaRPr lang="en-US" b="0" dirty="0">
              <a:solidFill>
                <a:srgbClr val="000000"/>
              </a:solidFill>
              <a:effectLst/>
              <a:latin typeface="Consolas" panose="020B0609020204030204" pitchFamily="49" charset="0"/>
            </a:endParaRPr>
          </a:p>
          <a:p>
            <a:r>
              <a:rPr lang="en-US" dirty="0">
                <a:solidFill>
                  <a:srgbClr val="000000"/>
                </a:solidFill>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br</a:t>
            </a:r>
            <a:r>
              <a:rPr lang="en-US" b="0" dirty="0">
                <a:solidFill>
                  <a:srgbClr val="800000"/>
                </a:solidFill>
                <a:effectLst/>
                <a:latin typeface="Consolas" panose="020B0609020204030204" pitchFamily="49" charset="0"/>
              </a:rPr>
              <a:t>&gt;</a:t>
            </a:r>
            <a:endParaRPr lang="en-US" dirty="0">
              <a:solidFill>
                <a:srgbClr val="000000"/>
              </a:solidFill>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&lt;input</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type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"text"</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name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"food"</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id</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dirty="0" err="1">
                <a:solidFill>
                  <a:srgbClr val="0000FF"/>
                </a:solidFill>
                <a:latin typeface="Consolas" panose="020B0609020204030204" pitchFamily="49" charset="0"/>
              </a:rPr>
              <a:t>fname</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&lt;/form&gt;</a:t>
            </a:r>
            <a:endParaRPr lang="en-US" b="0" dirty="0">
              <a:solidFill>
                <a:srgbClr val="000000"/>
              </a:solidFill>
              <a:effectLst/>
              <a:latin typeface="Consolas" panose="020B0609020204030204" pitchFamily="49" charset="0"/>
            </a:endParaRPr>
          </a:p>
        </p:txBody>
      </p:sp>
      <p:pic>
        <p:nvPicPr>
          <p:cNvPr id="10" name="Picture 9">
            <a:extLst>
              <a:ext uri="{FF2B5EF4-FFF2-40B4-BE49-F238E27FC236}">
                <a16:creationId xmlns:a16="http://schemas.microsoft.com/office/drawing/2014/main" id="{6F5D53A2-2AC8-BB81-E0C8-45CD987454B3}"/>
              </a:ext>
            </a:extLst>
          </p:cNvPr>
          <p:cNvPicPr>
            <a:picLocks noChangeAspect="1"/>
          </p:cNvPicPr>
          <p:nvPr/>
        </p:nvPicPr>
        <p:blipFill>
          <a:blip r:embed="rId2"/>
          <a:stretch>
            <a:fillRect/>
          </a:stretch>
        </p:blipFill>
        <p:spPr>
          <a:xfrm>
            <a:off x="3808000" y="5431881"/>
            <a:ext cx="3116850" cy="723963"/>
          </a:xfrm>
          <a:prstGeom prst="rect">
            <a:avLst/>
          </a:prstGeom>
        </p:spPr>
      </p:pic>
    </p:spTree>
    <p:extLst>
      <p:ext uri="{BB962C8B-B14F-4D97-AF65-F5344CB8AC3E}">
        <p14:creationId xmlns:p14="http://schemas.microsoft.com/office/powerpoint/2010/main" val="276543783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2BDFF-7B3F-F4EE-27CD-A4E0BE250BD8}"/>
              </a:ext>
            </a:extLst>
          </p:cNvPr>
          <p:cNvSpPr>
            <a:spLocks noGrp="1"/>
          </p:cNvSpPr>
          <p:nvPr>
            <p:ph type="title"/>
          </p:nvPr>
        </p:nvSpPr>
        <p:spPr/>
        <p:txBody>
          <a:bodyPr/>
          <a:lstStyle/>
          <a:p>
            <a:r>
              <a:rPr lang="en-IN" dirty="0"/>
              <a:t>Password Input</a:t>
            </a:r>
          </a:p>
        </p:txBody>
      </p:sp>
      <p:sp>
        <p:nvSpPr>
          <p:cNvPr id="3" name="Content Placeholder 2">
            <a:extLst>
              <a:ext uri="{FF2B5EF4-FFF2-40B4-BE49-F238E27FC236}">
                <a16:creationId xmlns:a16="http://schemas.microsoft.com/office/drawing/2014/main" id="{5CD99237-1D37-D7D7-3DE8-36F3ACB66C76}"/>
              </a:ext>
            </a:extLst>
          </p:cNvPr>
          <p:cNvSpPr>
            <a:spLocks noGrp="1"/>
          </p:cNvSpPr>
          <p:nvPr>
            <p:ph idx="1"/>
          </p:nvPr>
        </p:nvSpPr>
        <p:spPr>
          <a:xfrm>
            <a:off x="581192" y="2180497"/>
            <a:ext cx="11029615" cy="494610"/>
          </a:xfrm>
        </p:spPr>
        <p:txBody>
          <a:bodyPr>
            <a:normAutofit fontScale="92500"/>
          </a:bodyPr>
          <a:lstStyle/>
          <a:p>
            <a:r>
              <a:rPr lang="en-US" dirty="0"/>
              <a:t>An &lt;input type ="password"&gt; element will replace input text with another character like an asterisk (*) or a dot (•). </a:t>
            </a:r>
            <a:endParaRPr lang="en-IN" dirty="0"/>
          </a:p>
        </p:txBody>
      </p:sp>
      <p:sp>
        <p:nvSpPr>
          <p:cNvPr id="6" name="TextBox 5">
            <a:extLst>
              <a:ext uri="{FF2B5EF4-FFF2-40B4-BE49-F238E27FC236}">
                <a16:creationId xmlns:a16="http://schemas.microsoft.com/office/drawing/2014/main" id="{5FB5B5B9-9EA9-450C-AF93-53AC1A3CDEBA}"/>
              </a:ext>
            </a:extLst>
          </p:cNvPr>
          <p:cNvSpPr txBox="1"/>
          <p:nvPr/>
        </p:nvSpPr>
        <p:spPr>
          <a:xfrm>
            <a:off x="1461580" y="2812650"/>
            <a:ext cx="9686318" cy="1754326"/>
          </a:xfrm>
          <a:prstGeom prst="rect">
            <a:avLst/>
          </a:prstGeom>
          <a:noFill/>
        </p:spPr>
        <p:txBody>
          <a:bodyPr wrap="square">
            <a:spAutoFit/>
          </a:bodyPr>
          <a:lstStyle/>
          <a:p>
            <a:r>
              <a:rPr lang="en-IN" b="0" dirty="0">
                <a:solidFill>
                  <a:srgbClr val="800000"/>
                </a:solidFill>
                <a:effectLst/>
                <a:latin typeface="Consolas" panose="020B0609020204030204" pitchFamily="49" charset="0"/>
              </a:rPr>
              <a:t>&lt;form</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action</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"/example.html"</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method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"POST"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&lt;label</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00FF"/>
                </a:solidFill>
                <a:effectLst/>
                <a:latin typeface="Consolas" panose="020B0609020204030204" pitchFamily="49" charset="0"/>
              </a:rPr>
              <a:t>uname</a:t>
            </a:r>
            <a:r>
              <a:rPr lang="en-IN" b="0" dirty="0">
                <a:solidFill>
                  <a:srgbClr val="CD3131"/>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Type a user name?</a:t>
            </a:r>
            <a:r>
              <a:rPr lang="en-IN" b="0" dirty="0">
                <a:solidFill>
                  <a:srgbClr val="800000"/>
                </a:solidFill>
                <a:effectLst/>
                <a:latin typeface="Consolas" panose="020B0609020204030204" pitchFamily="49" charset="0"/>
              </a:rPr>
              <a:t>&lt;/label&gt;&lt;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type</a:t>
            </a:r>
            <a:r>
              <a:rPr lang="en-IN" b="0" dirty="0" smtClean="0">
                <a:solidFill>
                  <a:srgbClr val="000000"/>
                </a:solidFill>
                <a:effectLst/>
                <a:latin typeface="Consolas" panose="020B0609020204030204" pitchFamily="49" charset="0"/>
              </a:rPr>
              <a:t>=</a:t>
            </a:r>
            <a:r>
              <a:rPr lang="en-IN" b="0" dirty="0" smtClean="0">
                <a:solidFill>
                  <a:srgbClr val="0000FF"/>
                </a:solidFill>
                <a:effectLst/>
                <a:latin typeface="Consolas" panose="020B0609020204030204" pitchFamily="49" charset="0"/>
              </a:rPr>
              <a:t>"text"</a:t>
            </a:r>
            <a:r>
              <a:rPr lang="en-IN" b="0" dirty="0" smtClean="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name</a:t>
            </a:r>
            <a:r>
              <a:rPr lang="en-IN" b="0" dirty="0" smtClean="0">
                <a:solidFill>
                  <a:srgbClr val="000000"/>
                </a:solidFill>
                <a:effectLst/>
                <a:latin typeface="Consolas" panose="020B0609020204030204" pitchFamily="49" charset="0"/>
              </a:rPr>
              <a:t>=</a:t>
            </a:r>
            <a:r>
              <a:rPr lang="en-IN" b="0" dirty="0" smtClean="0">
                <a:solidFill>
                  <a:srgbClr val="0000FF"/>
                </a:solidFill>
                <a:effectLst/>
                <a:latin typeface="Consolas" panose="020B0609020204030204" pitchFamily="49" charset="0"/>
              </a:rPr>
              <a:t>“</a:t>
            </a:r>
            <a:r>
              <a:rPr lang="en-IN" dirty="0" err="1" smtClean="0">
                <a:solidFill>
                  <a:srgbClr val="0000FF"/>
                </a:solidFill>
                <a:latin typeface="Consolas" panose="020B0609020204030204" pitchFamily="49" charset="0"/>
              </a:rPr>
              <a:t>uname</a:t>
            </a:r>
            <a:r>
              <a:rPr lang="en-IN" b="0" dirty="0" smtClean="0">
                <a:solidFill>
                  <a:srgbClr val="0000FF"/>
                </a:solidFill>
                <a:effectLst/>
                <a:latin typeface="Consolas" panose="020B0609020204030204" pitchFamily="49" charset="0"/>
              </a:rPr>
              <a:t>"</a:t>
            </a:r>
            <a:r>
              <a:rPr lang="en-IN" b="0" dirty="0" smtClean="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id</a:t>
            </a:r>
            <a:r>
              <a:rPr lang="en-IN" b="0" dirty="0" smtClean="0">
                <a:solidFill>
                  <a:srgbClr val="000000"/>
                </a:solidFill>
                <a:effectLst/>
                <a:latin typeface="Consolas" panose="020B0609020204030204" pitchFamily="49" charset="0"/>
              </a:rPr>
              <a:t>=</a:t>
            </a:r>
            <a:r>
              <a:rPr lang="en-IN" b="0" dirty="0" smtClean="0">
                <a:solidFill>
                  <a:srgbClr val="0000FF"/>
                </a:solidFill>
                <a:effectLst/>
                <a:latin typeface="Consolas" panose="020B0609020204030204" pitchFamily="49" charset="0"/>
              </a:rPr>
              <a:t>“</a:t>
            </a:r>
            <a:r>
              <a:rPr lang="en-IN" dirty="0" err="1">
                <a:solidFill>
                  <a:srgbClr val="0000FF"/>
                </a:solidFill>
                <a:latin typeface="Consolas" panose="020B0609020204030204" pitchFamily="49" charset="0"/>
              </a:rPr>
              <a:t>u</a:t>
            </a:r>
            <a:r>
              <a:rPr lang="en-IN" b="0" dirty="0" err="1" smtClean="0">
                <a:solidFill>
                  <a:srgbClr val="0000FF"/>
                </a:solidFill>
                <a:effectLst/>
                <a:latin typeface="Consolas" panose="020B0609020204030204" pitchFamily="49" charset="0"/>
              </a:rPr>
              <a:t>name</a:t>
            </a:r>
            <a:r>
              <a:rPr lang="en-IN" b="0" dirty="0">
                <a:solidFill>
                  <a:srgbClr val="CD3131"/>
                </a:solidFill>
                <a:effectLst/>
                <a:latin typeface="Consolas" panose="020B0609020204030204" pitchFamily="49" charset="0"/>
              </a:rPr>
              <a:t>"</a:t>
            </a:r>
            <a:r>
              <a:rPr lang="en-IN" b="0" dirty="0">
                <a:solidFill>
                  <a:srgbClr val="800000"/>
                </a:solidFill>
                <a:effectLst/>
                <a:latin typeface="Consolas" panose="020B0609020204030204" pitchFamily="49" charset="0"/>
              </a:rPr>
              <a:t>&gt;&lt;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&lt;label</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"user-password"</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Password: </a:t>
            </a:r>
            <a:r>
              <a:rPr lang="en-IN" b="0" dirty="0">
                <a:solidFill>
                  <a:srgbClr val="800000"/>
                </a:solidFill>
                <a:effectLst/>
                <a:latin typeface="Consolas" panose="020B0609020204030204" pitchFamily="49" charset="0"/>
              </a:rPr>
              <a:t>&lt;/label&gt;&lt;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type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"password"</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"user-password"</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name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"user-password"</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&lt;/form&gt;</a:t>
            </a:r>
            <a:endParaRPr lang="en-IN" b="0" dirty="0">
              <a:solidFill>
                <a:srgbClr val="000000"/>
              </a:solidFill>
              <a:effectLst/>
              <a:latin typeface="Consolas" panose="020B0609020204030204" pitchFamily="49" charset="0"/>
            </a:endParaRPr>
          </a:p>
        </p:txBody>
      </p:sp>
      <p:pic>
        <p:nvPicPr>
          <p:cNvPr id="8" name="Picture 7">
            <a:extLst>
              <a:ext uri="{FF2B5EF4-FFF2-40B4-BE49-F238E27FC236}">
                <a16:creationId xmlns:a16="http://schemas.microsoft.com/office/drawing/2014/main" id="{A1B2F4AC-4DAD-DFD6-7909-3C5C1EAF0450}"/>
              </a:ext>
            </a:extLst>
          </p:cNvPr>
          <p:cNvPicPr>
            <a:picLocks noChangeAspect="1"/>
          </p:cNvPicPr>
          <p:nvPr/>
        </p:nvPicPr>
        <p:blipFill>
          <a:blip r:embed="rId2"/>
          <a:stretch>
            <a:fillRect/>
          </a:stretch>
        </p:blipFill>
        <p:spPr>
          <a:xfrm>
            <a:off x="4264796" y="4892953"/>
            <a:ext cx="3078747" cy="1371719"/>
          </a:xfrm>
          <a:prstGeom prst="rect">
            <a:avLst/>
          </a:prstGeom>
        </p:spPr>
      </p:pic>
    </p:spTree>
    <p:extLst>
      <p:ext uri="{BB962C8B-B14F-4D97-AF65-F5344CB8AC3E}">
        <p14:creationId xmlns:p14="http://schemas.microsoft.com/office/powerpoint/2010/main" val="206831486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97471-F4E2-700B-C454-842476953091}"/>
              </a:ext>
            </a:extLst>
          </p:cNvPr>
          <p:cNvSpPr>
            <a:spLocks noGrp="1"/>
          </p:cNvSpPr>
          <p:nvPr>
            <p:ph type="title"/>
          </p:nvPr>
        </p:nvSpPr>
        <p:spPr/>
        <p:txBody>
          <a:bodyPr/>
          <a:lstStyle/>
          <a:p>
            <a:r>
              <a:rPr lang="en-IN" dirty="0"/>
              <a:t>Number Input</a:t>
            </a:r>
          </a:p>
        </p:txBody>
      </p:sp>
      <p:sp>
        <p:nvSpPr>
          <p:cNvPr id="3" name="Content Placeholder 2">
            <a:extLst>
              <a:ext uri="{FF2B5EF4-FFF2-40B4-BE49-F238E27FC236}">
                <a16:creationId xmlns:a16="http://schemas.microsoft.com/office/drawing/2014/main" id="{1993125F-E8E0-E748-2463-01F041643623}"/>
              </a:ext>
            </a:extLst>
          </p:cNvPr>
          <p:cNvSpPr>
            <a:spLocks noGrp="1"/>
          </p:cNvSpPr>
          <p:nvPr>
            <p:ph idx="1"/>
          </p:nvPr>
        </p:nvSpPr>
        <p:spPr>
          <a:xfrm>
            <a:off x="581192" y="2180497"/>
            <a:ext cx="11029615" cy="903172"/>
          </a:xfrm>
        </p:spPr>
        <p:txBody>
          <a:bodyPr>
            <a:normAutofit lnSpcReduction="10000"/>
          </a:bodyPr>
          <a:lstStyle/>
          <a:p>
            <a:r>
              <a:rPr lang="en-US" dirty="0"/>
              <a:t>By setting type="number" for an &lt;input&gt; we can restrict what users type into the input field to just numbers (and a few special characters like -, +, and .). We can also provide a step attribute which creates arrows inside the input field to increase or decrease by the value of the step attribute. </a:t>
            </a:r>
            <a:endParaRPr lang="en-IN" dirty="0"/>
          </a:p>
        </p:txBody>
      </p:sp>
      <p:sp>
        <p:nvSpPr>
          <p:cNvPr id="6" name="TextBox 5">
            <a:extLst>
              <a:ext uri="{FF2B5EF4-FFF2-40B4-BE49-F238E27FC236}">
                <a16:creationId xmlns:a16="http://schemas.microsoft.com/office/drawing/2014/main" id="{9E35D282-0862-EC73-B197-640054709DF3}"/>
              </a:ext>
            </a:extLst>
          </p:cNvPr>
          <p:cNvSpPr txBox="1"/>
          <p:nvPr/>
        </p:nvSpPr>
        <p:spPr>
          <a:xfrm>
            <a:off x="956146" y="3293523"/>
            <a:ext cx="10279706" cy="2862322"/>
          </a:xfrm>
          <a:prstGeom prst="rect">
            <a:avLst/>
          </a:prstGeom>
          <a:noFill/>
        </p:spPr>
        <p:txBody>
          <a:bodyPr wrap="square">
            <a:spAutoFit/>
          </a:bodyPr>
          <a:lstStyle/>
          <a:p>
            <a:r>
              <a:rPr lang="en-IN" b="0" dirty="0">
                <a:solidFill>
                  <a:srgbClr val="800000"/>
                </a:solidFill>
                <a:effectLst/>
                <a:latin typeface="Consolas" panose="020B0609020204030204" pitchFamily="49" charset="0"/>
              </a:rPr>
              <a:t>&lt;form</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action</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"/example.html"</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method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"POST"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&lt;label</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00FF"/>
                </a:solidFill>
                <a:effectLst/>
                <a:latin typeface="Consolas" panose="020B0609020204030204" pitchFamily="49" charset="0"/>
              </a:rPr>
              <a:t>uname</a:t>
            </a:r>
            <a:r>
              <a:rPr lang="en-IN" b="0" dirty="0">
                <a:solidFill>
                  <a:srgbClr val="CD3131"/>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Type a user name?</a:t>
            </a:r>
            <a:r>
              <a:rPr lang="en-IN" b="0" dirty="0">
                <a:solidFill>
                  <a:srgbClr val="800000"/>
                </a:solidFill>
                <a:effectLst/>
                <a:latin typeface="Consolas" panose="020B0609020204030204" pitchFamily="49" charset="0"/>
              </a:rPr>
              <a:t>&lt;/label&gt;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type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"text"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name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"food"</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00FF"/>
                </a:solidFill>
                <a:effectLst/>
                <a:latin typeface="Consolas" panose="020B0609020204030204" pitchFamily="49" charset="0"/>
              </a:rPr>
              <a:t>fname</a:t>
            </a:r>
            <a:r>
              <a:rPr lang="en-IN" b="0" dirty="0">
                <a:solidFill>
                  <a:srgbClr val="CD3131"/>
                </a:solidFill>
                <a:effectLst/>
                <a:latin typeface="Consolas" panose="020B0609020204030204" pitchFamily="49" charset="0"/>
              </a:rPr>
              <a:t>"</a:t>
            </a:r>
            <a:r>
              <a:rPr lang="en-IN" b="0" dirty="0">
                <a:solidFill>
                  <a:srgbClr val="800000"/>
                </a:solidFill>
                <a:effectLst/>
                <a:latin typeface="Consolas" panose="020B0609020204030204" pitchFamily="49" charset="0"/>
              </a:rPr>
              <a:t>&gt;&lt;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&lt;label</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"user-password"</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Password: </a:t>
            </a:r>
            <a:r>
              <a:rPr lang="en-IN" b="0" dirty="0">
                <a:solidFill>
                  <a:srgbClr val="800000"/>
                </a:solidFill>
                <a:effectLst/>
                <a:latin typeface="Consolas" panose="020B0609020204030204" pitchFamily="49" charset="0"/>
              </a:rPr>
              <a:t>&lt;/label&gt;&lt;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type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"password"</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"user-password"</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name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"user-password"</a:t>
            </a:r>
            <a:r>
              <a:rPr lang="en-IN" b="0" dirty="0">
                <a:solidFill>
                  <a:srgbClr val="800000"/>
                </a:solidFill>
                <a:effectLst/>
                <a:latin typeface="Consolas" panose="020B0609020204030204" pitchFamily="49" charset="0"/>
              </a:rPr>
              <a:t>&gt;&lt;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&lt;label</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"years"</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 Years of experience: </a:t>
            </a:r>
            <a:r>
              <a:rPr lang="en-IN" b="0" dirty="0">
                <a:solidFill>
                  <a:srgbClr val="800000"/>
                </a:solidFill>
                <a:effectLst/>
                <a:latin typeface="Consolas" panose="020B0609020204030204" pitchFamily="49" charset="0"/>
              </a:rPr>
              <a:t>&lt;/label&gt;&lt;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"years"</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name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"years"</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type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"number"</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step</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"1"</a:t>
            </a:r>
            <a:r>
              <a:rPr lang="en-IN" b="0" dirty="0">
                <a:solidFill>
                  <a:srgbClr val="800000"/>
                </a:solidFill>
                <a:effectLst/>
                <a:latin typeface="Consolas" panose="020B0609020204030204" pitchFamily="49" charset="0"/>
              </a:rPr>
              <a:t>&gt;&lt;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&lt;hr&gt;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&lt;/form&gt;</a:t>
            </a: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45563569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CF55-B584-8E3C-745F-48D9668BD958}"/>
              </a:ext>
            </a:extLst>
          </p:cNvPr>
          <p:cNvSpPr>
            <a:spLocks noGrp="1"/>
          </p:cNvSpPr>
          <p:nvPr>
            <p:ph type="title"/>
          </p:nvPr>
        </p:nvSpPr>
        <p:spPr/>
        <p:txBody>
          <a:bodyPr/>
          <a:lstStyle/>
          <a:p>
            <a:r>
              <a:rPr lang="en-IN" dirty="0"/>
              <a:t>Range Input</a:t>
            </a:r>
          </a:p>
        </p:txBody>
      </p:sp>
      <p:sp>
        <p:nvSpPr>
          <p:cNvPr id="3" name="Content Placeholder 2">
            <a:extLst>
              <a:ext uri="{FF2B5EF4-FFF2-40B4-BE49-F238E27FC236}">
                <a16:creationId xmlns:a16="http://schemas.microsoft.com/office/drawing/2014/main" id="{6474C03E-DFF7-9497-9CE9-639420FEA940}"/>
              </a:ext>
            </a:extLst>
          </p:cNvPr>
          <p:cNvSpPr>
            <a:spLocks noGrp="1"/>
          </p:cNvSpPr>
          <p:nvPr>
            <p:ph idx="1"/>
          </p:nvPr>
        </p:nvSpPr>
        <p:spPr>
          <a:xfrm>
            <a:off x="581192" y="2180496"/>
            <a:ext cx="11029615" cy="2138585"/>
          </a:xfrm>
        </p:spPr>
        <p:txBody>
          <a:bodyPr>
            <a:normAutofit lnSpcReduction="10000"/>
          </a:bodyPr>
          <a:lstStyle/>
          <a:p>
            <a:r>
              <a:rPr lang="en-US" dirty="0"/>
              <a:t>Using an &lt;input type="number"&gt; is great if we want to allow users to type in any number of their choosing. But, if we wanted to limit what numbers our users could type we might consider using a different type value. Another option we could use is setting type to "range" which creates a slider.</a:t>
            </a:r>
          </a:p>
          <a:p>
            <a:r>
              <a:rPr lang="en-US" dirty="0"/>
              <a:t>To set the minimum and maximum values of the slider we assign values to the min and max attribute of the &lt;input&gt;. We could also control how smooth and fluid the slider works by assigning the step attribute a value. Smaller step values will make the slider move more fluidly, whereas larger step values will make the slider move more noticeably. Take a look at the code to create a slider:</a:t>
            </a:r>
            <a:endParaRPr lang="en-IN" dirty="0"/>
          </a:p>
        </p:txBody>
      </p:sp>
      <p:pic>
        <p:nvPicPr>
          <p:cNvPr id="6" name="Picture 5">
            <a:extLst>
              <a:ext uri="{FF2B5EF4-FFF2-40B4-BE49-F238E27FC236}">
                <a16:creationId xmlns:a16="http://schemas.microsoft.com/office/drawing/2014/main" id="{734FF308-0029-1BEE-5A94-6EAF7EBE8BE2}"/>
              </a:ext>
            </a:extLst>
          </p:cNvPr>
          <p:cNvPicPr>
            <a:picLocks noChangeAspect="1"/>
          </p:cNvPicPr>
          <p:nvPr/>
        </p:nvPicPr>
        <p:blipFill>
          <a:blip r:embed="rId2"/>
          <a:stretch>
            <a:fillRect/>
          </a:stretch>
        </p:blipFill>
        <p:spPr>
          <a:xfrm>
            <a:off x="4805683" y="5866686"/>
            <a:ext cx="2385267" cy="670618"/>
          </a:xfrm>
          <a:prstGeom prst="rect">
            <a:avLst/>
          </a:prstGeom>
        </p:spPr>
      </p:pic>
      <p:sp>
        <p:nvSpPr>
          <p:cNvPr id="8" name="TextBox 7">
            <a:extLst>
              <a:ext uri="{FF2B5EF4-FFF2-40B4-BE49-F238E27FC236}">
                <a16:creationId xmlns:a16="http://schemas.microsoft.com/office/drawing/2014/main" id="{040B0FE0-4BAE-CE2D-330B-1A81831E5DCD}"/>
              </a:ext>
            </a:extLst>
          </p:cNvPr>
          <p:cNvSpPr txBox="1"/>
          <p:nvPr/>
        </p:nvSpPr>
        <p:spPr>
          <a:xfrm>
            <a:off x="1053018" y="4338831"/>
            <a:ext cx="9890599" cy="1508105"/>
          </a:xfrm>
          <a:prstGeom prst="rect">
            <a:avLst/>
          </a:prstGeom>
          <a:noFill/>
        </p:spPr>
        <p:txBody>
          <a:bodyPr wrap="square">
            <a:spAutoFit/>
          </a:bodyPr>
          <a:lstStyle/>
          <a:p>
            <a:r>
              <a:rPr lang="en-US" sz="2000" b="0" i="0" dirty="0">
                <a:solidFill>
                  <a:srgbClr val="FF0000"/>
                </a:solidFill>
                <a:effectLst/>
                <a:latin typeface="Monaco"/>
              </a:rPr>
              <a:t>&lt;form&gt;</a:t>
            </a:r>
            <a:r>
              <a:rPr lang="en-US" dirty="0">
                <a:solidFill>
                  <a:schemeClr val="tx2"/>
                </a:solidFill>
              </a:rPr>
              <a:t/>
            </a:r>
            <a:br>
              <a:rPr lang="en-US" dirty="0">
                <a:solidFill>
                  <a:schemeClr val="tx2"/>
                </a:solidFill>
              </a:rPr>
            </a:br>
            <a:r>
              <a:rPr lang="en-US" b="0" i="0" dirty="0">
                <a:solidFill>
                  <a:schemeClr val="tx2"/>
                </a:solidFill>
                <a:effectLst/>
                <a:latin typeface="Monaco"/>
              </a:rPr>
              <a:t> 	</a:t>
            </a:r>
            <a:r>
              <a:rPr lang="en-US" b="0" dirty="0">
                <a:solidFill>
                  <a:srgbClr val="800000"/>
                </a:solidFill>
                <a:effectLst/>
                <a:latin typeface="Consolas" panose="020B0609020204030204" pitchFamily="49" charset="0"/>
              </a:rPr>
              <a:t>&lt;label</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for</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"volume"</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 Volume Control</a:t>
            </a:r>
            <a:r>
              <a:rPr lang="en-US" b="0" dirty="0">
                <a:solidFill>
                  <a:srgbClr val="800000"/>
                </a:solidFill>
                <a:effectLst/>
                <a:latin typeface="Consolas" panose="020B0609020204030204" pitchFamily="49" charset="0"/>
              </a:rPr>
              <a:t>&lt;/label&gt;&lt;</a:t>
            </a:r>
            <a:r>
              <a:rPr lang="en-US" b="0" dirty="0" err="1">
                <a:solidFill>
                  <a:srgbClr val="800000"/>
                </a:solidFill>
                <a:effectLst/>
                <a:latin typeface="Consolas" panose="020B0609020204030204" pitchFamily="49" charset="0"/>
              </a:rPr>
              <a:t>br</a:t>
            </a:r>
            <a:r>
              <a:rPr lang="en-US" b="0" dirty="0">
                <a:solidFill>
                  <a:srgbClr val="800000"/>
                </a:solidFill>
                <a:effectLst/>
                <a:latin typeface="Consolas" panose="020B0609020204030204" pitchFamily="49" charset="0"/>
              </a:rPr>
              <a:t>&gt;</a:t>
            </a:r>
          </a:p>
          <a:p>
            <a:r>
              <a:rPr lang="en-US" dirty="0">
                <a:solidFill>
                  <a:srgbClr val="800000"/>
                </a:solidFill>
                <a:latin typeface="Consolas" panose="020B0609020204030204" pitchFamily="49" charset="0"/>
              </a:rPr>
              <a:t>	</a:t>
            </a:r>
            <a:r>
              <a:rPr lang="en-US" b="0" dirty="0">
                <a:solidFill>
                  <a:srgbClr val="800000"/>
                </a:solidFill>
                <a:effectLst/>
                <a:latin typeface="Consolas" panose="020B0609020204030204" pitchFamily="49" charset="0"/>
              </a:rPr>
              <a:t>&lt;input</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id</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"volume"</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name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"volume"</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type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"range"</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min</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max</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"100"</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step</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"1"</a:t>
            </a:r>
            <a:r>
              <a:rPr lang="en-US" b="0" dirty="0">
                <a:solidFill>
                  <a:srgbClr val="800000"/>
                </a:solidFill>
                <a:effectLst/>
                <a:latin typeface="Consolas" panose="020B0609020204030204" pitchFamily="49" charset="0"/>
              </a:rPr>
              <a:t>&gt;</a:t>
            </a:r>
          </a:p>
          <a:p>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br</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dirty="0">
                <a:solidFill>
                  <a:schemeClr val="tx2"/>
                </a:solidFill>
              </a:rPr>
              <a:t/>
            </a:r>
            <a:br>
              <a:rPr lang="en-US" dirty="0">
                <a:solidFill>
                  <a:schemeClr val="tx2"/>
                </a:solidFill>
              </a:rPr>
            </a:br>
            <a:r>
              <a:rPr lang="en-US" b="0" i="0" dirty="0">
                <a:solidFill>
                  <a:srgbClr val="FF0000"/>
                </a:solidFill>
                <a:effectLst/>
                <a:latin typeface="Monaco"/>
              </a:rPr>
              <a:t>&lt;/form&gt;</a:t>
            </a:r>
            <a:endParaRPr lang="en-IN" dirty="0">
              <a:solidFill>
                <a:srgbClr val="FF0000"/>
              </a:solidFill>
            </a:endParaRPr>
          </a:p>
        </p:txBody>
      </p:sp>
    </p:spTree>
    <p:extLst>
      <p:ext uri="{BB962C8B-B14F-4D97-AF65-F5344CB8AC3E}">
        <p14:creationId xmlns:p14="http://schemas.microsoft.com/office/powerpoint/2010/main" val="422983281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9FCC0-8258-E5BB-8371-09076C754516}"/>
              </a:ext>
            </a:extLst>
          </p:cNvPr>
          <p:cNvSpPr>
            <a:spLocks noGrp="1"/>
          </p:cNvSpPr>
          <p:nvPr>
            <p:ph type="title"/>
          </p:nvPr>
        </p:nvSpPr>
        <p:spPr/>
        <p:txBody>
          <a:bodyPr/>
          <a:lstStyle/>
          <a:p>
            <a:r>
              <a:rPr lang="en-IN" dirty="0"/>
              <a:t>Checkbox Input</a:t>
            </a:r>
          </a:p>
        </p:txBody>
      </p:sp>
      <p:sp>
        <p:nvSpPr>
          <p:cNvPr id="3" name="Content Placeholder 2">
            <a:extLst>
              <a:ext uri="{FF2B5EF4-FFF2-40B4-BE49-F238E27FC236}">
                <a16:creationId xmlns:a16="http://schemas.microsoft.com/office/drawing/2014/main" id="{27FE8968-3D7B-F5E9-F190-697D0711833E}"/>
              </a:ext>
            </a:extLst>
          </p:cNvPr>
          <p:cNvSpPr>
            <a:spLocks noGrp="1"/>
          </p:cNvSpPr>
          <p:nvPr>
            <p:ph idx="1"/>
          </p:nvPr>
        </p:nvSpPr>
        <p:spPr>
          <a:xfrm>
            <a:off x="581192" y="2180497"/>
            <a:ext cx="11029615" cy="679436"/>
          </a:xfrm>
        </p:spPr>
        <p:txBody>
          <a:bodyPr/>
          <a:lstStyle/>
          <a:p>
            <a:r>
              <a:rPr lang="en-US" dirty="0"/>
              <a:t>In a &lt;form&gt; we would use the &lt;input&gt; element and set type="checkbox". Examine the code used to create multiple checkboxes:</a:t>
            </a:r>
            <a:endParaRPr lang="en-IN" dirty="0"/>
          </a:p>
        </p:txBody>
      </p:sp>
      <p:sp>
        <p:nvSpPr>
          <p:cNvPr id="6" name="TextBox 5">
            <a:extLst>
              <a:ext uri="{FF2B5EF4-FFF2-40B4-BE49-F238E27FC236}">
                <a16:creationId xmlns:a16="http://schemas.microsoft.com/office/drawing/2014/main" id="{F6888672-1DCD-39A4-7656-734B6C2F85D8}"/>
              </a:ext>
            </a:extLst>
          </p:cNvPr>
          <p:cNvSpPr txBox="1"/>
          <p:nvPr/>
        </p:nvSpPr>
        <p:spPr>
          <a:xfrm>
            <a:off x="1014513" y="3209172"/>
            <a:ext cx="10162973" cy="2862322"/>
          </a:xfrm>
          <a:prstGeom prst="rect">
            <a:avLst/>
          </a:prstGeom>
          <a:noFill/>
        </p:spPr>
        <p:txBody>
          <a:bodyPr wrap="square">
            <a:spAutoFit/>
          </a:bodyPr>
          <a:lstStyle/>
          <a:p>
            <a:r>
              <a:rPr lang="en-IN" b="0" dirty="0">
                <a:solidFill>
                  <a:srgbClr val="800000"/>
                </a:solidFill>
                <a:effectLst/>
                <a:latin typeface="Consolas" panose="020B0609020204030204" pitchFamily="49" charset="0"/>
              </a:rPr>
              <a:t>&lt;form&gt; </a:t>
            </a:r>
          </a:p>
          <a:p>
            <a:pPr lvl="1"/>
            <a:r>
              <a:rPr lang="en-IN" b="0" dirty="0">
                <a:solidFill>
                  <a:srgbClr val="800000"/>
                </a:solidFill>
                <a:effectLst/>
                <a:latin typeface="Consolas" panose="020B0609020204030204" pitchFamily="49" charset="0"/>
              </a:rPr>
              <a:t>&lt;label</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"cheese"</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Extra cheese</a:t>
            </a:r>
            <a:r>
              <a:rPr lang="en-IN" b="0" dirty="0">
                <a:solidFill>
                  <a:srgbClr val="800000"/>
                </a:solidFill>
                <a:effectLst/>
                <a:latin typeface="Consolas" panose="020B0609020204030204" pitchFamily="49" charset="0"/>
              </a:rPr>
              <a:t>&lt;/label&gt;</a:t>
            </a:r>
            <a:endParaRPr lang="en-IN" b="0" dirty="0">
              <a:solidFill>
                <a:srgbClr val="000000"/>
              </a:solidFill>
              <a:effectLst/>
              <a:latin typeface="Consolas" panose="020B0609020204030204" pitchFamily="49" charset="0"/>
            </a:endParaRPr>
          </a:p>
          <a:p>
            <a:pPr lvl="1"/>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"cheese"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name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"topping"</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type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"checkbox"</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"cheese"</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pPr lvl="1"/>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pPr lvl="1"/>
            <a:r>
              <a:rPr lang="en-IN" b="0" dirty="0">
                <a:solidFill>
                  <a:srgbClr val="800000"/>
                </a:solidFill>
                <a:effectLst/>
                <a:latin typeface="Consolas" panose="020B0609020204030204" pitchFamily="49" charset="0"/>
              </a:rPr>
              <a:t>&lt;label</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"pepperoni"</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Pepperoni</a:t>
            </a:r>
            <a:r>
              <a:rPr lang="en-IN" b="0" dirty="0">
                <a:solidFill>
                  <a:srgbClr val="800000"/>
                </a:solidFill>
                <a:effectLst/>
                <a:latin typeface="Consolas" panose="020B0609020204030204" pitchFamily="49" charset="0"/>
              </a:rPr>
              <a:t>&lt;/label&gt;</a:t>
            </a:r>
            <a:endParaRPr lang="en-IN" b="0" dirty="0">
              <a:solidFill>
                <a:srgbClr val="000000"/>
              </a:solidFill>
              <a:effectLst/>
              <a:latin typeface="Consolas" panose="020B0609020204030204" pitchFamily="49" charset="0"/>
            </a:endParaRPr>
          </a:p>
          <a:p>
            <a:pPr lvl="1"/>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"pepperoni"</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name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"topping"</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type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"checkbox"</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"pepperoni"</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pPr lvl="1"/>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pPr lvl="1"/>
            <a:r>
              <a:rPr lang="en-IN" b="0" dirty="0">
                <a:solidFill>
                  <a:srgbClr val="800000"/>
                </a:solidFill>
                <a:effectLst/>
                <a:latin typeface="Consolas" panose="020B0609020204030204" pitchFamily="49" charset="0"/>
              </a:rPr>
              <a:t>&lt;label</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"anchovy"</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Anchovy</a:t>
            </a:r>
            <a:r>
              <a:rPr lang="en-IN" b="0" dirty="0">
                <a:solidFill>
                  <a:srgbClr val="800000"/>
                </a:solidFill>
                <a:effectLst/>
                <a:latin typeface="Consolas" panose="020B0609020204030204" pitchFamily="49" charset="0"/>
              </a:rPr>
              <a:t>&lt;/label&gt;</a:t>
            </a:r>
            <a:endParaRPr lang="en-IN" b="0" dirty="0">
              <a:solidFill>
                <a:srgbClr val="000000"/>
              </a:solidFill>
              <a:effectLst/>
              <a:latin typeface="Consolas" panose="020B0609020204030204" pitchFamily="49" charset="0"/>
            </a:endParaRPr>
          </a:p>
          <a:p>
            <a:pPr lvl="1"/>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"anchovy"</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name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"topping"</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type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"checkbox"</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"anchovy"</a:t>
            </a:r>
            <a:r>
              <a:rPr lang="en-IN" b="0" dirty="0">
                <a:solidFill>
                  <a:srgbClr val="800000"/>
                </a:solidFill>
                <a:effectLst/>
                <a:latin typeface="Consolas" panose="020B0609020204030204" pitchFamily="49" charset="0"/>
              </a:rPr>
              <a:t>&gt;</a:t>
            </a:r>
            <a:endParaRPr lang="en-IN" dirty="0">
              <a:solidFill>
                <a:srgbClr val="000000"/>
              </a:solidFill>
              <a:latin typeface="Consolas" panose="020B0609020204030204" pitchFamily="49" charset="0"/>
            </a:endParaRPr>
          </a:p>
          <a:p>
            <a:r>
              <a:rPr lang="en-IN" b="0" dirty="0">
                <a:solidFill>
                  <a:srgbClr val="800000"/>
                </a:solidFill>
                <a:effectLst/>
                <a:latin typeface="Consolas" panose="020B0609020204030204" pitchFamily="49" charset="0"/>
              </a:rPr>
              <a:t>&lt;/form&gt;</a:t>
            </a: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411779418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D06D67-4F7B-8896-F6F4-B964DA172204}"/>
              </a:ext>
            </a:extLst>
          </p:cNvPr>
          <p:cNvPicPr>
            <a:picLocks noChangeAspect="1"/>
          </p:cNvPicPr>
          <p:nvPr/>
        </p:nvPicPr>
        <p:blipFill>
          <a:blip r:embed="rId2"/>
          <a:stretch>
            <a:fillRect/>
          </a:stretch>
        </p:blipFill>
        <p:spPr>
          <a:xfrm>
            <a:off x="3025302" y="1792656"/>
            <a:ext cx="5431675" cy="2490000"/>
          </a:xfrm>
          <a:prstGeom prst="rect">
            <a:avLst/>
          </a:prstGeom>
        </p:spPr>
      </p:pic>
    </p:spTree>
    <p:extLst>
      <p:ext uri="{BB962C8B-B14F-4D97-AF65-F5344CB8AC3E}">
        <p14:creationId xmlns:p14="http://schemas.microsoft.com/office/powerpoint/2010/main" val="29606844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DC98F-1105-8DCF-D521-808004E5B865}"/>
              </a:ext>
            </a:extLst>
          </p:cNvPr>
          <p:cNvSpPr>
            <a:spLocks noGrp="1"/>
          </p:cNvSpPr>
          <p:nvPr>
            <p:ph type="title"/>
          </p:nvPr>
        </p:nvSpPr>
        <p:spPr/>
        <p:txBody>
          <a:bodyPr/>
          <a:lstStyle/>
          <a:p>
            <a:r>
              <a:rPr lang="en-IN" dirty="0"/>
              <a:t>Radio Button Input</a:t>
            </a:r>
          </a:p>
        </p:txBody>
      </p:sp>
      <p:sp>
        <p:nvSpPr>
          <p:cNvPr id="3" name="Content Placeholder 2">
            <a:extLst>
              <a:ext uri="{FF2B5EF4-FFF2-40B4-BE49-F238E27FC236}">
                <a16:creationId xmlns:a16="http://schemas.microsoft.com/office/drawing/2014/main" id="{BFCA6AD8-8532-3BA7-659B-0C2D31934FBE}"/>
              </a:ext>
            </a:extLst>
          </p:cNvPr>
          <p:cNvSpPr>
            <a:spLocks noGrp="1"/>
          </p:cNvSpPr>
          <p:nvPr>
            <p:ph idx="1"/>
          </p:nvPr>
        </p:nvSpPr>
        <p:spPr>
          <a:xfrm>
            <a:off x="581192" y="2180496"/>
            <a:ext cx="11029615" cy="873989"/>
          </a:xfrm>
        </p:spPr>
        <p:txBody>
          <a:bodyPr>
            <a:normAutofit fontScale="85000" lnSpcReduction="10000"/>
          </a:bodyPr>
          <a:lstStyle/>
          <a:p>
            <a:r>
              <a:rPr lang="en-US" b="0" i="0" dirty="0">
                <a:solidFill>
                  <a:srgbClr val="10162F"/>
                </a:solidFill>
                <a:effectLst/>
                <a:latin typeface="Apercu"/>
              </a:rPr>
              <a:t>Checkboxes work well if we want to present users with multiple options and let them choose one or more of the options. However, there are cases where we want to present multiple options and only allow for one selection — like asking users if they agree or disagree with the terms and conditions. Let’s look over the code used to create radio buttons:</a:t>
            </a:r>
            <a:endParaRPr lang="en-IN" dirty="0"/>
          </a:p>
        </p:txBody>
      </p:sp>
      <p:sp>
        <p:nvSpPr>
          <p:cNvPr id="5" name="TextBox 4">
            <a:extLst>
              <a:ext uri="{FF2B5EF4-FFF2-40B4-BE49-F238E27FC236}">
                <a16:creationId xmlns:a16="http://schemas.microsoft.com/office/drawing/2014/main" id="{955682BD-5207-CBF4-A2BF-EF70B1E6F39C}"/>
              </a:ext>
            </a:extLst>
          </p:cNvPr>
          <p:cNvSpPr txBox="1"/>
          <p:nvPr/>
        </p:nvSpPr>
        <p:spPr>
          <a:xfrm>
            <a:off x="946014" y="3195537"/>
            <a:ext cx="8859467" cy="2308324"/>
          </a:xfrm>
          <a:prstGeom prst="rect">
            <a:avLst/>
          </a:prstGeom>
          <a:noFill/>
        </p:spPr>
        <p:txBody>
          <a:bodyPr wrap="square">
            <a:spAutoFit/>
          </a:bodyPr>
          <a:lstStyle/>
          <a:p>
            <a:r>
              <a:rPr lang="en-IN" b="0" dirty="0">
                <a:solidFill>
                  <a:srgbClr val="800000"/>
                </a:solidFill>
                <a:effectLst/>
                <a:latin typeface="Consolas" panose="020B0609020204030204" pitchFamily="49" charset="0"/>
              </a:rPr>
              <a:t>&lt;form&gt; </a:t>
            </a:r>
          </a:p>
          <a:p>
            <a:r>
              <a:rPr lang="en-IN" b="0" dirty="0">
                <a:solidFill>
                  <a:srgbClr val="800000"/>
                </a:solidFill>
                <a:effectLst/>
                <a:latin typeface="Consolas" panose="020B0609020204030204" pitchFamily="49" charset="0"/>
              </a:rPr>
              <a:t>	</a:t>
            </a:r>
            <a:r>
              <a:rPr lang="en-US" b="0" dirty="0">
                <a:solidFill>
                  <a:srgbClr val="800000"/>
                </a:solidFill>
                <a:effectLst/>
                <a:latin typeface="Consolas" panose="020B0609020204030204" pitchFamily="49" charset="0"/>
              </a:rPr>
              <a:t>&lt;p&gt;</a:t>
            </a:r>
            <a:r>
              <a:rPr lang="en-US" b="0" dirty="0">
                <a:solidFill>
                  <a:srgbClr val="000000"/>
                </a:solidFill>
                <a:effectLst/>
                <a:latin typeface="Consolas" panose="020B0609020204030204" pitchFamily="49" charset="0"/>
              </a:rPr>
              <a:t>What is sum of 1 + 1?</a:t>
            </a:r>
            <a:r>
              <a:rPr lang="en-US" b="0" dirty="0">
                <a:solidFill>
                  <a:srgbClr val="800000"/>
                </a:solidFill>
                <a:effectLst/>
                <a:latin typeface="Consolas" panose="020B0609020204030204" pitchFamily="49" charset="0"/>
              </a:rPr>
              <a:t>&lt;/p&gt;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&lt;input</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type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"radio"</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id</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"two"</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name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"answer"</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value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"2"</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&lt;label</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for</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"two"</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2</a:t>
            </a:r>
            <a:r>
              <a:rPr lang="en-US" b="0" dirty="0">
                <a:solidFill>
                  <a:srgbClr val="800000"/>
                </a:solidFill>
                <a:effectLst/>
                <a:latin typeface="Consolas" panose="020B0609020204030204" pitchFamily="49" charset="0"/>
              </a:rPr>
              <a:t>&lt;/label&gt;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br</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&lt;input</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type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"radio"</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id</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"eleven"</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name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"answer"</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value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"11"</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&lt;label</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for</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"eleven"</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11</a:t>
            </a:r>
            <a:r>
              <a:rPr lang="en-US" b="0" dirty="0">
                <a:solidFill>
                  <a:srgbClr val="800000"/>
                </a:solidFill>
                <a:effectLst/>
                <a:latin typeface="Consolas" panose="020B0609020204030204" pitchFamily="49" charset="0"/>
              </a:rPr>
              <a:t>&lt;/label&gt;</a:t>
            </a:r>
            <a:endParaRPr lang="en-US"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&lt;/form&gt;</a:t>
            </a:r>
            <a:endParaRPr lang="en-IN" b="0" dirty="0">
              <a:solidFill>
                <a:srgbClr val="000000"/>
              </a:solidFill>
              <a:effectLst/>
              <a:latin typeface="Consolas" panose="020B0609020204030204" pitchFamily="49" charset="0"/>
            </a:endParaRPr>
          </a:p>
        </p:txBody>
      </p:sp>
      <p:pic>
        <p:nvPicPr>
          <p:cNvPr id="7" name="Picture 6">
            <a:extLst>
              <a:ext uri="{FF2B5EF4-FFF2-40B4-BE49-F238E27FC236}">
                <a16:creationId xmlns:a16="http://schemas.microsoft.com/office/drawing/2014/main" id="{A63B1641-8CBA-DE8B-EB9C-413BCEB4A3FA}"/>
              </a:ext>
            </a:extLst>
          </p:cNvPr>
          <p:cNvPicPr>
            <a:picLocks noChangeAspect="1"/>
          </p:cNvPicPr>
          <p:nvPr/>
        </p:nvPicPr>
        <p:blipFill>
          <a:blip r:embed="rId2"/>
          <a:stretch>
            <a:fillRect/>
          </a:stretch>
        </p:blipFill>
        <p:spPr>
          <a:xfrm>
            <a:off x="8848316" y="3694322"/>
            <a:ext cx="2880610" cy="1310754"/>
          </a:xfrm>
          <a:prstGeom prst="rect">
            <a:avLst/>
          </a:prstGeom>
        </p:spPr>
      </p:pic>
    </p:spTree>
    <p:extLst>
      <p:ext uri="{BB962C8B-B14F-4D97-AF65-F5344CB8AC3E}">
        <p14:creationId xmlns:p14="http://schemas.microsoft.com/office/powerpoint/2010/main" val="28402708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11F35-1BA6-8FAF-FC6D-424BFE8CF82A}"/>
              </a:ext>
            </a:extLst>
          </p:cNvPr>
          <p:cNvSpPr>
            <a:spLocks noGrp="1"/>
          </p:cNvSpPr>
          <p:nvPr>
            <p:ph type="title"/>
          </p:nvPr>
        </p:nvSpPr>
        <p:spPr/>
        <p:txBody>
          <a:bodyPr/>
          <a:lstStyle/>
          <a:p>
            <a:r>
              <a:rPr lang="en-IN" dirty="0" err="1"/>
              <a:t>Datalist</a:t>
            </a:r>
            <a:r>
              <a:rPr lang="en-IN" dirty="0"/>
              <a:t> Input</a:t>
            </a:r>
          </a:p>
        </p:txBody>
      </p:sp>
      <p:sp>
        <p:nvSpPr>
          <p:cNvPr id="3" name="Content Placeholder 2">
            <a:extLst>
              <a:ext uri="{FF2B5EF4-FFF2-40B4-BE49-F238E27FC236}">
                <a16:creationId xmlns:a16="http://schemas.microsoft.com/office/drawing/2014/main" id="{12B7CC26-6B37-C637-CA2A-0F478ECA4173}"/>
              </a:ext>
            </a:extLst>
          </p:cNvPr>
          <p:cNvSpPr>
            <a:spLocks noGrp="1"/>
          </p:cNvSpPr>
          <p:nvPr>
            <p:ph idx="1"/>
          </p:nvPr>
        </p:nvSpPr>
        <p:spPr>
          <a:xfrm>
            <a:off x="468070" y="2010813"/>
            <a:ext cx="5178585" cy="4314571"/>
          </a:xfrm>
        </p:spPr>
        <p:txBody>
          <a:bodyPr>
            <a:normAutofit/>
          </a:bodyPr>
          <a:lstStyle/>
          <a:p>
            <a:pPr algn="just"/>
            <a:r>
              <a:rPr lang="en-US" dirty="0"/>
              <a:t>Even if we have an organized dropdown list, if the list has a lot of options, it could be tedious for users to scroll through the entire list to locate one option. That’s where using the &lt;</a:t>
            </a:r>
            <a:r>
              <a:rPr lang="en-US" dirty="0" err="1"/>
              <a:t>datalist</a:t>
            </a:r>
            <a:r>
              <a:rPr lang="en-US" dirty="0"/>
              <a:t>&gt; element comes in handy.</a:t>
            </a:r>
          </a:p>
          <a:p>
            <a:pPr algn="just"/>
            <a:r>
              <a:rPr lang="en-US" dirty="0"/>
              <a:t>The &lt;</a:t>
            </a:r>
            <a:r>
              <a:rPr lang="en-US" dirty="0" err="1"/>
              <a:t>datalist</a:t>
            </a:r>
            <a:r>
              <a:rPr lang="en-US" dirty="0"/>
              <a:t>&gt; is used with an &lt;input type="text"&gt; element. The &lt;input&gt; creates a text field that users can type into and filter options from the &lt;</a:t>
            </a:r>
            <a:r>
              <a:rPr lang="en-US" dirty="0" err="1"/>
              <a:t>datalist</a:t>
            </a:r>
            <a:r>
              <a:rPr lang="en-US" dirty="0"/>
              <a:t>&gt;. Let’s go over a concrete example:</a:t>
            </a:r>
            <a:endParaRPr lang="en-IN" dirty="0"/>
          </a:p>
        </p:txBody>
      </p:sp>
      <p:sp>
        <p:nvSpPr>
          <p:cNvPr id="6" name="TextBox 5">
            <a:extLst>
              <a:ext uri="{FF2B5EF4-FFF2-40B4-BE49-F238E27FC236}">
                <a16:creationId xmlns:a16="http://schemas.microsoft.com/office/drawing/2014/main" id="{0C50A7BF-596F-0B15-49C5-52D18BE6B5C6}"/>
              </a:ext>
            </a:extLst>
          </p:cNvPr>
          <p:cNvSpPr txBox="1"/>
          <p:nvPr/>
        </p:nvSpPr>
        <p:spPr>
          <a:xfrm>
            <a:off x="5722796" y="2355066"/>
            <a:ext cx="6094378" cy="3970318"/>
          </a:xfrm>
          <a:prstGeom prst="rect">
            <a:avLst/>
          </a:prstGeom>
          <a:noFill/>
        </p:spPr>
        <p:txBody>
          <a:bodyPr wrap="square">
            <a:spAutoFit/>
          </a:bodyPr>
          <a:lstStyle/>
          <a:p>
            <a:r>
              <a:rPr lang="en-IN" b="0" dirty="0">
                <a:solidFill>
                  <a:srgbClr val="800000"/>
                </a:solidFill>
                <a:effectLst/>
                <a:latin typeface="Consolas" panose="020B0609020204030204" pitchFamily="49" charset="0"/>
              </a:rPr>
              <a:t>&lt;form&gt; </a:t>
            </a:r>
          </a:p>
          <a:p>
            <a:r>
              <a:rPr lang="en-IN" dirty="0">
                <a:solidFill>
                  <a:srgbClr val="800000"/>
                </a:solidFill>
                <a:latin typeface="Consolas" panose="020B0609020204030204" pitchFamily="49" charset="0"/>
              </a:rPr>
              <a:t>	&lt;label&gt;</a:t>
            </a:r>
          </a:p>
          <a:p>
            <a:r>
              <a:rPr lang="en-IN" b="0" dirty="0">
                <a:solidFill>
                  <a:srgbClr val="800000"/>
                </a:solidFill>
                <a:effectLst/>
                <a:latin typeface="Consolas" panose="020B0609020204030204" pitchFamily="49" charset="0"/>
              </a:rPr>
              <a:t>	&lt;input </a:t>
            </a:r>
            <a:r>
              <a:rPr lang="en-IN" b="0" dirty="0" err="1">
                <a:solidFill>
                  <a:srgbClr val="800000"/>
                </a:solidFill>
                <a:effectLst/>
                <a:latin typeface="Consolas" panose="020B0609020204030204" pitchFamily="49" charset="0"/>
              </a:rPr>
              <a:t>typr</a:t>
            </a:r>
            <a:r>
              <a:rPr lang="en-IN" b="0" dirty="0">
                <a:solidFill>
                  <a:srgbClr val="800000"/>
                </a:solidFill>
                <a:effectLst/>
                <a:latin typeface="Consolas" panose="020B0609020204030204" pitchFamily="49" charset="0"/>
              </a:rPr>
              <a:t>=“text” id=“city”</a:t>
            </a:r>
            <a:r>
              <a:rPr lang="en-IN" b="0" dirty="0">
                <a:solidFill>
                  <a:srgbClr val="000000"/>
                </a:solidFill>
                <a:effectLst/>
                <a:latin typeface="Consolas" panose="020B0609020204030204" pitchFamily="49" charset="0"/>
              </a:rPr>
              <a:t> name=“city” </a:t>
            </a:r>
            <a:r>
              <a:rPr lang="en-IN" b="0">
                <a:solidFill>
                  <a:srgbClr val="000000"/>
                </a:solidFill>
                <a:effectLst/>
                <a:latin typeface="Consolas" panose="020B0609020204030204" pitchFamily="49" charset="0"/>
              </a:rPr>
              <a:t>list</a:t>
            </a:r>
            <a:r>
              <a:rPr lang="en-IN" b="0" smtClean="0">
                <a:solidFill>
                  <a:srgbClr val="000000"/>
                </a:solidFill>
                <a:effectLst/>
                <a:latin typeface="Consolas" panose="020B0609020204030204" pitchFamily="49" charset="0"/>
              </a:rPr>
              <a:t>=</a:t>
            </a:r>
            <a:r>
              <a:rPr lang="en-IN" b="0" smtClean="0">
                <a:solidFill>
                  <a:srgbClr val="0000FF"/>
                </a:solidFill>
                <a:effectLst/>
                <a:latin typeface="Consolas" panose="020B0609020204030204" pitchFamily="49" charset="0"/>
              </a:rPr>
              <a:t>"</a:t>
            </a:r>
            <a:r>
              <a:rPr lang="en-IN" b="0" dirty="0">
                <a:solidFill>
                  <a:srgbClr val="0000FF"/>
                </a:solidFill>
                <a:effectLst/>
                <a:latin typeface="Consolas" panose="020B0609020204030204" pitchFamily="49" charset="0"/>
              </a:rPr>
              <a:t>cities"</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&gt;</a:t>
            </a:r>
          </a:p>
          <a:p>
            <a:r>
              <a:rPr lang="en-IN" dirty="0">
                <a:solidFill>
                  <a:srgbClr val="000000"/>
                </a:solidFill>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datalist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"cities"</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&lt;option</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"New York City"</a:t>
            </a:r>
            <a:r>
              <a:rPr lang="en-IN" b="0" dirty="0">
                <a:solidFill>
                  <a:srgbClr val="800000"/>
                </a:solidFill>
                <a:effectLst/>
                <a:latin typeface="Consolas" panose="020B0609020204030204" pitchFamily="49" charset="0"/>
              </a:rPr>
              <a:t>&gt;&lt;/option&gt;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&lt;option</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"Tokyo"</a:t>
            </a:r>
            <a:r>
              <a:rPr lang="en-IN" b="0" dirty="0">
                <a:solidFill>
                  <a:srgbClr val="800000"/>
                </a:solidFill>
                <a:effectLst/>
                <a:latin typeface="Consolas" panose="020B0609020204030204" pitchFamily="49" charset="0"/>
              </a:rPr>
              <a:t>&gt;&lt;/option&gt;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&lt;option</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"Barcelona"</a:t>
            </a:r>
            <a:r>
              <a:rPr lang="en-IN" b="0" dirty="0">
                <a:solidFill>
                  <a:srgbClr val="800000"/>
                </a:solidFill>
                <a:effectLst/>
                <a:latin typeface="Consolas" panose="020B0609020204030204" pitchFamily="49" charset="0"/>
              </a:rPr>
              <a:t>&gt;&lt;/option&gt;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&lt;option</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"Mexico City"</a:t>
            </a:r>
            <a:r>
              <a:rPr lang="en-IN" b="0" dirty="0">
                <a:solidFill>
                  <a:srgbClr val="800000"/>
                </a:solidFill>
                <a:effectLst/>
                <a:latin typeface="Consolas" panose="020B0609020204030204" pitchFamily="49" charset="0"/>
              </a:rPr>
              <a:t>&gt;&lt;/option&gt;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&lt;option</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"Melbourne"</a:t>
            </a:r>
            <a:r>
              <a:rPr lang="en-IN" b="0" dirty="0">
                <a:solidFill>
                  <a:srgbClr val="800000"/>
                </a:solidFill>
                <a:effectLst/>
                <a:latin typeface="Consolas" panose="020B0609020204030204" pitchFamily="49" charset="0"/>
              </a:rPr>
              <a:t>&gt;&lt;/option&gt;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&lt;option</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"Other"</a:t>
            </a:r>
            <a:r>
              <a:rPr lang="en-IN" b="0" dirty="0">
                <a:solidFill>
                  <a:srgbClr val="800000"/>
                </a:solidFill>
                <a:effectLst/>
                <a:latin typeface="Consolas" panose="020B0609020204030204" pitchFamily="49" charset="0"/>
              </a:rPr>
              <a:t>&gt;&lt;/option&gt;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datalist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a:solidFill>
                  <a:srgbClr val="800000"/>
                </a:solidFill>
                <a:effectLst/>
                <a:latin typeface="Consolas" panose="020B0609020204030204" pitchFamily="49" charset="0"/>
              </a:rPr>
              <a:t>&lt;/form&gt;</a:t>
            </a: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54828080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9601F-CD22-DA73-D7B1-DEE4918FF379}"/>
              </a:ext>
            </a:extLst>
          </p:cNvPr>
          <p:cNvSpPr>
            <a:spLocks noGrp="1"/>
          </p:cNvSpPr>
          <p:nvPr>
            <p:ph type="title"/>
          </p:nvPr>
        </p:nvSpPr>
        <p:spPr/>
        <p:txBody>
          <a:bodyPr/>
          <a:lstStyle/>
          <a:p>
            <a:r>
              <a:rPr lang="en-IN" dirty="0"/>
              <a:t>Dropdown list</a:t>
            </a:r>
          </a:p>
        </p:txBody>
      </p:sp>
      <p:sp>
        <p:nvSpPr>
          <p:cNvPr id="3" name="Content Placeholder 2">
            <a:extLst>
              <a:ext uri="{FF2B5EF4-FFF2-40B4-BE49-F238E27FC236}">
                <a16:creationId xmlns:a16="http://schemas.microsoft.com/office/drawing/2014/main" id="{7D7E8B30-A612-8303-C0F6-674557C4AF58}"/>
              </a:ext>
            </a:extLst>
          </p:cNvPr>
          <p:cNvSpPr>
            <a:spLocks noGrp="1"/>
          </p:cNvSpPr>
          <p:nvPr>
            <p:ph idx="1"/>
          </p:nvPr>
        </p:nvSpPr>
        <p:spPr>
          <a:xfrm>
            <a:off x="581192" y="2180497"/>
            <a:ext cx="11029615" cy="1370100"/>
          </a:xfrm>
        </p:spPr>
        <p:txBody>
          <a:bodyPr>
            <a:normAutofit fontScale="92500"/>
          </a:bodyPr>
          <a:lstStyle/>
          <a:p>
            <a:pPr algn="l"/>
            <a:r>
              <a:rPr lang="en-US" b="0" i="0" dirty="0">
                <a:solidFill>
                  <a:srgbClr val="10162F"/>
                </a:solidFill>
                <a:effectLst/>
                <a:latin typeface="Apercu"/>
              </a:rPr>
              <a:t>Radio buttons are great if we want our users to pick one option out of a few visible options, but imagine if we have a whole list of options! This situation could quickly lead to a lot of radio buttons to keep track of.</a:t>
            </a:r>
          </a:p>
          <a:p>
            <a:pPr algn="l"/>
            <a:r>
              <a:rPr lang="en-US" b="0" i="0" dirty="0">
                <a:solidFill>
                  <a:srgbClr val="10162F"/>
                </a:solidFill>
                <a:effectLst/>
                <a:latin typeface="Apercu"/>
              </a:rPr>
              <a:t>An alternative solution is to use a dropdown list to allow our users to choose one option from an organized list. Here’s the code to create a dropdown menu:</a:t>
            </a:r>
          </a:p>
          <a:p>
            <a:endParaRPr lang="en-IN" dirty="0"/>
          </a:p>
        </p:txBody>
      </p:sp>
      <p:sp>
        <p:nvSpPr>
          <p:cNvPr id="5" name="TextBox 4">
            <a:extLst>
              <a:ext uri="{FF2B5EF4-FFF2-40B4-BE49-F238E27FC236}">
                <a16:creationId xmlns:a16="http://schemas.microsoft.com/office/drawing/2014/main" id="{DC74CCB9-3BD4-3335-FFEE-8497AA49B792}"/>
              </a:ext>
            </a:extLst>
          </p:cNvPr>
          <p:cNvSpPr txBox="1"/>
          <p:nvPr/>
        </p:nvSpPr>
        <p:spPr>
          <a:xfrm>
            <a:off x="868193" y="3639502"/>
            <a:ext cx="6094378" cy="2862322"/>
          </a:xfrm>
          <a:prstGeom prst="rect">
            <a:avLst/>
          </a:prstGeom>
          <a:noFill/>
        </p:spPr>
        <p:txBody>
          <a:bodyPr wrap="square">
            <a:spAutoFit/>
          </a:bodyPr>
          <a:lstStyle/>
          <a:p>
            <a:r>
              <a:rPr lang="en-IN" b="0" dirty="0">
                <a:solidFill>
                  <a:srgbClr val="800000"/>
                </a:solidFill>
                <a:effectLst/>
                <a:latin typeface="Consolas" panose="020B0609020204030204" pitchFamily="49" charset="0"/>
              </a:rPr>
              <a:t>&lt;form&gt;</a:t>
            </a:r>
          </a:p>
          <a:p>
            <a:r>
              <a:rPr lang="en-IN" b="0" dirty="0">
                <a:solidFill>
                  <a:srgbClr val="800000"/>
                </a:solidFill>
                <a:effectLst/>
                <a:latin typeface="Consolas" panose="020B0609020204030204" pitchFamily="49" charset="0"/>
              </a:rPr>
              <a:t>&lt;label</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"lunch"</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What's for lunch?</a:t>
            </a:r>
            <a:r>
              <a:rPr lang="en-IN" b="0" dirty="0">
                <a:solidFill>
                  <a:srgbClr val="800000"/>
                </a:solidFill>
                <a:effectLst/>
                <a:latin typeface="Consolas" panose="020B0609020204030204" pitchFamily="49" charset="0"/>
              </a:rPr>
              <a:t>&lt;/label&gt;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&lt;select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"lunch"</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name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"lunch"</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&lt;option</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"pizza"</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Pizza</a:t>
            </a:r>
            <a:r>
              <a:rPr lang="en-IN" b="0" dirty="0">
                <a:solidFill>
                  <a:srgbClr val="800000"/>
                </a:solidFill>
                <a:effectLst/>
                <a:latin typeface="Consolas" panose="020B0609020204030204" pitchFamily="49" charset="0"/>
              </a:rPr>
              <a:t>&lt;/option&gt;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&lt;option</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"curry"</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Curry</a:t>
            </a:r>
            <a:r>
              <a:rPr lang="en-IN" b="0" dirty="0">
                <a:solidFill>
                  <a:srgbClr val="800000"/>
                </a:solidFill>
                <a:effectLst/>
                <a:latin typeface="Consolas" panose="020B0609020204030204" pitchFamily="49" charset="0"/>
              </a:rPr>
              <a:t>&lt;/option&gt;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&lt;option</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"salad"</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Salad</a:t>
            </a:r>
            <a:r>
              <a:rPr lang="en-IN" b="0" dirty="0">
                <a:solidFill>
                  <a:srgbClr val="800000"/>
                </a:solidFill>
                <a:effectLst/>
                <a:latin typeface="Consolas" panose="020B0609020204030204" pitchFamily="49" charset="0"/>
              </a:rPr>
              <a:t>&lt;/option&gt;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&lt;option</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"ramen"</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Ramen</a:t>
            </a:r>
            <a:r>
              <a:rPr lang="en-IN" b="0" dirty="0">
                <a:solidFill>
                  <a:srgbClr val="800000"/>
                </a:solidFill>
                <a:effectLst/>
                <a:latin typeface="Consolas" panose="020B0609020204030204" pitchFamily="49" charset="0"/>
              </a:rPr>
              <a:t>&lt;/option&gt;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&lt;option</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"tacos"</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Tacos</a:t>
            </a:r>
            <a:r>
              <a:rPr lang="en-IN" b="0" dirty="0">
                <a:solidFill>
                  <a:srgbClr val="800000"/>
                </a:solidFill>
                <a:effectLst/>
                <a:latin typeface="Consolas" panose="020B0609020204030204" pitchFamily="49" charset="0"/>
              </a:rPr>
              <a:t>&lt;/option&gt;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&lt;/select&gt;</a:t>
            </a:r>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a:solidFill>
                  <a:srgbClr val="800000"/>
                </a:solidFill>
                <a:effectLst/>
                <a:latin typeface="Consolas" panose="020B0609020204030204" pitchFamily="49" charset="0"/>
              </a:rPr>
              <a:t>&lt;/form&gt;</a:t>
            </a:r>
            <a:endParaRPr lang="en-IN" b="0" dirty="0">
              <a:solidFill>
                <a:srgbClr val="000000"/>
              </a:solidFill>
              <a:effectLst/>
              <a:latin typeface="Consolas" panose="020B0609020204030204" pitchFamily="49" charset="0"/>
            </a:endParaRPr>
          </a:p>
        </p:txBody>
      </p:sp>
      <p:pic>
        <p:nvPicPr>
          <p:cNvPr id="7" name="Picture 6">
            <a:extLst>
              <a:ext uri="{FF2B5EF4-FFF2-40B4-BE49-F238E27FC236}">
                <a16:creationId xmlns:a16="http://schemas.microsoft.com/office/drawing/2014/main" id="{98C08588-55C6-6FE1-C99F-8934E21F5617}"/>
              </a:ext>
            </a:extLst>
          </p:cNvPr>
          <p:cNvPicPr>
            <a:picLocks noChangeAspect="1"/>
          </p:cNvPicPr>
          <p:nvPr/>
        </p:nvPicPr>
        <p:blipFill>
          <a:blip r:embed="rId2"/>
          <a:stretch>
            <a:fillRect/>
          </a:stretch>
        </p:blipFill>
        <p:spPr>
          <a:xfrm>
            <a:off x="7517646" y="5056072"/>
            <a:ext cx="3071126" cy="1569856"/>
          </a:xfrm>
          <a:prstGeom prst="rect">
            <a:avLst/>
          </a:prstGeom>
        </p:spPr>
      </p:pic>
      <p:pic>
        <p:nvPicPr>
          <p:cNvPr id="9" name="Picture 8">
            <a:extLst>
              <a:ext uri="{FF2B5EF4-FFF2-40B4-BE49-F238E27FC236}">
                <a16:creationId xmlns:a16="http://schemas.microsoft.com/office/drawing/2014/main" id="{23FB3899-0DAB-DE16-F4F6-D050A15ED341}"/>
              </a:ext>
            </a:extLst>
          </p:cNvPr>
          <p:cNvPicPr>
            <a:picLocks noChangeAspect="1"/>
          </p:cNvPicPr>
          <p:nvPr/>
        </p:nvPicPr>
        <p:blipFill>
          <a:blip r:embed="rId3"/>
          <a:stretch>
            <a:fillRect/>
          </a:stretch>
        </p:blipFill>
        <p:spPr>
          <a:xfrm>
            <a:off x="7517646" y="3639502"/>
            <a:ext cx="3055885" cy="617273"/>
          </a:xfrm>
          <a:prstGeom prst="rect">
            <a:avLst/>
          </a:prstGeom>
        </p:spPr>
      </p:pic>
    </p:spTree>
    <p:extLst>
      <p:ext uri="{BB962C8B-B14F-4D97-AF65-F5344CB8AC3E}">
        <p14:creationId xmlns:p14="http://schemas.microsoft.com/office/powerpoint/2010/main" val="222692047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37C53-DAEA-7165-FFB4-FFEB2EEA39D5}"/>
              </a:ext>
            </a:extLst>
          </p:cNvPr>
          <p:cNvSpPr>
            <a:spLocks noGrp="1"/>
          </p:cNvSpPr>
          <p:nvPr>
            <p:ph type="title"/>
          </p:nvPr>
        </p:nvSpPr>
        <p:spPr/>
        <p:txBody>
          <a:bodyPr/>
          <a:lstStyle/>
          <a:p>
            <a:r>
              <a:rPr lang="en-IN" dirty="0" err="1"/>
              <a:t>Textarea</a:t>
            </a:r>
            <a:r>
              <a:rPr lang="en-IN" dirty="0"/>
              <a:t> element</a:t>
            </a:r>
          </a:p>
        </p:txBody>
      </p:sp>
      <p:sp>
        <p:nvSpPr>
          <p:cNvPr id="3" name="Content Placeholder 2">
            <a:extLst>
              <a:ext uri="{FF2B5EF4-FFF2-40B4-BE49-F238E27FC236}">
                <a16:creationId xmlns:a16="http://schemas.microsoft.com/office/drawing/2014/main" id="{B54D7987-F1F3-9778-8C6B-1CD51565769C}"/>
              </a:ext>
            </a:extLst>
          </p:cNvPr>
          <p:cNvSpPr>
            <a:spLocks noGrp="1"/>
          </p:cNvSpPr>
          <p:nvPr>
            <p:ph idx="1"/>
          </p:nvPr>
        </p:nvSpPr>
        <p:spPr>
          <a:xfrm>
            <a:off x="581192" y="2180497"/>
            <a:ext cx="11029615" cy="1593836"/>
          </a:xfrm>
        </p:spPr>
        <p:txBody>
          <a:bodyPr>
            <a:normAutofit lnSpcReduction="10000"/>
          </a:bodyPr>
          <a:lstStyle/>
          <a:p>
            <a:r>
              <a:rPr lang="en-US" dirty="0"/>
              <a:t>An &lt;input&gt; element with type="text" creates a single row input field for users to type in information. However, there are cases where users need to write in more information, like a blog post. In such cases, instead of using an &lt;input&gt;, we could use &lt;</a:t>
            </a:r>
            <a:r>
              <a:rPr lang="en-US" dirty="0" err="1"/>
              <a:t>textarea</a:t>
            </a:r>
            <a:r>
              <a:rPr lang="en-US" dirty="0"/>
              <a:t>&gt;.</a:t>
            </a:r>
          </a:p>
          <a:p>
            <a:r>
              <a:rPr lang="en-US" dirty="0"/>
              <a:t>The &lt;</a:t>
            </a:r>
            <a:r>
              <a:rPr lang="en-US" dirty="0" err="1"/>
              <a:t>textarea</a:t>
            </a:r>
            <a:r>
              <a:rPr lang="en-US" dirty="0"/>
              <a:t>&gt; element is used to create a bigger text field for users to write more text. We can add the attributes rows and cols to determine the amount of rows and columns for the &lt;</a:t>
            </a:r>
            <a:r>
              <a:rPr lang="en-US" dirty="0" err="1"/>
              <a:t>textarea</a:t>
            </a:r>
            <a:r>
              <a:rPr lang="en-US" dirty="0"/>
              <a:t>&gt;. Take a look:</a:t>
            </a:r>
            <a:endParaRPr lang="en-IN" dirty="0"/>
          </a:p>
        </p:txBody>
      </p:sp>
      <p:sp>
        <p:nvSpPr>
          <p:cNvPr id="6" name="TextBox 5">
            <a:extLst>
              <a:ext uri="{FF2B5EF4-FFF2-40B4-BE49-F238E27FC236}">
                <a16:creationId xmlns:a16="http://schemas.microsoft.com/office/drawing/2014/main" id="{BFFE0E2D-71C5-AC9D-826F-9CA3169C8C07}"/>
              </a:ext>
            </a:extLst>
          </p:cNvPr>
          <p:cNvSpPr txBox="1"/>
          <p:nvPr/>
        </p:nvSpPr>
        <p:spPr>
          <a:xfrm>
            <a:off x="907103" y="4124519"/>
            <a:ext cx="7682419" cy="1754326"/>
          </a:xfrm>
          <a:prstGeom prst="rect">
            <a:avLst/>
          </a:prstGeom>
          <a:noFill/>
        </p:spPr>
        <p:txBody>
          <a:bodyPr wrap="square">
            <a:spAutoFit/>
          </a:bodyPr>
          <a:lstStyle/>
          <a:p>
            <a:r>
              <a:rPr lang="en-IN" b="0" dirty="0">
                <a:solidFill>
                  <a:srgbClr val="800000"/>
                </a:solidFill>
                <a:effectLst/>
                <a:latin typeface="Consolas" panose="020B0609020204030204" pitchFamily="49" charset="0"/>
              </a:rPr>
              <a:t>&lt;/form&gt; </a:t>
            </a:r>
          </a:p>
          <a:p>
            <a:r>
              <a:rPr lang="en-IN" dirty="0">
                <a:solidFill>
                  <a:srgbClr val="800000"/>
                </a:solidFill>
                <a:latin typeface="Consolas" panose="020B0609020204030204" pitchFamily="49" charset="0"/>
              </a:rPr>
              <a:t>	</a:t>
            </a:r>
            <a:r>
              <a:rPr lang="en-IN" b="0" dirty="0">
                <a:solidFill>
                  <a:srgbClr val="800000"/>
                </a:solidFill>
                <a:effectLst/>
                <a:latin typeface="Consolas" panose="020B0609020204030204" pitchFamily="49" charset="0"/>
              </a:rPr>
              <a:t>&lt;label</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"blog"</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New Blog Post: </a:t>
            </a:r>
            <a:r>
              <a:rPr lang="en-IN" b="0" dirty="0">
                <a:solidFill>
                  <a:srgbClr val="800000"/>
                </a:solidFill>
                <a:effectLst/>
                <a:latin typeface="Consolas" panose="020B0609020204030204" pitchFamily="49" charset="0"/>
              </a:rPr>
              <a:t>&lt;/label&gt;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textarea</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"blog"</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name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"blog"</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rows</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"5"</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cols</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"30"</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textarea</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&lt;/form&gt;</a:t>
            </a:r>
            <a:endParaRPr lang="en-IN" b="0" dirty="0">
              <a:solidFill>
                <a:srgbClr val="000000"/>
              </a:solidFill>
              <a:effectLst/>
              <a:latin typeface="Consolas" panose="020B0609020204030204" pitchFamily="49" charset="0"/>
            </a:endParaRPr>
          </a:p>
        </p:txBody>
      </p:sp>
      <p:pic>
        <p:nvPicPr>
          <p:cNvPr id="8" name="Picture 7">
            <a:extLst>
              <a:ext uri="{FF2B5EF4-FFF2-40B4-BE49-F238E27FC236}">
                <a16:creationId xmlns:a16="http://schemas.microsoft.com/office/drawing/2014/main" id="{8306A7F5-2490-025D-4C60-D0347D88535C}"/>
              </a:ext>
            </a:extLst>
          </p:cNvPr>
          <p:cNvPicPr>
            <a:picLocks noChangeAspect="1"/>
          </p:cNvPicPr>
          <p:nvPr/>
        </p:nvPicPr>
        <p:blipFill>
          <a:blip r:embed="rId2"/>
          <a:stretch>
            <a:fillRect/>
          </a:stretch>
        </p:blipFill>
        <p:spPr>
          <a:xfrm>
            <a:off x="8068524" y="4477131"/>
            <a:ext cx="3542283" cy="1329827"/>
          </a:xfrm>
          <a:prstGeom prst="rect">
            <a:avLst/>
          </a:prstGeom>
        </p:spPr>
      </p:pic>
    </p:spTree>
    <p:extLst>
      <p:ext uri="{BB962C8B-B14F-4D97-AF65-F5344CB8AC3E}">
        <p14:creationId xmlns:p14="http://schemas.microsoft.com/office/powerpoint/2010/main" val="175855698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FA855-8D00-A8D6-420C-9EDF1B90D761}"/>
              </a:ext>
            </a:extLst>
          </p:cNvPr>
          <p:cNvSpPr>
            <a:spLocks noGrp="1"/>
          </p:cNvSpPr>
          <p:nvPr>
            <p:ph type="title"/>
          </p:nvPr>
        </p:nvSpPr>
        <p:spPr/>
        <p:txBody>
          <a:bodyPr/>
          <a:lstStyle/>
          <a:p>
            <a:r>
              <a:rPr lang="en-IN" dirty="0"/>
              <a:t>Submit Form</a:t>
            </a:r>
          </a:p>
        </p:txBody>
      </p:sp>
      <p:sp>
        <p:nvSpPr>
          <p:cNvPr id="3" name="Content Placeholder 2">
            <a:extLst>
              <a:ext uri="{FF2B5EF4-FFF2-40B4-BE49-F238E27FC236}">
                <a16:creationId xmlns:a16="http://schemas.microsoft.com/office/drawing/2014/main" id="{BABE4402-346A-DC48-CB5B-1C7BFD9C0176}"/>
              </a:ext>
            </a:extLst>
          </p:cNvPr>
          <p:cNvSpPr>
            <a:spLocks noGrp="1"/>
          </p:cNvSpPr>
          <p:nvPr>
            <p:ph idx="1"/>
          </p:nvPr>
        </p:nvSpPr>
        <p:spPr>
          <a:xfrm>
            <a:off x="581192" y="2180497"/>
            <a:ext cx="11029615" cy="1248504"/>
          </a:xfrm>
        </p:spPr>
        <p:txBody>
          <a:bodyPr/>
          <a:lstStyle/>
          <a:p>
            <a:r>
              <a:rPr lang="en-US" dirty="0"/>
              <a:t>To make a submit button in a &lt;form&gt;, we’re going to use the reliable &lt;input&gt; element and set the type to "submit". For instance:</a:t>
            </a:r>
            <a:endParaRPr lang="en-IN" dirty="0"/>
          </a:p>
        </p:txBody>
      </p:sp>
      <p:sp>
        <p:nvSpPr>
          <p:cNvPr id="6" name="TextBox 5">
            <a:extLst>
              <a:ext uri="{FF2B5EF4-FFF2-40B4-BE49-F238E27FC236}">
                <a16:creationId xmlns:a16="http://schemas.microsoft.com/office/drawing/2014/main" id="{42CC8BE5-F9F8-9D82-3D2E-841C67D599B8}"/>
              </a:ext>
            </a:extLst>
          </p:cNvPr>
          <p:cNvSpPr txBox="1"/>
          <p:nvPr/>
        </p:nvSpPr>
        <p:spPr>
          <a:xfrm>
            <a:off x="790371" y="3604258"/>
            <a:ext cx="6094378" cy="369332"/>
          </a:xfrm>
          <a:prstGeom prst="rect">
            <a:avLst/>
          </a:prstGeom>
          <a:noFill/>
        </p:spPr>
        <p:txBody>
          <a:bodyPr wrap="square">
            <a:spAutoFit/>
          </a:bodyPr>
          <a:lstStyle/>
          <a:p>
            <a:r>
              <a:rPr lang="en-US" b="0" dirty="0">
                <a:solidFill>
                  <a:srgbClr val="800000"/>
                </a:solidFill>
                <a:effectLst/>
                <a:latin typeface="Consolas" panose="020B0609020204030204" pitchFamily="49" charset="0"/>
              </a:rPr>
              <a:t>&lt;input</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type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"submit"</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value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"Submit"</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p:txBody>
      </p:sp>
      <p:pic>
        <p:nvPicPr>
          <p:cNvPr id="8" name="Picture 7">
            <a:extLst>
              <a:ext uri="{FF2B5EF4-FFF2-40B4-BE49-F238E27FC236}">
                <a16:creationId xmlns:a16="http://schemas.microsoft.com/office/drawing/2014/main" id="{2C14D130-963C-B9DF-EF95-21C552B43A8C}"/>
              </a:ext>
            </a:extLst>
          </p:cNvPr>
          <p:cNvPicPr>
            <a:picLocks noChangeAspect="1"/>
          </p:cNvPicPr>
          <p:nvPr/>
        </p:nvPicPr>
        <p:blipFill>
          <a:blip r:embed="rId2"/>
          <a:stretch>
            <a:fillRect/>
          </a:stretch>
        </p:blipFill>
        <p:spPr>
          <a:xfrm>
            <a:off x="2847148" y="4852379"/>
            <a:ext cx="1303133" cy="480102"/>
          </a:xfrm>
          <a:prstGeom prst="rect">
            <a:avLst/>
          </a:prstGeom>
        </p:spPr>
      </p:pic>
    </p:spTree>
    <p:extLst>
      <p:ext uri="{BB962C8B-B14F-4D97-AF65-F5344CB8AC3E}">
        <p14:creationId xmlns:p14="http://schemas.microsoft.com/office/powerpoint/2010/main" val="162471378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98894-34DF-BA17-4549-851C3CD3833B}"/>
              </a:ext>
            </a:extLst>
          </p:cNvPr>
          <p:cNvSpPr>
            <a:spLocks noGrp="1"/>
          </p:cNvSpPr>
          <p:nvPr>
            <p:ph type="title"/>
          </p:nvPr>
        </p:nvSpPr>
        <p:spPr/>
        <p:txBody>
          <a:bodyPr/>
          <a:lstStyle/>
          <a:p>
            <a:r>
              <a:rPr lang="en-IN" dirty="0"/>
              <a:t>HTML Form Validation</a:t>
            </a:r>
          </a:p>
        </p:txBody>
      </p:sp>
      <p:sp>
        <p:nvSpPr>
          <p:cNvPr id="3" name="Content Placeholder 2">
            <a:extLst>
              <a:ext uri="{FF2B5EF4-FFF2-40B4-BE49-F238E27FC236}">
                <a16:creationId xmlns:a16="http://schemas.microsoft.com/office/drawing/2014/main" id="{825A0361-D1FE-E111-DDB0-6840109BE3B0}"/>
              </a:ext>
            </a:extLst>
          </p:cNvPr>
          <p:cNvSpPr>
            <a:spLocks noGrp="1"/>
          </p:cNvSpPr>
          <p:nvPr>
            <p:ph idx="1"/>
          </p:nvPr>
        </p:nvSpPr>
        <p:spPr/>
        <p:txBody>
          <a:bodyPr/>
          <a:lstStyle/>
          <a:p>
            <a:pPr algn="just"/>
            <a:r>
              <a:rPr lang="en-US" b="0" i="0" dirty="0">
                <a:solidFill>
                  <a:srgbClr val="10162F"/>
                </a:solidFill>
                <a:effectLst/>
                <a:latin typeface="Apercu"/>
              </a:rPr>
              <a:t>Validation is the concept of checking user provided data against the required data.</a:t>
            </a:r>
          </a:p>
          <a:p>
            <a:pPr algn="just"/>
            <a:r>
              <a:rPr lang="en-US" b="0" i="0" dirty="0">
                <a:solidFill>
                  <a:srgbClr val="10162F"/>
                </a:solidFill>
                <a:effectLst/>
                <a:latin typeface="Apercu"/>
              </a:rPr>
              <a:t>There are different types of validation. One type is </a:t>
            </a:r>
            <a:r>
              <a:rPr lang="en-US" b="0" i="1" dirty="0">
                <a:solidFill>
                  <a:srgbClr val="10162F"/>
                </a:solidFill>
                <a:effectLst/>
                <a:latin typeface="Apercu"/>
              </a:rPr>
              <a:t>server-side validation</a:t>
            </a:r>
            <a:r>
              <a:rPr lang="en-US" b="0" i="0" dirty="0">
                <a:solidFill>
                  <a:srgbClr val="10162F"/>
                </a:solidFill>
                <a:effectLst/>
                <a:latin typeface="Apercu"/>
              </a:rPr>
              <a:t>, this happens when data is sent to another machine (typically a server) for validation. An example of this type of validation is the usage of a login page. The form on the login page accepts username and password input, then sends the data to a server that checks that the pair matches up correctly.</a:t>
            </a:r>
          </a:p>
          <a:p>
            <a:pPr algn="just"/>
            <a:r>
              <a:rPr lang="en-US" b="0" i="0" dirty="0">
                <a:solidFill>
                  <a:srgbClr val="10162F"/>
                </a:solidFill>
                <a:effectLst/>
                <a:latin typeface="Apercu"/>
              </a:rPr>
              <a:t>On the other hand, we use </a:t>
            </a:r>
            <a:r>
              <a:rPr lang="en-US" b="0" i="1" dirty="0">
                <a:solidFill>
                  <a:srgbClr val="10162F"/>
                </a:solidFill>
                <a:effectLst/>
                <a:latin typeface="Apercu"/>
              </a:rPr>
              <a:t>client-side validation</a:t>
            </a:r>
            <a:r>
              <a:rPr lang="en-US" b="0" i="0" dirty="0">
                <a:solidFill>
                  <a:srgbClr val="10162F"/>
                </a:solidFill>
                <a:effectLst/>
                <a:latin typeface="Apercu"/>
              </a:rPr>
              <a:t> if we want to check the data on the browser (the client). This validation occurs before data is sent to the server. Different browsers implement client-side validation differently, but it leads to the same outcome.</a:t>
            </a:r>
          </a:p>
          <a:p>
            <a:pPr algn="just"/>
            <a:endParaRPr lang="en-IN" dirty="0"/>
          </a:p>
        </p:txBody>
      </p:sp>
    </p:spTree>
    <p:extLst>
      <p:ext uri="{BB962C8B-B14F-4D97-AF65-F5344CB8AC3E}">
        <p14:creationId xmlns:p14="http://schemas.microsoft.com/office/powerpoint/2010/main" val="190297514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D8190-2BE5-3B7C-13A2-BD77F1F24E6C}"/>
              </a:ext>
            </a:extLst>
          </p:cNvPr>
          <p:cNvSpPr>
            <a:spLocks noGrp="1"/>
          </p:cNvSpPr>
          <p:nvPr>
            <p:ph type="title"/>
          </p:nvPr>
        </p:nvSpPr>
        <p:spPr/>
        <p:txBody>
          <a:bodyPr/>
          <a:lstStyle/>
          <a:p>
            <a:r>
              <a:rPr lang="en-IN" dirty="0"/>
              <a:t>Requiring an Input (mandatory field)</a:t>
            </a:r>
          </a:p>
        </p:txBody>
      </p:sp>
      <p:sp>
        <p:nvSpPr>
          <p:cNvPr id="3" name="Content Placeholder 2">
            <a:extLst>
              <a:ext uri="{FF2B5EF4-FFF2-40B4-BE49-F238E27FC236}">
                <a16:creationId xmlns:a16="http://schemas.microsoft.com/office/drawing/2014/main" id="{18080966-62C1-F7CF-6DC3-4D607E981315}"/>
              </a:ext>
            </a:extLst>
          </p:cNvPr>
          <p:cNvSpPr>
            <a:spLocks noGrp="1"/>
          </p:cNvSpPr>
          <p:nvPr>
            <p:ph idx="1"/>
          </p:nvPr>
        </p:nvSpPr>
        <p:spPr>
          <a:xfrm>
            <a:off x="581192" y="2180496"/>
            <a:ext cx="11247642" cy="815623"/>
          </a:xfrm>
        </p:spPr>
        <p:txBody>
          <a:bodyPr/>
          <a:lstStyle/>
          <a:p>
            <a:pPr algn="just"/>
            <a:r>
              <a:rPr lang="en-US" dirty="0"/>
              <a:t>Sometimes we have fields in our &lt;form&gt; which are not optional, i.e. there must be information provided before we can submit it. To enforce this rule, we can add the required attribute to an &lt;input&gt; element.</a:t>
            </a:r>
            <a:endParaRPr lang="en-IN" dirty="0"/>
          </a:p>
        </p:txBody>
      </p:sp>
      <p:sp>
        <p:nvSpPr>
          <p:cNvPr id="6" name="TextBox 5">
            <a:extLst>
              <a:ext uri="{FF2B5EF4-FFF2-40B4-BE49-F238E27FC236}">
                <a16:creationId xmlns:a16="http://schemas.microsoft.com/office/drawing/2014/main" id="{7AFAD126-0A21-0678-569B-D0DE0901D45D}"/>
              </a:ext>
            </a:extLst>
          </p:cNvPr>
          <p:cNvSpPr txBox="1"/>
          <p:nvPr/>
        </p:nvSpPr>
        <p:spPr>
          <a:xfrm>
            <a:off x="2074422" y="3344662"/>
            <a:ext cx="9404216" cy="2031325"/>
          </a:xfrm>
          <a:prstGeom prst="rect">
            <a:avLst/>
          </a:prstGeom>
          <a:noFill/>
        </p:spPr>
        <p:txBody>
          <a:bodyPr wrap="square">
            <a:spAutoFit/>
          </a:bodyPr>
          <a:lstStyle/>
          <a:p>
            <a:r>
              <a:rPr lang="en-US" b="0" dirty="0">
                <a:solidFill>
                  <a:srgbClr val="800000"/>
                </a:solidFill>
                <a:effectLst/>
                <a:latin typeface="Consolas" panose="020B0609020204030204" pitchFamily="49" charset="0"/>
              </a:rPr>
              <a:t>&lt;form</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action</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"/example.html"</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method</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"POST"</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&lt;label</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for</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FF"/>
                </a:solidFill>
                <a:effectLst/>
                <a:latin typeface="Consolas" panose="020B0609020204030204" pitchFamily="49" charset="0"/>
              </a:rPr>
              <a:t>fname</a:t>
            </a:r>
            <a:r>
              <a:rPr lang="en-US" b="0" dirty="0">
                <a:solidFill>
                  <a:srgbClr val="CD3131"/>
                </a:solidFill>
                <a:effectLst/>
                <a:latin typeface="Consolas" panose="020B0609020204030204" pitchFamily="49" charset="0"/>
              </a:rPr>
              <a:t>"</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What is your Full name?</a:t>
            </a:r>
            <a:r>
              <a:rPr lang="en-US" b="0" dirty="0">
                <a:solidFill>
                  <a:srgbClr val="800000"/>
                </a:solidFill>
                <a:effectLst/>
                <a:latin typeface="Consolas" panose="020B0609020204030204" pitchFamily="49" charset="0"/>
              </a:rPr>
              <a:t>&lt;/label&gt;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br</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&lt;input</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type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"text"</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id</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FF"/>
                </a:solidFill>
                <a:effectLst/>
                <a:latin typeface="Consolas" panose="020B0609020204030204" pitchFamily="49" charset="0"/>
              </a:rPr>
              <a:t>fname</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name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FF"/>
                </a:solidFill>
                <a:effectLst/>
                <a:latin typeface="Consolas" panose="020B0609020204030204" pitchFamily="49" charset="0"/>
              </a:rPr>
              <a:t>fname</a:t>
            </a:r>
            <a:r>
              <a:rPr lang="en-US" b="0" dirty="0">
                <a:solidFill>
                  <a:srgbClr val="0000FF"/>
                </a:solidFill>
                <a:effectLst/>
                <a:latin typeface="Consolas" panose="020B0609020204030204" pitchFamily="49" charset="0"/>
              </a:rPr>
              <a:t>“ </a:t>
            </a:r>
            <a:r>
              <a:rPr lang="en-US" b="0" dirty="0">
                <a:solidFill>
                  <a:srgbClr val="FF0000"/>
                </a:solidFill>
                <a:effectLst/>
                <a:latin typeface="Consolas" panose="020B0609020204030204" pitchFamily="49" charset="0"/>
              </a:rPr>
              <a:t>required</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br</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36138210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3B8D8-DEB3-5E87-2A72-FDE5AADD6E43}"/>
              </a:ext>
            </a:extLst>
          </p:cNvPr>
          <p:cNvSpPr>
            <a:spLocks noGrp="1"/>
          </p:cNvSpPr>
          <p:nvPr>
            <p:ph type="title"/>
          </p:nvPr>
        </p:nvSpPr>
        <p:spPr/>
        <p:txBody>
          <a:bodyPr/>
          <a:lstStyle/>
          <a:p>
            <a:r>
              <a:rPr lang="en-US" dirty="0"/>
              <a:t>Set a Minimum and Maximum</a:t>
            </a:r>
            <a:endParaRPr lang="en-IN" dirty="0"/>
          </a:p>
        </p:txBody>
      </p:sp>
      <p:sp>
        <p:nvSpPr>
          <p:cNvPr id="3" name="Content Placeholder 2">
            <a:extLst>
              <a:ext uri="{FF2B5EF4-FFF2-40B4-BE49-F238E27FC236}">
                <a16:creationId xmlns:a16="http://schemas.microsoft.com/office/drawing/2014/main" id="{FA7822D4-15F7-27DD-28F9-87E947534A05}"/>
              </a:ext>
            </a:extLst>
          </p:cNvPr>
          <p:cNvSpPr>
            <a:spLocks noGrp="1"/>
          </p:cNvSpPr>
          <p:nvPr>
            <p:ph idx="1"/>
          </p:nvPr>
        </p:nvSpPr>
        <p:spPr>
          <a:xfrm>
            <a:off x="581192" y="2180496"/>
            <a:ext cx="11029615" cy="1399283"/>
          </a:xfrm>
        </p:spPr>
        <p:txBody>
          <a:bodyPr/>
          <a:lstStyle/>
          <a:p>
            <a:r>
              <a:rPr lang="en-US" dirty="0"/>
              <a:t>Another built-in validation we can use is to assign a minimum or maximum value for a number field, e.g. &lt;input type="number"&gt; and &lt;input type="range"&gt;. To set a minimum acceptable value, we use the min attribute and assign a value. On the flip side, to set a maximum acceptable value, we assign the max attribute a value.</a:t>
            </a:r>
            <a:endParaRPr lang="en-IN" dirty="0"/>
          </a:p>
        </p:txBody>
      </p:sp>
      <p:sp>
        <p:nvSpPr>
          <p:cNvPr id="6" name="TextBox 5">
            <a:extLst>
              <a:ext uri="{FF2B5EF4-FFF2-40B4-BE49-F238E27FC236}">
                <a16:creationId xmlns:a16="http://schemas.microsoft.com/office/drawing/2014/main" id="{1F64517A-04CB-AA2F-146C-FB04AD41382A}"/>
              </a:ext>
            </a:extLst>
          </p:cNvPr>
          <p:cNvSpPr txBox="1"/>
          <p:nvPr/>
        </p:nvSpPr>
        <p:spPr>
          <a:xfrm>
            <a:off x="1033562" y="3808609"/>
            <a:ext cx="9589041" cy="1754326"/>
          </a:xfrm>
          <a:prstGeom prst="rect">
            <a:avLst/>
          </a:prstGeom>
          <a:noFill/>
        </p:spPr>
        <p:txBody>
          <a:bodyPr wrap="square">
            <a:spAutoFit/>
          </a:bodyPr>
          <a:lstStyle/>
          <a:p>
            <a:r>
              <a:rPr lang="en-IN" b="0" dirty="0">
                <a:solidFill>
                  <a:srgbClr val="800000"/>
                </a:solidFill>
                <a:effectLst/>
                <a:latin typeface="Consolas" panose="020B0609020204030204" pitchFamily="49" charset="0"/>
              </a:rPr>
              <a:t>&lt;form</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action</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"/example.html"</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method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"POST"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&lt;label</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"guests"</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Enter the number of guests:</a:t>
            </a:r>
            <a:r>
              <a:rPr lang="en-IN" b="0" dirty="0">
                <a:solidFill>
                  <a:srgbClr val="800000"/>
                </a:solidFill>
                <a:effectLst/>
                <a:latin typeface="Consolas" panose="020B0609020204030204" pitchFamily="49" charset="0"/>
              </a:rPr>
              <a:t>&lt;/label&gt;&lt;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"guests"</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name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"guests"</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type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"number"</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min</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"1"</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max</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"4"</a:t>
            </a:r>
            <a:r>
              <a:rPr lang="en-IN" b="0" dirty="0">
                <a:solidFill>
                  <a:srgbClr val="800000"/>
                </a:solidFill>
                <a:effectLst/>
                <a:latin typeface="Consolas" panose="020B0609020204030204" pitchFamily="49" charset="0"/>
              </a:rPr>
              <a:t>&gt;&lt;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type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"submit"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"Submit"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&lt;/form&gt;</a:t>
            </a: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03946833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122ED-2BFB-FF59-95D5-C77F24BF142C}"/>
              </a:ext>
            </a:extLst>
          </p:cNvPr>
          <p:cNvSpPr>
            <a:spLocks noGrp="1"/>
          </p:cNvSpPr>
          <p:nvPr>
            <p:ph type="title"/>
          </p:nvPr>
        </p:nvSpPr>
        <p:spPr/>
        <p:txBody>
          <a:bodyPr/>
          <a:lstStyle/>
          <a:p>
            <a:r>
              <a:rPr lang="en-IN" dirty="0"/>
              <a:t>Checking Text Length</a:t>
            </a:r>
          </a:p>
        </p:txBody>
      </p:sp>
      <p:sp>
        <p:nvSpPr>
          <p:cNvPr id="3" name="Content Placeholder 2">
            <a:extLst>
              <a:ext uri="{FF2B5EF4-FFF2-40B4-BE49-F238E27FC236}">
                <a16:creationId xmlns:a16="http://schemas.microsoft.com/office/drawing/2014/main" id="{A0EFCC46-A780-F785-C336-091522CAE209}"/>
              </a:ext>
            </a:extLst>
          </p:cNvPr>
          <p:cNvSpPr>
            <a:spLocks noGrp="1"/>
          </p:cNvSpPr>
          <p:nvPr>
            <p:ph idx="1"/>
          </p:nvPr>
        </p:nvSpPr>
        <p:spPr>
          <a:xfrm>
            <a:off x="581192" y="2180497"/>
            <a:ext cx="11029615" cy="1934304"/>
          </a:xfrm>
        </p:spPr>
        <p:txBody>
          <a:bodyPr/>
          <a:lstStyle/>
          <a:p>
            <a:pPr algn="just"/>
            <a:r>
              <a:rPr lang="en-US" dirty="0"/>
              <a:t>There are certainly cases where we wouldn’t want our users typing more than a certain number of characters (think about the character cap for messages on Twitter). We might even want to set a minimum number of characters. Conveniently, there are built-in HTML5 validations for these situations.</a:t>
            </a:r>
          </a:p>
          <a:p>
            <a:pPr algn="just"/>
            <a:r>
              <a:rPr lang="en-US" dirty="0"/>
              <a:t>To set a minimum number of characters for a text field, we add the </a:t>
            </a:r>
            <a:r>
              <a:rPr lang="en-US" i="1" dirty="0" err="1">
                <a:solidFill>
                  <a:srgbClr val="FF0000"/>
                </a:solidFill>
              </a:rPr>
              <a:t>minlength</a:t>
            </a:r>
            <a:r>
              <a:rPr lang="en-US" dirty="0"/>
              <a:t> attribute and a value to set a minimum value. Similarly, to set the maximum number of characters for a text field, we use the </a:t>
            </a:r>
            <a:r>
              <a:rPr lang="en-US" i="1" dirty="0" err="1">
                <a:solidFill>
                  <a:srgbClr val="FF0000"/>
                </a:solidFill>
              </a:rPr>
              <a:t>maxlength</a:t>
            </a:r>
            <a:r>
              <a:rPr lang="en-US" dirty="0"/>
              <a:t> attribute and set a maximum value. Let’s take a look at these attributes in code:</a:t>
            </a:r>
            <a:endParaRPr lang="en-IN" dirty="0"/>
          </a:p>
        </p:txBody>
      </p:sp>
      <p:sp>
        <p:nvSpPr>
          <p:cNvPr id="6" name="TextBox 5">
            <a:extLst>
              <a:ext uri="{FF2B5EF4-FFF2-40B4-BE49-F238E27FC236}">
                <a16:creationId xmlns:a16="http://schemas.microsoft.com/office/drawing/2014/main" id="{A1FE3322-23C7-AE55-40B9-3D7FB2ED53C2}"/>
              </a:ext>
            </a:extLst>
          </p:cNvPr>
          <p:cNvSpPr txBox="1"/>
          <p:nvPr/>
        </p:nvSpPr>
        <p:spPr>
          <a:xfrm>
            <a:off x="581192" y="4335287"/>
            <a:ext cx="11610808" cy="1754326"/>
          </a:xfrm>
          <a:prstGeom prst="rect">
            <a:avLst/>
          </a:prstGeom>
          <a:noFill/>
        </p:spPr>
        <p:txBody>
          <a:bodyPr wrap="square">
            <a:spAutoFit/>
          </a:bodyPr>
          <a:lstStyle/>
          <a:p>
            <a:r>
              <a:rPr lang="en-US" b="0" dirty="0">
                <a:solidFill>
                  <a:srgbClr val="800000"/>
                </a:solidFill>
                <a:effectLst/>
                <a:latin typeface="Consolas" panose="020B0609020204030204" pitchFamily="49" charset="0"/>
              </a:rPr>
              <a:t>&lt;form</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action</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"/example.html"</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method</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"POST"</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&lt;label</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for</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"summary"</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Summarize in less than 250 characters</a:t>
            </a:r>
            <a:r>
              <a:rPr lang="en-US" b="0" dirty="0">
                <a:solidFill>
                  <a:srgbClr val="800000"/>
                </a:solidFill>
                <a:effectLst/>
                <a:latin typeface="Consolas" panose="020B0609020204030204" pitchFamily="49" charset="0"/>
              </a:rPr>
              <a:t>&lt;/label&gt;&lt;</a:t>
            </a:r>
            <a:r>
              <a:rPr lang="en-US" b="0" dirty="0" err="1">
                <a:solidFill>
                  <a:srgbClr val="800000"/>
                </a:solidFill>
                <a:effectLst/>
                <a:latin typeface="Consolas" panose="020B0609020204030204" pitchFamily="49" charset="0"/>
              </a:rPr>
              <a:t>br</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&lt;input</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id</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"summary"</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name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"summary"</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type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"text"</a:t>
            </a:r>
            <a:r>
              <a:rPr lang="en-US" b="0" dirty="0">
                <a:solidFill>
                  <a:srgbClr val="000000"/>
                </a:solidFill>
                <a:effectLst/>
                <a:latin typeface="Consolas" panose="020B0609020204030204" pitchFamily="49" charset="0"/>
              </a:rPr>
              <a:t> </a:t>
            </a:r>
            <a:r>
              <a:rPr lang="en-US" b="0" dirty="0" err="1">
                <a:solidFill>
                  <a:srgbClr val="E50000"/>
                </a:solidFill>
                <a:effectLst/>
                <a:latin typeface="Consolas" panose="020B0609020204030204" pitchFamily="49" charset="0"/>
              </a:rPr>
              <a:t>minlength</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"5"</a:t>
            </a:r>
            <a:r>
              <a:rPr lang="en-US" b="0" dirty="0">
                <a:solidFill>
                  <a:srgbClr val="000000"/>
                </a:solidFill>
                <a:effectLst/>
                <a:latin typeface="Consolas" panose="020B0609020204030204" pitchFamily="49" charset="0"/>
              </a:rPr>
              <a:t> </a:t>
            </a:r>
            <a:r>
              <a:rPr lang="en-US" b="0" dirty="0" err="1">
                <a:solidFill>
                  <a:srgbClr val="E50000"/>
                </a:solidFill>
                <a:effectLst/>
                <a:latin typeface="Consolas" panose="020B0609020204030204" pitchFamily="49" charset="0"/>
              </a:rPr>
              <a:t>maxlength</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"250"</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required</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dirty="0">
                <a:solidFill>
                  <a:srgbClr val="000000"/>
                </a:solidFill>
                <a:latin typeface="Consolas" panose="020B0609020204030204" pitchFamily="49" charset="0"/>
              </a:rPr>
              <a:t>	</a:t>
            </a:r>
            <a:r>
              <a:rPr lang="en-US" b="0" dirty="0">
                <a:solidFill>
                  <a:srgbClr val="000000"/>
                </a:solidFill>
                <a:effectLst/>
                <a:latin typeface="Consolas" panose="020B0609020204030204" pitchFamily="49" charset="0"/>
              </a:rPr>
              <a:t>&lt;</a:t>
            </a:r>
            <a:r>
              <a:rPr lang="en-US" b="0" dirty="0" err="1">
                <a:solidFill>
                  <a:srgbClr val="000000"/>
                </a:solidFill>
                <a:effectLst/>
                <a:latin typeface="Consolas" panose="020B0609020204030204" pitchFamily="49" charset="0"/>
              </a:rPr>
              <a:t>br</a:t>
            </a:r>
            <a:r>
              <a:rPr lang="en-US" b="0" dirty="0">
                <a:solidFill>
                  <a:srgbClr val="000000"/>
                </a:solidFill>
                <a:effectLst/>
                <a:latin typeface="Consolas" panose="020B0609020204030204" pitchFamily="49" charset="0"/>
              </a:rPr>
              <a:t>&gt;&lt;</a:t>
            </a:r>
            <a:r>
              <a:rPr lang="en-US" b="0" dirty="0" err="1">
                <a:solidFill>
                  <a:srgbClr val="000000"/>
                </a:solidFill>
                <a:effectLst/>
                <a:latin typeface="Consolas" panose="020B0609020204030204" pitchFamily="49" charset="0"/>
              </a:rPr>
              <a:t>br</a:t>
            </a:r>
            <a:r>
              <a:rPr lang="en-US" b="0" dirty="0">
                <a:solidFill>
                  <a:srgbClr val="000000"/>
                </a:solidFill>
                <a:effectLst/>
                <a:latin typeface="Consolas" panose="020B0609020204030204" pitchFamily="49" charset="0"/>
              </a:rPr>
              <a:t>&gt;        </a:t>
            </a:r>
          </a:p>
          <a:p>
            <a:r>
              <a:rPr lang="en-US" b="0" dirty="0">
                <a:solidFill>
                  <a:srgbClr val="800000"/>
                </a:solidFill>
                <a:effectLst/>
                <a:latin typeface="Consolas" panose="020B0609020204030204" pitchFamily="49" charset="0"/>
              </a:rPr>
              <a:t>    &lt;input</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type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"submit"</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value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"Submit"</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&lt;/form&gt;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62412945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9FD30-410E-215D-C08B-9839B4AA0387}"/>
              </a:ext>
            </a:extLst>
          </p:cNvPr>
          <p:cNvSpPr>
            <a:spLocks noGrp="1"/>
          </p:cNvSpPr>
          <p:nvPr>
            <p:ph type="title"/>
          </p:nvPr>
        </p:nvSpPr>
        <p:spPr/>
        <p:txBody>
          <a:bodyPr/>
          <a:lstStyle/>
          <a:p>
            <a:r>
              <a:rPr lang="en-IN" dirty="0"/>
              <a:t>Matching a Pattern</a:t>
            </a:r>
          </a:p>
        </p:txBody>
      </p:sp>
      <p:sp>
        <p:nvSpPr>
          <p:cNvPr id="3" name="Content Placeholder 2">
            <a:extLst>
              <a:ext uri="{FF2B5EF4-FFF2-40B4-BE49-F238E27FC236}">
                <a16:creationId xmlns:a16="http://schemas.microsoft.com/office/drawing/2014/main" id="{FF2E9AEC-2FAB-39B7-F9CD-9DF72C951C20}"/>
              </a:ext>
            </a:extLst>
          </p:cNvPr>
          <p:cNvSpPr>
            <a:spLocks noGrp="1"/>
          </p:cNvSpPr>
          <p:nvPr>
            <p:ph idx="1"/>
          </p:nvPr>
        </p:nvSpPr>
        <p:spPr>
          <a:xfrm>
            <a:off x="581192" y="2180497"/>
            <a:ext cx="11029615" cy="1013800"/>
          </a:xfrm>
        </p:spPr>
        <p:txBody>
          <a:bodyPr/>
          <a:lstStyle/>
          <a:p>
            <a:r>
              <a:rPr lang="en-US" dirty="0"/>
              <a:t> For cases when we want user input to follow specific guidelines, we use the pattern attribute and assign it a regular expression, or regex. Regular expressions are a sequence of characters that make up a search pattern. If the input matches the regex, the form can be submitted.</a:t>
            </a:r>
            <a:endParaRPr lang="en-IN" dirty="0"/>
          </a:p>
        </p:txBody>
      </p:sp>
      <p:sp>
        <p:nvSpPr>
          <p:cNvPr id="6" name="TextBox 5">
            <a:extLst>
              <a:ext uri="{FF2B5EF4-FFF2-40B4-BE49-F238E27FC236}">
                <a16:creationId xmlns:a16="http://schemas.microsoft.com/office/drawing/2014/main" id="{C8AD2C6C-B6CC-A039-1529-0FD6B4B5AB0C}"/>
              </a:ext>
            </a:extLst>
          </p:cNvPr>
          <p:cNvSpPr txBox="1"/>
          <p:nvPr/>
        </p:nvSpPr>
        <p:spPr>
          <a:xfrm>
            <a:off x="873460" y="3429000"/>
            <a:ext cx="10445077" cy="1754326"/>
          </a:xfrm>
          <a:prstGeom prst="rect">
            <a:avLst/>
          </a:prstGeom>
          <a:noFill/>
        </p:spPr>
        <p:txBody>
          <a:bodyPr wrap="square">
            <a:spAutoFit/>
          </a:bodyPr>
          <a:lstStyle/>
          <a:p>
            <a:r>
              <a:rPr lang="en-IN" b="0" dirty="0">
                <a:solidFill>
                  <a:srgbClr val="800000"/>
                </a:solidFill>
                <a:effectLst/>
                <a:latin typeface="Consolas" panose="020B0609020204030204" pitchFamily="49" charset="0"/>
              </a:rPr>
              <a:t>&lt;form</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action</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"/example.html"</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method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"POST"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&lt;label</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"payment"</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Credit Card Number (no spaces):</a:t>
            </a:r>
            <a:r>
              <a:rPr lang="en-IN" b="0" dirty="0">
                <a:solidFill>
                  <a:srgbClr val="800000"/>
                </a:solidFill>
                <a:effectLst/>
                <a:latin typeface="Consolas" panose="020B0609020204030204" pitchFamily="49" charset="0"/>
              </a:rPr>
              <a:t>&lt;/label&gt;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"payment"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name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"payment"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type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"text"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required</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pattern</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"[0-9]{14,16}"</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type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"submit"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"Submit"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&lt;/form&gt;</a:t>
            </a:r>
            <a:endParaRPr lang="en-IN" b="0" dirty="0">
              <a:solidFill>
                <a:srgbClr val="000000"/>
              </a:solidFill>
              <a:effectLst/>
              <a:latin typeface="Consolas" panose="020B0609020204030204" pitchFamily="49" charset="0"/>
            </a:endParaRPr>
          </a:p>
        </p:txBody>
      </p:sp>
      <p:sp>
        <p:nvSpPr>
          <p:cNvPr id="10" name="Content Placeholder 2">
            <a:extLst>
              <a:ext uri="{FF2B5EF4-FFF2-40B4-BE49-F238E27FC236}">
                <a16:creationId xmlns:a16="http://schemas.microsoft.com/office/drawing/2014/main" id="{99C05FCA-D5A3-0393-B87F-E15D2805E987}"/>
              </a:ext>
            </a:extLst>
          </p:cNvPr>
          <p:cNvSpPr txBox="1">
            <a:spLocks/>
          </p:cNvSpPr>
          <p:nvPr/>
        </p:nvSpPr>
        <p:spPr>
          <a:xfrm>
            <a:off x="581190" y="5468169"/>
            <a:ext cx="11029615" cy="101380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 Let’s say we wanted to check for a valid credit card number (a 14 to 16 digit number). We could use the regex: [0-9]{14,16} which checks that the user provided only numbers and that they entered at least 14 digits and at most 16 digits.</a:t>
            </a:r>
            <a:endParaRPr lang="en-IN" dirty="0"/>
          </a:p>
        </p:txBody>
      </p:sp>
    </p:spTree>
    <p:extLst>
      <p:ext uri="{BB962C8B-B14F-4D97-AF65-F5344CB8AC3E}">
        <p14:creationId xmlns:p14="http://schemas.microsoft.com/office/powerpoint/2010/main" val="425430545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1A5891-8D05-DA23-4A6D-85E8E8A68B31}"/>
              </a:ext>
            </a:extLst>
          </p:cNvPr>
          <p:cNvSpPr>
            <a:spLocks noGrp="1"/>
          </p:cNvSpPr>
          <p:nvPr>
            <p:ph type="title"/>
          </p:nvPr>
        </p:nvSpPr>
        <p:spPr/>
        <p:txBody>
          <a:bodyPr/>
          <a:lstStyle/>
          <a:p>
            <a:r>
              <a:rPr lang="en-IN" sz="6000" dirty="0"/>
              <a:t>Thanks</a:t>
            </a:r>
            <a:endParaRPr lang="en-IN" dirty="0"/>
          </a:p>
        </p:txBody>
      </p:sp>
    </p:spTree>
    <p:extLst>
      <p:ext uri="{BB962C8B-B14F-4D97-AF65-F5344CB8AC3E}">
        <p14:creationId xmlns:p14="http://schemas.microsoft.com/office/powerpoint/2010/main" val="1997010038"/>
      </p:ext>
    </p:extLst>
  </p:cSld>
  <p:clrMapOvr>
    <a:masterClrMapping/>
  </p:clrMapOvr>
  <p:timing>
    <p:tnLst>
      <p:par>
        <p:cTn id="1" dur="indefinite" restart="never" nodeType="tmRoot"/>
      </p:par>
    </p:tnLst>
  </p:timing>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Candara">
      <a:maj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Dividend</Template>
  <TotalTime>2475</TotalTime>
  <Words>3936</Words>
  <Application>Microsoft Office PowerPoint</Application>
  <PresentationFormat>Widescreen</PresentationFormat>
  <Paragraphs>430</Paragraphs>
  <Slides>48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48</vt:i4>
      </vt:variant>
    </vt:vector>
  </HeadingPairs>
  <TitlesOfParts>
    <vt:vector size="58" baseType="lpstr">
      <vt:lpstr>Apercu</vt:lpstr>
      <vt:lpstr>Arial</vt:lpstr>
      <vt:lpstr>Candara</vt:lpstr>
      <vt:lpstr>Consolas</vt:lpstr>
      <vt:lpstr>Monaco</vt:lpstr>
      <vt:lpstr>Monaco, Menlo,  Ubuntu Mono</vt:lpstr>
      <vt:lpstr>Verdana</vt:lpstr>
      <vt:lpstr>Wingdings</vt:lpstr>
      <vt:lpstr>Wingdings 2</vt:lpstr>
      <vt:lpstr>Dividend</vt:lpstr>
      <vt:lpstr>HTML: Hyper Text Markup Language</vt:lpstr>
      <vt:lpstr>Introduction of HTML</vt:lpstr>
      <vt:lpstr>HTLM Basic syntax</vt:lpstr>
      <vt:lpstr>The Body</vt:lpstr>
      <vt:lpstr>HTML Element</vt:lpstr>
      <vt:lpstr>HTML Element</vt:lpstr>
      <vt:lpstr>HTML Structure</vt:lpstr>
      <vt:lpstr>Headings</vt:lpstr>
      <vt:lpstr>Div Element</vt:lpstr>
      <vt:lpstr>Attributes</vt:lpstr>
      <vt:lpstr>Display Text </vt:lpstr>
      <vt:lpstr>Styling Text</vt:lpstr>
      <vt:lpstr>Unordered Lists</vt:lpstr>
      <vt:lpstr>Ordered Lists</vt:lpstr>
      <vt:lpstr>Images</vt:lpstr>
      <vt:lpstr>Videos</vt:lpstr>
      <vt:lpstr>Linking to Other Web Pages</vt:lpstr>
      <vt:lpstr>Linking to Relative Page</vt:lpstr>
      <vt:lpstr>Linking to Relative Page</vt:lpstr>
      <vt:lpstr>Try this values in target attribute</vt:lpstr>
      <vt:lpstr>Introduction to Tables</vt:lpstr>
      <vt:lpstr>Example of a table:</vt:lpstr>
      <vt:lpstr>Spanning Columns (Merging column)</vt:lpstr>
      <vt:lpstr>Spanning Rows (Merging RoW)</vt:lpstr>
      <vt:lpstr>Table Body, Table Head and Table Footer</vt:lpstr>
      <vt:lpstr>Introduction to HTML Forms</vt:lpstr>
      <vt:lpstr>How a Form Works</vt:lpstr>
      <vt:lpstr>Text Input</vt:lpstr>
      <vt:lpstr>The &lt;input&gt; Element</vt:lpstr>
      <vt:lpstr>The &lt;input&gt; Element</vt:lpstr>
      <vt:lpstr>HTML Input Types </vt:lpstr>
      <vt:lpstr>Adding a Label</vt:lpstr>
      <vt:lpstr>Password Input</vt:lpstr>
      <vt:lpstr>Number Input</vt:lpstr>
      <vt:lpstr>Range Input</vt:lpstr>
      <vt:lpstr>Checkbox Input</vt:lpstr>
      <vt:lpstr>PowerPoint Presentation</vt:lpstr>
      <vt:lpstr>Radio Button Input</vt:lpstr>
      <vt:lpstr>Datalist Input</vt:lpstr>
      <vt:lpstr>Dropdown list</vt:lpstr>
      <vt:lpstr>Textarea element</vt:lpstr>
      <vt:lpstr>Submit Form</vt:lpstr>
      <vt:lpstr>HTML Form Validation</vt:lpstr>
      <vt:lpstr>Requiring an Input (mandatory field)</vt:lpstr>
      <vt:lpstr>Set a Minimum and Maximum</vt:lpstr>
      <vt:lpstr>Checking Text Length</vt:lpstr>
      <vt:lpstr>Matching a Pattern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dc:title>
  <dc:creator>Arpita Tiwari</dc:creator>
  <cp:lastModifiedBy>Arpita Tiwari</cp:lastModifiedBy>
  <cp:revision>24</cp:revision>
  <dcterms:created xsi:type="dcterms:W3CDTF">2022-12-05T08:54:50Z</dcterms:created>
  <dcterms:modified xsi:type="dcterms:W3CDTF">2024-10-15T06:13:18Z</dcterms:modified>
</cp:coreProperties>
</file>