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780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36665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3C3C3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36665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271384" y="3076194"/>
            <a:ext cx="3409950" cy="3592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A42A2A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36665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6531" y="457200"/>
            <a:ext cx="3703320" cy="94615"/>
          </a:xfrm>
          <a:custGeom>
            <a:avLst/>
            <a:gdLst/>
            <a:ahLst/>
            <a:cxnLst/>
            <a:rect l="l" t="t" r="r" b="b"/>
            <a:pathLst>
              <a:path w="3703320" h="94615">
                <a:moveTo>
                  <a:pt x="3703320" y="0"/>
                </a:moveTo>
                <a:lnTo>
                  <a:pt x="0" y="0"/>
                </a:lnTo>
                <a:lnTo>
                  <a:pt x="0" y="94487"/>
                </a:lnTo>
                <a:lnTo>
                  <a:pt x="3703320" y="94487"/>
                </a:lnTo>
                <a:lnTo>
                  <a:pt x="3703320" y="0"/>
                </a:lnTo>
                <a:close/>
              </a:path>
            </a:pathLst>
          </a:custGeom>
          <a:solidFill>
            <a:srgbClr val="366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42147" y="454151"/>
            <a:ext cx="3703320" cy="97790"/>
          </a:xfrm>
          <a:custGeom>
            <a:avLst/>
            <a:gdLst/>
            <a:ahLst/>
            <a:cxnLst/>
            <a:rect l="l" t="t" r="r" b="b"/>
            <a:pathLst>
              <a:path w="3703320" h="97790">
                <a:moveTo>
                  <a:pt x="3703320" y="0"/>
                </a:moveTo>
                <a:lnTo>
                  <a:pt x="0" y="0"/>
                </a:lnTo>
                <a:lnTo>
                  <a:pt x="0" y="97536"/>
                </a:lnTo>
                <a:lnTo>
                  <a:pt x="3703320" y="97536"/>
                </a:lnTo>
                <a:lnTo>
                  <a:pt x="3703320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41291" y="457200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3703320" h="91440">
                <a:moveTo>
                  <a:pt x="3703319" y="0"/>
                </a:moveTo>
                <a:lnTo>
                  <a:pt x="0" y="0"/>
                </a:lnTo>
                <a:lnTo>
                  <a:pt x="0" y="91439"/>
                </a:lnTo>
                <a:lnTo>
                  <a:pt x="3703319" y="91439"/>
                </a:lnTo>
                <a:lnTo>
                  <a:pt x="3703319" y="0"/>
                </a:lnTo>
                <a:close/>
              </a:path>
            </a:pathLst>
          </a:custGeom>
          <a:solidFill>
            <a:srgbClr val="8BB6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9993" y="3547948"/>
            <a:ext cx="10872012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36665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9993" y="2328799"/>
            <a:ext cx="7570470" cy="157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3C3C3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sfontstack.com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xample.com/image.jpg');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6531" y="3086100"/>
            <a:ext cx="11262360" cy="3304540"/>
          </a:xfrm>
          <a:custGeom>
            <a:avLst/>
            <a:gdLst/>
            <a:ahLst/>
            <a:cxnLst/>
            <a:rect l="l" t="t" r="r" b="b"/>
            <a:pathLst>
              <a:path w="11262360" h="3304540">
                <a:moveTo>
                  <a:pt x="11262360" y="0"/>
                </a:moveTo>
                <a:lnTo>
                  <a:pt x="0" y="0"/>
                </a:lnTo>
                <a:lnTo>
                  <a:pt x="0" y="3304031"/>
                </a:lnTo>
                <a:lnTo>
                  <a:pt x="11262360" y="3304031"/>
                </a:lnTo>
                <a:lnTo>
                  <a:pt x="11262360" y="0"/>
                </a:lnTo>
                <a:close/>
              </a:path>
            </a:pathLst>
          </a:custGeom>
          <a:solidFill>
            <a:srgbClr val="366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9993" y="1671546"/>
            <a:ext cx="6327140" cy="1114425"/>
          </a:xfrm>
          <a:prstGeom prst="rect">
            <a:avLst/>
          </a:prstGeom>
        </p:spPr>
        <p:txBody>
          <a:bodyPr vert="horz" wrap="square" lIns="0" tIns="2178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sz="3600" spc="-10" dirty="0"/>
              <a:t>CSS:</a:t>
            </a:r>
            <a:r>
              <a:rPr sz="3600" spc="-30" dirty="0"/>
              <a:t> </a:t>
            </a:r>
            <a:r>
              <a:rPr sz="3600" spc="-10" dirty="0"/>
              <a:t>CASCADING</a:t>
            </a:r>
            <a:r>
              <a:rPr sz="3600" spc="-40" dirty="0"/>
              <a:t> </a:t>
            </a:r>
            <a:r>
              <a:rPr sz="3600" spc="-10" dirty="0"/>
              <a:t>STYLE</a:t>
            </a:r>
            <a:r>
              <a:rPr sz="3600" spc="-20" dirty="0"/>
              <a:t> </a:t>
            </a:r>
            <a:r>
              <a:rPr sz="3600" spc="-5" dirty="0"/>
              <a:t>SHEETS</a:t>
            </a:r>
            <a:endParaRPr sz="3600"/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600" spc="-30" dirty="0">
                <a:solidFill>
                  <a:srgbClr val="8BB649"/>
                </a:solidFill>
                <a:latin typeface="Calibri"/>
                <a:cs typeface="Calibri"/>
              </a:rPr>
              <a:t>BY</a:t>
            </a:r>
            <a:r>
              <a:rPr sz="1600" spc="-10" dirty="0">
                <a:solidFill>
                  <a:srgbClr val="8BB649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8BB649"/>
                </a:solidFill>
                <a:latin typeface="Calibri"/>
                <a:cs typeface="Calibri"/>
              </a:rPr>
              <a:t>ARPITA</a:t>
            </a:r>
            <a:r>
              <a:rPr sz="1600" spc="-15" dirty="0">
                <a:solidFill>
                  <a:srgbClr val="8BB649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8BB649"/>
                </a:solidFill>
                <a:latin typeface="Calibri"/>
                <a:cs typeface="Calibri"/>
              </a:rPr>
              <a:t>TIWARI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5" dirty="0">
                <a:solidFill>
                  <a:srgbClr val="FFFFFF"/>
                </a:solidFill>
              </a:rPr>
              <a:t>CASCADING</a:t>
            </a:r>
            <a:r>
              <a:rPr sz="2800" spc="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STYLE</a:t>
            </a:r>
            <a:r>
              <a:rPr sz="2800" spc="-20" dirty="0">
                <a:solidFill>
                  <a:srgbClr val="FFFFFF"/>
                </a:solidFill>
              </a:rPr>
              <a:t> </a:t>
            </a:r>
            <a:r>
              <a:rPr sz="2800" spc="-5" dirty="0">
                <a:solidFill>
                  <a:srgbClr val="FFFFFF"/>
                </a:solidFill>
              </a:rPr>
              <a:t>SHEETS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471750"/>
            <a:ext cx="10479405" cy="217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508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70205" algn="l"/>
                <a:tab pos="370840" algn="l"/>
              </a:tabLst>
            </a:pPr>
            <a:r>
              <a:rPr dirty="0"/>
              <a:t>	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Cascading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Style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Sheets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or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0F162E"/>
                </a:solidFill>
                <a:latin typeface="Calibri"/>
                <a:cs typeface="Calibri"/>
              </a:rPr>
              <a:t>CSS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language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web</a:t>
            </a:r>
            <a:r>
              <a:rPr sz="18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developers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use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style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HTML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content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on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web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page.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If 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F162E"/>
                </a:solidFill>
                <a:latin typeface="Calibri"/>
                <a:cs typeface="Calibri"/>
              </a:rPr>
              <a:t>you’re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interested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in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modifying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colors,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font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types,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font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sizes,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images,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element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positioning,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and</a:t>
            </a:r>
            <a:r>
              <a:rPr sz="18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more,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CSS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800" spc="-39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tool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for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the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job!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In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an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HTML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page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we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have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link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the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.CSS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file.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Calibri"/>
              <a:cs typeface="Calibri"/>
            </a:endParaRPr>
          </a:p>
          <a:p>
            <a:pPr marL="26035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&lt;link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href="style.css"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rel="stylesheet"&gt;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</a:rPr>
              <a:t>STYLING</a:t>
            </a:r>
            <a:r>
              <a:rPr sz="2800" spc="-25" dirty="0">
                <a:solidFill>
                  <a:srgbClr val="FFFFFF"/>
                </a:solidFill>
              </a:rPr>
              <a:t> </a:t>
            </a:r>
            <a:r>
              <a:rPr sz="2800" spc="-5" dirty="0">
                <a:solidFill>
                  <a:srgbClr val="FFFFFF"/>
                </a:solidFill>
              </a:rPr>
              <a:t>A </a:t>
            </a:r>
            <a:r>
              <a:rPr sz="2800" spc="-10" dirty="0">
                <a:solidFill>
                  <a:srgbClr val="FFFFFF"/>
                </a:solidFill>
              </a:rPr>
              <a:t>WEB</a:t>
            </a:r>
            <a:r>
              <a:rPr sz="2800" spc="-25" dirty="0">
                <a:solidFill>
                  <a:srgbClr val="FFFFFF"/>
                </a:solidFill>
              </a:rPr>
              <a:t> </a:t>
            </a:r>
            <a:r>
              <a:rPr sz="2800" spc="-55" dirty="0">
                <a:solidFill>
                  <a:srgbClr val="FFFFFF"/>
                </a:solidFill>
              </a:rPr>
              <a:t>PAGE: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3398875"/>
            <a:ext cx="8855075" cy="13976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51765" indent="-139700">
              <a:lnSpc>
                <a:spcPct val="100000"/>
              </a:lnSpc>
              <a:spcBef>
                <a:spcPts val="1300"/>
              </a:spcBef>
              <a:buSzPct val="95000"/>
              <a:buFont typeface="Verdana"/>
              <a:buChar char="•"/>
              <a:tabLst>
                <a:tab pos="152400" algn="l"/>
              </a:tabLst>
            </a:pPr>
            <a:r>
              <a:rPr sz="2000" b="1" dirty="0">
                <a:latin typeface="Verdana"/>
                <a:cs typeface="Verdana"/>
              </a:rPr>
              <a:t>Inline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-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by </a:t>
            </a: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DC133B"/>
                </a:solidFill>
                <a:latin typeface="Consolas"/>
                <a:cs typeface="Consolas"/>
              </a:rPr>
              <a:t>style</a:t>
            </a:r>
            <a:r>
              <a:rPr sz="2000" spc="-409" dirty="0">
                <a:solidFill>
                  <a:srgbClr val="DC133B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latin typeface="Verdana"/>
                <a:cs typeface="Verdana"/>
              </a:rPr>
              <a:t>attribute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inside </a:t>
            </a:r>
            <a:r>
              <a:rPr sz="2000" dirty="0">
                <a:latin typeface="Verdana"/>
                <a:cs typeface="Verdana"/>
              </a:rPr>
              <a:t>HTML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elements</a:t>
            </a:r>
            <a:endParaRPr sz="2000">
              <a:latin typeface="Verdana"/>
              <a:cs typeface="Verdana"/>
            </a:endParaRPr>
          </a:p>
          <a:p>
            <a:pPr marL="151765" indent="-139700">
              <a:lnSpc>
                <a:spcPct val="100000"/>
              </a:lnSpc>
              <a:spcBef>
                <a:spcPts val="1200"/>
              </a:spcBef>
              <a:buSzPct val="95000"/>
              <a:buFont typeface="Verdana"/>
              <a:buChar char="•"/>
              <a:tabLst>
                <a:tab pos="152400" algn="l"/>
              </a:tabLst>
            </a:pPr>
            <a:r>
              <a:rPr sz="2000" b="1" dirty="0">
                <a:latin typeface="Verdana"/>
                <a:cs typeface="Verdana"/>
              </a:rPr>
              <a:t>Internal </a:t>
            </a:r>
            <a:r>
              <a:rPr sz="2000" dirty="0">
                <a:latin typeface="Verdana"/>
                <a:cs typeface="Verdana"/>
              </a:rPr>
              <a:t>-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by </a:t>
            </a: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DC133B"/>
                </a:solidFill>
                <a:latin typeface="Consolas"/>
                <a:cs typeface="Consolas"/>
              </a:rPr>
              <a:t>&lt;style&gt;</a:t>
            </a:r>
            <a:r>
              <a:rPr sz="2000" spc="-425" dirty="0">
                <a:solidFill>
                  <a:srgbClr val="DC133B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latin typeface="Verdana"/>
                <a:cs typeface="Verdana"/>
              </a:rPr>
              <a:t>element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DC133B"/>
                </a:solidFill>
                <a:latin typeface="Consolas"/>
                <a:cs typeface="Consolas"/>
              </a:rPr>
              <a:t>&lt;head&gt;</a:t>
            </a:r>
            <a:r>
              <a:rPr sz="2000" spc="-420" dirty="0">
                <a:solidFill>
                  <a:srgbClr val="DC133B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latin typeface="Verdana"/>
                <a:cs typeface="Verdana"/>
              </a:rPr>
              <a:t>section</a:t>
            </a:r>
            <a:endParaRPr sz="2000">
              <a:latin typeface="Verdana"/>
              <a:cs typeface="Verdana"/>
            </a:endParaRPr>
          </a:p>
          <a:p>
            <a:pPr marL="151765" indent="-139700">
              <a:lnSpc>
                <a:spcPct val="100000"/>
              </a:lnSpc>
              <a:spcBef>
                <a:spcPts val="1200"/>
              </a:spcBef>
              <a:buSzPct val="95000"/>
              <a:buFont typeface="Verdana"/>
              <a:buChar char="•"/>
              <a:tabLst>
                <a:tab pos="152400" algn="l"/>
              </a:tabLst>
            </a:pPr>
            <a:r>
              <a:rPr sz="2000" b="1" spc="-5" dirty="0">
                <a:latin typeface="Verdana"/>
                <a:cs typeface="Verdana"/>
              </a:rPr>
              <a:t>External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-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DC133B"/>
                </a:solidFill>
                <a:latin typeface="Consolas"/>
                <a:cs typeface="Consolas"/>
              </a:rPr>
              <a:t>&lt;link&gt;</a:t>
            </a:r>
            <a:r>
              <a:rPr sz="2000" spc="-420" dirty="0">
                <a:solidFill>
                  <a:srgbClr val="DC133B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latin typeface="Verdana"/>
                <a:cs typeface="Verdana"/>
              </a:rPr>
              <a:t>element</a:t>
            </a:r>
            <a:r>
              <a:rPr sz="2000" dirty="0">
                <a:latin typeface="Verdana"/>
                <a:cs typeface="Verdana"/>
              </a:rPr>
              <a:t> to</a:t>
            </a:r>
            <a:r>
              <a:rPr sz="2000" spc="-5" dirty="0">
                <a:latin typeface="Verdana"/>
                <a:cs typeface="Verdana"/>
              </a:rPr>
              <a:t> link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5" dirty="0">
                <a:latin typeface="Verdana"/>
                <a:cs typeface="Verdana"/>
              </a:rPr>
              <a:t> external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CSS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file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1568323"/>
            <a:ext cx="1903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000000"/>
                </a:solidFill>
                <a:latin typeface="Segoe UI"/>
                <a:cs typeface="Segoe UI"/>
              </a:rPr>
              <a:t>INLINE</a:t>
            </a:r>
            <a:r>
              <a:rPr sz="2800" b="1" spc="-6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2800" b="1" spc="-10" dirty="0">
                <a:solidFill>
                  <a:srgbClr val="000000"/>
                </a:solidFill>
                <a:latin typeface="Segoe UI"/>
                <a:cs typeface="Segoe UI"/>
              </a:rPr>
              <a:t>CSS</a:t>
            </a:r>
            <a:endParaRPr sz="2800">
              <a:latin typeface="Segoe UI"/>
              <a:cs typeface="Segoe U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1692" y="3041141"/>
            <a:ext cx="4405630" cy="2077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5715" indent="-306705" algn="just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dirty="0">
                <a:latin typeface="Verdana"/>
                <a:cs typeface="Verdana"/>
              </a:rPr>
              <a:t>An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inline</a:t>
            </a:r>
            <a:r>
              <a:rPr sz="1800" dirty="0">
                <a:latin typeface="Verdana"/>
                <a:cs typeface="Verdana"/>
              </a:rPr>
              <a:t> style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may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used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apply </a:t>
            </a:r>
            <a:r>
              <a:rPr sz="1800" dirty="0">
                <a:latin typeface="Verdana"/>
                <a:cs typeface="Verdana"/>
              </a:rPr>
              <a:t>a unique style for a single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element.</a:t>
            </a:r>
            <a:endParaRPr sz="1800">
              <a:latin typeface="Verdana"/>
              <a:cs typeface="Verdana"/>
            </a:endParaRPr>
          </a:p>
          <a:p>
            <a:pPr marL="318770" marR="5080" indent="-306705" algn="just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spc="-100" dirty="0">
                <a:latin typeface="Verdana"/>
                <a:cs typeface="Verdana"/>
              </a:rPr>
              <a:t>To </a:t>
            </a:r>
            <a:r>
              <a:rPr sz="1800" dirty="0">
                <a:latin typeface="Verdana"/>
                <a:cs typeface="Verdana"/>
              </a:rPr>
              <a:t>use inline styles, </a:t>
            </a:r>
            <a:r>
              <a:rPr sz="1800" spc="-5" dirty="0">
                <a:latin typeface="Verdana"/>
                <a:cs typeface="Verdana"/>
              </a:rPr>
              <a:t>add the style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attribute to the relevant </a:t>
            </a:r>
            <a:r>
              <a:rPr sz="1800" dirty="0">
                <a:latin typeface="Verdana"/>
                <a:cs typeface="Verdana"/>
              </a:rPr>
              <a:t>element.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style attribute </a:t>
            </a:r>
            <a:r>
              <a:rPr sz="1800" spc="-5" dirty="0">
                <a:latin typeface="Verdana"/>
                <a:cs typeface="Verdana"/>
              </a:rPr>
              <a:t>can </a:t>
            </a:r>
            <a:r>
              <a:rPr sz="1800" dirty="0">
                <a:latin typeface="Verdana"/>
                <a:cs typeface="Verdana"/>
              </a:rPr>
              <a:t>contain </a:t>
            </a:r>
            <a:r>
              <a:rPr sz="1800" spc="-15" dirty="0">
                <a:latin typeface="Verdana"/>
                <a:cs typeface="Verdana"/>
              </a:rPr>
              <a:t>any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CSS </a:t>
            </a:r>
            <a:r>
              <a:rPr sz="1800" spc="-25" dirty="0">
                <a:latin typeface="Verdana"/>
                <a:cs typeface="Verdana"/>
              </a:rPr>
              <a:t>property.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91961" y="2747517"/>
            <a:ext cx="19056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A42A2A"/>
                </a:solidFill>
                <a:latin typeface="Consolas"/>
                <a:cs typeface="Consolas"/>
              </a:rPr>
              <a:t>!DOCTYPE</a:t>
            </a:r>
            <a:r>
              <a:rPr sz="1800" spc="-85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html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00CD"/>
                </a:solidFill>
                <a:latin typeface="Consolas"/>
                <a:cs typeface="Consolas"/>
              </a:rPr>
              <a:t>&lt;</a:t>
            </a:r>
            <a:r>
              <a:rPr sz="1800" spc="-10" dirty="0">
                <a:solidFill>
                  <a:srgbClr val="A42A2A"/>
                </a:solidFill>
                <a:latin typeface="Consolas"/>
                <a:cs typeface="Consolas"/>
              </a:rPr>
              <a:t>html</a:t>
            </a:r>
            <a:r>
              <a:rPr sz="1800" spc="-10" dirty="0">
                <a:solidFill>
                  <a:srgbClr val="0000CD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00CD"/>
                </a:solidFill>
                <a:latin typeface="Consolas"/>
                <a:cs typeface="Consolas"/>
              </a:rPr>
              <a:t>&lt;</a:t>
            </a:r>
            <a:r>
              <a:rPr sz="1800" spc="-10" dirty="0">
                <a:solidFill>
                  <a:srgbClr val="A42A2A"/>
                </a:solidFill>
                <a:latin typeface="Consolas"/>
                <a:cs typeface="Consolas"/>
              </a:rPr>
              <a:t>body</a:t>
            </a:r>
            <a:r>
              <a:rPr sz="1800" spc="-10" dirty="0">
                <a:solidFill>
                  <a:srgbClr val="0000CD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1961" y="3845179"/>
            <a:ext cx="57924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CD"/>
                </a:solidFill>
                <a:latin typeface="Consolas"/>
                <a:cs typeface="Consolas"/>
              </a:rPr>
              <a:t>&lt;</a:t>
            </a:r>
            <a:r>
              <a:rPr sz="1800" spc="-10" dirty="0">
                <a:solidFill>
                  <a:srgbClr val="A42A2A"/>
                </a:solidFill>
                <a:latin typeface="Consolas"/>
                <a:cs typeface="Consolas"/>
              </a:rPr>
              <a:t>h1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style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="color:blue;text-align:center;"&gt;</a:t>
            </a:r>
            <a:r>
              <a:rPr sz="1800" spc="-5" dirty="0">
                <a:latin typeface="Consolas"/>
                <a:cs typeface="Consolas"/>
              </a:rPr>
              <a:t>This </a:t>
            </a:r>
            <a:r>
              <a:rPr sz="1800" spc="-97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is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a</a:t>
            </a:r>
            <a:r>
              <a:rPr sz="1800" spc="-1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heading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A42A2A"/>
                </a:solidFill>
                <a:latin typeface="Consolas"/>
                <a:cs typeface="Consolas"/>
              </a:rPr>
              <a:t>/h1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A42A2A"/>
                </a:solidFill>
                <a:latin typeface="Consolas"/>
                <a:cs typeface="Consolas"/>
              </a:rPr>
              <a:t>p</a:t>
            </a:r>
            <a:r>
              <a:rPr sz="1800" spc="-30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style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="color:red;"&gt;</a:t>
            </a:r>
            <a:r>
              <a:rPr sz="1800" spc="-5" dirty="0">
                <a:latin typeface="Consolas"/>
                <a:cs typeface="Consolas"/>
              </a:rPr>
              <a:t>This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is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a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paragraph.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A42A2A"/>
                </a:solidFill>
                <a:latin typeface="Consolas"/>
                <a:cs typeface="Consolas"/>
              </a:rPr>
              <a:t>/p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91961" y="4942154"/>
            <a:ext cx="90296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CD"/>
                </a:solidFill>
                <a:latin typeface="Consolas"/>
                <a:cs typeface="Consolas"/>
              </a:rPr>
              <a:t>&lt;</a:t>
            </a:r>
            <a:r>
              <a:rPr sz="1800" spc="-10" dirty="0">
                <a:solidFill>
                  <a:srgbClr val="A42A2A"/>
                </a:solidFill>
                <a:latin typeface="Consolas"/>
                <a:cs typeface="Consolas"/>
              </a:rPr>
              <a:t>/body</a:t>
            </a:r>
            <a:r>
              <a:rPr sz="1800" spc="-10" dirty="0">
                <a:solidFill>
                  <a:srgbClr val="0000CD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0000CD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A42A2A"/>
                </a:solidFill>
                <a:latin typeface="Consolas"/>
                <a:cs typeface="Consolas"/>
              </a:rPr>
              <a:t>/ht</a:t>
            </a:r>
            <a:r>
              <a:rPr sz="1800" dirty="0">
                <a:solidFill>
                  <a:srgbClr val="A42A2A"/>
                </a:solidFill>
                <a:latin typeface="Consolas"/>
                <a:cs typeface="Consolas"/>
              </a:rPr>
              <a:t>m</a:t>
            </a:r>
            <a:r>
              <a:rPr sz="1800" spc="-5" dirty="0">
                <a:solidFill>
                  <a:srgbClr val="A42A2A"/>
                </a:solidFill>
                <a:latin typeface="Consolas"/>
                <a:cs typeface="Consolas"/>
              </a:rPr>
              <a:t>l</a:t>
            </a:r>
            <a:r>
              <a:rPr sz="1800" dirty="0">
                <a:solidFill>
                  <a:srgbClr val="0000CD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3910" y="1418589"/>
            <a:ext cx="27025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00000"/>
                </a:solidFill>
                <a:latin typeface="Cambria"/>
                <a:cs typeface="Cambria"/>
              </a:rPr>
              <a:t>INTERNAL</a:t>
            </a:r>
            <a:r>
              <a:rPr sz="3200" b="1" spc="-8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1" spc="-10" dirty="0">
                <a:solidFill>
                  <a:srgbClr val="000000"/>
                </a:solidFill>
                <a:latin typeface="Cambria"/>
                <a:cs typeface="Cambria"/>
              </a:rPr>
              <a:t>CSS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2941701"/>
            <a:ext cx="4407535" cy="1992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8770" marR="5080" indent="-306705" algn="just">
              <a:lnSpc>
                <a:spcPct val="100000"/>
              </a:lnSpc>
              <a:spcBef>
                <a:spcPts val="105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9405" algn="l"/>
              </a:tabLst>
            </a:pPr>
            <a:r>
              <a:rPr sz="2000" dirty="0">
                <a:latin typeface="Verdana"/>
                <a:cs typeface="Verdana"/>
              </a:rPr>
              <a:t>An </a:t>
            </a:r>
            <a:r>
              <a:rPr sz="2000" spc="-5" dirty="0">
                <a:latin typeface="Verdana"/>
                <a:cs typeface="Verdana"/>
              </a:rPr>
              <a:t>internal </a:t>
            </a:r>
            <a:r>
              <a:rPr sz="2000" dirty="0">
                <a:latin typeface="Verdana"/>
                <a:cs typeface="Verdana"/>
              </a:rPr>
              <a:t>style </a:t>
            </a:r>
            <a:r>
              <a:rPr sz="2000" spc="-5" dirty="0">
                <a:latin typeface="Verdana"/>
                <a:cs typeface="Verdana"/>
              </a:rPr>
              <a:t>sheet </a:t>
            </a:r>
            <a:r>
              <a:rPr sz="2000" spc="-10" dirty="0">
                <a:latin typeface="Verdana"/>
                <a:cs typeface="Verdana"/>
              </a:rPr>
              <a:t>may </a:t>
            </a:r>
            <a:r>
              <a:rPr sz="2000" spc="-5" dirty="0">
                <a:latin typeface="Verdana"/>
                <a:cs typeface="Verdana"/>
              </a:rPr>
              <a:t>be </a:t>
            </a:r>
            <a:r>
              <a:rPr sz="2000" dirty="0">
                <a:latin typeface="Verdana"/>
                <a:cs typeface="Verdana"/>
              </a:rPr>
              <a:t> used </a:t>
            </a:r>
            <a:r>
              <a:rPr sz="2000" spc="-5" dirty="0">
                <a:latin typeface="Verdana"/>
                <a:cs typeface="Verdana"/>
              </a:rPr>
              <a:t>if one </a:t>
            </a:r>
            <a:r>
              <a:rPr sz="2000" dirty="0">
                <a:latin typeface="Verdana"/>
                <a:cs typeface="Verdana"/>
              </a:rPr>
              <a:t>single </a:t>
            </a:r>
            <a:r>
              <a:rPr sz="2000" spc="-5" dirty="0">
                <a:latin typeface="Verdana"/>
                <a:cs typeface="Verdana"/>
              </a:rPr>
              <a:t>HTML page </a:t>
            </a:r>
            <a:r>
              <a:rPr sz="2000" dirty="0">
                <a:latin typeface="Verdana"/>
                <a:cs typeface="Verdana"/>
              </a:rPr>
              <a:t> has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unique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style.</a:t>
            </a:r>
            <a:endParaRPr sz="2000">
              <a:latin typeface="Verdana"/>
              <a:cs typeface="Verdana"/>
            </a:endParaRPr>
          </a:p>
          <a:p>
            <a:pPr marL="318770" marR="5080" indent="-306705" algn="just">
              <a:lnSpc>
                <a:spcPct val="100000"/>
              </a:lnSpc>
              <a:spcBef>
                <a:spcPts val="10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9405" algn="l"/>
              </a:tabLst>
            </a:pPr>
            <a:r>
              <a:rPr sz="2000" spc="-5" dirty="0">
                <a:latin typeface="Verdana"/>
                <a:cs typeface="Verdana"/>
              </a:rPr>
              <a:t>The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internal</a:t>
            </a:r>
            <a:r>
              <a:rPr sz="2000" spc="-5" dirty="0">
                <a:latin typeface="Verdana"/>
                <a:cs typeface="Verdana"/>
              </a:rPr>
              <a:t> style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is</a:t>
            </a:r>
            <a:r>
              <a:rPr sz="2000" dirty="0">
                <a:latin typeface="Verdana"/>
                <a:cs typeface="Verdana"/>
              </a:rPr>
              <a:t> defined 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inside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the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&lt;style&gt;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element, 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inside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head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section.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1384" y="880998"/>
            <a:ext cx="3284854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A42A2A"/>
                </a:solidFill>
                <a:latin typeface="Consolas"/>
                <a:cs typeface="Consolas"/>
              </a:rPr>
              <a:t>!DOCTYPE</a:t>
            </a:r>
            <a:r>
              <a:rPr sz="1800" spc="-60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html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00CD"/>
                </a:solidFill>
                <a:latin typeface="Consolas"/>
                <a:cs typeface="Consolas"/>
              </a:rPr>
              <a:t>&lt;</a:t>
            </a:r>
            <a:r>
              <a:rPr sz="1800" spc="-10" dirty="0">
                <a:solidFill>
                  <a:srgbClr val="A42A2A"/>
                </a:solidFill>
                <a:latin typeface="Consolas"/>
                <a:cs typeface="Consolas"/>
              </a:rPr>
              <a:t>html</a:t>
            </a:r>
            <a:r>
              <a:rPr sz="1800" spc="-10" dirty="0">
                <a:solidFill>
                  <a:srgbClr val="0000CD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A42A2A"/>
                </a:solidFill>
                <a:latin typeface="Consolas"/>
                <a:cs typeface="Consolas"/>
              </a:rPr>
              <a:t>head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 marR="2386965">
              <a:lnSpc>
                <a:spcPct val="100000"/>
              </a:lnSpc>
            </a:pPr>
            <a:r>
              <a:rPr sz="1800" spc="-10" dirty="0">
                <a:solidFill>
                  <a:srgbClr val="0000CD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A42A2A"/>
                </a:solidFill>
                <a:latin typeface="Consolas"/>
                <a:cs typeface="Consolas"/>
              </a:rPr>
              <a:t>sty</a:t>
            </a:r>
            <a:r>
              <a:rPr sz="1800" dirty="0">
                <a:solidFill>
                  <a:srgbClr val="A42A2A"/>
                </a:solidFill>
                <a:latin typeface="Consolas"/>
                <a:cs typeface="Consolas"/>
              </a:rPr>
              <a:t>l</a:t>
            </a:r>
            <a:r>
              <a:rPr sz="1800" spc="-5" dirty="0">
                <a:solidFill>
                  <a:srgbClr val="A42A2A"/>
                </a:solidFill>
                <a:latin typeface="Consolas"/>
                <a:cs typeface="Consolas"/>
              </a:rPr>
              <a:t>e</a:t>
            </a:r>
            <a:r>
              <a:rPr sz="1800" dirty="0">
                <a:solidFill>
                  <a:srgbClr val="0000CD"/>
                </a:solidFill>
                <a:latin typeface="Consolas"/>
                <a:cs typeface="Consolas"/>
              </a:rPr>
              <a:t>&gt;  </a:t>
            </a:r>
            <a:r>
              <a:rPr sz="1800" spc="-10" dirty="0">
                <a:solidFill>
                  <a:srgbClr val="A42A2A"/>
                </a:solidFill>
                <a:latin typeface="Consolas"/>
                <a:cs typeface="Consolas"/>
              </a:rPr>
              <a:t>body</a:t>
            </a:r>
            <a:r>
              <a:rPr sz="1800" spc="-45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background-color</a:t>
            </a:r>
            <a:r>
              <a:rPr sz="1800" spc="-5" dirty="0">
                <a:latin typeface="Consolas"/>
                <a:cs typeface="Consolas"/>
              </a:rPr>
              <a:t>:</a:t>
            </a:r>
            <a:r>
              <a:rPr sz="1800" spc="-5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linen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h1</a:t>
            </a:r>
            <a:r>
              <a:rPr spc="-80" dirty="0"/>
              <a:t> </a:t>
            </a:r>
            <a:r>
              <a:rPr dirty="0">
                <a:solidFill>
                  <a:srgbClr val="000000"/>
                </a:solidFill>
              </a:rPr>
              <a:t>{</a:t>
            </a:r>
          </a:p>
          <a:p>
            <a:pPr marL="262255" marR="882650">
              <a:lnSpc>
                <a:spcPct val="100000"/>
              </a:lnSpc>
            </a:pPr>
            <a:r>
              <a:rPr spc="-5" dirty="0">
                <a:solidFill>
                  <a:srgbClr val="FF0000"/>
                </a:solidFill>
              </a:rPr>
              <a:t>color</a:t>
            </a:r>
            <a:r>
              <a:rPr spc="-5" dirty="0">
                <a:solidFill>
                  <a:srgbClr val="000000"/>
                </a:solidFill>
              </a:rPr>
              <a:t>: </a:t>
            </a:r>
            <a:r>
              <a:rPr spc="-5" dirty="0">
                <a:solidFill>
                  <a:srgbClr val="0000CD"/>
                </a:solidFill>
              </a:rPr>
              <a:t>maroon</a:t>
            </a:r>
            <a:r>
              <a:rPr spc="-5" dirty="0">
                <a:solidFill>
                  <a:srgbClr val="000000"/>
                </a:solidFill>
              </a:rPr>
              <a:t>; 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margin-left</a:t>
            </a:r>
            <a:r>
              <a:rPr spc="-5" dirty="0">
                <a:solidFill>
                  <a:srgbClr val="000000"/>
                </a:solidFill>
              </a:rPr>
              <a:t>:</a:t>
            </a:r>
            <a:r>
              <a:rPr spc="-8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CD"/>
                </a:solidFill>
              </a:rPr>
              <a:t>40px</a:t>
            </a:r>
            <a:r>
              <a:rPr spc="-5" dirty="0">
                <a:solidFill>
                  <a:srgbClr val="000000"/>
                </a:solidFill>
              </a:rPr>
              <a:t>;</a:t>
            </a: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pc="-5" dirty="0">
                <a:solidFill>
                  <a:srgbClr val="0000CD"/>
                </a:solidFill>
              </a:rPr>
              <a:t>&lt;</a:t>
            </a:r>
            <a:r>
              <a:rPr spc="-5" dirty="0"/>
              <a:t>/style</a:t>
            </a:r>
            <a:r>
              <a:rPr spc="-5" dirty="0">
                <a:solidFill>
                  <a:srgbClr val="0000CD"/>
                </a:solidFill>
              </a:rPr>
              <a:t>&gt;</a:t>
            </a:r>
          </a:p>
          <a:p>
            <a:pPr marL="12700">
              <a:lnSpc>
                <a:spcPct val="100000"/>
              </a:lnSpc>
            </a:pPr>
            <a:r>
              <a:rPr spc="-5" dirty="0">
                <a:solidFill>
                  <a:srgbClr val="0000CD"/>
                </a:solidFill>
              </a:rPr>
              <a:t>&lt;</a:t>
            </a:r>
            <a:r>
              <a:rPr spc="-5" dirty="0"/>
              <a:t>/head</a:t>
            </a:r>
            <a:r>
              <a:rPr spc="-5" dirty="0">
                <a:solidFill>
                  <a:srgbClr val="0000CD"/>
                </a:solidFill>
              </a:rPr>
              <a:t>&gt;</a:t>
            </a:r>
          </a:p>
          <a:p>
            <a:pPr marL="12700">
              <a:lnSpc>
                <a:spcPct val="100000"/>
              </a:lnSpc>
            </a:pPr>
            <a:r>
              <a:rPr spc="-10" dirty="0">
                <a:solidFill>
                  <a:srgbClr val="0000CD"/>
                </a:solidFill>
              </a:rPr>
              <a:t>&lt;</a:t>
            </a:r>
            <a:r>
              <a:rPr spc="-10" dirty="0"/>
              <a:t>body</a:t>
            </a:r>
            <a:r>
              <a:rPr spc="-10" dirty="0">
                <a:solidFill>
                  <a:srgbClr val="0000CD"/>
                </a:solidFill>
              </a:rPr>
              <a:t>&gt;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pc="-10" dirty="0">
              <a:solidFill>
                <a:srgbClr val="0000CD"/>
              </a:solidFill>
            </a:endParaRPr>
          </a:p>
          <a:p>
            <a:pPr marL="12700">
              <a:lnSpc>
                <a:spcPct val="100000"/>
              </a:lnSpc>
            </a:pPr>
            <a:r>
              <a:rPr spc="-10" dirty="0">
                <a:solidFill>
                  <a:srgbClr val="0000CD"/>
                </a:solidFill>
              </a:rPr>
              <a:t>&lt;</a:t>
            </a:r>
            <a:r>
              <a:rPr spc="-10" dirty="0"/>
              <a:t>h1</a:t>
            </a:r>
            <a:r>
              <a:rPr spc="-10" dirty="0">
                <a:solidFill>
                  <a:srgbClr val="0000CD"/>
                </a:solidFill>
              </a:rPr>
              <a:t>&gt;</a:t>
            </a:r>
            <a:r>
              <a:rPr spc="-10" dirty="0">
                <a:solidFill>
                  <a:srgbClr val="000000"/>
                </a:solidFill>
              </a:rPr>
              <a:t>This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is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heading</a:t>
            </a:r>
            <a:r>
              <a:rPr spc="-5" dirty="0">
                <a:solidFill>
                  <a:srgbClr val="0000CD"/>
                </a:solidFill>
              </a:rPr>
              <a:t>&lt;</a:t>
            </a:r>
            <a:r>
              <a:rPr spc="-5" dirty="0"/>
              <a:t>/h1</a:t>
            </a:r>
            <a:r>
              <a:rPr spc="-5" dirty="0">
                <a:solidFill>
                  <a:srgbClr val="0000CD"/>
                </a:solidFill>
              </a:rPr>
              <a:t>&gt;</a:t>
            </a:r>
          </a:p>
          <a:p>
            <a:pPr marL="12700">
              <a:lnSpc>
                <a:spcPct val="100000"/>
              </a:lnSpc>
            </a:pPr>
            <a:r>
              <a:rPr spc="-10" dirty="0">
                <a:solidFill>
                  <a:srgbClr val="0000CD"/>
                </a:solidFill>
              </a:rPr>
              <a:t>&lt;</a:t>
            </a:r>
            <a:r>
              <a:rPr spc="-10" dirty="0"/>
              <a:t>p</a:t>
            </a:r>
            <a:r>
              <a:rPr spc="-10" dirty="0">
                <a:solidFill>
                  <a:srgbClr val="0000CD"/>
                </a:solidFill>
              </a:rPr>
              <a:t>&gt;</a:t>
            </a:r>
            <a:r>
              <a:rPr spc="-10" dirty="0">
                <a:solidFill>
                  <a:srgbClr val="000000"/>
                </a:solidFill>
              </a:rPr>
              <a:t>This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is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paragraph.</a:t>
            </a:r>
            <a:r>
              <a:rPr spc="-5" dirty="0">
                <a:solidFill>
                  <a:srgbClr val="0000CD"/>
                </a:solidFill>
              </a:rPr>
              <a:t>&lt;</a:t>
            </a:r>
            <a:r>
              <a:rPr spc="-5" dirty="0"/>
              <a:t>/p</a:t>
            </a:r>
            <a:r>
              <a:rPr spc="-5" dirty="0">
                <a:solidFill>
                  <a:srgbClr val="0000CD"/>
                </a:solidFill>
              </a:rPr>
              <a:t>&gt;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pc="-5" dirty="0">
              <a:solidFill>
                <a:srgbClr val="0000CD"/>
              </a:solidFill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>
                <a:solidFill>
                  <a:srgbClr val="0000CD"/>
                </a:solidFill>
              </a:rPr>
              <a:t>&lt;</a:t>
            </a:r>
            <a:r>
              <a:rPr spc="-5" dirty="0"/>
              <a:t>/body</a:t>
            </a:r>
            <a:r>
              <a:rPr spc="-5" dirty="0">
                <a:solidFill>
                  <a:srgbClr val="0000CD"/>
                </a:solidFill>
              </a:rPr>
              <a:t>&gt;</a:t>
            </a:r>
          </a:p>
          <a:p>
            <a:pPr marL="12700">
              <a:lnSpc>
                <a:spcPct val="100000"/>
              </a:lnSpc>
            </a:pPr>
            <a:r>
              <a:rPr spc="-5" dirty="0">
                <a:solidFill>
                  <a:srgbClr val="0000CD"/>
                </a:solidFill>
              </a:rPr>
              <a:t>&lt;</a:t>
            </a:r>
            <a:r>
              <a:rPr spc="-5" dirty="0"/>
              <a:t>/html</a:t>
            </a:r>
            <a:r>
              <a:rPr spc="-5" dirty="0">
                <a:solidFill>
                  <a:srgbClr val="0000CD"/>
                </a:solidFill>
              </a:rPr>
              <a:t>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8560" y="1201623"/>
            <a:ext cx="27686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00000"/>
                </a:solidFill>
                <a:latin typeface="Cambria"/>
                <a:cs typeface="Cambria"/>
              </a:rPr>
              <a:t>EXTERNAL</a:t>
            </a:r>
            <a:r>
              <a:rPr sz="3200" b="1" spc="-1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1" spc="-10" dirty="0">
                <a:solidFill>
                  <a:srgbClr val="000000"/>
                </a:solidFill>
                <a:latin typeface="Cambria"/>
                <a:cs typeface="Cambria"/>
              </a:rPr>
              <a:t>CSS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8560" y="2114766"/>
            <a:ext cx="10290810" cy="3565525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18770" indent="-306705" algn="just">
              <a:lnSpc>
                <a:spcPct val="100000"/>
              </a:lnSpc>
              <a:spcBef>
                <a:spcPts val="11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spc="-5" dirty="0">
                <a:latin typeface="Verdana"/>
                <a:cs typeface="Verdana"/>
              </a:rPr>
              <a:t>External .ccs </a:t>
            </a:r>
            <a:r>
              <a:rPr sz="1800" dirty="0">
                <a:latin typeface="Verdana"/>
                <a:cs typeface="Verdana"/>
              </a:rPr>
              <a:t>file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maintain.</a:t>
            </a:r>
            <a:endParaRPr sz="1800">
              <a:latin typeface="Verdana"/>
              <a:cs typeface="Verdana"/>
            </a:endParaRPr>
          </a:p>
          <a:p>
            <a:pPr marL="318770" marR="6350" indent="-306705" algn="just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spc="-5" dirty="0">
                <a:latin typeface="Verdana"/>
                <a:cs typeface="Verdana"/>
              </a:rPr>
              <a:t>When HTML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-10" dirty="0">
                <a:latin typeface="Verdana"/>
                <a:cs typeface="Verdana"/>
              </a:rPr>
              <a:t>CSS </a:t>
            </a:r>
            <a:r>
              <a:rPr sz="1800" spc="-5" dirty="0">
                <a:latin typeface="Verdana"/>
                <a:cs typeface="Verdana"/>
              </a:rPr>
              <a:t>codes </a:t>
            </a:r>
            <a:r>
              <a:rPr sz="1800" dirty="0">
                <a:latin typeface="Verdana"/>
                <a:cs typeface="Verdana"/>
              </a:rPr>
              <a:t>are </a:t>
            </a:r>
            <a:r>
              <a:rPr sz="1800" spc="5" dirty="0">
                <a:latin typeface="Verdana"/>
                <a:cs typeface="Verdana"/>
              </a:rPr>
              <a:t>in </a:t>
            </a:r>
            <a:r>
              <a:rPr sz="1800" spc="-10" dirty="0">
                <a:latin typeface="Verdana"/>
                <a:cs typeface="Verdana"/>
              </a:rPr>
              <a:t>separate </a:t>
            </a:r>
            <a:r>
              <a:rPr sz="1800" dirty="0">
                <a:latin typeface="Verdana"/>
                <a:cs typeface="Verdana"/>
              </a:rPr>
              <a:t>files,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files must </a:t>
            </a:r>
            <a:r>
              <a:rPr sz="1800" spc="-5" dirty="0">
                <a:latin typeface="Verdana"/>
                <a:cs typeface="Verdana"/>
              </a:rPr>
              <a:t>be linked. Otherwise,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47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HTML</a:t>
            </a:r>
            <a:r>
              <a:rPr sz="1800" spc="484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file</a:t>
            </a:r>
            <a:r>
              <a:rPr sz="1800" spc="4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won’t</a:t>
            </a:r>
            <a:r>
              <a:rPr sz="1800" spc="49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</a:t>
            </a:r>
            <a:r>
              <a:rPr sz="1800" spc="4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able</a:t>
            </a:r>
            <a:r>
              <a:rPr sz="1800" spc="46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48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locate</a:t>
            </a:r>
            <a:r>
              <a:rPr sz="1800" spc="47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484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CSS</a:t>
            </a:r>
            <a:r>
              <a:rPr sz="1800" spc="49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code,</a:t>
            </a:r>
            <a:r>
              <a:rPr sz="1800" spc="4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47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4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styling</a:t>
            </a:r>
            <a:r>
              <a:rPr sz="1800" spc="4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will</a:t>
            </a:r>
            <a:r>
              <a:rPr sz="1800" spc="4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not</a:t>
            </a:r>
            <a:r>
              <a:rPr sz="1800" spc="48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be </a:t>
            </a:r>
            <a:r>
              <a:rPr sz="1800" spc="-6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applied.</a:t>
            </a:r>
            <a:endParaRPr sz="1800">
              <a:latin typeface="Verdana"/>
              <a:cs typeface="Verdana"/>
            </a:endParaRPr>
          </a:p>
          <a:p>
            <a:pPr marL="318770" marR="5080" indent="-306705" algn="just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spc="-45" dirty="0">
                <a:latin typeface="Verdana"/>
                <a:cs typeface="Verdana"/>
              </a:rPr>
              <a:t>You </a:t>
            </a:r>
            <a:r>
              <a:rPr sz="1800" spc="-5" dirty="0">
                <a:latin typeface="Verdana"/>
                <a:cs typeface="Verdana"/>
              </a:rPr>
              <a:t>can </a:t>
            </a:r>
            <a:r>
              <a:rPr sz="1800" dirty="0">
                <a:latin typeface="Verdana"/>
                <a:cs typeface="Verdana"/>
              </a:rPr>
              <a:t>use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&lt;link&gt; </a:t>
            </a:r>
            <a:r>
              <a:rPr sz="1800" spc="-5" dirty="0">
                <a:latin typeface="Verdana"/>
                <a:cs typeface="Verdana"/>
              </a:rPr>
              <a:t>element to </a:t>
            </a:r>
            <a:r>
              <a:rPr sz="1800" dirty="0">
                <a:latin typeface="Verdana"/>
                <a:cs typeface="Verdana"/>
              </a:rPr>
              <a:t>link </a:t>
            </a:r>
            <a:r>
              <a:rPr sz="1800" spc="-5" dirty="0">
                <a:latin typeface="Verdana"/>
                <a:cs typeface="Verdana"/>
              </a:rPr>
              <a:t>HTML and </a:t>
            </a:r>
            <a:r>
              <a:rPr sz="1800" spc="-10" dirty="0">
                <a:latin typeface="Verdana"/>
                <a:cs typeface="Verdana"/>
              </a:rPr>
              <a:t>CSS </a:t>
            </a:r>
            <a:r>
              <a:rPr sz="1800" dirty="0">
                <a:latin typeface="Verdana"/>
                <a:cs typeface="Verdana"/>
              </a:rPr>
              <a:t>files </a:t>
            </a:r>
            <a:r>
              <a:rPr sz="1800" spc="-30" dirty="0">
                <a:latin typeface="Verdana"/>
                <a:cs typeface="Verdana"/>
              </a:rPr>
              <a:t>together.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&lt;link&gt;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element </a:t>
            </a:r>
            <a:r>
              <a:rPr sz="1800" dirty="0">
                <a:latin typeface="Verdana"/>
                <a:cs typeface="Verdana"/>
              </a:rPr>
              <a:t>must be </a:t>
            </a:r>
            <a:r>
              <a:rPr sz="1800" spc="-5" dirty="0">
                <a:latin typeface="Verdana"/>
                <a:cs typeface="Verdana"/>
              </a:rPr>
              <a:t>placed </a:t>
            </a:r>
            <a:r>
              <a:rPr sz="1800" dirty="0">
                <a:latin typeface="Verdana"/>
                <a:cs typeface="Verdana"/>
              </a:rPr>
              <a:t>within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head </a:t>
            </a:r>
            <a:r>
              <a:rPr sz="1800" spc="-5" dirty="0">
                <a:latin typeface="Verdana"/>
                <a:cs typeface="Verdana"/>
              </a:rPr>
              <a:t>of the HTML </a:t>
            </a:r>
            <a:r>
              <a:rPr sz="1800" dirty="0">
                <a:latin typeface="Verdana"/>
                <a:cs typeface="Verdana"/>
              </a:rPr>
              <a:t>file. </a:t>
            </a:r>
            <a:r>
              <a:rPr sz="1800" spc="-5" dirty="0">
                <a:latin typeface="Verdana"/>
                <a:cs typeface="Verdana"/>
              </a:rPr>
              <a:t>It </a:t>
            </a:r>
            <a:r>
              <a:rPr sz="1800" spc="5" dirty="0">
                <a:latin typeface="Verdana"/>
                <a:cs typeface="Verdana"/>
              </a:rPr>
              <a:t>is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self-closing tag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requires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following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attributes:</a:t>
            </a:r>
            <a:endParaRPr sz="1800">
              <a:latin typeface="Verdana"/>
              <a:cs typeface="Verdana"/>
            </a:endParaRPr>
          </a:p>
          <a:p>
            <a:pPr marL="641985" lvl="1" indent="-305435" algn="just">
              <a:lnSpc>
                <a:spcPct val="100000"/>
              </a:lnSpc>
              <a:spcBef>
                <a:spcPts val="980"/>
              </a:spcBef>
              <a:buClr>
                <a:srgbClr val="8BB649"/>
              </a:buClr>
              <a:buSzPct val="90625"/>
              <a:buFont typeface="Cambria"/>
              <a:buChar char="◾"/>
              <a:tabLst>
                <a:tab pos="642620" algn="l"/>
              </a:tabLst>
            </a:pPr>
            <a:r>
              <a:rPr sz="1600" i="1" spc="-5" dirty="0">
                <a:latin typeface="Verdana"/>
                <a:cs typeface="Verdana"/>
              </a:rPr>
              <a:t>href</a:t>
            </a:r>
            <a:r>
              <a:rPr sz="1600" i="1" spc="14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—</a:t>
            </a:r>
            <a:r>
              <a:rPr sz="1600" spc="15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like</a:t>
            </a:r>
            <a:r>
              <a:rPr sz="1600" spc="14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the</a:t>
            </a:r>
            <a:r>
              <a:rPr sz="1600" spc="15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anchor</a:t>
            </a:r>
            <a:r>
              <a:rPr sz="1600" spc="15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element,</a:t>
            </a:r>
            <a:r>
              <a:rPr sz="1600" spc="14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the</a:t>
            </a:r>
            <a:r>
              <a:rPr sz="1600" spc="14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value</a:t>
            </a:r>
            <a:r>
              <a:rPr sz="1600" spc="155" dirty="0">
                <a:latin typeface="Verdana"/>
                <a:cs typeface="Verdana"/>
              </a:rPr>
              <a:t> </a:t>
            </a:r>
            <a:r>
              <a:rPr sz="1600" spc="5" dirty="0">
                <a:latin typeface="Verdana"/>
                <a:cs typeface="Verdana"/>
              </a:rPr>
              <a:t>of</a:t>
            </a:r>
            <a:r>
              <a:rPr sz="1600" spc="15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this</a:t>
            </a:r>
            <a:r>
              <a:rPr sz="1600" spc="13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attribute</a:t>
            </a:r>
            <a:r>
              <a:rPr sz="1600" spc="15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must</a:t>
            </a:r>
            <a:r>
              <a:rPr sz="1600" spc="1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be</a:t>
            </a:r>
            <a:r>
              <a:rPr sz="1600" spc="14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the</a:t>
            </a:r>
            <a:r>
              <a:rPr sz="1600" spc="1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address,</a:t>
            </a:r>
            <a:r>
              <a:rPr sz="1600" spc="14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or</a:t>
            </a:r>
            <a:r>
              <a:rPr sz="1600" spc="1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path,</a:t>
            </a:r>
            <a:r>
              <a:rPr sz="1600" spc="1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to</a:t>
            </a:r>
            <a:endParaRPr sz="1600">
              <a:latin typeface="Verdana"/>
              <a:cs typeface="Verdana"/>
            </a:endParaRPr>
          </a:p>
          <a:p>
            <a:pPr marL="641985" algn="just">
              <a:lnSpc>
                <a:spcPct val="100000"/>
              </a:lnSpc>
            </a:pPr>
            <a:r>
              <a:rPr sz="1600" spc="-5" dirty="0">
                <a:latin typeface="Verdana"/>
                <a:cs typeface="Verdana"/>
              </a:rPr>
              <a:t>the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CSS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file.</a:t>
            </a:r>
            <a:endParaRPr sz="1600">
              <a:latin typeface="Verdana"/>
              <a:cs typeface="Verdana"/>
            </a:endParaRPr>
          </a:p>
          <a:p>
            <a:pPr marL="641985" marR="5080" lvl="1" indent="-304800">
              <a:lnSpc>
                <a:spcPct val="100000"/>
              </a:lnSpc>
              <a:spcBef>
                <a:spcPts val="985"/>
              </a:spcBef>
              <a:buClr>
                <a:srgbClr val="8BB649"/>
              </a:buClr>
              <a:buSzPct val="90625"/>
              <a:buFont typeface="Cambria"/>
              <a:buChar char="◾"/>
              <a:tabLst>
                <a:tab pos="641985" algn="l"/>
                <a:tab pos="642620" algn="l"/>
                <a:tab pos="1040130" algn="l"/>
                <a:tab pos="1376680" algn="l"/>
                <a:tab pos="1880870" algn="l"/>
                <a:tab pos="2894330" algn="l"/>
                <a:tab pos="3985895" algn="l"/>
                <a:tab pos="4449445" algn="l"/>
                <a:tab pos="5775325" algn="l"/>
                <a:tab pos="6773545" algn="l"/>
                <a:tab pos="7235825" algn="l"/>
                <a:tab pos="7931784" algn="l"/>
                <a:tab pos="8371205" algn="l"/>
                <a:tab pos="8881745" algn="l"/>
                <a:tab pos="9345295" algn="l"/>
                <a:tab pos="9898380" algn="l"/>
              </a:tabLst>
            </a:pPr>
            <a:r>
              <a:rPr sz="1600" i="1" spc="-5" dirty="0">
                <a:latin typeface="Verdana"/>
                <a:cs typeface="Verdana"/>
              </a:rPr>
              <a:t>rel	</a:t>
            </a:r>
            <a:r>
              <a:rPr sz="1600" spc="-5" dirty="0">
                <a:latin typeface="Verdana"/>
                <a:cs typeface="Verdana"/>
              </a:rPr>
              <a:t>—	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-5" dirty="0">
                <a:latin typeface="Verdana"/>
                <a:cs typeface="Verdana"/>
              </a:rPr>
              <a:t>h</a:t>
            </a:r>
            <a:r>
              <a:rPr sz="1600" dirty="0">
                <a:latin typeface="Verdana"/>
                <a:cs typeface="Verdana"/>
              </a:rPr>
              <a:t>i</a:t>
            </a:r>
            <a:r>
              <a:rPr sz="1600" spc="-5" dirty="0">
                <a:latin typeface="Verdana"/>
                <a:cs typeface="Verdana"/>
              </a:rPr>
              <a:t>s</a:t>
            </a:r>
            <a:r>
              <a:rPr sz="1600" dirty="0">
                <a:latin typeface="Verdana"/>
                <a:cs typeface="Verdana"/>
              </a:rPr>
              <a:t>	</a:t>
            </a:r>
            <a:r>
              <a:rPr sz="1600" spc="-5" dirty="0">
                <a:latin typeface="Verdana"/>
                <a:cs typeface="Verdana"/>
              </a:rPr>
              <a:t>att</a:t>
            </a:r>
            <a:r>
              <a:rPr sz="1600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ib</a:t>
            </a:r>
            <a:r>
              <a:rPr sz="1600" spc="-5" dirty="0">
                <a:latin typeface="Verdana"/>
                <a:cs typeface="Verdana"/>
              </a:rPr>
              <a:t>u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-5" dirty="0">
                <a:latin typeface="Verdana"/>
                <a:cs typeface="Verdana"/>
              </a:rPr>
              <a:t>e</a:t>
            </a:r>
            <a:r>
              <a:rPr sz="1600" dirty="0">
                <a:latin typeface="Verdana"/>
                <a:cs typeface="Verdana"/>
              </a:rPr>
              <a:t>	</a:t>
            </a:r>
            <a:r>
              <a:rPr sz="1600" spc="-10" dirty="0">
                <a:latin typeface="Verdana"/>
                <a:cs typeface="Verdana"/>
              </a:rPr>
              <a:t>d</a:t>
            </a:r>
            <a:r>
              <a:rPr sz="1600" dirty="0">
                <a:latin typeface="Verdana"/>
                <a:cs typeface="Verdana"/>
              </a:rPr>
              <a:t>es</a:t>
            </a:r>
            <a:r>
              <a:rPr sz="1600" spc="-5" dirty="0">
                <a:latin typeface="Verdana"/>
                <a:cs typeface="Verdana"/>
              </a:rPr>
              <a:t>c</a:t>
            </a:r>
            <a:r>
              <a:rPr sz="1600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i</a:t>
            </a:r>
            <a:r>
              <a:rPr sz="1600" dirty="0">
                <a:latin typeface="Verdana"/>
                <a:cs typeface="Verdana"/>
              </a:rPr>
              <a:t>b</a:t>
            </a:r>
            <a:r>
              <a:rPr sz="1600" spc="-5" dirty="0">
                <a:latin typeface="Verdana"/>
                <a:cs typeface="Verdana"/>
              </a:rPr>
              <a:t>es</a:t>
            </a:r>
            <a:r>
              <a:rPr sz="1600" dirty="0">
                <a:latin typeface="Verdana"/>
                <a:cs typeface="Verdana"/>
              </a:rPr>
              <a:t>	</a:t>
            </a:r>
            <a:r>
              <a:rPr sz="1600" spc="-5" dirty="0">
                <a:latin typeface="Verdana"/>
                <a:cs typeface="Verdana"/>
              </a:rPr>
              <a:t>the</a:t>
            </a:r>
            <a:r>
              <a:rPr sz="1600" dirty="0">
                <a:latin typeface="Verdana"/>
                <a:cs typeface="Verdana"/>
              </a:rPr>
              <a:t>	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5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la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5" dirty="0">
                <a:latin typeface="Verdana"/>
                <a:cs typeface="Verdana"/>
              </a:rPr>
              <a:t>i</a:t>
            </a:r>
            <a:r>
              <a:rPr sz="1600" spc="5" dirty="0">
                <a:latin typeface="Verdana"/>
                <a:cs typeface="Verdana"/>
              </a:rPr>
              <a:t>o</a:t>
            </a:r>
            <a:r>
              <a:rPr sz="1600" spc="-5" dirty="0">
                <a:latin typeface="Verdana"/>
                <a:cs typeface="Verdana"/>
              </a:rPr>
              <a:t>n</a:t>
            </a:r>
            <a:r>
              <a:rPr sz="1600" dirty="0">
                <a:latin typeface="Verdana"/>
                <a:cs typeface="Verdana"/>
              </a:rPr>
              <a:t>s</a:t>
            </a:r>
            <a:r>
              <a:rPr sz="1600" spc="-5" dirty="0">
                <a:latin typeface="Verdana"/>
                <a:cs typeface="Verdana"/>
              </a:rPr>
              <a:t>hip</a:t>
            </a:r>
            <a:r>
              <a:rPr sz="1600" dirty="0">
                <a:latin typeface="Verdana"/>
                <a:cs typeface="Verdana"/>
              </a:rPr>
              <a:t>	</a:t>
            </a:r>
            <a:r>
              <a:rPr sz="1600" spc="-10" dirty="0">
                <a:latin typeface="Verdana"/>
                <a:cs typeface="Verdana"/>
              </a:rPr>
              <a:t>bet</a:t>
            </a:r>
            <a:r>
              <a:rPr sz="1600" spc="5" dirty="0">
                <a:latin typeface="Verdana"/>
                <a:cs typeface="Verdana"/>
              </a:rPr>
              <a:t>w</a:t>
            </a:r>
            <a:r>
              <a:rPr sz="1600" spc="-5" dirty="0">
                <a:latin typeface="Verdana"/>
                <a:cs typeface="Verdana"/>
              </a:rPr>
              <a:t>een</a:t>
            </a:r>
            <a:r>
              <a:rPr sz="1600" dirty="0">
                <a:latin typeface="Verdana"/>
                <a:cs typeface="Verdana"/>
              </a:rPr>
              <a:t>	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-5" dirty="0">
                <a:latin typeface="Verdana"/>
                <a:cs typeface="Verdana"/>
              </a:rPr>
              <a:t>he</a:t>
            </a:r>
            <a:r>
              <a:rPr sz="1600" dirty="0">
                <a:latin typeface="Verdana"/>
                <a:cs typeface="Verdana"/>
              </a:rPr>
              <a:t>	</a:t>
            </a:r>
            <a:r>
              <a:rPr sz="1600" spc="-10" dirty="0">
                <a:latin typeface="Verdana"/>
                <a:cs typeface="Verdana"/>
              </a:rPr>
              <a:t>H</a:t>
            </a:r>
            <a:r>
              <a:rPr sz="1600" spc="5" dirty="0">
                <a:latin typeface="Verdana"/>
                <a:cs typeface="Verdana"/>
              </a:rPr>
              <a:t>T</a:t>
            </a:r>
            <a:r>
              <a:rPr sz="1600" spc="-5" dirty="0">
                <a:latin typeface="Verdana"/>
                <a:cs typeface="Verdana"/>
              </a:rPr>
              <a:t>ML</a:t>
            </a:r>
            <a:r>
              <a:rPr sz="1600" dirty="0">
                <a:latin typeface="Verdana"/>
                <a:cs typeface="Verdana"/>
              </a:rPr>
              <a:t>	</a:t>
            </a:r>
            <a:r>
              <a:rPr sz="1600" spc="-5" dirty="0">
                <a:latin typeface="Verdana"/>
                <a:cs typeface="Verdana"/>
              </a:rPr>
              <a:t>f</a:t>
            </a:r>
            <a:r>
              <a:rPr sz="1600" spc="5" dirty="0">
                <a:latin typeface="Verdana"/>
                <a:cs typeface="Verdana"/>
              </a:rPr>
              <a:t>i</a:t>
            </a:r>
            <a:r>
              <a:rPr sz="1600" spc="-5" dirty="0">
                <a:latin typeface="Verdana"/>
                <a:cs typeface="Verdana"/>
              </a:rPr>
              <a:t>le</a:t>
            </a:r>
            <a:r>
              <a:rPr sz="1600" dirty="0">
                <a:latin typeface="Verdana"/>
                <a:cs typeface="Verdana"/>
              </a:rPr>
              <a:t>	</a:t>
            </a:r>
            <a:r>
              <a:rPr sz="1600" spc="-5" dirty="0">
                <a:latin typeface="Verdana"/>
                <a:cs typeface="Verdana"/>
              </a:rPr>
              <a:t>and</a:t>
            </a:r>
            <a:r>
              <a:rPr sz="1600" dirty="0">
                <a:latin typeface="Verdana"/>
                <a:cs typeface="Verdana"/>
              </a:rPr>
              <a:t>	</a:t>
            </a:r>
            <a:r>
              <a:rPr sz="1600" spc="-5" dirty="0">
                <a:latin typeface="Verdana"/>
                <a:cs typeface="Verdana"/>
              </a:rPr>
              <a:t>the</a:t>
            </a:r>
            <a:r>
              <a:rPr sz="1600" dirty="0">
                <a:latin typeface="Verdana"/>
                <a:cs typeface="Verdana"/>
              </a:rPr>
              <a:t>	</a:t>
            </a:r>
            <a:r>
              <a:rPr sz="1600" spc="-10" dirty="0">
                <a:latin typeface="Verdana"/>
                <a:cs typeface="Verdana"/>
              </a:rPr>
              <a:t>CS</a:t>
            </a:r>
            <a:r>
              <a:rPr sz="1600" spc="-5" dirty="0">
                <a:latin typeface="Verdana"/>
                <a:cs typeface="Verdana"/>
              </a:rPr>
              <a:t>S</a:t>
            </a:r>
            <a:r>
              <a:rPr sz="1600" dirty="0">
                <a:latin typeface="Verdana"/>
                <a:cs typeface="Verdana"/>
              </a:rPr>
              <a:t>	</a:t>
            </a:r>
            <a:r>
              <a:rPr sz="1600" spc="-5" dirty="0">
                <a:latin typeface="Verdana"/>
                <a:cs typeface="Verdana"/>
              </a:rPr>
              <a:t>f</a:t>
            </a:r>
            <a:r>
              <a:rPr sz="1600" spc="5" dirty="0">
                <a:latin typeface="Verdana"/>
                <a:cs typeface="Verdana"/>
              </a:rPr>
              <a:t>i</a:t>
            </a:r>
            <a:r>
              <a:rPr sz="1600" spc="-10" dirty="0">
                <a:latin typeface="Verdana"/>
                <a:cs typeface="Verdana"/>
              </a:rPr>
              <a:t>l</a:t>
            </a:r>
            <a:r>
              <a:rPr sz="1600" spc="-5" dirty="0">
                <a:latin typeface="Verdana"/>
                <a:cs typeface="Verdana"/>
              </a:rPr>
              <a:t>e.  Because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you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are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linking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to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a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stylesheet,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the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value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should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be </a:t>
            </a:r>
            <a:r>
              <a:rPr sz="1600" spc="-10" dirty="0">
                <a:latin typeface="Verdana"/>
                <a:cs typeface="Verdana"/>
              </a:rPr>
              <a:t>set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to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stylesheet.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2802" y="5794959"/>
            <a:ext cx="56051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&lt;link</a:t>
            </a:r>
            <a:r>
              <a:rPr sz="280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href="style.css"</a:t>
            </a:r>
            <a:r>
              <a:rPr sz="2800" spc="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rel="stylesheet"&gt;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5" dirty="0">
                <a:solidFill>
                  <a:srgbClr val="FFFFFF"/>
                </a:solidFill>
              </a:rPr>
              <a:t>SELECTORS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604122"/>
            <a:ext cx="8489315" cy="266065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24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selector is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used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target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specific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HTML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element(s)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be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styled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by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the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declaration.</a:t>
            </a:r>
            <a:endParaRPr sz="18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1005"/>
              </a:spcBef>
              <a:buClr>
                <a:srgbClr val="8BB649"/>
              </a:buClr>
              <a:buSzPct val="90625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600" i="1" spc="-10" dirty="0">
                <a:solidFill>
                  <a:srgbClr val="0F162E"/>
                </a:solidFill>
                <a:latin typeface="Calibri"/>
                <a:cs typeface="Calibri"/>
              </a:rPr>
              <a:t>type</a:t>
            </a:r>
            <a:r>
              <a:rPr sz="1600" i="1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selector</a:t>
            </a:r>
            <a:endParaRPr sz="16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985"/>
              </a:spcBef>
              <a:buClr>
                <a:srgbClr val="8BB649"/>
              </a:buClr>
              <a:buSzPct val="90625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600" i="1" spc="-5" dirty="0">
                <a:solidFill>
                  <a:srgbClr val="0F162E"/>
                </a:solidFill>
                <a:latin typeface="Calibri"/>
                <a:cs typeface="Calibri"/>
              </a:rPr>
              <a:t>universal</a:t>
            </a:r>
            <a:r>
              <a:rPr sz="1600" i="1" spc="-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selector</a:t>
            </a:r>
            <a:endParaRPr sz="16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980"/>
              </a:spcBef>
              <a:buClr>
                <a:srgbClr val="8BB649"/>
              </a:buClr>
              <a:buSzPct val="90625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600" i="1" spc="-5" dirty="0">
                <a:solidFill>
                  <a:srgbClr val="0F162E"/>
                </a:solidFill>
                <a:latin typeface="Calibri"/>
                <a:cs typeface="Calibri"/>
              </a:rPr>
              <a:t>class</a:t>
            </a:r>
            <a:r>
              <a:rPr sz="1600" i="1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selector</a:t>
            </a:r>
            <a:endParaRPr sz="16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985"/>
              </a:spcBef>
              <a:buClr>
                <a:srgbClr val="8BB649"/>
              </a:buClr>
              <a:buSzPct val="90625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600" i="1" dirty="0">
                <a:solidFill>
                  <a:srgbClr val="0F162E"/>
                </a:solidFill>
                <a:latin typeface="Calibri"/>
                <a:cs typeface="Calibri"/>
              </a:rPr>
              <a:t>ID</a:t>
            </a:r>
            <a:r>
              <a:rPr sz="1600" i="1" spc="-4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selector</a:t>
            </a:r>
            <a:endParaRPr sz="16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990"/>
              </a:spcBef>
              <a:buClr>
                <a:srgbClr val="8BB649"/>
              </a:buClr>
              <a:buSzPct val="90625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600" i="1" spc="-15" dirty="0">
                <a:solidFill>
                  <a:srgbClr val="3C3C3C"/>
                </a:solidFill>
                <a:latin typeface="Calibri"/>
                <a:cs typeface="Calibri"/>
              </a:rPr>
              <a:t>Attribute</a:t>
            </a:r>
            <a:r>
              <a:rPr sz="1600" i="1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C3C3C"/>
                </a:solidFill>
                <a:latin typeface="Calibri"/>
                <a:cs typeface="Calibri"/>
              </a:rPr>
              <a:t>Selector</a:t>
            </a:r>
            <a:endParaRPr sz="16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980"/>
              </a:spcBef>
              <a:buClr>
                <a:srgbClr val="8BB649"/>
              </a:buClr>
              <a:buSzPct val="90625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600" i="1" spc="-5" dirty="0">
                <a:solidFill>
                  <a:srgbClr val="3C3C3C"/>
                </a:solidFill>
                <a:latin typeface="Calibri"/>
                <a:cs typeface="Calibri"/>
              </a:rPr>
              <a:t>Pseudo-class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TYPE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SELECTOR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835351"/>
            <a:ext cx="5737860" cy="1934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type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selector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matches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the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0F162E"/>
                </a:solidFill>
                <a:latin typeface="Calibri"/>
                <a:cs typeface="Calibri"/>
              </a:rPr>
              <a:t>type</a:t>
            </a:r>
            <a:r>
              <a:rPr sz="1800" i="1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of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element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in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HTML</a:t>
            </a:r>
            <a:r>
              <a:rPr sz="1800" spc="-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document.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type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selector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does not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include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 angle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brackets.</a:t>
            </a:r>
            <a:endParaRPr sz="1800">
              <a:latin typeface="Calibri"/>
              <a:cs typeface="Calibri"/>
            </a:endParaRPr>
          </a:p>
          <a:p>
            <a:pPr marL="318770" marR="508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Since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element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types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are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often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referred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by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their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opening </a:t>
            </a:r>
            <a:r>
              <a:rPr sz="1800" spc="-39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tag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name,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type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selector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sometimes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referred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as 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i="1" spc="-15" dirty="0">
                <a:solidFill>
                  <a:srgbClr val="0F162E"/>
                </a:solidFill>
                <a:latin typeface="Calibri"/>
                <a:cs typeface="Calibri"/>
              </a:rPr>
              <a:t>tag</a:t>
            </a:r>
            <a:r>
              <a:rPr sz="1800" i="1" spc="-5" dirty="0">
                <a:solidFill>
                  <a:srgbClr val="0F162E"/>
                </a:solidFill>
                <a:latin typeface="Calibri"/>
                <a:cs typeface="Calibri"/>
              </a:rPr>
              <a:t> name</a:t>
            </a:r>
            <a:r>
              <a:rPr sz="1800" i="1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or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0F162E"/>
                </a:solidFill>
                <a:latin typeface="Calibri"/>
                <a:cs typeface="Calibri"/>
              </a:rPr>
              <a:t>element</a:t>
            </a:r>
            <a:r>
              <a:rPr sz="1800" i="1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F162E"/>
                </a:solidFill>
                <a:latin typeface="Calibri"/>
                <a:cs typeface="Calibri"/>
              </a:rPr>
              <a:t>selector.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05673" y="3161157"/>
            <a:ext cx="150431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color: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green;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h1{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color: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maroon;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THE</a:t>
            </a:r>
            <a:r>
              <a:rPr sz="2800" spc="-4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UNIVERSAL</a:t>
            </a:r>
            <a:r>
              <a:rPr sz="2800" spc="-35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SELECTOR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332989"/>
            <a:ext cx="10642600" cy="311721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1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20" dirty="0">
                <a:solidFill>
                  <a:srgbClr val="0F162E"/>
                </a:solidFill>
                <a:latin typeface="Calibri"/>
                <a:cs typeface="Calibri"/>
              </a:rPr>
              <a:t>Well,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0F162E"/>
                </a:solidFill>
                <a:latin typeface="Calibri"/>
                <a:cs typeface="Calibri"/>
              </a:rPr>
              <a:t>universal</a:t>
            </a:r>
            <a:r>
              <a:rPr sz="1800" i="1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0F162E"/>
                </a:solidFill>
                <a:latin typeface="Calibri"/>
                <a:cs typeface="Calibri"/>
              </a:rPr>
              <a:t>selector</a:t>
            </a:r>
            <a:r>
              <a:rPr sz="1800" i="1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selects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all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elements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of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i="1" spc="-15" dirty="0">
                <a:solidFill>
                  <a:srgbClr val="0F162E"/>
                </a:solidFill>
                <a:latin typeface="Calibri"/>
                <a:cs typeface="Calibri"/>
              </a:rPr>
              <a:t>any</a:t>
            </a:r>
            <a:r>
              <a:rPr sz="1800" i="1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type.</a:t>
            </a:r>
            <a:endParaRPr sz="1800">
              <a:latin typeface="Calibri"/>
              <a:cs typeface="Calibri"/>
            </a:endParaRPr>
          </a:p>
          <a:p>
            <a:pPr marL="318770" marR="28575" indent="-30670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25" dirty="0">
                <a:solidFill>
                  <a:srgbClr val="0F162E"/>
                </a:solidFill>
                <a:latin typeface="Calibri"/>
                <a:cs typeface="Calibri"/>
              </a:rPr>
              <a:t>Targeting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all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the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elements on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page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has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F162E"/>
                </a:solidFill>
                <a:latin typeface="Calibri"/>
                <a:cs typeface="Calibri"/>
              </a:rPr>
              <a:t>few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specific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use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cases, such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as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resetting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default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browser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styling, </a:t>
            </a:r>
            <a:r>
              <a:rPr sz="1800" spc="-39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or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selecting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all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children</a:t>
            </a:r>
            <a:r>
              <a:rPr sz="1800" spc="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parent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element.</a:t>
            </a:r>
            <a:endParaRPr sz="1800">
              <a:latin typeface="Calibri"/>
              <a:cs typeface="Calibri"/>
            </a:endParaRPr>
          </a:p>
          <a:p>
            <a:pPr marL="318770" marR="5080" indent="-30670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universal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selector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uses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*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character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same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place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where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specified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type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selector in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ruleset,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like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so: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Calibri"/>
              <a:cs typeface="Calibri"/>
            </a:endParaRPr>
          </a:p>
          <a:p>
            <a:pPr marL="198247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*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087880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font-family: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Verdana;</a:t>
            </a:r>
            <a:endParaRPr sz="1800">
              <a:latin typeface="Calibri"/>
              <a:cs typeface="Calibri"/>
            </a:endParaRPr>
          </a:p>
          <a:p>
            <a:pPr marL="19824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5" dirty="0">
                <a:solidFill>
                  <a:srgbClr val="FFFFFF"/>
                </a:solidFill>
              </a:rPr>
              <a:t>CLASS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SELECTOR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135200"/>
            <a:ext cx="10821670" cy="3974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HTML</a:t>
            </a:r>
            <a:r>
              <a:rPr sz="18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elements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can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also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have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u="heavy" spc="-10" dirty="0">
                <a:solidFill>
                  <a:srgbClr val="0F162E"/>
                </a:solidFill>
                <a:uFill>
                  <a:solidFill>
                    <a:srgbClr val="0F162E"/>
                  </a:solidFill>
                </a:uFill>
                <a:latin typeface="Calibri"/>
                <a:cs typeface="Calibri"/>
              </a:rPr>
              <a:t>attributes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.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When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working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with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HTML</a:t>
            </a:r>
            <a:r>
              <a:rPr sz="1800" spc="3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CSS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</a:t>
            </a:r>
            <a:r>
              <a:rPr sz="1800" spc="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i="1" u="heavy" spc="-10" dirty="0">
                <a:solidFill>
                  <a:srgbClr val="0F162E"/>
                </a:solidFill>
                <a:uFill>
                  <a:solidFill>
                    <a:srgbClr val="0F162E"/>
                  </a:solidFill>
                </a:uFill>
                <a:latin typeface="Calibri"/>
                <a:cs typeface="Calibri"/>
              </a:rPr>
              <a:t>class</a:t>
            </a:r>
            <a:r>
              <a:rPr sz="1800" i="1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attribute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one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of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most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common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F162E"/>
                </a:solidFill>
                <a:latin typeface="Calibri"/>
                <a:cs typeface="Calibri"/>
              </a:rPr>
              <a:t>ways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to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select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an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element.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For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example,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consider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following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HTML:</a:t>
            </a:r>
            <a:endParaRPr sz="1800">
              <a:latin typeface="Calibri"/>
              <a:cs typeface="Calibri"/>
            </a:endParaRPr>
          </a:p>
          <a:p>
            <a:pPr marL="3501390">
              <a:lnSpc>
                <a:spcPct val="100000"/>
              </a:lnSpc>
              <a:spcBef>
                <a:spcPts val="1035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&lt;p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class='brand'&gt;Sole Shoe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Company&lt;/p&gt;</a:t>
            </a:r>
            <a:endParaRPr sz="1800">
              <a:latin typeface="Calibri"/>
              <a:cs typeface="Calibri"/>
            </a:endParaRPr>
          </a:p>
          <a:p>
            <a:pPr marL="318770" marR="508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paragraph</a:t>
            </a:r>
            <a:r>
              <a:rPr sz="1800" spc="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element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in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example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above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has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a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class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D0D0D"/>
                </a:solidFill>
                <a:latin typeface="Calibri"/>
                <a:cs typeface="Calibri"/>
              </a:rPr>
              <a:t>attribute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within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opening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tag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 the&lt;p&gt;</a:t>
            </a:r>
            <a:r>
              <a:rPr sz="1800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element.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The </a:t>
            </a:r>
            <a:r>
              <a:rPr sz="1800" spc="-39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class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D0D0D"/>
                </a:solidFill>
                <a:latin typeface="Calibri"/>
                <a:cs typeface="Calibri"/>
              </a:rPr>
              <a:t>attribute</a:t>
            </a:r>
            <a:r>
              <a:rPr sz="1800" spc="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set 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 'brand'.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80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select</a:t>
            </a:r>
            <a:r>
              <a:rPr sz="1800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this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element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using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CSS,</a:t>
            </a:r>
            <a:r>
              <a:rPr sz="1800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we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can</a:t>
            </a:r>
            <a:r>
              <a:rPr sz="1800" spc="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D0D0D"/>
                </a:solidFill>
                <a:latin typeface="Calibri"/>
                <a:cs typeface="Calibri"/>
              </a:rPr>
              <a:t>create</a:t>
            </a:r>
            <a:r>
              <a:rPr sz="1800" spc="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a ruleset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with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a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class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selector of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ct val="100000"/>
              </a:lnSpc>
            </a:pP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.brand.</a:t>
            </a:r>
            <a:endParaRPr sz="1800">
              <a:latin typeface="Calibri"/>
              <a:cs typeface="Calibri"/>
            </a:endParaRPr>
          </a:p>
          <a:p>
            <a:pPr marL="5073015">
              <a:lnSpc>
                <a:spcPct val="100000"/>
              </a:lnSpc>
              <a:spcBef>
                <a:spcPts val="1035"/>
              </a:spcBef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.brand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Calibri"/>
              <a:cs typeface="Calibri"/>
            </a:endParaRPr>
          </a:p>
          <a:p>
            <a:pPr marL="52069" algn="ctr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306070" marR="543560" indent="-306070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06070" algn="l"/>
                <a:tab pos="319405" algn="l"/>
              </a:tabLst>
            </a:pPr>
            <a:r>
              <a:rPr sz="1800" spc="-80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 select</a:t>
            </a:r>
            <a:r>
              <a:rPr sz="1800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an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HTML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element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by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its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class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using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CSS,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a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period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(.)</a:t>
            </a:r>
            <a:r>
              <a:rPr sz="1800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must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be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prepended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D0D0D"/>
                </a:solidFill>
                <a:latin typeface="Calibri"/>
                <a:cs typeface="Calibri"/>
              </a:rPr>
              <a:t>class’s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name.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In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R="3808095" algn="ctr">
              <a:lnSpc>
                <a:spcPct val="100000"/>
              </a:lnSpc>
            </a:pP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example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above,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class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brand,</a:t>
            </a:r>
            <a:r>
              <a:rPr sz="1800" spc="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so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CSS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selector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D0D0D"/>
                </a:solidFill>
                <a:latin typeface="Calibri"/>
                <a:cs typeface="Calibri"/>
              </a:rPr>
              <a:t>for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 it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D0D0D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.brand.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40" dirty="0">
                <a:solidFill>
                  <a:srgbClr val="FFFFFF"/>
                </a:solidFill>
              </a:rPr>
              <a:t>MULTIPLE</a:t>
            </a:r>
            <a:r>
              <a:rPr sz="2800" spc="-8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CLASSES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84708" y="2224756"/>
            <a:ext cx="10162540" cy="3973195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12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It’s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possible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add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more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than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class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name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HTML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element’s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class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attribute.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instance,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perhaps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there’s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heading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needs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green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bold.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could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write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two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CSS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ct val="100000"/>
              </a:lnSpc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rulesets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 like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so:</a:t>
            </a:r>
            <a:endParaRPr sz="1800">
              <a:latin typeface="Calibri"/>
              <a:cs typeface="Calibri"/>
            </a:endParaRPr>
          </a:p>
          <a:p>
            <a:pPr marL="117475" marR="8860155" indent="-105410">
              <a:lnSpc>
                <a:spcPct val="100000"/>
              </a:lnSpc>
              <a:spcBef>
                <a:spcPts val="1035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.green</a:t>
            </a:r>
            <a:r>
              <a:rPr sz="1800" spc="4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 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color:</a:t>
            </a:r>
            <a:r>
              <a:rPr sz="1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green;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.bold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font-weight: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bold;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Then,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you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could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include</a:t>
            </a:r>
            <a:r>
              <a:rPr sz="1800" spc="4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both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of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these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classes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on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one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HTML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element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F162E"/>
                </a:solidFill>
                <a:latin typeface="Calibri"/>
                <a:cs typeface="Calibri"/>
              </a:rPr>
              <a:t>like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this: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&lt;h1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class='green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bold'&gt;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...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&lt;/h1&gt;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ID</a:t>
            </a:r>
            <a:r>
              <a:rPr sz="2800" spc="-80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SELECTOR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155952"/>
            <a:ext cx="10816590" cy="3293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Oftentimes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it’s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important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select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single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CSS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give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its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own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unique</a:t>
            </a:r>
            <a:r>
              <a:rPr sz="18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style.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HTML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ct val="100000"/>
              </a:lnSpc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needs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be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styled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uniquely,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give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 ID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using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attribute.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&lt;h1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id='large-title'&gt;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...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&lt;/h1&gt;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In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contrast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class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which</a:t>
            </a:r>
            <a:r>
              <a:rPr sz="18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accepts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multiple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values,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and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used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broadly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throughout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HTML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document,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ct val="100000"/>
              </a:lnSpc>
            </a:pP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element’s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only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have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single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value,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only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used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once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per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page.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8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select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element’s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CSS,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prepend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name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number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sign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(#).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instance,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if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wanted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ct val="100000"/>
              </a:lnSpc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select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HTML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example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above,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would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look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libri"/>
                <a:cs typeface="Calibri"/>
              </a:rPr>
              <a:t>like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this: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#large-title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Calibri"/>
              <a:cs typeface="Calibri"/>
            </a:endParaRPr>
          </a:p>
          <a:p>
            <a:pPr marL="31877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25" dirty="0">
                <a:solidFill>
                  <a:srgbClr val="FFFFFF"/>
                </a:solidFill>
              </a:rPr>
              <a:t>ATTRIBUTE</a:t>
            </a:r>
            <a:r>
              <a:rPr sz="2800" spc="-5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SELECTOR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561335"/>
            <a:ext cx="10862310" cy="2888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8255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attribute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selector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used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target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HTML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already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contain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attributes.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same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type</a:t>
            </a:r>
            <a:r>
              <a:rPr sz="1800" spc="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5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targeted</a:t>
            </a:r>
            <a:r>
              <a:rPr sz="1800" spc="6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differently</a:t>
            </a:r>
            <a:r>
              <a:rPr sz="1800" spc="5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by</a:t>
            </a:r>
            <a:r>
              <a:rPr sz="1800" spc="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their</a:t>
            </a:r>
            <a:r>
              <a:rPr sz="1800" spc="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attribute</a:t>
            </a:r>
            <a:r>
              <a:rPr sz="1800" spc="5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or</a:t>
            </a:r>
            <a:r>
              <a:rPr sz="1800" spc="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attribute</a:t>
            </a:r>
            <a:r>
              <a:rPr sz="1800" spc="5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value.</a:t>
            </a:r>
            <a:r>
              <a:rPr sz="1800" spc="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This</a:t>
            </a:r>
            <a:r>
              <a:rPr sz="1800" spc="5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alleviates</a:t>
            </a:r>
            <a:r>
              <a:rPr sz="1800" spc="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need</a:t>
            </a:r>
            <a:r>
              <a:rPr sz="1800" spc="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add</a:t>
            </a:r>
            <a:r>
              <a:rPr sz="1800" spc="5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new</a:t>
            </a:r>
            <a:r>
              <a:rPr sz="1800" spc="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code,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like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class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attributes.</a:t>
            </a:r>
            <a:endParaRPr sz="1800">
              <a:latin typeface="Calibri"/>
              <a:cs typeface="Calibri"/>
            </a:endParaRPr>
          </a:p>
          <a:p>
            <a:pPr marL="12700" marR="4885690">
              <a:lnSpc>
                <a:spcPct val="147800"/>
              </a:lnSpc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Attributes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selected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similarly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types,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classes,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IDs. </a:t>
            </a:r>
            <a:r>
              <a:rPr sz="1800" spc="-39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[href]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69545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color: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magenta;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318770" marR="508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A3A3A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A3A3A"/>
                </a:solidFill>
                <a:latin typeface="Calibri"/>
                <a:cs typeface="Calibri"/>
              </a:rPr>
              <a:t>most</a:t>
            </a:r>
            <a:r>
              <a:rPr sz="1800" spc="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A3A3A"/>
                </a:solidFill>
                <a:latin typeface="Calibri"/>
                <a:cs typeface="Calibri"/>
              </a:rPr>
              <a:t>basic</a:t>
            </a:r>
            <a:r>
              <a:rPr sz="1800" spc="1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A3A3A"/>
                </a:solidFill>
                <a:latin typeface="Calibri"/>
                <a:cs typeface="Calibri"/>
              </a:rPr>
              <a:t>syntax</a:t>
            </a:r>
            <a:r>
              <a:rPr sz="1800" spc="-1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A3A3A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A3A3A"/>
                </a:solidFill>
                <a:latin typeface="Calibri"/>
                <a:cs typeface="Calibri"/>
              </a:rPr>
              <a:t>an </a:t>
            </a:r>
            <a:r>
              <a:rPr sz="1800" spc="-15" dirty="0">
                <a:solidFill>
                  <a:srgbClr val="3A3A3A"/>
                </a:solidFill>
                <a:latin typeface="Calibri"/>
                <a:cs typeface="Calibri"/>
              </a:rPr>
              <a:t>attribute</a:t>
            </a:r>
            <a:r>
              <a:rPr sz="1800" spc="2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A3A3A"/>
                </a:solidFill>
                <a:latin typeface="Calibri"/>
                <a:cs typeface="Calibri"/>
              </a:rPr>
              <a:t>surrounded</a:t>
            </a:r>
            <a:r>
              <a:rPr sz="1800" spc="2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A3A3A"/>
                </a:solidFill>
                <a:latin typeface="Calibri"/>
                <a:cs typeface="Calibri"/>
              </a:rPr>
              <a:t>by</a:t>
            </a:r>
            <a:r>
              <a:rPr sz="1800" spc="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A3A3A"/>
                </a:solidFill>
                <a:latin typeface="Calibri"/>
                <a:cs typeface="Calibri"/>
              </a:rPr>
              <a:t>square</a:t>
            </a:r>
            <a:r>
              <a:rPr sz="1800" spc="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A3A3A"/>
                </a:solidFill>
                <a:latin typeface="Calibri"/>
                <a:cs typeface="Calibri"/>
              </a:rPr>
              <a:t>brackets.</a:t>
            </a:r>
            <a:r>
              <a:rPr sz="1800" dirty="0">
                <a:solidFill>
                  <a:srgbClr val="3A3A3A"/>
                </a:solidFill>
                <a:latin typeface="Calibri"/>
                <a:cs typeface="Calibri"/>
              </a:rPr>
              <a:t> In the</a:t>
            </a:r>
            <a:r>
              <a:rPr sz="1800" spc="2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A3A3A"/>
                </a:solidFill>
                <a:latin typeface="Calibri"/>
                <a:cs typeface="Calibri"/>
              </a:rPr>
              <a:t>above</a:t>
            </a:r>
            <a:r>
              <a:rPr sz="1800" spc="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A3A3A"/>
                </a:solidFill>
                <a:latin typeface="Calibri"/>
                <a:cs typeface="Calibri"/>
              </a:rPr>
              <a:t>example:</a:t>
            </a:r>
            <a:r>
              <a:rPr sz="1800" spc="1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A3A3A"/>
                </a:solidFill>
                <a:latin typeface="Calibri"/>
                <a:cs typeface="Calibri"/>
              </a:rPr>
              <a:t>[href] </a:t>
            </a:r>
            <a:r>
              <a:rPr sz="1800" spc="-10" dirty="0">
                <a:solidFill>
                  <a:srgbClr val="3A3A3A"/>
                </a:solidFill>
                <a:latin typeface="Calibri"/>
                <a:cs typeface="Calibri"/>
              </a:rPr>
              <a:t>would</a:t>
            </a:r>
            <a:r>
              <a:rPr sz="1800" spc="1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A3A3A"/>
                </a:solidFill>
                <a:latin typeface="Calibri"/>
                <a:cs typeface="Calibri"/>
              </a:rPr>
              <a:t>target</a:t>
            </a:r>
            <a:r>
              <a:rPr sz="1800" spc="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A3A3A"/>
                </a:solidFill>
                <a:latin typeface="Calibri"/>
                <a:cs typeface="Calibri"/>
              </a:rPr>
              <a:t>all </a:t>
            </a:r>
            <a:r>
              <a:rPr sz="1800" spc="-39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A3A3A"/>
                </a:solidFill>
                <a:latin typeface="Calibri"/>
                <a:cs typeface="Calibri"/>
              </a:rPr>
              <a:t>elements</a:t>
            </a:r>
            <a:r>
              <a:rPr sz="180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A3A3A"/>
                </a:solidFill>
                <a:latin typeface="Calibri"/>
                <a:cs typeface="Calibri"/>
              </a:rPr>
              <a:t>with</a:t>
            </a:r>
            <a:r>
              <a:rPr sz="1800" spc="1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A3A3A"/>
                </a:solidFill>
                <a:latin typeface="Calibri"/>
                <a:cs typeface="Calibri"/>
              </a:rPr>
              <a:t>an</a:t>
            </a:r>
            <a:r>
              <a:rPr sz="1800" spc="1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A3A3A"/>
                </a:solidFill>
                <a:latin typeface="Calibri"/>
                <a:cs typeface="Calibri"/>
              </a:rPr>
              <a:t>href</a:t>
            </a:r>
            <a:r>
              <a:rPr sz="1800" spc="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A3A3A"/>
                </a:solidFill>
                <a:latin typeface="Calibri"/>
                <a:cs typeface="Calibri"/>
              </a:rPr>
              <a:t>attribute</a:t>
            </a:r>
            <a:r>
              <a:rPr sz="1800" spc="1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A3A3A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A3A3A"/>
                </a:solidFill>
                <a:latin typeface="Calibri"/>
                <a:cs typeface="Calibri"/>
              </a:rPr>
              <a:t>set</a:t>
            </a:r>
            <a:r>
              <a:rPr sz="1800" spc="-1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A3A3A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3A3A3A"/>
                </a:solidFill>
                <a:latin typeface="Calibri"/>
                <a:cs typeface="Calibri"/>
              </a:rPr>
              <a:t>color</a:t>
            </a:r>
            <a:r>
              <a:rPr sz="1800" spc="1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A3A3A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A3A3A"/>
                </a:solidFill>
                <a:latin typeface="Calibri"/>
                <a:cs typeface="Calibri"/>
              </a:rPr>
              <a:t> magenta.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25" dirty="0">
                <a:solidFill>
                  <a:srgbClr val="FFFFFF"/>
                </a:solidFill>
              </a:rPr>
              <a:t>ATTRIBUTE</a:t>
            </a:r>
            <a:r>
              <a:rPr sz="2800" spc="-5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SELECTOR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424760"/>
            <a:ext cx="6480810" cy="3648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8770" marR="5080" indent="-306705" algn="just">
              <a:lnSpc>
                <a:spcPct val="100000"/>
              </a:lnSpc>
              <a:spcBef>
                <a:spcPts val="105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it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get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more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granular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from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there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by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adding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type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and/or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attribute values.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One 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way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is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by using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type[attribute*=value].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In short,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this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code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selects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element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where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attribute</a:t>
            </a:r>
            <a:r>
              <a:rPr sz="1700" spc="36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contains</a:t>
            </a:r>
            <a:r>
              <a:rPr sz="1700" spc="35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any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instance</a:t>
            </a:r>
            <a:r>
              <a:rPr sz="1700" spc="-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specified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value.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Let’s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take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look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at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example.</a:t>
            </a:r>
            <a:endParaRPr sz="1700">
              <a:latin typeface="Calibri"/>
              <a:cs typeface="Calibri"/>
            </a:endParaRPr>
          </a:p>
          <a:p>
            <a:pPr marL="318770" marR="5080" indent="-306705" algn="just">
              <a:lnSpc>
                <a:spcPct val="100000"/>
              </a:lnSpc>
              <a:spcBef>
                <a:spcPts val="101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 HTML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code above renders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two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&lt;img&gt;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elements,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each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containing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700" spc="-37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src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attribute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value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equaling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link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image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file.</a:t>
            </a:r>
            <a:endParaRPr sz="1700">
              <a:latin typeface="Calibri"/>
              <a:cs typeface="Calibri"/>
            </a:endParaRPr>
          </a:p>
          <a:p>
            <a:pPr marL="318770" marR="5715" indent="-306705" algn="just">
              <a:lnSpc>
                <a:spcPct val="100000"/>
              </a:lnSpc>
              <a:spcBef>
                <a:spcPts val="101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Now 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take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 look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at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above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CSS code. The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attribute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selector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is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used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to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target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each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image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individually.</a:t>
            </a:r>
            <a:endParaRPr sz="1700">
              <a:latin typeface="Calibri"/>
              <a:cs typeface="Calibri"/>
            </a:endParaRPr>
          </a:p>
          <a:p>
            <a:pPr marL="318770" indent="-306705" algn="just">
              <a:lnSpc>
                <a:spcPct val="100000"/>
              </a:lnSpc>
              <a:spcBef>
                <a:spcPts val="101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first</a:t>
            </a:r>
            <a:r>
              <a:rPr sz="1700" spc="5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ruleset</a:t>
            </a:r>
            <a:r>
              <a:rPr sz="1700" spc="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looks</a:t>
            </a:r>
            <a:r>
              <a:rPr sz="1700" spc="5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1700" spc="5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700" spc="5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img</a:t>
            </a:r>
            <a:r>
              <a:rPr sz="1700" spc="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r>
              <a:rPr sz="1700" spc="6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700" spc="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700" spc="5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attribute</a:t>
            </a:r>
            <a:r>
              <a:rPr sz="1700" spc="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src</a:t>
            </a:r>
            <a:r>
              <a:rPr sz="1700" spc="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endParaRPr sz="1700">
              <a:latin typeface="Calibri"/>
              <a:cs typeface="Calibri"/>
            </a:endParaRPr>
          </a:p>
          <a:p>
            <a:pPr marL="318770" algn="just">
              <a:lnSpc>
                <a:spcPct val="100000"/>
              </a:lnSpc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contains</a:t>
            </a:r>
            <a:r>
              <a:rPr sz="1700" spc="-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string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'winter',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sets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height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50px.</a:t>
            </a:r>
            <a:endParaRPr sz="1700">
              <a:latin typeface="Calibri"/>
              <a:cs typeface="Calibri"/>
            </a:endParaRPr>
          </a:p>
          <a:p>
            <a:pPr marL="318770" marR="5080" indent="-306705" algn="just">
              <a:lnSpc>
                <a:spcPct val="100000"/>
              </a:lnSpc>
              <a:spcBef>
                <a:spcPts val="101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 second ruleset looks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for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an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img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element with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an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attribute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src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that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contains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string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'summer',</a:t>
            </a:r>
            <a:r>
              <a:rPr sz="1700" spc="-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sets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height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100px.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46340" y="2542794"/>
            <a:ext cx="44786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&lt;img</a:t>
            </a:r>
            <a:r>
              <a:rPr sz="18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src='/images/seasons/cold/winter.jpg'&gt;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&lt;img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src='/images/seasons/warm/summer.jpg'&gt;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66633" y="3786632"/>
            <a:ext cx="206692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 marR="187960" indent="-5206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Img </a:t>
            </a:r>
            <a:r>
              <a:rPr sz="1800" spc="-10" dirty="0">
                <a:solidFill>
                  <a:srgbClr val="00AF50"/>
                </a:solidFill>
                <a:latin typeface="Calibri"/>
                <a:cs typeface="Calibri"/>
              </a:rPr>
              <a:t>[src*='winter']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 </a:t>
            </a:r>
            <a:r>
              <a:rPr sz="1800" spc="-3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height: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50px;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Img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[src*='summer’]</a:t>
            </a:r>
            <a:r>
              <a:rPr sz="18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height: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100px;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</a:rPr>
              <a:t>PSEUDO-CLASS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62762" y="1891411"/>
            <a:ext cx="10873740" cy="302450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18770" marR="5080" indent="-306705">
              <a:lnSpc>
                <a:spcPts val="1839"/>
              </a:lnSpc>
              <a:spcBef>
                <a:spcPts val="33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700" spc="-5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7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may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have</a:t>
            </a:r>
            <a:r>
              <a:rPr sz="17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observed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how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appearance</a:t>
            </a:r>
            <a:r>
              <a:rPr sz="17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certain</a:t>
            </a:r>
            <a:r>
              <a:rPr sz="17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elements</a:t>
            </a:r>
            <a:r>
              <a:rPr sz="17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change,</a:t>
            </a:r>
            <a:r>
              <a:rPr sz="17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or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7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different</a:t>
            </a:r>
            <a:r>
              <a:rPr sz="17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state,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after</a:t>
            </a:r>
            <a:r>
              <a:rPr sz="17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certain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user </a:t>
            </a:r>
            <a:r>
              <a:rPr sz="1700" spc="-36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interactions.</a:t>
            </a:r>
            <a:r>
              <a:rPr sz="1700" spc="-5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instance:</a:t>
            </a:r>
            <a:endParaRPr sz="17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77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When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click</a:t>
            </a:r>
            <a:r>
              <a:rPr sz="17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an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&lt;input&gt;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element,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blue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border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700" spc="-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added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showing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it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focus.</a:t>
            </a:r>
            <a:endParaRPr sz="17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81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When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click</a:t>
            </a:r>
            <a:r>
              <a:rPr sz="17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blue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&lt;a&gt;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link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visit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another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page,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but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when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return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link’s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text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purple.</a:t>
            </a:r>
            <a:endParaRPr sz="1700">
              <a:latin typeface="Calibri"/>
              <a:cs typeface="Calibri"/>
            </a:endParaRPr>
          </a:p>
          <a:p>
            <a:pPr marL="318770" marR="6350" indent="-306705">
              <a:lnSpc>
                <a:spcPts val="1839"/>
              </a:lnSpc>
              <a:spcBef>
                <a:spcPts val="103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When</a:t>
            </a:r>
            <a:r>
              <a:rPr sz="1700" spc="1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you’re</a:t>
            </a:r>
            <a:r>
              <a:rPr sz="1700" spc="1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filling</a:t>
            </a:r>
            <a:r>
              <a:rPr sz="1700" spc="1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out</a:t>
            </a:r>
            <a:r>
              <a:rPr sz="1700" spc="1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700" spc="1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form</a:t>
            </a:r>
            <a:r>
              <a:rPr sz="1700" spc="1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700" spc="1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114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submit</a:t>
            </a:r>
            <a:r>
              <a:rPr sz="1700" spc="1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button</a:t>
            </a:r>
            <a:r>
              <a:rPr sz="1700" spc="1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700" spc="1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grayed</a:t>
            </a:r>
            <a:r>
              <a:rPr sz="1700" spc="1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out</a:t>
            </a:r>
            <a:r>
              <a:rPr sz="1700" spc="1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700" spc="114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disabled.</a:t>
            </a:r>
            <a:r>
              <a:rPr sz="1700" spc="1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But</a:t>
            </a:r>
            <a:r>
              <a:rPr sz="1700" spc="1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when</a:t>
            </a:r>
            <a:r>
              <a:rPr sz="1700" spc="1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all</a:t>
            </a:r>
            <a:r>
              <a:rPr sz="1700" spc="1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1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114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fields</a:t>
            </a:r>
            <a:r>
              <a:rPr sz="1700" spc="114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have</a:t>
            </a:r>
            <a:r>
              <a:rPr sz="1700" spc="1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been </a:t>
            </a:r>
            <a:r>
              <a:rPr sz="1700" spc="-37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filled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out,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button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has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color showing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it’s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active.</a:t>
            </a:r>
            <a:endParaRPr sz="1700">
              <a:latin typeface="Calibri"/>
              <a:cs typeface="Calibri"/>
            </a:endParaRPr>
          </a:p>
          <a:p>
            <a:pPr marL="318770" marR="5080" indent="-306705" algn="just">
              <a:lnSpc>
                <a:spcPct val="90100"/>
              </a:lnSpc>
              <a:spcBef>
                <a:spcPts val="975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These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are all examples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pseudo-class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selectors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in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action!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In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fact, :focus, :visited,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:disabled,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and :active are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all pseudo-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classes.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Factors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such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as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user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interaction,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site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navigation, and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position in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document tree can all give elements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different</a:t>
            </a:r>
            <a:r>
              <a:rPr sz="1700" spc="-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state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with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pseudo-class.</a:t>
            </a:r>
            <a:endParaRPr sz="1700">
              <a:latin typeface="Calibri"/>
              <a:cs typeface="Calibri"/>
            </a:endParaRPr>
          </a:p>
          <a:p>
            <a:pPr marL="318770" indent="-306705" algn="just">
              <a:lnSpc>
                <a:spcPct val="100000"/>
              </a:lnSpc>
              <a:spcBef>
                <a:spcPts val="805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pseudo-class can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attached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any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selector.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It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always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written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as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colon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: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followed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by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a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name.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For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example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p:hover.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7514" y="5713577"/>
            <a:ext cx="23406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p:hover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background-color: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lime;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SPECIFICITY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092909"/>
            <a:ext cx="10791825" cy="1529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508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Specificity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the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order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by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which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browser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decides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which</a:t>
            </a:r>
            <a:r>
              <a:rPr sz="18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CSS styles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will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be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displayed.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best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practice</a:t>
            </a:r>
            <a:r>
              <a:rPr sz="18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in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CSS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is 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style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elements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while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using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lowest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degree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specificity</a:t>
            </a:r>
            <a:r>
              <a:rPr sz="18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so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that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if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an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element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needs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a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new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style,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it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easy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 </a:t>
            </a:r>
            <a:r>
              <a:rPr sz="1800" spc="-39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override.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IDs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are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the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most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specific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selector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in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CSS,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followed</a:t>
            </a:r>
            <a:r>
              <a:rPr sz="1800" spc="3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by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classes,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and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F162E"/>
                </a:solidFill>
                <a:latin typeface="Calibri"/>
                <a:cs typeface="Calibri"/>
              </a:rPr>
              <a:t>finally,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type.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For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example,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consider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ct val="100000"/>
              </a:lnSpc>
            </a:pP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following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HTML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and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CSS: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40" dirty="0">
                <a:solidFill>
                  <a:srgbClr val="FFFFFF"/>
                </a:solidFill>
              </a:rPr>
              <a:t>MULTIPLE</a:t>
            </a:r>
            <a:r>
              <a:rPr sz="2800" spc="-75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SELECTORS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229103"/>
            <a:ext cx="10316210" cy="3318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h1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 dirty="0">
              <a:latin typeface="Calibri"/>
              <a:cs typeface="Calibri"/>
            </a:endParaRPr>
          </a:p>
          <a:p>
            <a:pPr marL="117475">
              <a:lnSpc>
                <a:spcPts val="1945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font-family: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Georgia;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 dirty="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.menu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 dirty="0">
              <a:latin typeface="Calibri"/>
              <a:cs typeface="Calibri"/>
            </a:endParaRPr>
          </a:p>
          <a:p>
            <a:pPr marL="117475">
              <a:lnSpc>
                <a:spcPts val="1945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font-family: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Georgia;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 dirty="0">
              <a:latin typeface="Calibri"/>
              <a:cs typeface="Calibri"/>
            </a:endParaRPr>
          </a:p>
          <a:p>
            <a:pPr marL="318770" indent="-306705">
              <a:lnSpc>
                <a:spcPts val="2055"/>
              </a:lnSpc>
              <a:spcBef>
                <a:spcPts val="81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Instead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writing</a:t>
            </a:r>
            <a:r>
              <a:rPr sz="1800" spc="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font-family: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Georgia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twice</a:t>
            </a:r>
            <a:r>
              <a:rPr sz="1800" spc="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two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selectors,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separate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selectors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by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comma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endParaRPr sz="1800" dirty="0">
              <a:latin typeface="Calibri"/>
              <a:cs typeface="Calibri"/>
            </a:endParaRPr>
          </a:p>
          <a:p>
            <a:pPr marL="318770">
              <a:lnSpc>
                <a:spcPts val="2055"/>
              </a:lnSpc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apply the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same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style to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both,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like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this: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  <a:spcBef>
                <a:spcPts val="815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h1</a:t>
            </a:r>
            <a:r>
              <a:rPr sz="1800" spc="-5" dirty="0" smtClean="0">
                <a:solidFill>
                  <a:srgbClr val="FF0000"/>
                </a:solidFill>
                <a:latin typeface="Calibri"/>
                <a:cs typeface="Calibri"/>
              </a:rPr>
              <a:t>,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sz="1800" spc="-5" dirty="0" smtClean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menu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 dirty="0">
              <a:latin typeface="Calibri"/>
              <a:cs typeface="Calibri"/>
            </a:endParaRPr>
          </a:p>
          <a:p>
            <a:pPr marL="117475">
              <a:lnSpc>
                <a:spcPts val="1945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font-family: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Georgia;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5" dirty="0">
                <a:solidFill>
                  <a:srgbClr val="FFFFFF"/>
                </a:solidFill>
              </a:rPr>
              <a:t>FONT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90" dirty="0">
                <a:solidFill>
                  <a:srgbClr val="FFFFFF"/>
                </a:solidFill>
              </a:rPr>
              <a:t>FAMILY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085847"/>
            <a:ext cx="10828655" cy="424116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18770" marR="5080" indent="-306705">
              <a:lnSpc>
                <a:spcPts val="1939"/>
              </a:lnSpc>
              <a:spcBef>
                <a:spcPts val="34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If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you’ve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ever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used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word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processing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software,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like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Microsoft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3C3C3C"/>
                </a:solidFill>
                <a:latin typeface="Calibri"/>
                <a:cs typeface="Calibri"/>
              </a:rPr>
              <a:t>Word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or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Google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Docs,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chances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are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probably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also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used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feature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allowed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change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font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were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typing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in.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Font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libri"/>
                <a:cs typeface="Calibri"/>
              </a:rPr>
              <a:t>refers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technical</a:t>
            </a:r>
            <a:r>
              <a:rPr sz="18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term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typeface,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or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font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libri"/>
                <a:cs typeface="Calibri"/>
              </a:rPr>
              <a:t>family.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8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8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change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typeface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text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your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web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page,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use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font-family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libri"/>
                <a:cs typeface="Calibri"/>
              </a:rPr>
              <a:t>property.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  <a:spcBef>
                <a:spcPts val="815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h1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ts val="1945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font-family: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Garamond;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81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When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setting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typefaces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on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web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page,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F162E"/>
                </a:solidFill>
                <a:latin typeface="Calibri"/>
                <a:cs typeface="Calibri"/>
              </a:rPr>
              <a:t>keep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following</a:t>
            </a:r>
            <a:r>
              <a:rPr sz="1800" spc="3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points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in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mind:</a:t>
            </a:r>
            <a:endParaRPr sz="18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815"/>
              </a:spcBef>
              <a:buClr>
                <a:srgbClr val="8BB649"/>
              </a:buClr>
              <a:buSzPct val="90625"/>
              <a:buFont typeface="Arial MT"/>
              <a:buChar char="•"/>
              <a:tabLst>
                <a:tab pos="641985" algn="l"/>
                <a:tab pos="642620" algn="l"/>
              </a:tabLst>
            </a:pP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6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F162E"/>
                </a:solidFill>
                <a:latin typeface="Calibri"/>
                <a:cs typeface="Calibri"/>
              </a:rPr>
              <a:t>font</a:t>
            </a:r>
            <a:r>
              <a:rPr sz="16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specified</a:t>
            </a:r>
            <a:r>
              <a:rPr sz="16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must</a:t>
            </a:r>
            <a:r>
              <a:rPr sz="16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be</a:t>
            </a:r>
            <a:r>
              <a:rPr sz="16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installed</a:t>
            </a:r>
            <a:r>
              <a:rPr sz="1600" spc="-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on</a:t>
            </a:r>
            <a:r>
              <a:rPr sz="16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6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0F162E"/>
                </a:solidFill>
                <a:latin typeface="Calibri"/>
                <a:cs typeface="Calibri"/>
              </a:rPr>
              <a:t>user’s</a:t>
            </a:r>
            <a:r>
              <a:rPr sz="16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computer</a:t>
            </a:r>
            <a:r>
              <a:rPr sz="16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or</a:t>
            </a:r>
            <a:r>
              <a:rPr sz="16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downloaded</a:t>
            </a:r>
            <a:r>
              <a:rPr sz="16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with</a:t>
            </a:r>
            <a:r>
              <a:rPr sz="16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6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site.</a:t>
            </a:r>
            <a:endParaRPr sz="16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795"/>
              </a:spcBef>
              <a:buClr>
                <a:srgbClr val="8BB649"/>
              </a:buClr>
              <a:buSzPct val="90625"/>
              <a:buFont typeface="Arial MT"/>
              <a:buChar char="•"/>
              <a:tabLst>
                <a:tab pos="641985" algn="l"/>
                <a:tab pos="642620" algn="l"/>
              </a:tabLst>
            </a:pPr>
            <a:r>
              <a:rPr sz="1600" u="heavy" spc="-25" dirty="0">
                <a:solidFill>
                  <a:srgbClr val="828282"/>
                </a:solidFill>
                <a:uFill>
                  <a:solidFill>
                    <a:srgbClr val="828282"/>
                  </a:solidFill>
                </a:uFill>
                <a:latin typeface="Calibri"/>
                <a:cs typeface="Calibri"/>
                <a:hlinkClick r:id="rId2"/>
              </a:rPr>
              <a:t>Web</a:t>
            </a:r>
            <a:r>
              <a:rPr sz="1600" u="heavy" spc="25" dirty="0">
                <a:solidFill>
                  <a:srgbClr val="828282"/>
                </a:solidFill>
                <a:uFill>
                  <a:solidFill>
                    <a:srgbClr val="828282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600" u="heavy" spc="-15" dirty="0">
                <a:solidFill>
                  <a:srgbClr val="828282"/>
                </a:solidFill>
                <a:uFill>
                  <a:solidFill>
                    <a:srgbClr val="828282"/>
                  </a:solidFill>
                </a:uFill>
                <a:latin typeface="Calibri"/>
                <a:cs typeface="Calibri"/>
                <a:hlinkClick r:id="rId2"/>
              </a:rPr>
              <a:t>safe</a:t>
            </a:r>
            <a:r>
              <a:rPr sz="1600" u="heavy" spc="5" dirty="0">
                <a:solidFill>
                  <a:srgbClr val="828282"/>
                </a:solidFill>
                <a:uFill>
                  <a:solidFill>
                    <a:srgbClr val="828282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600" u="heavy" spc="-15" dirty="0">
                <a:solidFill>
                  <a:srgbClr val="828282"/>
                </a:solidFill>
                <a:uFill>
                  <a:solidFill>
                    <a:srgbClr val="828282"/>
                  </a:solidFill>
                </a:uFill>
                <a:latin typeface="Calibri"/>
                <a:cs typeface="Calibri"/>
                <a:hlinkClick r:id="rId2"/>
              </a:rPr>
              <a:t>fonts</a:t>
            </a:r>
            <a:r>
              <a:rPr sz="1600" spc="5" dirty="0">
                <a:solidFill>
                  <a:srgbClr val="828282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1600" spc="-15" dirty="0">
                <a:solidFill>
                  <a:srgbClr val="0F162E"/>
                </a:solidFill>
                <a:latin typeface="Calibri"/>
                <a:cs typeface="Calibri"/>
              </a:rPr>
              <a:t>are</a:t>
            </a:r>
            <a:r>
              <a:rPr sz="16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a</a:t>
            </a:r>
            <a:r>
              <a:rPr sz="16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group</a:t>
            </a:r>
            <a:r>
              <a:rPr sz="16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of</a:t>
            </a:r>
            <a:r>
              <a:rPr sz="16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0F162E"/>
                </a:solidFill>
                <a:latin typeface="Calibri"/>
                <a:cs typeface="Calibri"/>
              </a:rPr>
              <a:t>fonts</a:t>
            </a:r>
            <a:r>
              <a:rPr sz="16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supported</a:t>
            </a:r>
            <a:r>
              <a:rPr sz="16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across</a:t>
            </a:r>
            <a:r>
              <a:rPr sz="16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most</a:t>
            </a:r>
            <a:r>
              <a:rPr sz="16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F162E"/>
                </a:solidFill>
                <a:latin typeface="Calibri"/>
                <a:cs typeface="Calibri"/>
              </a:rPr>
              <a:t>browsers</a:t>
            </a:r>
            <a:r>
              <a:rPr sz="1600" spc="4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and </a:t>
            </a:r>
            <a:r>
              <a:rPr sz="1600" spc="-15" dirty="0">
                <a:solidFill>
                  <a:srgbClr val="0F162E"/>
                </a:solidFill>
                <a:latin typeface="Calibri"/>
                <a:cs typeface="Calibri"/>
              </a:rPr>
              <a:t>operating</a:t>
            </a:r>
            <a:r>
              <a:rPr sz="16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0F162E"/>
                </a:solidFill>
                <a:latin typeface="Calibri"/>
                <a:cs typeface="Calibri"/>
              </a:rPr>
              <a:t>systems.</a:t>
            </a:r>
            <a:endParaRPr sz="1600">
              <a:latin typeface="Calibri"/>
              <a:cs typeface="Calibri"/>
            </a:endParaRPr>
          </a:p>
          <a:p>
            <a:pPr marL="641985" lvl="1" indent="-305435">
              <a:lnSpc>
                <a:spcPts val="1825"/>
              </a:lnSpc>
              <a:spcBef>
                <a:spcPts val="790"/>
              </a:spcBef>
              <a:buClr>
                <a:srgbClr val="8BB649"/>
              </a:buClr>
              <a:buSzPct val="90625"/>
              <a:buFont typeface="Arial MT"/>
              <a:buChar char="•"/>
              <a:tabLst>
                <a:tab pos="641985" algn="l"/>
                <a:tab pos="642620" algn="l"/>
              </a:tabLst>
            </a:pP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Unless</a:t>
            </a:r>
            <a:r>
              <a:rPr sz="16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0F162E"/>
                </a:solidFill>
                <a:latin typeface="Calibri"/>
                <a:cs typeface="Calibri"/>
              </a:rPr>
              <a:t>you</a:t>
            </a:r>
            <a:r>
              <a:rPr sz="1600" spc="3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0F162E"/>
                </a:solidFill>
                <a:latin typeface="Calibri"/>
                <a:cs typeface="Calibri"/>
              </a:rPr>
              <a:t>are</a:t>
            </a:r>
            <a:r>
              <a:rPr sz="16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using</a:t>
            </a:r>
            <a:r>
              <a:rPr sz="16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web</a:t>
            </a:r>
            <a:r>
              <a:rPr sz="16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0F162E"/>
                </a:solidFill>
                <a:latin typeface="Calibri"/>
                <a:cs typeface="Calibri"/>
              </a:rPr>
              <a:t>safe</a:t>
            </a:r>
            <a:r>
              <a:rPr sz="16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0F162E"/>
                </a:solidFill>
                <a:latin typeface="Calibri"/>
                <a:cs typeface="Calibri"/>
              </a:rPr>
              <a:t>fonts,</a:t>
            </a:r>
            <a:r>
              <a:rPr sz="16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6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F162E"/>
                </a:solidFill>
                <a:latin typeface="Calibri"/>
                <a:cs typeface="Calibri"/>
              </a:rPr>
              <a:t>font</a:t>
            </a:r>
            <a:r>
              <a:rPr sz="16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0F162E"/>
                </a:solidFill>
                <a:latin typeface="Calibri"/>
                <a:cs typeface="Calibri"/>
              </a:rPr>
              <a:t>you</a:t>
            </a:r>
            <a:r>
              <a:rPr sz="1600" spc="3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choose</a:t>
            </a:r>
            <a:r>
              <a:rPr sz="16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0F162E"/>
                </a:solidFill>
                <a:latin typeface="Calibri"/>
                <a:cs typeface="Calibri"/>
              </a:rPr>
              <a:t>may</a:t>
            </a:r>
            <a:r>
              <a:rPr sz="16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not</a:t>
            </a:r>
            <a:r>
              <a:rPr sz="16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appear</a:t>
            </a:r>
            <a:r>
              <a:rPr sz="16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6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same</a:t>
            </a:r>
            <a:r>
              <a:rPr sz="16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between</a:t>
            </a:r>
            <a:r>
              <a:rPr sz="1600" spc="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F162E"/>
                </a:solidFill>
                <a:latin typeface="Calibri"/>
                <a:cs typeface="Calibri"/>
              </a:rPr>
              <a:t>all</a:t>
            </a:r>
            <a:r>
              <a:rPr sz="16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F162E"/>
                </a:solidFill>
                <a:latin typeface="Calibri"/>
                <a:cs typeface="Calibri"/>
              </a:rPr>
              <a:t>browsers</a:t>
            </a:r>
            <a:r>
              <a:rPr sz="1600" spc="5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and</a:t>
            </a:r>
            <a:r>
              <a:rPr sz="16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0F162E"/>
                </a:solidFill>
                <a:latin typeface="Calibri"/>
                <a:cs typeface="Calibri"/>
              </a:rPr>
              <a:t>operating</a:t>
            </a:r>
            <a:endParaRPr sz="1600">
              <a:latin typeface="Calibri"/>
              <a:cs typeface="Calibri"/>
            </a:endParaRPr>
          </a:p>
          <a:p>
            <a:pPr marL="641985">
              <a:lnSpc>
                <a:spcPts val="1825"/>
              </a:lnSpc>
            </a:pPr>
            <a:r>
              <a:rPr sz="1600" spc="-15" dirty="0">
                <a:solidFill>
                  <a:srgbClr val="0F162E"/>
                </a:solidFill>
                <a:latin typeface="Calibri"/>
                <a:cs typeface="Calibri"/>
              </a:rPr>
              <a:t>systems.</a:t>
            </a:r>
            <a:endParaRPr sz="1600">
              <a:latin typeface="Calibri"/>
              <a:cs typeface="Calibri"/>
            </a:endParaRPr>
          </a:p>
          <a:p>
            <a:pPr marL="641985" lvl="1" indent="-305435">
              <a:lnSpc>
                <a:spcPts val="1825"/>
              </a:lnSpc>
              <a:spcBef>
                <a:spcPts val="795"/>
              </a:spcBef>
              <a:buClr>
                <a:srgbClr val="8BB649"/>
              </a:buClr>
              <a:buSzPct val="90625"/>
              <a:buFont typeface="Arial MT"/>
              <a:buChar char="•"/>
              <a:tabLst>
                <a:tab pos="641985" algn="l"/>
                <a:tab pos="642620" algn="l"/>
              </a:tabLst>
            </a:pP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When</a:t>
            </a:r>
            <a:r>
              <a:rPr sz="16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6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name of</a:t>
            </a:r>
            <a:r>
              <a:rPr sz="16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a</a:t>
            </a:r>
            <a:r>
              <a:rPr sz="16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typeface</a:t>
            </a:r>
            <a:r>
              <a:rPr sz="16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consists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of</a:t>
            </a:r>
            <a:r>
              <a:rPr sz="16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0F162E"/>
                </a:solidFill>
                <a:latin typeface="Calibri"/>
                <a:cs typeface="Calibri"/>
              </a:rPr>
              <a:t>more</a:t>
            </a:r>
            <a:r>
              <a:rPr sz="1600" spc="4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than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 one</a:t>
            </a:r>
            <a:r>
              <a:rPr sz="16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0F162E"/>
                </a:solidFill>
                <a:latin typeface="Calibri"/>
                <a:cs typeface="Calibri"/>
              </a:rPr>
              <a:t>word,</a:t>
            </a:r>
            <a:r>
              <a:rPr sz="1600" spc="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0F162E"/>
                </a:solidFill>
                <a:latin typeface="Calibri"/>
                <a:cs typeface="Calibri"/>
              </a:rPr>
              <a:t>it’s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 a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 best</a:t>
            </a:r>
            <a:r>
              <a:rPr sz="16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practice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6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enclose</a:t>
            </a:r>
            <a:r>
              <a:rPr sz="16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6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F162E"/>
                </a:solidFill>
                <a:latin typeface="Calibri"/>
                <a:cs typeface="Calibri"/>
              </a:rPr>
              <a:t>typeface’s</a:t>
            </a:r>
            <a:r>
              <a:rPr sz="16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F162E"/>
                </a:solidFill>
                <a:latin typeface="Calibri"/>
                <a:cs typeface="Calibri"/>
              </a:rPr>
              <a:t>name in</a:t>
            </a:r>
            <a:r>
              <a:rPr sz="16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quotes,</a:t>
            </a:r>
            <a:endParaRPr sz="1600">
              <a:latin typeface="Calibri"/>
              <a:cs typeface="Calibri"/>
            </a:endParaRPr>
          </a:p>
          <a:p>
            <a:pPr marL="641985">
              <a:lnSpc>
                <a:spcPts val="1825"/>
              </a:lnSpc>
            </a:pPr>
            <a:r>
              <a:rPr sz="1600" spc="-20" dirty="0">
                <a:solidFill>
                  <a:srgbClr val="0F162E"/>
                </a:solidFill>
                <a:latin typeface="Calibri"/>
                <a:cs typeface="Calibri"/>
              </a:rPr>
              <a:t>like</a:t>
            </a:r>
            <a:r>
              <a:rPr sz="1600" spc="-5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F162E"/>
                </a:solidFill>
                <a:latin typeface="Calibri"/>
                <a:cs typeface="Calibri"/>
              </a:rPr>
              <a:t>so: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5" dirty="0">
                <a:solidFill>
                  <a:srgbClr val="FFFFFF"/>
                </a:solidFill>
              </a:rPr>
              <a:t>FONT</a:t>
            </a:r>
            <a:r>
              <a:rPr sz="2800" spc="-8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SIZE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906610"/>
            <a:ext cx="10178415" cy="2066289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1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8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change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size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text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your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web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page,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use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font-size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libri"/>
                <a:cs typeface="Calibri"/>
              </a:rPr>
              <a:t>property.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font-size: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18px;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318770" marR="5080" indent="-30670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In 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example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above,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font-size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all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paragraphs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was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18px.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px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means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pixels,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which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libri"/>
                <a:cs typeface="Calibri"/>
              </a:rPr>
              <a:t>way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measure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font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size.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5" dirty="0">
                <a:solidFill>
                  <a:srgbClr val="FFFFFF"/>
                </a:solidFill>
              </a:rPr>
              <a:t>FONT</a:t>
            </a:r>
            <a:r>
              <a:rPr sz="2800" spc="-7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WEIGHT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841447"/>
            <a:ext cx="7438390" cy="2327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CSS,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font-weight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property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controls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how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bold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thin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text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appears.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8BB649"/>
              </a:buClr>
              <a:buFont typeface="Cambria"/>
              <a:buChar char="◾"/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8BB649"/>
              </a:buClr>
              <a:buFont typeface="Cambria"/>
              <a:buChar char="◾"/>
            </a:pP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  <a:spcBef>
                <a:spcPts val="1030"/>
              </a:spcBef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font-weight: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bold;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example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above,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all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paragraphs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web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page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would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appear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bolded.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5" dirty="0">
                <a:solidFill>
                  <a:srgbClr val="FFFFFF"/>
                </a:solidFill>
              </a:rPr>
              <a:t>FONT</a:t>
            </a:r>
            <a:r>
              <a:rPr sz="2800" spc="-9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STYLE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4926329"/>
            <a:ext cx="106730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508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italic</a:t>
            </a:r>
            <a:r>
              <a:rPr sz="20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20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causes</a:t>
            </a:r>
            <a:r>
              <a:rPr sz="20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C3C3C"/>
                </a:solidFill>
                <a:latin typeface="Calibri"/>
                <a:cs typeface="Calibri"/>
              </a:rPr>
              <a:t>text</a:t>
            </a:r>
            <a:r>
              <a:rPr sz="20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appear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20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italics.</a:t>
            </a:r>
            <a:r>
              <a:rPr sz="2000" spc="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font-style</a:t>
            </a:r>
            <a:r>
              <a:rPr sz="20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property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also</a:t>
            </a:r>
            <a:r>
              <a:rPr sz="20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has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20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normal</a:t>
            </a:r>
            <a:r>
              <a:rPr sz="20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which </a:t>
            </a:r>
            <a:r>
              <a:rPr sz="2000" spc="-434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is the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 default.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6485" y="2985896"/>
            <a:ext cx="16230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h3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font-style: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italic;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TEXT</a:t>
            </a:r>
            <a:r>
              <a:rPr sz="2800" spc="-40" dirty="0">
                <a:solidFill>
                  <a:srgbClr val="FFFFFF"/>
                </a:solidFill>
              </a:rPr>
              <a:t> </a:t>
            </a:r>
            <a:r>
              <a:rPr sz="2800" spc="-20" dirty="0">
                <a:solidFill>
                  <a:srgbClr val="FFFFFF"/>
                </a:solidFill>
              </a:rPr>
              <a:t>TRANSFORMATION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769451"/>
            <a:ext cx="10816590" cy="234061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1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0" dirty="0">
                <a:solidFill>
                  <a:srgbClr val="3C3C3C"/>
                </a:solidFill>
                <a:latin typeface="Calibri"/>
                <a:cs typeface="Calibri"/>
              </a:rPr>
              <a:t>Text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also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styled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appear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either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all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uppercase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or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lowercase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text-transform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libri"/>
                <a:cs typeface="Calibri"/>
              </a:rPr>
              <a:t>property.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h1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text-transform: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uppercase;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318770" marR="508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code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example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above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formats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all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&lt;h1&gt;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elements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to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appear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uppercase,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regardless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case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used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for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heading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within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HTML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code.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Alternatively,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lowercase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could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used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format text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all 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lowercase.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TEXT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-60" dirty="0">
                <a:solidFill>
                  <a:srgbClr val="FFFFFF"/>
                </a:solidFill>
              </a:rPr>
              <a:t>LAYOUT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603703"/>
            <a:ext cx="7531734" cy="327914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18770" marR="6350" indent="-306705" algn="just">
              <a:lnSpc>
                <a:spcPct val="90000"/>
              </a:lnSpc>
              <a:spcBef>
                <a:spcPts val="31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b="1" spc="-15" dirty="0">
                <a:solidFill>
                  <a:srgbClr val="0F162E"/>
                </a:solidFill>
                <a:latin typeface="Calibri"/>
                <a:cs typeface="Calibri"/>
              </a:rPr>
              <a:t>Letter</a:t>
            </a:r>
            <a:r>
              <a:rPr sz="1800" b="1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0F162E"/>
                </a:solidFill>
                <a:latin typeface="Calibri"/>
                <a:cs typeface="Calibri"/>
              </a:rPr>
              <a:t>Spacing:</a:t>
            </a:r>
            <a:r>
              <a:rPr sz="1800" b="1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letter-spacing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property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is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used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set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the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horizontal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spacing between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 individual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characters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in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an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element.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It’s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not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common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to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set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 spacing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between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letters,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but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it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can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sometimes help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readability of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certain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fonts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or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styles.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letter-spacing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property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F162E"/>
                </a:solidFill>
                <a:latin typeface="Calibri"/>
                <a:cs typeface="Calibri"/>
              </a:rPr>
              <a:t>takes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length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values</a:t>
            </a:r>
            <a:r>
              <a:rPr sz="1800" spc="39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in </a:t>
            </a:r>
            <a:r>
              <a:rPr sz="1800" spc="-39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units,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such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2px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or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0.5em.</a:t>
            </a:r>
            <a:endParaRPr sz="1800">
              <a:latin typeface="Calibri"/>
              <a:cs typeface="Calibri"/>
            </a:endParaRPr>
          </a:p>
          <a:p>
            <a:pPr marL="318770" marR="6985" indent="-306705" algn="just">
              <a:lnSpc>
                <a:spcPts val="1939"/>
              </a:lnSpc>
              <a:spcBef>
                <a:spcPts val="107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b="1" spc="-25" dirty="0">
                <a:solidFill>
                  <a:srgbClr val="0F162E"/>
                </a:solidFill>
                <a:latin typeface="Calibri"/>
                <a:cs typeface="Calibri"/>
              </a:rPr>
              <a:t>Word </a:t>
            </a:r>
            <a:r>
              <a:rPr sz="1800" b="1" spc="-20" dirty="0">
                <a:solidFill>
                  <a:srgbClr val="0F162E"/>
                </a:solidFill>
                <a:latin typeface="Calibri"/>
                <a:cs typeface="Calibri"/>
              </a:rPr>
              <a:t>Spacing:</a:t>
            </a:r>
            <a:r>
              <a:rPr sz="1800" spc="-20" dirty="0">
                <a:solidFill>
                  <a:srgbClr val="0F162E"/>
                </a:solidFill>
                <a:latin typeface="Calibri"/>
                <a:cs typeface="Calibri"/>
              </a:rPr>
              <a:t>You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can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set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space between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words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with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word-spacing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F162E"/>
                </a:solidFill>
                <a:latin typeface="Calibri"/>
                <a:cs typeface="Calibri"/>
              </a:rPr>
              <a:t>property.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It’s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also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not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common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to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increase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spacing between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words,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but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it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may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help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enhance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readability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bolded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or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enlarged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text.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word- </a:t>
            </a:r>
            <a:r>
              <a:rPr sz="1800" spc="-39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spacing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property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also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F162E"/>
                </a:solidFill>
                <a:latin typeface="Calibri"/>
                <a:cs typeface="Calibri"/>
              </a:rPr>
              <a:t>takes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length values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in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units,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such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3px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or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0.2em.</a:t>
            </a:r>
            <a:endParaRPr sz="1800">
              <a:latin typeface="Calibri"/>
              <a:cs typeface="Calibri"/>
            </a:endParaRPr>
          </a:p>
          <a:p>
            <a:pPr marL="318770" marR="5080" indent="-306705" algn="just">
              <a:lnSpc>
                <a:spcPts val="1950"/>
              </a:lnSpc>
              <a:spcBef>
                <a:spcPts val="104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b="1" spc="-5" dirty="0">
                <a:solidFill>
                  <a:srgbClr val="0F162E"/>
                </a:solidFill>
                <a:latin typeface="Calibri"/>
                <a:cs typeface="Calibri"/>
              </a:rPr>
              <a:t>Line Height: </a:t>
            </a:r>
            <a:r>
              <a:rPr sz="1800" spc="-35" dirty="0">
                <a:solidFill>
                  <a:srgbClr val="0F162E"/>
                </a:solidFill>
                <a:latin typeface="Calibri"/>
                <a:cs typeface="Calibri"/>
              </a:rPr>
              <a:t>We</a:t>
            </a:r>
            <a:r>
              <a:rPr sz="1800" spc="-3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can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use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line-height property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set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how</a:t>
            </a:r>
            <a:r>
              <a:rPr sz="1800" spc="38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tall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we</a:t>
            </a:r>
            <a:r>
              <a:rPr sz="1800" spc="38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want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each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line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containing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our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text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be.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Line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height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values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can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be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unitless </a:t>
            </a:r>
            <a:r>
              <a:rPr sz="1800" spc="-39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F162E"/>
                </a:solidFill>
                <a:latin typeface="Calibri"/>
                <a:cs typeface="Calibri"/>
              </a:rPr>
              <a:t>number,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such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1.2, or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length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value,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such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12px,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5%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or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2em.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7389" y="2022728"/>
            <a:ext cx="19088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letter-spacing: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2px;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27389" y="3598926"/>
            <a:ext cx="21367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h1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word-spacing: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0.3em;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27389" y="5175250"/>
            <a:ext cx="15957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line-height: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1.4;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TEXT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ALIGN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321179"/>
            <a:ext cx="10873740" cy="387032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18770" marR="7620" indent="-306705">
              <a:lnSpc>
                <a:spcPts val="1839"/>
              </a:lnSpc>
              <a:spcBef>
                <a:spcPts val="33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No</a:t>
            </a:r>
            <a:r>
              <a:rPr sz="1700" spc="1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matter</a:t>
            </a:r>
            <a:r>
              <a:rPr sz="1700" spc="1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how</a:t>
            </a:r>
            <a:r>
              <a:rPr sz="1700" spc="10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much</a:t>
            </a:r>
            <a:r>
              <a:rPr sz="1700" spc="114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styling</a:t>
            </a:r>
            <a:r>
              <a:rPr sz="1700" spc="1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700" spc="114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applied</a:t>
            </a:r>
            <a:r>
              <a:rPr sz="1700" spc="114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700" spc="1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text</a:t>
            </a:r>
            <a:r>
              <a:rPr sz="1700" spc="114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(typeface,</a:t>
            </a:r>
            <a:r>
              <a:rPr sz="1700" spc="114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size,</a:t>
            </a:r>
            <a:r>
              <a:rPr sz="1700" spc="1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weight,</a:t>
            </a:r>
            <a:r>
              <a:rPr sz="1700" spc="1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etc.),</a:t>
            </a:r>
            <a:r>
              <a:rPr sz="1700" spc="10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1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text</a:t>
            </a:r>
            <a:r>
              <a:rPr sz="1700" spc="114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always</a:t>
            </a:r>
            <a:r>
              <a:rPr sz="1700" spc="114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appears</a:t>
            </a:r>
            <a:r>
              <a:rPr sz="1700" spc="10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700" spc="114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1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left</a:t>
            </a:r>
            <a:r>
              <a:rPr sz="1700" spc="114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side</a:t>
            </a:r>
            <a:r>
              <a:rPr sz="1700" spc="1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of </a:t>
            </a:r>
            <a:r>
              <a:rPr sz="1700" spc="-37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container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which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it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resides.</a:t>
            </a:r>
            <a:endParaRPr sz="1700">
              <a:latin typeface="Calibri"/>
              <a:cs typeface="Calibri"/>
            </a:endParaRPr>
          </a:p>
          <a:p>
            <a:pPr marL="318770" marR="5080" indent="-306705">
              <a:lnSpc>
                <a:spcPts val="1839"/>
              </a:lnSpc>
              <a:spcBef>
                <a:spcPts val="1005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700" spc="-8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700" spc="-5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align</a:t>
            </a:r>
            <a:r>
              <a:rPr sz="1700" spc="2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text</a:t>
            </a:r>
            <a:r>
              <a:rPr sz="1700" spc="2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we</a:t>
            </a:r>
            <a:r>
              <a:rPr sz="1700" spc="2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700" spc="2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use</a:t>
            </a:r>
            <a:r>
              <a:rPr sz="1700" spc="2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2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text-align</a:t>
            </a:r>
            <a:r>
              <a:rPr sz="1700" spc="2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property.</a:t>
            </a:r>
            <a:r>
              <a:rPr sz="1700" spc="2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2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text-align</a:t>
            </a:r>
            <a:r>
              <a:rPr sz="1700" spc="2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property</a:t>
            </a:r>
            <a:r>
              <a:rPr sz="1700" spc="2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will</a:t>
            </a:r>
            <a:r>
              <a:rPr sz="1700" spc="2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align</a:t>
            </a:r>
            <a:r>
              <a:rPr sz="1700" spc="2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text</a:t>
            </a:r>
            <a:r>
              <a:rPr sz="1700" spc="2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700" spc="2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2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r>
              <a:rPr sz="1700" spc="2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700" spc="2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holds</a:t>
            </a:r>
            <a:r>
              <a:rPr sz="1700" spc="2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it, </a:t>
            </a:r>
            <a:r>
              <a:rPr sz="1700" spc="-37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otherwise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known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as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its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parent.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700" dirty="0">
                <a:solidFill>
                  <a:srgbClr val="FF0000"/>
                </a:solidFill>
                <a:latin typeface="Calibri"/>
                <a:cs typeface="Calibri"/>
              </a:rPr>
              <a:t>h1</a:t>
            </a:r>
            <a:r>
              <a:rPr sz="17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700">
              <a:latin typeface="Calibri"/>
              <a:cs typeface="Calibri"/>
            </a:endParaRPr>
          </a:p>
          <a:p>
            <a:pPr marL="111125">
              <a:lnSpc>
                <a:spcPct val="100000"/>
              </a:lnSpc>
              <a:spcBef>
                <a:spcPts val="805"/>
              </a:spcBef>
            </a:pPr>
            <a:r>
              <a:rPr sz="1700" spc="-5" dirty="0">
                <a:solidFill>
                  <a:srgbClr val="FF0000"/>
                </a:solidFill>
                <a:latin typeface="Calibri"/>
                <a:cs typeface="Calibri"/>
              </a:rPr>
              <a:t>text-align:</a:t>
            </a:r>
            <a:r>
              <a:rPr sz="17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0000"/>
                </a:solidFill>
                <a:latin typeface="Calibri"/>
                <a:cs typeface="Calibri"/>
              </a:rPr>
              <a:t>right;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7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700">
              <a:latin typeface="Calibri"/>
              <a:cs typeface="Calibri"/>
            </a:endParaRPr>
          </a:p>
          <a:p>
            <a:pPr marL="306070" marR="3442335" indent="-306070" algn="r">
              <a:lnSpc>
                <a:spcPct val="100000"/>
              </a:lnSpc>
              <a:spcBef>
                <a:spcPts val="805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06070" algn="l"/>
                <a:tab pos="319405" algn="l"/>
              </a:tabLst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 text-align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property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set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one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following commonly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used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values:</a:t>
            </a:r>
            <a:endParaRPr sz="1700">
              <a:latin typeface="Calibri"/>
              <a:cs typeface="Calibri"/>
            </a:endParaRPr>
          </a:p>
          <a:p>
            <a:pPr marL="304165" marR="3463925" lvl="1" indent="-304165" algn="r">
              <a:lnSpc>
                <a:spcPct val="100000"/>
              </a:lnSpc>
              <a:spcBef>
                <a:spcPts val="785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04165" algn="l"/>
                <a:tab pos="305435" algn="l"/>
              </a:tabLst>
            </a:pP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left</a:t>
            </a:r>
            <a:r>
              <a:rPr sz="15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—</a:t>
            </a:r>
            <a:r>
              <a:rPr sz="15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aligns</a:t>
            </a:r>
            <a:r>
              <a:rPr sz="15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text</a:t>
            </a:r>
            <a:r>
              <a:rPr sz="15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 left</a:t>
            </a:r>
            <a:r>
              <a:rPr sz="15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side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its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 parent</a:t>
            </a:r>
            <a:r>
              <a:rPr sz="15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element,</a:t>
            </a:r>
            <a:r>
              <a:rPr sz="15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which</a:t>
            </a:r>
            <a:r>
              <a:rPr sz="15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this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case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is the </a:t>
            </a:r>
            <a:r>
              <a:rPr sz="1500" spc="-30" dirty="0">
                <a:solidFill>
                  <a:srgbClr val="3C3C3C"/>
                </a:solidFill>
                <a:latin typeface="Calibri"/>
                <a:cs typeface="Calibri"/>
              </a:rPr>
              <a:t>browser.</a:t>
            </a:r>
            <a:endParaRPr sz="15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785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center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—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 centers 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text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inside</a:t>
            </a:r>
            <a:r>
              <a:rPr sz="15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its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parent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element.</a:t>
            </a:r>
            <a:endParaRPr sz="15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7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right</a:t>
            </a:r>
            <a:r>
              <a:rPr sz="15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—</a:t>
            </a:r>
            <a:r>
              <a:rPr sz="15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aligns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text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 right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side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5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its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parent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element.</a:t>
            </a:r>
            <a:endParaRPr sz="15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7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justify—</a:t>
            </a:r>
            <a:r>
              <a:rPr sz="15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spaces</a:t>
            </a:r>
            <a:r>
              <a:rPr sz="15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out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 text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 in</a:t>
            </a:r>
            <a:r>
              <a:rPr sz="15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order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to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align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 the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right</a:t>
            </a:r>
            <a:r>
              <a:rPr sz="15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left</a:t>
            </a:r>
            <a:r>
              <a:rPr sz="15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side</a:t>
            </a:r>
            <a:r>
              <a:rPr sz="15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parent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element.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40" dirty="0">
                <a:solidFill>
                  <a:srgbClr val="FFFFFF"/>
                </a:solidFill>
              </a:rPr>
              <a:t>OPACITY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900883"/>
            <a:ext cx="10836910" cy="220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Opacity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measure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of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how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transparent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an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element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is.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It’s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measured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from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0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1,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with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1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representing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100%,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or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fully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visible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and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opaque,</a:t>
            </a:r>
            <a:r>
              <a:rPr sz="18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and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0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representing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0%,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or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fully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invisible.</a:t>
            </a:r>
            <a:endParaRPr sz="1800">
              <a:latin typeface="Calibri"/>
              <a:cs typeface="Calibri"/>
            </a:endParaRPr>
          </a:p>
          <a:p>
            <a:pPr marL="318770" marR="60960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Opacity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can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be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used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make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elements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fade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into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others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for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nice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overlay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effect.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80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adjust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the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opacity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an </a:t>
            </a:r>
            <a:r>
              <a:rPr sz="1800" spc="-39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element,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syntax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looks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F162E"/>
                </a:solidFill>
                <a:latin typeface="Calibri"/>
                <a:cs typeface="Calibri"/>
              </a:rPr>
              <a:t>like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this: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.overlay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opacity: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0.5;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35" dirty="0">
                <a:solidFill>
                  <a:srgbClr val="FFFFFF"/>
                </a:solidFill>
              </a:rPr>
              <a:t>BACKGROUND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IMAGE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310460"/>
            <a:ext cx="10859135" cy="4050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indent="-306705">
              <a:lnSpc>
                <a:spcPts val="2055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CSS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has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ability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change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background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element.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option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make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background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ts val="2055"/>
              </a:lnSpc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image.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This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done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through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CSS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property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background-image.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Its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syntax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looks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like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this: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  <a:spcBef>
                <a:spcPts val="815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main-banner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ts val="1945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background-image: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url('http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s://w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ww.e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xample.com/image.jpg');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819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background-image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property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will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set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element’s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background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display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image.</a:t>
            </a:r>
            <a:endParaRPr sz="1800">
              <a:latin typeface="Calibri"/>
              <a:cs typeface="Calibri"/>
            </a:endParaRPr>
          </a:p>
          <a:p>
            <a:pPr marL="318770" marR="50165" indent="-306705">
              <a:lnSpc>
                <a:spcPts val="1939"/>
              </a:lnSpc>
              <a:spcBef>
                <a:spcPts val="106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provided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background-image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url.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url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should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URL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image. The</a:t>
            </a:r>
            <a:r>
              <a:rPr sz="1800" spc="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url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file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within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your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project,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or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link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external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site.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link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an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image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inside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existing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project,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must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provide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relative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file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path.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If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there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was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image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folder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project,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image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named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mountains.jpg,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relative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file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path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would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look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libri"/>
                <a:cs typeface="Calibri"/>
              </a:rPr>
              <a:t>like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below: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.main-banner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  <a:spcBef>
                <a:spcPts val="815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background-image: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url('images/mountains.jpg');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40" dirty="0">
                <a:solidFill>
                  <a:srgbClr val="FFFFFF"/>
                </a:solidFill>
              </a:rPr>
              <a:t>IMPORTANT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287015"/>
            <a:ext cx="10859770" cy="34099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18770" marR="309880" indent="-306705">
              <a:lnSpc>
                <a:spcPts val="1939"/>
              </a:lnSpc>
              <a:spcBef>
                <a:spcPts val="34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!important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applied</a:t>
            </a:r>
            <a:r>
              <a:rPr sz="1800" spc="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specific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declarations,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instead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full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rules.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It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will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override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any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style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no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matter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how </a:t>
            </a:r>
            <a:r>
              <a:rPr sz="1800" spc="-39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specific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is.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As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result,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should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almost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never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used.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Once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!important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used,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very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hard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override.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79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syntax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!important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CSS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looks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like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this: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  <a:spcBef>
                <a:spcPts val="815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ts val="1945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color: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blue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!important;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ts val="2055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.main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ts val="1945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color: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red;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ts val="2050"/>
              </a:lnSpc>
              <a:spcBef>
                <a:spcPts val="81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Since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!important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used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p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selector’s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attribute,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all p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elements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will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appear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blue,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even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though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there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is a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ts val="2050"/>
              </a:lnSpc>
            </a:pP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more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specific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.main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p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selector that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sets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attribute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red.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</a:rPr>
              <a:t>WEB</a:t>
            </a:r>
            <a:r>
              <a:rPr sz="2800" spc="-75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FONTS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764028"/>
            <a:ext cx="10725150" cy="2482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5080" indent="-306705" algn="just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Previously,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we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learned about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web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safe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fonts,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group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fonts supported across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browsers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operating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systems.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3C3C3C"/>
                </a:solidFill>
                <a:latin typeface="Calibri"/>
                <a:cs typeface="Calibri"/>
              </a:rPr>
              <a:t>However,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fonts you can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use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for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your website are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limitless—web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fonts allow you to express your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unique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style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through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multitude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different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fonts found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web.</a:t>
            </a:r>
            <a:endParaRPr sz="1800">
              <a:latin typeface="Calibri"/>
              <a:cs typeface="Calibri"/>
            </a:endParaRPr>
          </a:p>
          <a:p>
            <a:pPr marL="318770" marR="6985" indent="-306705" algn="just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Free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font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services,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like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Google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Fonts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 Adobe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Fonts, host fonts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that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you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can link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 from your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HTML document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provided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&lt;link&gt;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element.</a:t>
            </a:r>
            <a:endParaRPr sz="1800">
              <a:latin typeface="Calibri"/>
              <a:cs typeface="Calibri"/>
            </a:endParaRPr>
          </a:p>
          <a:p>
            <a:pPr marL="318770" marR="55880" indent="-30670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can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also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use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fonts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from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paid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font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distributors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like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fonts.com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by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downloading</a:t>
            </a:r>
            <a:r>
              <a:rPr sz="18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hosting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them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rest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your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libri"/>
                <a:cs typeface="Calibri"/>
              </a:rPr>
              <a:t>site’s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files. </a:t>
            </a:r>
            <a:r>
              <a:rPr sz="1800" spc="-5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create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@font-face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ruleset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your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CSS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stylesheet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link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relative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path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 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font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file.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5" dirty="0">
                <a:solidFill>
                  <a:srgbClr val="FFFFFF"/>
                </a:solidFill>
              </a:rPr>
              <a:t>INTRODUCTION</a:t>
            </a:r>
            <a:r>
              <a:rPr sz="2800" spc="-10" dirty="0">
                <a:solidFill>
                  <a:srgbClr val="FFFFFF"/>
                </a:solidFill>
              </a:rPr>
              <a:t> </a:t>
            </a:r>
            <a:r>
              <a:rPr sz="2800" spc="-25" dirty="0">
                <a:solidFill>
                  <a:srgbClr val="FFFFFF"/>
                </a:solidFill>
              </a:rPr>
              <a:t>TO</a:t>
            </a:r>
            <a:r>
              <a:rPr sz="2800" spc="-15" dirty="0">
                <a:solidFill>
                  <a:srgbClr val="FFFFFF"/>
                </a:solidFill>
              </a:rPr>
              <a:t> COLOR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552192"/>
            <a:ext cx="10610215" cy="33143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8770" marR="5080" indent="-306705">
              <a:lnSpc>
                <a:spcPct val="100000"/>
              </a:lnSpc>
              <a:spcBef>
                <a:spcPts val="105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CSS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supports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wide</a:t>
            </a:r>
            <a:r>
              <a:rPr sz="20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variety</a:t>
            </a:r>
            <a:r>
              <a:rPr sz="20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of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colors.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 These</a:t>
            </a:r>
            <a:r>
              <a:rPr sz="20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include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 named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colors,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C3C3C"/>
                </a:solidFill>
                <a:latin typeface="Calibri"/>
                <a:cs typeface="Calibri"/>
              </a:rPr>
              <a:t>like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blue,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black,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2000" spc="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limegreen,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along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colors</a:t>
            </a:r>
            <a:r>
              <a:rPr sz="20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described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by</a:t>
            </a:r>
            <a:r>
              <a:rPr sz="20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numeric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value.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Using a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numeric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C3C3C"/>
                </a:solidFill>
                <a:latin typeface="Calibri"/>
                <a:cs typeface="Calibri"/>
              </a:rPr>
              <a:t>system</a:t>
            </a:r>
            <a:r>
              <a:rPr sz="20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allows</a:t>
            </a:r>
            <a:r>
              <a:rPr sz="20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us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 to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C3C3C"/>
                </a:solidFill>
                <a:latin typeface="Calibri"/>
                <a:cs typeface="Calibri"/>
              </a:rPr>
              <a:t>take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advantage </a:t>
            </a:r>
            <a:r>
              <a:rPr sz="2000" spc="-434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whole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spectrum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of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colors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browsers</a:t>
            </a:r>
            <a:r>
              <a:rPr sz="20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support.</a:t>
            </a:r>
            <a:r>
              <a:rPr sz="20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this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lesson,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C3C3C"/>
                </a:solidFill>
                <a:latin typeface="Calibri"/>
                <a:cs typeface="Calibri"/>
              </a:rPr>
              <a:t>we’re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going</a:t>
            </a:r>
            <a:r>
              <a:rPr sz="20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explore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all</a:t>
            </a:r>
            <a:r>
              <a:rPr sz="20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r>
              <a:rPr sz="20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options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CSS </a:t>
            </a:r>
            <a:r>
              <a:rPr sz="2000" spc="-20" dirty="0">
                <a:solidFill>
                  <a:srgbClr val="3C3C3C"/>
                </a:solidFill>
                <a:latin typeface="Calibri"/>
                <a:cs typeface="Calibri"/>
              </a:rPr>
              <a:t>offers.</a:t>
            </a:r>
            <a:endParaRPr sz="2000" dirty="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Colors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CSS can be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described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in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three 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different</a:t>
            </a:r>
            <a:r>
              <a:rPr sz="20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C3C3C"/>
                </a:solidFill>
                <a:latin typeface="Calibri"/>
                <a:cs typeface="Calibri"/>
              </a:rPr>
              <a:t>ways:</a:t>
            </a:r>
            <a:endParaRPr sz="2000" dirty="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104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800" b="1" dirty="0">
                <a:solidFill>
                  <a:srgbClr val="3C3C3C"/>
                </a:solidFill>
                <a:latin typeface="Calibri"/>
                <a:cs typeface="Calibri"/>
              </a:rPr>
              <a:t>Named</a:t>
            </a:r>
            <a:r>
              <a:rPr sz="1800" b="1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Calibri"/>
                <a:cs typeface="Calibri"/>
              </a:rPr>
              <a:t>colors</a:t>
            </a:r>
            <a:r>
              <a:rPr sz="1800" b="1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—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English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words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describe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colors,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also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called</a:t>
            </a:r>
            <a:r>
              <a:rPr sz="18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keyword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colors</a:t>
            </a:r>
            <a:endParaRPr sz="1800" dirty="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800" b="1" spc="-10" dirty="0">
                <a:solidFill>
                  <a:srgbClr val="3C3C3C"/>
                </a:solidFill>
                <a:latin typeface="Calibri"/>
                <a:cs typeface="Calibri"/>
              </a:rPr>
              <a:t>RGB</a:t>
            </a:r>
            <a:r>
              <a:rPr sz="1800" b="1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—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numeric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describe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mix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red,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green,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and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blue</a:t>
            </a:r>
            <a:endParaRPr sz="1800" dirty="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800" b="1" dirty="0">
                <a:solidFill>
                  <a:srgbClr val="3C3C3C"/>
                </a:solidFill>
                <a:latin typeface="Calibri"/>
                <a:cs typeface="Calibri"/>
              </a:rPr>
              <a:t>HSL</a:t>
            </a:r>
            <a:r>
              <a:rPr sz="1800" b="1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—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numeric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values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describe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mix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 hue,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saturation,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 smtClean="0">
                <a:solidFill>
                  <a:srgbClr val="3C3C3C"/>
                </a:solidFill>
                <a:latin typeface="Calibri"/>
                <a:cs typeface="Calibri"/>
              </a:rPr>
              <a:t>lightness</a:t>
            </a:r>
            <a:endParaRPr lang="en-US" sz="1800" spc="-5" dirty="0" smtClean="0">
              <a:solidFill>
                <a:srgbClr val="3C3C3C"/>
              </a:solidFill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lang="en-US" spc="-5" smtClean="0">
                <a:solidFill>
                  <a:srgbClr val="3C3C3C"/>
                </a:solidFill>
                <a:latin typeface="Calibri"/>
                <a:cs typeface="Calibri"/>
              </a:rPr>
              <a:t>Hexadecimal Codes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5" dirty="0">
                <a:solidFill>
                  <a:srgbClr val="FFFFFF"/>
                </a:solidFill>
              </a:rPr>
              <a:t>COLOR </a:t>
            </a:r>
            <a:r>
              <a:rPr sz="2800" spc="-10" dirty="0">
                <a:solidFill>
                  <a:srgbClr val="FFFFFF"/>
                </a:solidFill>
              </a:rPr>
              <a:t>AND</a:t>
            </a:r>
            <a:r>
              <a:rPr sz="2800" spc="-20" dirty="0">
                <a:solidFill>
                  <a:srgbClr val="FFFFFF"/>
                </a:solidFill>
              </a:rPr>
              <a:t> </a:t>
            </a:r>
            <a:r>
              <a:rPr sz="2800" spc="-35" dirty="0">
                <a:solidFill>
                  <a:srgbClr val="FFFFFF"/>
                </a:solidFill>
              </a:rPr>
              <a:t>BACKGROUND</a:t>
            </a:r>
            <a:r>
              <a:rPr sz="2800" spc="15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COLOR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184908"/>
            <a:ext cx="8268970" cy="1314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508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Before</a:t>
            </a:r>
            <a:r>
              <a:rPr sz="1800" spc="6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discussing</a:t>
            </a:r>
            <a:r>
              <a:rPr sz="1800" spc="6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8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specifics</a:t>
            </a:r>
            <a:r>
              <a:rPr sz="1800" spc="6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spc="6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3C3C3C"/>
                </a:solidFill>
                <a:latin typeface="Calibri"/>
                <a:cs typeface="Calibri"/>
              </a:rPr>
              <a:t>color,</a:t>
            </a:r>
            <a:r>
              <a:rPr sz="1800" spc="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it’s</a:t>
            </a:r>
            <a:r>
              <a:rPr sz="1800" spc="8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important</a:t>
            </a:r>
            <a:r>
              <a:rPr sz="1800" spc="5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6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make</a:t>
            </a:r>
            <a:r>
              <a:rPr sz="1800" spc="8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two</a:t>
            </a:r>
            <a:r>
              <a:rPr sz="1800" spc="6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distinctions</a:t>
            </a:r>
            <a:r>
              <a:rPr sz="1800" spc="8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about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40" dirty="0">
                <a:solidFill>
                  <a:srgbClr val="3C3C3C"/>
                </a:solidFill>
                <a:latin typeface="Calibri"/>
                <a:cs typeface="Calibri"/>
              </a:rPr>
              <a:t>color.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affect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following</a:t>
            </a:r>
            <a:r>
              <a:rPr sz="18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design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aspects:</a:t>
            </a:r>
            <a:endParaRPr sz="18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1000"/>
              </a:spcBef>
              <a:buClr>
                <a:srgbClr val="8BB649"/>
              </a:buClr>
              <a:buSzPct val="90625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600" spc="-15" dirty="0">
                <a:solidFill>
                  <a:srgbClr val="3C3C3C"/>
                </a:solidFill>
                <a:latin typeface="Calibri"/>
                <a:cs typeface="Calibri"/>
              </a:rPr>
              <a:t>Foreground</a:t>
            </a:r>
            <a:r>
              <a:rPr sz="16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endParaRPr sz="16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990"/>
              </a:spcBef>
              <a:buClr>
                <a:srgbClr val="8BB649"/>
              </a:buClr>
              <a:buSzPct val="90625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600" spc="-10" dirty="0">
                <a:solidFill>
                  <a:srgbClr val="3C3C3C"/>
                </a:solidFill>
                <a:latin typeface="Calibri"/>
                <a:cs typeface="Calibri"/>
              </a:rPr>
              <a:t>Background</a:t>
            </a:r>
            <a:r>
              <a:rPr sz="1600" spc="-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9993" y="3602482"/>
            <a:ext cx="8268334" cy="1528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5080" indent="-306705" algn="just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Foreground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color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that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an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appears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in.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example,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when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800" spc="-39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heading is styled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appear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green,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foreground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color of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heading has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been 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styled.</a:t>
            </a:r>
            <a:r>
              <a:rPr sz="1800" spc="19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Conversely,</a:t>
            </a:r>
            <a:r>
              <a:rPr sz="1800" spc="18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when</a:t>
            </a:r>
            <a:r>
              <a:rPr sz="1800" spc="19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204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heading</a:t>
            </a:r>
            <a:r>
              <a:rPr sz="1800" spc="2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spc="2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styled</a:t>
            </a:r>
            <a:r>
              <a:rPr sz="1800" spc="2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so</a:t>
            </a:r>
            <a:r>
              <a:rPr sz="1800" spc="204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800" spc="1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its</a:t>
            </a:r>
            <a:r>
              <a:rPr sz="1800" spc="19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background</a:t>
            </a:r>
            <a:r>
              <a:rPr sz="1800" spc="2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appears</a:t>
            </a:r>
            <a:r>
              <a:rPr sz="1800" spc="2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3C3C3C"/>
                </a:solidFill>
                <a:latin typeface="Calibri"/>
                <a:cs typeface="Calibri"/>
              </a:rPr>
              <a:t>yellow, </a:t>
            </a:r>
            <a:r>
              <a:rPr sz="1800" spc="-39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background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heading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has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been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styled.</a:t>
            </a:r>
            <a:endParaRPr sz="1800">
              <a:latin typeface="Calibri"/>
              <a:cs typeface="Calibri"/>
            </a:endParaRPr>
          </a:p>
          <a:p>
            <a:pPr marL="318770" indent="-306705" algn="just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CSS,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these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two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design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aspects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styled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following</a:t>
            </a:r>
            <a:r>
              <a:rPr sz="1800" spc="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two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properties: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4605" y="5108483"/>
            <a:ext cx="6045200" cy="76263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317500" indent="-305435">
              <a:lnSpc>
                <a:spcPct val="100000"/>
              </a:lnSpc>
              <a:spcBef>
                <a:spcPts val="1080"/>
              </a:spcBef>
              <a:buClr>
                <a:srgbClr val="8BB649"/>
              </a:buClr>
              <a:buSzPct val="90625"/>
              <a:buFont typeface="Cambria"/>
              <a:buChar char="◾"/>
              <a:tabLst>
                <a:tab pos="316865" algn="l"/>
                <a:tab pos="318135" algn="l"/>
              </a:tabLst>
            </a:pPr>
            <a:r>
              <a:rPr sz="1600" spc="-10" dirty="0">
                <a:solidFill>
                  <a:srgbClr val="3C3C3C"/>
                </a:solidFill>
                <a:latin typeface="Calibri"/>
                <a:cs typeface="Calibri"/>
              </a:rPr>
              <a:t>color:</a:t>
            </a:r>
            <a:r>
              <a:rPr sz="16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C3C3C"/>
                </a:solidFill>
                <a:latin typeface="Calibri"/>
                <a:cs typeface="Calibri"/>
              </a:rPr>
              <a:t>this </a:t>
            </a:r>
            <a:r>
              <a:rPr sz="1600" spc="-10" dirty="0">
                <a:solidFill>
                  <a:srgbClr val="3C3C3C"/>
                </a:solidFill>
                <a:latin typeface="Calibri"/>
                <a:cs typeface="Calibri"/>
              </a:rPr>
              <a:t>property</a:t>
            </a:r>
            <a:r>
              <a:rPr sz="16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C3C3C"/>
                </a:solidFill>
                <a:latin typeface="Calibri"/>
                <a:cs typeface="Calibri"/>
              </a:rPr>
              <a:t>styles</a:t>
            </a:r>
            <a:r>
              <a:rPr sz="16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6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C3C3C"/>
                </a:solidFill>
                <a:latin typeface="Calibri"/>
                <a:cs typeface="Calibri"/>
              </a:rPr>
              <a:t>element’s</a:t>
            </a:r>
            <a:r>
              <a:rPr sz="16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3C3C3C"/>
                </a:solidFill>
                <a:latin typeface="Calibri"/>
                <a:cs typeface="Calibri"/>
              </a:rPr>
              <a:t>foreground</a:t>
            </a:r>
            <a:r>
              <a:rPr sz="16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endParaRPr sz="1600">
              <a:latin typeface="Calibri"/>
              <a:cs typeface="Calibri"/>
            </a:endParaRPr>
          </a:p>
          <a:p>
            <a:pPr marL="317500" indent="-305435">
              <a:lnSpc>
                <a:spcPct val="100000"/>
              </a:lnSpc>
              <a:spcBef>
                <a:spcPts val="985"/>
              </a:spcBef>
              <a:buClr>
                <a:srgbClr val="8BB649"/>
              </a:buClr>
              <a:buSzPct val="90625"/>
              <a:buFont typeface="Cambria"/>
              <a:buChar char="◾"/>
              <a:tabLst>
                <a:tab pos="316865" algn="l"/>
                <a:tab pos="318135" algn="l"/>
              </a:tabLst>
            </a:pPr>
            <a:r>
              <a:rPr sz="1600" spc="-10" dirty="0">
                <a:solidFill>
                  <a:srgbClr val="3C3C3C"/>
                </a:solidFill>
                <a:latin typeface="Calibri"/>
                <a:cs typeface="Calibri"/>
              </a:rPr>
              <a:t>background-color:</a:t>
            </a:r>
            <a:r>
              <a:rPr sz="16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C3C3C"/>
                </a:solidFill>
                <a:latin typeface="Calibri"/>
                <a:cs typeface="Calibri"/>
              </a:rPr>
              <a:t>this </a:t>
            </a:r>
            <a:r>
              <a:rPr sz="1600" spc="-10" dirty="0">
                <a:solidFill>
                  <a:srgbClr val="3C3C3C"/>
                </a:solidFill>
                <a:latin typeface="Calibri"/>
                <a:cs typeface="Calibri"/>
              </a:rPr>
              <a:t>property</a:t>
            </a:r>
            <a:r>
              <a:rPr sz="1600" spc="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C3C3C"/>
                </a:solidFill>
                <a:latin typeface="Calibri"/>
                <a:cs typeface="Calibri"/>
              </a:rPr>
              <a:t>styles</a:t>
            </a:r>
            <a:r>
              <a:rPr sz="16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600" spc="-10" dirty="0">
                <a:solidFill>
                  <a:srgbClr val="3C3C3C"/>
                </a:solidFill>
                <a:latin typeface="Calibri"/>
                <a:cs typeface="Calibri"/>
              </a:rPr>
              <a:t> element’s</a:t>
            </a:r>
            <a:r>
              <a:rPr sz="16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C3C3C"/>
                </a:solidFill>
                <a:latin typeface="Calibri"/>
                <a:cs typeface="Calibri"/>
              </a:rPr>
              <a:t>background</a:t>
            </a:r>
            <a:r>
              <a:rPr sz="16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04731" y="3567429"/>
            <a:ext cx="23450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h1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color: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red;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background-color: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blue;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HEXADECIMAL</a:t>
            </a:r>
            <a:r>
              <a:rPr sz="2800" spc="-15" dirty="0">
                <a:solidFill>
                  <a:srgbClr val="FFFFFF"/>
                </a:solidFill>
              </a:rPr>
              <a:t> COLOR</a:t>
            </a:r>
            <a:r>
              <a:rPr sz="2800" spc="-3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CODE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3581145"/>
            <a:ext cx="105714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508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One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syntax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use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specify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colors</a:t>
            </a:r>
            <a:r>
              <a:rPr sz="18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called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hexadecimal.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Colors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specified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using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this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system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are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called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hex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colors.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hex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begins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 hash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character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(#)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which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followed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by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three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six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characters.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characters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represent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values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red,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blue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green.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25" dirty="0">
                <a:solidFill>
                  <a:srgbClr val="FFFFFF"/>
                </a:solidFill>
              </a:rPr>
              <a:t>RGB</a:t>
            </a:r>
            <a:r>
              <a:rPr sz="2800" spc="-75" dirty="0">
                <a:solidFill>
                  <a:srgbClr val="FFFFFF"/>
                </a:solidFill>
              </a:rPr>
              <a:t> </a:t>
            </a:r>
            <a:r>
              <a:rPr sz="2800" spc="-20" dirty="0">
                <a:solidFill>
                  <a:srgbClr val="FFFFFF"/>
                </a:solidFill>
              </a:rPr>
              <a:t>COLORS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287015"/>
            <a:ext cx="10646410" cy="34372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There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another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syntax</a:t>
            </a:r>
            <a:r>
              <a:rPr sz="1800" spc="-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for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representing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RGB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values,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commonly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referred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as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“RGB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value”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or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just </a:t>
            </a:r>
            <a:r>
              <a:rPr sz="1800" spc="-35" dirty="0">
                <a:solidFill>
                  <a:srgbClr val="0F162E"/>
                </a:solidFill>
                <a:latin typeface="Calibri"/>
                <a:cs typeface="Calibri"/>
              </a:rPr>
              <a:t>“RGB”,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that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ct val="100000"/>
              </a:lnSpc>
            </a:pP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uses decimal</a:t>
            </a:r>
            <a:r>
              <a:rPr sz="18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numbers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rather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than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hexadecimal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numbers,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and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it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looks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F162E"/>
                </a:solidFill>
                <a:latin typeface="Calibri"/>
                <a:cs typeface="Calibri"/>
              </a:rPr>
              <a:t>like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this: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h1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color: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rgb(23,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45,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23);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Each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of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three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values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represents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color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component,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each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can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have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decimal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number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value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from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0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ct val="100000"/>
              </a:lnSpc>
            </a:pP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255.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F162E"/>
                </a:solidFill>
                <a:latin typeface="Calibri"/>
                <a:cs typeface="Calibri"/>
              </a:rPr>
              <a:t>first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number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represents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amount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red,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second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green,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8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third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blue.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These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colors</a:t>
            </a:r>
            <a:r>
              <a:rPr sz="1800" spc="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are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ct val="100000"/>
              </a:lnSpc>
              <a:spcBef>
                <a:spcPts val="5"/>
              </a:spcBef>
            </a:pP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exactly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the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same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hex,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but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with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different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syntax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and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different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number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system.</a:t>
            </a:r>
            <a:endParaRPr sz="1800">
              <a:latin typeface="Calibri"/>
              <a:cs typeface="Calibri"/>
            </a:endParaRPr>
          </a:p>
          <a:p>
            <a:pPr marL="318770" marR="508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In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general,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hex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and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RGB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color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representations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are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equivalent.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Which</a:t>
            </a:r>
            <a:r>
              <a:rPr sz="1800" spc="3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you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choose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matter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of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personal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taste.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That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said,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F162E"/>
                </a:solidFill>
                <a:latin typeface="Calibri"/>
                <a:cs typeface="Calibri"/>
              </a:rPr>
              <a:t>it’s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good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choose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one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and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be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consistent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throughout</a:t>
            </a:r>
            <a:r>
              <a:rPr sz="18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your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CSS, because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F162E"/>
                </a:solidFill>
                <a:latin typeface="Calibri"/>
                <a:cs typeface="Calibri"/>
              </a:rPr>
              <a:t>it’s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easier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compare</a:t>
            </a:r>
            <a:r>
              <a:rPr sz="18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hex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 </a:t>
            </a:r>
            <a:r>
              <a:rPr sz="1800" spc="-39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hex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and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RGB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RGB.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HUE,</a:t>
            </a:r>
            <a:r>
              <a:rPr sz="2800" spc="-10" dirty="0">
                <a:solidFill>
                  <a:srgbClr val="FFFFFF"/>
                </a:solidFill>
              </a:rPr>
              <a:t> </a:t>
            </a:r>
            <a:r>
              <a:rPr sz="2800" spc="-40" dirty="0">
                <a:solidFill>
                  <a:srgbClr val="FFFFFF"/>
                </a:solidFill>
              </a:rPr>
              <a:t>SATURATION,</a:t>
            </a:r>
            <a:r>
              <a:rPr sz="2800" spc="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AND</a:t>
            </a:r>
            <a:r>
              <a:rPr sz="2800" spc="-20" dirty="0">
                <a:solidFill>
                  <a:srgbClr val="FFFFFF"/>
                </a:solidFill>
              </a:rPr>
              <a:t> </a:t>
            </a:r>
            <a:r>
              <a:rPr sz="2800" spc="-5" dirty="0">
                <a:solidFill>
                  <a:srgbClr val="FFFFFF"/>
                </a:solidFill>
              </a:rPr>
              <a:t>LIGHTNESS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1984629"/>
            <a:ext cx="10875010" cy="4552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8770" indent="-306705" algn="just">
              <a:lnSpc>
                <a:spcPts val="1939"/>
              </a:lnSpc>
              <a:spcBef>
                <a:spcPts val="105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700" spc="3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RGB</a:t>
            </a:r>
            <a:r>
              <a:rPr sz="1700" spc="33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color</a:t>
            </a:r>
            <a:r>
              <a:rPr sz="1700" spc="34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scheme</a:t>
            </a:r>
            <a:r>
              <a:rPr sz="1700" spc="33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1700" spc="3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convenient</a:t>
            </a:r>
            <a:r>
              <a:rPr sz="1700" spc="3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because</a:t>
            </a:r>
            <a:r>
              <a:rPr sz="1700" spc="3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it’s</a:t>
            </a:r>
            <a:r>
              <a:rPr sz="1700" spc="3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very</a:t>
            </a:r>
            <a:r>
              <a:rPr sz="1700" spc="3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close</a:t>
            </a:r>
            <a:r>
              <a:rPr sz="1700" spc="3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700" spc="3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how</a:t>
            </a:r>
            <a:r>
              <a:rPr sz="1700" spc="33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computers</a:t>
            </a:r>
            <a:r>
              <a:rPr sz="1700" spc="3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represent</a:t>
            </a:r>
            <a:r>
              <a:rPr sz="1700" spc="3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colors</a:t>
            </a:r>
            <a:r>
              <a:rPr sz="1700" spc="34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internally.</a:t>
            </a:r>
            <a:r>
              <a:rPr sz="1700" spc="3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0F162E"/>
                </a:solidFill>
                <a:latin typeface="Calibri"/>
                <a:cs typeface="Calibri"/>
              </a:rPr>
              <a:t>There’s</a:t>
            </a:r>
            <a:endParaRPr sz="1700">
              <a:latin typeface="Calibri"/>
              <a:cs typeface="Calibri"/>
            </a:endParaRPr>
          </a:p>
          <a:p>
            <a:pPr marL="318770" algn="just">
              <a:lnSpc>
                <a:spcPts val="1939"/>
              </a:lnSpc>
            </a:pP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another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equally</a:t>
            </a:r>
            <a:r>
              <a:rPr sz="1700" spc="-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powerful</a:t>
            </a:r>
            <a:r>
              <a:rPr sz="1700" spc="-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system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 in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 CSS called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 hue-saturation-lightness color</a:t>
            </a:r>
            <a:r>
              <a:rPr sz="1700" spc="-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scheme,</a:t>
            </a:r>
            <a:r>
              <a:rPr sz="17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abbreviated</a:t>
            </a:r>
            <a:r>
              <a:rPr sz="1700" spc="-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as</a:t>
            </a:r>
            <a:r>
              <a:rPr sz="17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i="1" spc="-5" dirty="0">
                <a:solidFill>
                  <a:srgbClr val="0F162E"/>
                </a:solidFill>
                <a:latin typeface="Calibri"/>
                <a:cs typeface="Calibri"/>
              </a:rPr>
              <a:t>HSL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.</a:t>
            </a:r>
            <a:endParaRPr sz="1700">
              <a:latin typeface="Calibri"/>
              <a:cs typeface="Calibri"/>
            </a:endParaRPr>
          </a:p>
          <a:p>
            <a:pPr marL="318770" marR="5080" indent="-306705" algn="just">
              <a:lnSpc>
                <a:spcPct val="90100"/>
              </a:lnSpc>
              <a:spcBef>
                <a:spcPts val="1005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syntax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for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HSL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is similar to the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decimal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form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of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RGB,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though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it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differs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in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important </a:t>
            </a: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ways.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first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number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represents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degree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of the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hue,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and can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be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between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0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and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360.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second and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third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numbers are percentages representing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saturation</a:t>
            </a:r>
            <a:r>
              <a:rPr sz="1700" spc="-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and</a:t>
            </a: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lightness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 respectively.</a:t>
            </a:r>
            <a:r>
              <a:rPr sz="1700" spc="-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Here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 is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an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example:</a:t>
            </a:r>
            <a:endParaRPr sz="17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800"/>
              </a:spcBef>
            </a:pPr>
            <a:r>
              <a:rPr sz="1700" spc="-5" dirty="0">
                <a:solidFill>
                  <a:srgbClr val="FF0000"/>
                </a:solidFill>
                <a:latin typeface="Calibri"/>
                <a:cs typeface="Calibri"/>
              </a:rPr>
              <a:t>color:</a:t>
            </a:r>
            <a:r>
              <a:rPr sz="17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0000"/>
                </a:solidFill>
                <a:latin typeface="Calibri"/>
                <a:cs typeface="Calibri"/>
              </a:rPr>
              <a:t>hsl</a:t>
            </a:r>
            <a:r>
              <a:rPr sz="17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0000"/>
                </a:solidFill>
                <a:latin typeface="Calibri"/>
                <a:cs typeface="Calibri"/>
              </a:rPr>
              <a:t>(120,</a:t>
            </a:r>
            <a:r>
              <a:rPr sz="17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0000"/>
                </a:solidFill>
                <a:latin typeface="Calibri"/>
                <a:cs typeface="Calibri"/>
              </a:rPr>
              <a:t>60%,</a:t>
            </a:r>
            <a:r>
              <a:rPr sz="17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0000"/>
                </a:solidFill>
                <a:latin typeface="Calibri"/>
                <a:cs typeface="Calibri"/>
              </a:rPr>
              <a:t>70%);</a:t>
            </a:r>
            <a:endParaRPr sz="1700">
              <a:latin typeface="Calibri"/>
              <a:cs typeface="Calibri"/>
            </a:endParaRPr>
          </a:p>
          <a:p>
            <a:pPr marL="318770" indent="-306705" algn="just">
              <a:lnSpc>
                <a:spcPts val="1939"/>
              </a:lnSpc>
              <a:spcBef>
                <a:spcPts val="805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i="1" spc="-5" dirty="0">
                <a:solidFill>
                  <a:srgbClr val="0F162E"/>
                </a:solidFill>
                <a:latin typeface="Calibri"/>
                <a:cs typeface="Calibri"/>
              </a:rPr>
              <a:t>Hue</a:t>
            </a:r>
            <a:r>
              <a:rPr sz="1700" i="1" spc="24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1700" spc="25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700" spc="24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first</a:t>
            </a:r>
            <a:r>
              <a:rPr sz="1700" spc="24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30" dirty="0">
                <a:solidFill>
                  <a:srgbClr val="0F162E"/>
                </a:solidFill>
                <a:latin typeface="Calibri"/>
                <a:cs typeface="Calibri"/>
              </a:rPr>
              <a:t>number.</a:t>
            </a:r>
            <a:r>
              <a:rPr sz="1700" spc="24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It</a:t>
            </a:r>
            <a:r>
              <a:rPr sz="1700" spc="229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refers</a:t>
            </a:r>
            <a:r>
              <a:rPr sz="1700" spc="2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700" spc="24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an</a:t>
            </a:r>
            <a:r>
              <a:rPr sz="1700" spc="24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angle</a:t>
            </a:r>
            <a:r>
              <a:rPr sz="1700" spc="25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on</a:t>
            </a:r>
            <a:r>
              <a:rPr sz="1700" spc="25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a</a:t>
            </a:r>
            <a:r>
              <a:rPr sz="1700" spc="2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color</a:t>
            </a:r>
            <a:r>
              <a:rPr sz="1700" spc="25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wheel.</a:t>
            </a:r>
            <a:r>
              <a:rPr sz="1700" spc="24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Red</a:t>
            </a:r>
            <a:r>
              <a:rPr sz="1700" spc="2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1700" spc="25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0</a:t>
            </a:r>
            <a:r>
              <a:rPr sz="1700" spc="229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degrees,</a:t>
            </a:r>
            <a:r>
              <a:rPr sz="1700" spc="24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Green</a:t>
            </a:r>
            <a:r>
              <a:rPr sz="1700" spc="2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1700" spc="24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120</a:t>
            </a:r>
            <a:r>
              <a:rPr sz="1700" spc="2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degrees,</a:t>
            </a:r>
            <a:r>
              <a:rPr sz="1700" spc="24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Blue</a:t>
            </a:r>
            <a:r>
              <a:rPr sz="1700" spc="229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1700" spc="25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240</a:t>
            </a:r>
            <a:endParaRPr sz="1700">
              <a:latin typeface="Calibri"/>
              <a:cs typeface="Calibri"/>
            </a:endParaRPr>
          </a:p>
          <a:p>
            <a:pPr marL="318770" algn="just">
              <a:lnSpc>
                <a:spcPts val="1939"/>
              </a:lnSpc>
            </a:pP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degrees,</a:t>
            </a:r>
            <a:r>
              <a:rPr sz="1700" spc="-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and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then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back to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Red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at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360.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45" dirty="0">
                <a:solidFill>
                  <a:srgbClr val="0F162E"/>
                </a:solidFill>
                <a:latin typeface="Calibri"/>
                <a:cs typeface="Calibri"/>
              </a:rPr>
              <a:t>You</a:t>
            </a:r>
            <a:r>
              <a:rPr sz="17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can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see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an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example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of</a:t>
            </a:r>
            <a:r>
              <a:rPr sz="17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a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color</a:t>
            </a:r>
            <a:r>
              <a:rPr sz="17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wheel</a:t>
            </a:r>
            <a:r>
              <a:rPr sz="1700" spc="-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below.</a:t>
            </a:r>
            <a:endParaRPr sz="1700">
              <a:latin typeface="Calibri"/>
              <a:cs typeface="Calibri"/>
            </a:endParaRPr>
          </a:p>
          <a:p>
            <a:pPr marL="318770" marR="5715" indent="-306705" algn="just">
              <a:lnSpc>
                <a:spcPts val="1839"/>
              </a:lnSpc>
              <a:spcBef>
                <a:spcPts val="1035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i="1" spc="-5" dirty="0">
                <a:solidFill>
                  <a:srgbClr val="0F162E"/>
                </a:solidFill>
                <a:latin typeface="Calibri"/>
                <a:cs typeface="Calibri"/>
              </a:rPr>
              <a:t>Saturation </a:t>
            </a: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refers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to the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intensity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or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purity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of 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700" spc="-35" dirty="0">
                <a:solidFill>
                  <a:srgbClr val="0F162E"/>
                </a:solidFill>
                <a:latin typeface="Calibri"/>
                <a:cs typeface="Calibri"/>
              </a:rPr>
              <a:t>color.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saturation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increases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towards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100% as the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color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becomes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0F162E"/>
                </a:solidFill>
                <a:latin typeface="Calibri"/>
                <a:cs typeface="Calibri"/>
              </a:rPr>
              <a:t>richer.</a:t>
            </a:r>
            <a:r>
              <a:rPr sz="1700" spc="-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saturation</a:t>
            </a:r>
            <a:r>
              <a:rPr sz="1700" spc="-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decreases</a:t>
            </a:r>
            <a:r>
              <a:rPr sz="1700" spc="-4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towards</a:t>
            </a:r>
            <a:r>
              <a:rPr sz="1700" spc="-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0%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as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 the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color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becomes </a:t>
            </a:r>
            <a:r>
              <a:rPr sz="1700" spc="-40" dirty="0">
                <a:solidFill>
                  <a:srgbClr val="0F162E"/>
                </a:solidFill>
                <a:latin typeface="Calibri"/>
                <a:cs typeface="Calibri"/>
              </a:rPr>
              <a:t>grayer.</a:t>
            </a:r>
            <a:endParaRPr sz="1700">
              <a:latin typeface="Calibri"/>
              <a:cs typeface="Calibri"/>
            </a:endParaRPr>
          </a:p>
          <a:p>
            <a:pPr marL="318770" marR="5080" indent="-306705" algn="just">
              <a:lnSpc>
                <a:spcPct val="90100"/>
              </a:lnSpc>
              <a:spcBef>
                <a:spcPts val="975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i="1" spc="-5" dirty="0">
                <a:solidFill>
                  <a:srgbClr val="0F162E"/>
                </a:solidFill>
                <a:latin typeface="Calibri"/>
                <a:cs typeface="Calibri"/>
              </a:rPr>
              <a:t>Lightness </a:t>
            </a: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refers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how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light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or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dark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color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 is.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0F162E"/>
                </a:solidFill>
                <a:latin typeface="Calibri"/>
                <a:cs typeface="Calibri"/>
              </a:rPr>
              <a:t>Halfway,</a:t>
            </a: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or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50%, is normal lightness. Imagine</a:t>
            </a:r>
            <a:r>
              <a:rPr sz="1700" spc="37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a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sliding dimmer</a:t>
            </a:r>
            <a:r>
              <a:rPr sz="1700" spc="37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on</a:t>
            </a:r>
            <a:r>
              <a:rPr sz="1700" spc="36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a </a:t>
            </a:r>
            <a:r>
              <a:rPr sz="1700" spc="-37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light switch that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starts </a:t>
            </a:r>
            <a:r>
              <a:rPr sz="1700" spc="-25" dirty="0">
                <a:solidFill>
                  <a:srgbClr val="0F162E"/>
                </a:solidFill>
                <a:latin typeface="Calibri"/>
                <a:cs typeface="Calibri"/>
              </a:rPr>
              <a:t>halfway.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Sliding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dimmer up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towards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100%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makes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color </a:t>
            </a:r>
            <a:r>
              <a:rPr sz="1700" spc="-30" dirty="0">
                <a:solidFill>
                  <a:srgbClr val="0F162E"/>
                </a:solidFill>
                <a:latin typeface="Calibri"/>
                <a:cs typeface="Calibri"/>
              </a:rPr>
              <a:t>lighter,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closer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to white. Sliding the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 dimmer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down</a:t>
            </a:r>
            <a:r>
              <a:rPr sz="1700" spc="-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towards</a:t>
            </a:r>
            <a:r>
              <a:rPr sz="1700" spc="-3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0%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makes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 the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color</a:t>
            </a: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0F162E"/>
                </a:solidFill>
                <a:latin typeface="Calibri"/>
                <a:cs typeface="Calibri"/>
              </a:rPr>
              <a:t>darker,</a:t>
            </a:r>
            <a:r>
              <a:rPr sz="1700" spc="-4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closer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 black.</a:t>
            </a:r>
            <a:endParaRPr sz="1700">
              <a:latin typeface="Calibri"/>
              <a:cs typeface="Calibri"/>
            </a:endParaRPr>
          </a:p>
          <a:p>
            <a:pPr marL="318770" marR="6985" indent="-306705" algn="just">
              <a:lnSpc>
                <a:spcPts val="1839"/>
              </a:lnSpc>
              <a:spcBef>
                <a:spcPts val="103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HSL is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convenient for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adjusting colors.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In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RGB,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making the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color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a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little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darker may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affect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all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three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color components.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In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HSL,</a:t>
            </a:r>
            <a:r>
              <a:rPr sz="1700" spc="8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that’s</a:t>
            </a:r>
            <a:r>
              <a:rPr sz="1700" spc="1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as</a:t>
            </a:r>
            <a:r>
              <a:rPr sz="1700" spc="9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easy</a:t>
            </a:r>
            <a:r>
              <a:rPr sz="1700" spc="8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as</a:t>
            </a:r>
            <a:r>
              <a:rPr sz="1700" spc="9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changing</a:t>
            </a:r>
            <a:r>
              <a:rPr sz="1700" spc="8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700" spc="8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lightness</a:t>
            </a:r>
            <a:r>
              <a:rPr sz="1700" spc="9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value.</a:t>
            </a:r>
            <a:r>
              <a:rPr sz="1700" spc="7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HSL</a:t>
            </a:r>
            <a:r>
              <a:rPr sz="1700" spc="8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1700" spc="9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also</a:t>
            </a:r>
            <a:r>
              <a:rPr sz="1700" spc="9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useful</a:t>
            </a:r>
            <a:r>
              <a:rPr sz="1700" spc="8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for</a:t>
            </a:r>
            <a:r>
              <a:rPr sz="1700" spc="9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making</a:t>
            </a:r>
            <a:r>
              <a:rPr sz="1700" spc="9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a</a:t>
            </a:r>
            <a:r>
              <a:rPr sz="1700" spc="7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set</a:t>
            </a:r>
            <a:r>
              <a:rPr sz="1700" spc="8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of</a:t>
            </a:r>
            <a:r>
              <a:rPr sz="1700" spc="7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colors</a:t>
            </a:r>
            <a:r>
              <a:rPr sz="1700" spc="9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that</a:t>
            </a:r>
            <a:r>
              <a:rPr sz="1700" spc="8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work</a:t>
            </a:r>
            <a:r>
              <a:rPr sz="1700" spc="8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well</a:t>
            </a:r>
            <a:r>
              <a:rPr sz="1700" spc="8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together </a:t>
            </a:r>
            <a:r>
              <a:rPr sz="1700" spc="-37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by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selecting</a:t>
            </a:r>
            <a:r>
              <a:rPr sz="1700" spc="-3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various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 colors</a:t>
            </a:r>
            <a:r>
              <a:rPr sz="1700" spc="-4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that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have</a:t>
            </a:r>
            <a:r>
              <a:rPr sz="1700" spc="-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same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lightness</a:t>
            </a:r>
            <a:r>
              <a:rPr sz="1700" spc="-4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and</a:t>
            </a: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saturation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but</a:t>
            </a: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different</a:t>
            </a:r>
            <a:r>
              <a:rPr sz="1700" spc="-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hues.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40" dirty="0">
                <a:solidFill>
                  <a:srgbClr val="FFFFFF"/>
                </a:solidFill>
              </a:rPr>
              <a:t>OPACITY</a:t>
            </a:r>
            <a:r>
              <a:rPr sz="2800" spc="-2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AND</a:t>
            </a:r>
            <a:r>
              <a:rPr sz="2800" spc="-4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ALPHA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1934336"/>
            <a:ext cx="10789920" cy="46748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18770" marR="165100" indent="-306705" algn="just">
              <a:lnSpc>
                <a:spcPct val="90100"/>
              </a:lnSpc>
              <a:spcBef>
                <a:spcPts val="31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70840" algn="l"/>
              </a:tabLst>
            </a:pPr>
            <a:r>
              <a:rPr dirty="0"/>
              <a:t>	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When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overlap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two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opaque elements, nothing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from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bottom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shows through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top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element.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In 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this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exercise,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we’ll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change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25" dirty="0">
                <a:solidFill>
                  <a:srgbClr val="3C3C3C"/>
                </a:solidFill>
                <a:latin typeface="Calibri"/>
                <a:cs typeface="Calibri"/>
              </a:rPr>
              <a:t>opacity,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or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amount of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transparency,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 some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colors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so that some or all of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bottom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elements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are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visible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through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covering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element.</a:t>
            </a:r>
            <a:endParaRPr sz="1800">
              <a:latin typeface="Calibri"/>
              <a:cs typeface="Calibri"/>
            </a:endParaRPr>
          </a:p>
          <a:p>
            <a:pPr marL="12700" marR="350520">
              <a:lnSpc>
                <a:spcPct val="137800"/>
              </a:lnSpc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8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use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opacity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HSL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scheme,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use</a:t>
            </a:r>
            <a:r>
              <a:rPr sz="1800" spc="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hsla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instead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hsl,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four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instead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three.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example: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color:</a:t>
            </a:r>
            <a:r>
              <a:rPr sz="18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hsla(34,</a:t>
            </a:r>
            <a:r>
              <a:rPr sz="18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100%,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50%,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0.1);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ts val="2055"/>
              </a:lnSpc>
              <a:spcBef>
                <a:spcPts val="82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first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three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values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work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same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as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hsl.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fourth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(which</a:t>
            </a:r>
            <a:r>
              <a:rPr sz="1800" spc="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have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not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seen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before)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alpha.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This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ts val="2055"/>
              </a:lnSpc>
            </a:pP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last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 sometimes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called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opacity.</a:t>
            </a:r>
            <a:endParaRPr sz="1800">
              <a:latin typeface="Calibri"/>
              <a:cs typeface="Calibri"/>
            </a:endParaRPr>
          </a:p>
          <a:p>
            <a:pPr marL="318770" marR="146685" indent="-306705">
              <a:lnSpc>
                <a:spcPts val="1939"/>
              </a:lnSpc>
              <a:spcBef>
                <a:spcPts val="106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Alpha is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decimal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number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from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zero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one.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If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alpha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libri"/>
                <a:cs typeface="Calibri"/>
              </a:rPr>
              <a:t>zero,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will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completely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transparent.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If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alpha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one,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will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opaque. The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half-transparent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would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0.5.</a:t>
            </a:r>
            <a:endParaRPr sz="1800">
              <a:latin typeface="Calibri"/>
              <a:cs typeface="Calibri"/>
            </a:endParaRPr>
          </a:p>
          <a:p>
            <a:pPr marL="318770" marR="86995" indent="-306705">
              <a:lnSpc>
                <a:spcPts val="195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think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alpha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as,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“the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amount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background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mix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libri"/>
                <a:cs typeface="Calibri"/>
              </a:rPr>
              <a:t>foreground”.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When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color’s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alpha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below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one,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any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behind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will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blended</a:t>
            </a:r>
            <a:r>
              <a:rPr sz="18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in.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blending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happens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each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pixel;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no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blurring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occurs.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ts val="2050"/>
              </a:lnSpc>
              <a:spcBef>
                <a:spcPts val="77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RGB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scheme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has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a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similar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syntax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libri"/>
                <a:cs typeface="Calibri"/>
              </a:rPr>
              <a:t>opacity,</a:t>
            </a:r>
            <a:r>
              <a:rPr sz="1800" spc="6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rgba.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Again,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first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three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values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work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same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as</a:t>
            </a:r>
            <a:r>
              <a:rPr sz="18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rgb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ts val="2050"/>
              </a:lnSpc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last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value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is 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alpha.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libri"/>
                <a:cs typeface="Calibri"/>
              </a:rPr>
              <a:t>Here’s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example: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color: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rgba(234,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45,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98,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0.33);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THE</a:t>
            </a:r>
            <a:r>
              <a:rPr sz="2800" spc="-45" dirty="0">
                <a:solidFill>
                  <a:srgbClr val="FFFFFF"/>
                </a:solidFill>
              </a:rPr>
              <a:t> </a:t>
            </a:r>
            <a:r>
              <a:rPr sz="2800" spc="-25" dirty="0">
                <a:solidFill>
                  <a:srgbClr val="FFFFFF"/>
                </a:solidFill>
              </a:rPr>
              <a:t>BOX</a:t>
            </a:r>
            <a:r>
              <a:rPr sz="2800" spc="-3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MODEL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4699" y="2551016"/>
            <a:ext cx="5904620" cy="404751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THE</a:t>
            </a:r>
            <a:r>
              <a:rPr sz="2800" spc="-45" dirty="0">
                <a:solidFill>
                  <a:srgbClr val="FFFFFF"/>
                </a:solidFill>
              </a:rPr>
              <a:t> </a:t>
            </a:r>
            <a:r>
              <a:rPr sz="2800" spc="-25" dirty="0">
                <a:solidFill>
                  <a:srgbClr val="FFFFFF"/>
                </a:solidFill>
              </a:rPr>
              <a:t>BOX</a:t>
            </a:r>
            <a:r>
              <a:rPr sz="2800" spc="-3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MODEL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664663"/>
            <a:ext cx="10873740" cy="2674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2400" spc="-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2400" spc="17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F162E"/>
                </a:solidFill>
                <a:latin typeface="Calibri"/>
                <a:cs typeface="Calibri"/>
              </a:rPr>
              <a:t>box</a:t>
            </a:r>
            <a:r>
              <a:rPr sz="2400" spc="16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F162E"/>
                </a:solidFill>
                <a:latin typeface="Calibri"/>
                <a:cs typeface="Calibri"/>
              </a:rPr>
              <a:t>model</a:t>
            </a:r>
            <a:r>
              <a:rPr sz="2400" spc="14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F162E"/>
                </a:solidFill>
                <a:latin typeface="Calibri"/>
                <a:cs typeface="Calibri"/>
              </a:rPr>
              <a:t>comprises</a:t>
            </a:r>
            <a:r>
              <a:rPr sz="2400" spc="16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2400" spc="15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F162E"/>
                </a:solidFill>
                <a:latin typeface="Calibri"/>
                <a:cs typeface="Calibri"/>
              </a:rPr>
              <a:t>set</a:t>
            </a:r>
            <a:r>
              <a:rPr sz="2400" spc="15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F162E"/>
                </a:solidFill>
                <a:latin typeface="Calibri"/>
                <a:cs typeface="Calibri"/>
              </a:rPr>
              <a:t>of</a:t>
            </a:r>
            <a:r>
              <a:rPr sz="2400" spc="15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F162E"/>
                </a:solidFill>
                <a:latin typeface="Calibri"/>
                <a:cs typeface="Calibri"/>
              </a:rPr>
              <a:t>properties</a:t>
            </a:r>
            <a:r>
              <a:rPr sz="2400" spc="16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F162E"/>
                </a:solidFill>
                <a:latin typeface="Calibri"/>
                <a:cs typeface="Calibri"/>
              </a:rPr>
              <a:t>that</a:t>
            </a:r>
            <a:r>
              <a:rPr sz="2400" spc="15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F162E"/>
                </a:solidFill>
                <a:latin typeface="Calibri"/>
                <a:cs typeface="Calibri"/>
              </a:rPr>
              <a:t>define</a:t>
            </a:r>
            <a:r>
              <a:rPr sz="2400" spc="17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F162E"/>
                </a:solidFill>
                <a:latin typeface="Calibri"/>
                <a:cs typeface="Calibri"/>
              </a:rPr>
              <a:t>parts</a:t>
            </a:r>
            <a:r>
              <a:rPr sz="2400" spc="15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F162E"/>
                </a:solidFill>
                <a:latin typeface="Calibri"/>
                <a:cs typeface="Calibri"/>
              </a:rPr>
              <a:t>of</a:t>
            </a:r>
            <a:r>
              <a:rPr sz="2400" spc="15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F162E"/>
                </a:solidFill>
                <a:latin typeface="Calibri"/>
                <a:cs typeface="Calibri"/>
              </a:rPr>
              <a:t>an</a:t>
            </a:r>
            <a:r>
              <a:rPr sz="2400" spc="16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F162E"/>
                </a:solidFill>
                <a:latin typeface="Calibri"/>
                <a:cs typeface="Calibri"/>
              </a:rPr>
              <a:t>element</a:t>
            </a:r>
            <a:r>
              <a:rPr sz="2400" spc="16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F162E"/>
                </a:solidFill>
                <a:latin typeface="Calibri"/>
                <a:cs typeface="Calibri"/>
              </a:rPr>
              <a:t>that</a:t>
            </a:r>
            <a:endParaRPr sz="2400">
              <a:latin typeface="Calibri"/>
              <a:cs typeface="Calibri"/>
            </a:endParaRPr>
          </a:p>
          <a:p>
            <a:pPr marL="318770">
              <a:lnSpc>
                <a:spcPct val="100000"/>
              </a:lnSpc>
              <a:spcBef>
                <a:spcPts val="5"/>
              </a:spcBef>
            </a:pPr>
            <a:r>
              <a:rPr sz="2400" spc="-25" dirty="0">
                <a:solidFill>
                  <a:srgbClr val="0F162E"/>
                </a:solidFill>
                <a:latin typeface="Calibri"/>
                <a:cs typeface="Calibri"/>
              </a:rPr>
              <a:t>take</a:t>
            </a:r>
            <a:r>
              <a:rPr sz="2400" spc="-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F162E"/>
                </a:solidFill>
                <a:latin typeface="Calibri"/>
                <a:cs typeface="Calibri"/>
              </a:rPr>
              <a:t>up</a:t>
            </a:r>
            <a:r>
              <a:rPr sz="24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F162E"/>
                </a:solidFill>
                <a:latin typeface="Calibri"/>
                <a:cs typeface="Calibri"/>
              </a:rPr>
              <a:t>space on</a:t>
            </a:r>
            <a:r>
              <a:rPr sz="24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F162E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F162E"/>
                </a:solidFill>
                <a:latin typeface="Calibri"/>
                <a:cs typeface="Calibri"/>
              </a:rPr>
              <a:t>web </a:t>
            </a:r>
            <a:r>
              <a:rPr sz="2400" spc="-5" dirty="0">
                <a:solidFill>
                  <a:srgbClr val="0F162E"/>
                </a:solidFill>
                <a:latin typeface="Calibri"/>
                <a:cs typeface="Calibri"/>
              </a:rPr>
              <a:t>page.</a:t>
            </a:r>
            <a:endParaRPr sz="2400">
              <a:latin typeface="Calibri"/>
              <a:cs typeface="Calibri"/>
            </a:endParaRPr>
          </a:p>
          <a:p>
            <a:pPr marL="680085" lvl="1" indent="-343535">
              <a:lnSpc>
                <a:spcPct val="100000"/>
              </a:lnSpc>
              <a:spcBef>
                <a:spcPts val="1145"/>
              </a:spcBef>
              <a:buClr>
                <a:srgbClr val="8BB649"/>
              </a:buClr>
              <a:buSzPct val="90909"/>
              <a:buAutoNum type="arabicPeriod"/>
              <a:tabLst>
                <a:tab pos="680085" algn="l"/>
                <a:tab pos="680720" algn="l"/>
              </a:tabLst>
            </a:pPr>
            <a:r>
              <a:rPr sz="2200" b="1" spc="-10" dirty="0">
                <a:solidFill>
                  <a:srgbClr val="3C3C3C"/>
                </a:solidFill>
                <a:latin typeface="Calibri"/>
                <a:cs typeface="Calibri"/>
              </a:rPr>
              <a:t>width</a:t>
            </a:r>
            <a:r>
              <a:rPr sz="2200" b="1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2200" b="1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C3C3C"/>
                </a:solidFill>
                <a:latin typeface="Calibri"/>
                <a:cs typeface="Calibri"/>
              </a:rPr>
              <a:t>height:</a:t>
            </a:r>
            <a:r>
              <a:rPr sz="2200" b="1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2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Calibri"/>
                <a:cs typeface="Calibri"/>
              </a:rPr>
              <a:t>width and</a:t>
            </a:r>
            <a:r>
              <a:rPr sz="22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C3C3C"/>
                </a:solidFill>
                <a:latin typeface="Calibri"/>
                <a:cs typeface="Calibri"/>
              </a:rPr>
              <a:t>height</a:t>
            </a:r>
            <a:r>
              <a:rPr sz="22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22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2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C3C3C"/>
                </a:solidFill>
                <a:latin typeface="Calibri"/>
                <a:cs typeface="Calibri"/>
              </a:rPr>
              <a:t>content</a:t>
            </a:r>
            <a:r>
              <a:rPr sz="22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Calibri"/>
                <a:cs typeface="Calibri"/>
              </a:rPr>
              <a:t>area.</a:t>
            </a:r>
            <a:endParaRPr sz="2200">
              <a:latin typeface="Calibri"/>
              <a:cs typeface="Calibri"/>
            </a:endParaRPr>
          </a:p>
          <a:p>
            <a:pPr marL="680085" lvl="1" indent="-343535">
              <a:lnSpc>
                <a:spcPct val="100000"/>
              </a:lnSpc>
              <a:spcBef>
                <a:spcPts val="1130"/>
              </a:spcBef>
              <a:buClr>
                <a:srgbClr val="8BB649"/>
              </a:buClr>
              <a:buSzPct val="90909"/>
              <a:buAutoNum type="arabicPeriod"/>
              <a:tabLst>
                <a:tab pos="680085" algn="l"/>
                <a:tab pos="680720" algn="l"/>
              </a:tabLst>
            </a:pPr>
            <a:r>
              <a:rPr sz="2200" b="1" spc="-5" dirty="0">
                <a:solidFill>
                  <a:srgbClr val="3C3C3C"/>
                </a:solidFill>
                <a:latin typeface="Calibri"/>
                <a:cs typeface="Calibri"/>
              </a:rPr>
              <a:t>padding: </a:t>
            </a:r>
            <a:r>
              <a:rPr sz="22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Calibri"/>
                <a:cs typeface="Calibri"/>
              </a:rPr>
              <a:t>amount of</a:t>
            </a:r>
            <a:r>
              <a:rPr sz="22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Calibri"/>
                <a:cs typeface="Calibri"/>
              </a:rPr>
              <a:t>space</a:t>
            </a:r>
            <a:r>
              <a:rPr sz="22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Calibri"/>
                <a:cs typeface="Calibri"/>
              </a:rPr>
              <a:t>between</a:t>
            </a:r>
            <a:r>
              <a:rPr sz="22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2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C3C3C"/>
                </a:solidFill>
                <a:latin typeface="Calibri"/>
                <a:cs typeface="Calibri"/>
              </a:rPr>
              <a:t>content</a:t>
            </a:r>
            <a:r>
              <a:rPr sz="22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Calibri"/>
                <a:cs typeface="Calibri"/>
              </a:rPr>
              <a:t>area</a:t>
            </a:r>
            <a:r>
              <a:rPr sz="22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22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40" dirty="0">
                <a:solidFill>
                  <a:srgbClr val="3C3C3C"/>
                </a:solidFill>
                <a:latin typeface="Calibri"/>
                <a:cs typeface="Calibri"/>
              </a:rPr>
              <a:t>border.</a:t>
            </a:r>
            <a:endParaRPr sz="2200">
              <a:latin typeface="Calibri"/>
              <a:cs typeface="Calibri"/>
            </a:endParaRPr>
          </a:p>
          <a:p>
            <a:pPr marL="680085" lvl="1" indent="-343535">
              <a:lnSpc>
                <a:spcPct val="100000"/>
              </a:lnSpc>
              <a:spcBef>
                <a:spcPts val="1130"/>
              </a:spcBef>
              <a:buClr>
                <a:srgbClr val="8BB649"/>
              </a:buClr>
              <a:buSzPct val="90909"/>
              <a:buAutoNum type="arabicPeriod"/>
              <a:tabLst>
                <a:tab pos="680085" algn="l"/>
                <a:tab pos="680720" algn="l"/>
              </a:tabLst>
            </a:pPr>
            <a:r>
              <a:rPr sz="2200" b="1" spc="-10" dirty="0">
                <a:solidFill>
                  <a:srgbClr val="3C3C3C"/>
                </a:solidFill>
                <a:latin typeface="Calibri"/>
                <a:cs typeface="Calibri"/>
              </a:rPr>
              <a:t>border:</a:t>
            </a:r>
            <a:r>
              <a:rPr sz="2200" b="1" spc="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2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Calibri"/>
                <a:cs typeface="Calibri"/>
              </a:rPr>
              <a:t>thickness</a:t>
            </a:r>
            <a:r>
              <a:rPr sz="22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22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Calibri"/>
                <a:cs typeface="Calibri"/>
              </a:rPr>
              <a:t>style</a:t>
            </a:r>
            <a:r>
              <a:rPr sz="22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22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2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Calibri"/>
                <a:cs typeface="Calibri"/>
              </a:rPr>
              <a:t>border</a:t>
            </a:r>
            <a:r>
              <a:rPr sz="22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Calibri"/>
                <a:cs typeface="Calibri"/>
              </a:rPr>
              <a:t>surrounding</a:t>
            </a:r>
            <a:r>
              <a:rPr sz="22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C3C3C"/>
                </a:solidFill>
                <a:latin typeface="Calibri"/>
                <a:cs typeface="Calibri"/>
              </a:rPr>
              <a:t>content</a:t>
            </a:r>
            <a:r>
              <a:rPr sz="2200" spc="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Calibri"/>
                <a:cs typeface="Calibri"/>
              </a:rPr>
              <a:t>area </a:t>
            </a:r>
            <a:r>
              <a:rPr sz="2200" spc="-5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22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Calibri"/>
                <a:cs typeface="Calibri"/>
              </a:rPr>
              <a:t>padding.</a:t>
            </a:r>
            <a:endParaRPr sz="2200">
              <a:latin typeface="Calibri"/>
              <a:cs typeface="Calibri"/>
            </a:endParaRPr>
          </a:p>
          <a:p>
            <a:pPr marL="680085" lvl="1" indent="-343535">
              <a:lnSpc>
                <a:spcPct val="100000"/>
              </a:lnSpc>
              <a:spcBef>
                <a:spcPts val="1130"/>
              </a:spcBef>
              <a:buClr>
                <a:srgbClr val="8BB649"/>
              </a:buClr>
              <a:buSzPct val="90909"/>
              <a:buAutoNum type="arabicPeriod"/>
              <a:tabLst>
                <a:tab pos="680085" algn="l"/>
                <a:tab pos="680720" algn="l"/>
              </a:tabLst>
            </a:pPr>
            <a:r>
              <a:rPr sz="2200" b="1" spc="-10" dirty="0">
                <a:solidFill>
                  <a:srgbClr val="3C3C3C"/>
                </a:solidFill>
                <a:latin typeface="Calibri"/>
                <a:cs typeface="Calibri"/>
              </a:rPr>
              <a:t>margin:</a:t>
            </a:r>
            <a:r>
              <a:rPr sz="2200" b="1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2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Calibri"/>
                <a:cs typeface="Calibri"/>
              </a:rPr>
              <a:t>amount</a:t>
            </a:r>
            <a:r>
              <a:rPr sz="22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22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Calibri"/>
                <a:cs typeface="Calibri"/>
              </a:rPr>
              <a:t>space </a:t>
            </a:r>
            <a:r>
              <a:rPr sz="2200" spc="-10" dirty="0">
                <a:solidFill>
                  <a:srgbClr val="3C3C3C"/>
                </a:solidFill>
                <a:latin typeface="Calibri"/>
                <a:cs typeface="Calibri"/>
              </a:rPr>
              <a:t>between</a:t>
            </a:r>
            <a:r>
              <a:rPr sz="2200" spc="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2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Calibri"/>
                <a:cs typeface="Calibri"/>
              </a:rPr>
              <a:t>border</a:t>
            </a:r>
            <a:r>
              <a:rPr sz="22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22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2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Calibri"/>
                <a:cs typeface="Calibri"/>
              </a:rPr>
              <a:t>outside</a:t>
            </a:r>
            <a:r>
              <a:rPr sz="22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Calibri"/>
                <a:cs typeface="Calibri"/>
              </a:rPr>
              <a:t>edge</a:t>
            </a:r>
            <a:r>
              <a:rPr sz="22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22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2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Calibri"/>
                <a:cs typeface="Calibri"/>
              </a:rPr>
              <a:t>element.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THE</a:t>
            </a:r>
            <a:r>
              <a:rPr sz="2800" spc="-10" dirty="0">
                <a:solidFill>
                  <a:srgbClr val="FFFFFF"/>
                </a:solidFill>
              </a:rPr>
              <a:t> </a:t>
            </a:r>
            <a:r>
              <a:rPr sz="2800" spc="-25" dirty="0">
                <a:solidFill>
                  <a:srgbClr val="FFFFFF"/>
                </a:solidFill>
              </a:rPr>
              <a:t>BOX</a:t>
            </a:r>
            <a:r>
              <a:rPr sz="2800" spc="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MODEL:</a:t>
            </a:r>
            <a:r>
              <a:rPr sz="2800" spc="-15" dirty="0">
                <a:solidFill>
                  <a:srgbClr val="FFFFFF"/>
                </a:solidFill>
              </a:rPr>
              <a:t> </a:t>
            </a:r>
            <a:r>
              <a:rPr sz="2800" spc="-5" dirty="0">
                <a:solidFill>
                  <a:srgbClr val="FFFFFF"/>
                </a:solidFill>
              </a:rPr>
              <a:t>HEIGHT</a:t>
            </a:r>
            <a:r>
              <a:rPr sz="2800" spc="2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AND </a:t>
            </a:r>
            <a:r>
              <a:rPr sz="2800" spc="-15" dirty="0">
                <a:solidFill>
                  <a:srgbClr val="FFFFFF"/>
                </a:solidFill>
              </a:rPr>
              <a:t>WIDTH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180971"/>
            <a:ext cx="10669270" cy="354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indent="-306705">
              <a:lnSpc>
                <a:spcPts val="205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element’s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content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has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two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dimensions: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height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width.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By</a:t>
            </a:r>
            <a:r>
              <a:rPr sz="18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default,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dimensions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HTML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box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are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ts val="2050"/>
              </a:lnSpc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set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hold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raw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contents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of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box.</a:t>
            </a:r>
            <a:endParaRPr sz="1800">
              <a:latin typeface="Calibri"/>
              <a:cs typeface="Calibri"/>
            </a:endParaRPr>
          </a:p>
          <a:p>
            <a:pPr marL="12700" marR="2410460">
              <a:lnSpc>
                <a:spcPct val="137800"/>
              </a:lnSpc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CSS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height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width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properties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used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modify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these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default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dimensions.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 marR="9272905">
              <a:lnSpc>
                <a:spcPts val="1939"/>
              </a:lnSpc>
              <a:spcBef>
                <a:spcPts val="3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height: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80px;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width: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240px;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92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ts val="2050"/>
              </a:lnSpc>
              <a:spcBef>
                <a:spcPts val="819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In this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example,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height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width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paragraph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elements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are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set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80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pixels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240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pixels,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respectively</a:t>
            </a:r>
            <a:r>
              <a:rPr sz="1800" spc="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—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ts val="2050"/>
              </a:lnSpc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px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in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code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above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stands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pixels.</a:t>
            </a:r>
            <a:endParaRPr sz="1800">
              <a:latin typeface="Calibri"/>
              <a:cs typeface="Calibri"/>
            </a:endParaRPr>
          </a:p>
          <a:p>
            <a:pPr marL="318770" marR="173355" indent="-306705">
              <a:lnSpc>
                <a:spcPct val="9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Pixels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allow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set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exact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size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element’s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box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(width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height).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When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width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height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are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set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pixels,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will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same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size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all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devices</a:t>
            </a:r>
            <a:r>
              <a:rPr sz="1800" spc="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—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fills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laptop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screen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will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overflow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a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mobile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screen.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5" dirty="0">
                <a:solidFill>
                  <a:srgbClr val="FFFFFF"/>
                </a:solidFill>
              </a:rPr>
              <a:t>BORDERS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241295"/>
            <a:ext cx="6889750" cy="4035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8770" indent="-306705" algn="just">
              <a:lnSpc>
                <a:spcPct val="100000"/>
              </a:lnSpc>
              <a:spcBef>
                <a:spcPts val="105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700" spc="4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border</a:t>
            </a:r>
            <a:r>
              <a:rPr sz="1700" spc="46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700" spc="459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700" spc="4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line</a:t>
            </a:r>
            <a:r>
              <a:rPr sz="1700" spc="459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700" spc="4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surrounds</a:t>
            </a:r>
            <a:r>
              <a:rPr sz="1700" spc="459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700" spc="459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element,</a:t>
            </a:r>
            <a:r>
              <a:rPr sz="1700" spc="4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like</a:t>
            </a:r>
            <a:r>
              <a:rPr sz="1700" spc="459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700" spc="4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frame</a:t>
            </a:r>
            <a:r>
              <a:rPr sz="1700" spc="459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around</a:t>
            </a:r>
            <a:r>
              <a:rPr sz="1700" spc="459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endParaRPr sz="1700">
              <a:latin typeface="Calibri"/>
              <a:cs typeface="Calibri"/>
            </a:endParaRPr>
          </a:p>
          <a:p>
            <a:pPr marL="318770" algn="just">
              <a:lnSpc>
                <a:spcPct val="100000"/>
              </a:lnSpc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painting.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Borders</a:t>
            </a:r>
            <a:r>
              <a:rPr sz="1700" spc="-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set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 specific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width,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style,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color:</a:t>
            </a:r>
            <a:endParaRPr sz="1700">
              <a:latin typeface="Calibri"/>
              <a:cs typeface="Calibri"/>
            </a:endParaRPr>
          </a:p>
          <a:p>
            <a:pPr marL="318770" marR="6985" indent="-306705" algn="just">
              <a:lnSpc>
                <a:spcPct val="100000"/>
              </a:lnSpc>
              <a:spcBef>
                <a:spcPts val="101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b="1" spc="-5" dirty="0">
                <a:solidFill>
                  <a:srgbClr val="3C3C3C"/>
                </a:solidFill>
                <a:latin typeface="Calibri"/>
                <a:cs typeface="Calibri"/>
              </a:rPr>
              <a:t>width—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 thickness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border.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border’s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thickness can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be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set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in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pixels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or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one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following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keywords:</a:t>
            </a:r>
            <a:r>
              <a:rPr sz="1700" spc="-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thin,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medium,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or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thick.</a:t>
            </a:r>
            <a:endParaRPr sz="1700">
              <a:latin typeface="Calibri"/>
              <a:cs typeface="Calibri"/>
            </a:endParaRPr>
          </a:p>
          <a:p>
            <a:pPr marL="318770" indent="-306705" algn="just">
              <a:lnSpc>
                <a:spcPct val="100000"/>
              </a:lnSpc>
              <a:spcBef>
                <a:spcPts val="1005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b="1" spc="-10" dirty="0">
                <a:solidFill>
                  <a:srgbClr val="3C3C3C"/>
                </a:solidFill>
                <a:latin typeface="Calibri"/>
                <a:cs typeface="Calibri"/>
              </a:rPr>
              <a:t>style—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4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design</a:t>
            </a:r>
            <a:r>
              <a:rPr sz="1700" spc="4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4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4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border.</a:t>
            </a:r>
            <a:r>
              <a:rPr sz="1700" spc="4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Web</a:t>
            </a:r>
            <a:r>
              <a:rPr sz="1700" spc="434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browsers</a:t>
            </a:r>
            <a:r>
              <a:rPr sz="1700" spc="4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700" spc="4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render</a:t>
            </a:r>
            <a:r>
              <a:rPr sz="1700" spc="4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any</a:t>
            </a:r>
            <a:r>
              <a:rPr sz="1700" spc="4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4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10</a:t>
            </a:r>
            <a:endParaRPr sz="1700">
              <a:latin typeface="Calibri"/>
              <a:cs typeface="Calibri"/>
            </a:endParaRPr>
          </a:p>
          <a:p>
            <a:pPr marL="318770" algn="just">
              <a:lnSpc>
                <a:spcPct val="100000"/>
              </a:lnSpc>
            </a:pP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different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styles.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Some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these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styles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include: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none,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dotted,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solid.</a:t>
            </a:r>
            <a:endParaRPr sz="1700">
              <a:latin typeface="Calibri"/>
              <a:cs typeface="Calibri"/>
            </a:endParaRPr>
          </a:p>
          <a:p>
            <a:pPr marL="318770" marR="5080" indent="-306705" algn="just">
              <a:lnSpc>
                <a:spcPct val="100000"/>
              </a:lnSpc>
              <a:spcBef>
                <a:spcPts val="101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b="1" spc="-5" dirty="0">
                <a:solidFill>
                  <a:srgbClr val="3C3C3C"/>
                </a:solidFill>
                <a:latin typeface="Calibri"/>
                <a:cs typeface="Calibri"/>
              </a:rPr>
              <a:t>color—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color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border.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Web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browsers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can render</a:t>
            </a:r>
            <a:r>
              <a:rPr sz="1700" spc="36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colors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using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few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different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formats,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including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140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built-in</a:t>
            </a:r>
            <a:r>
              <a:rPr sz="1700" spc="-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color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keywords.</a:t>
            </a:r>
            <a:endParaRPr sz="1700">
              <a:latin typeface="Calibri"/>
              <a:cs typeface="Calibri"/>
            </a:endParaRPr>
          </a:p>
          <a:p>
            <a:pPr marL="318770" indent="-306705" algn="just">
              <a:lnSpc>
                <a:spcPct val="100000"/>
              </a:lnSpc>
              <a:spcBef>
                <a:spcPts val="101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700" spc="1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1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example</a:t>
            </a:r>
            <a:r>
              <a:rPr sz="1700" spc="1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above,</a:t>
            </a:r>
            <a:r>
              <a:rPr sz="1700" spc="1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1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border</a:t>
            </a:r>
            <a:r>
              <a:rPr sz="1700" spc="1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has</a:t>
            </a:r>
            <a:r>
              <a:rPr sz="1700" spc="1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700" spc="1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width</a:t>
            </a:r>
            <a:r>
              <a:rPr sz="1700" spc="1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1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3</a:t>
            </a:r>
            <a:r>
              <a:rPr sz="1700" spc="1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pixels,</a:t>
            </a:r>
            <a:r>
              <a:rPr sz="1700" spc="1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700" spc="1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style</a:t>
            </a:r>
            <a:r>
              <a:rPr sz="1700" spc="1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1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solid,</a:t>
            </a:r>
            <a:endParaRPr sz="1700">
              <a:latin typeface="Calibri"/>
              <a:cs typeface="Calibri"/>
            </a:endParaRPr>
          </a:p>
          <a:p>
            <a:pPr marL="318770" algn="just">
              <a:lnSpc>
                <a:spcPct val="100000"/>
              </a:lnSpc>
            </a:pP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coral.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All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three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properties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are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set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one line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code.</a:t>
            </a:r>
            <a:endParaRPr sz="1700">
              <a:latin typeface="Calibri"/>
              <a:cs typeface="Calibri"/>
            </a:endParaRPr>
          </a:p>
          <a:p>
            <a:pPr marL="318770" marR="5715" indent="-306705" algn="just">
              <a:lnSpc>
                <a:spcPct val="100000"/>
              </a:lnSpc>
              <a:spcBef>
                <a:spcPts val="101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7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default</a:t>
            </a:r>
            <a:r>
              <a:rPr sz="1700" spc="8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border</a:t>
            </a:r>
            <a:r>
              <a:rPr sz="1700" spc="8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700" spc="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medium</a:t>
            </a:r>
            <a:r>
              <a:rPr sz="1700" spc="8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none</a:t>
            </a:r>
            <a:r>
              <a:rPr sz="1700" spc="9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color,</a:t>
            </a:r>
            <a:r>
              <a:rPr sz="1700" spc="7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where</a:t>
            </a:r>
            <a:r>
              <a:rPr sz="1700" spc="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r>
              <a:rPr sz="1700" spc="9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700" spc="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current</a:t>
            </a:r>
            <a:r>
              <a:rPr sz="1700" spc="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color </a:t>
            </a:r>
            <a:r>
              <a:rPr sz="1700" spc="-37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element. If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width, style,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or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color are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not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set in the CSS file, the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web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browser</a:t>
            </a:r>
            <a:r>
              <a:rPr sz="1700" spc="-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assigns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default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property.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71509" y="2625978"/>
            <a:ext cx="22574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8110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border: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3px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solid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coral;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71509" y="4178045"/>
            <a:ext cx="187515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110" marR="5080" indent="-1054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p.content-header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 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height: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80px;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width: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240px;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border: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solid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coral;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</a:rPr>
              <a:t>CSS</a:t>
            </a:r>
            <a:r>
              <a:rPr sz="2800" spc="-4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BORDER</a:t>
            </a:r>
            <a:r>
              <a:rPr sz="2800" spc="-3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STYLE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151858"/>
            <a:ext cx="8110220" cy="4079875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12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dotted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-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Defines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dotted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border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dashed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-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Defines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dashed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border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solid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-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Defines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solid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border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double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-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Defines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double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border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groove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-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Defines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a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3D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grooved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3C3C3C"/>
                </a:solidFill>
                <a:latin typeface="Calibri"/>
                <a:cs typeface="Calibri"/>
              </a:rPr>
              <a:t>border.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effect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depends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border-color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ridge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-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Defines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3D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ridged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3C3C3C"/>
                </a:solidFill>
                <a:latin typeface="Calibri"/>
                <a:cs typeface="Calibri"/>
              </a:rPr>
              <a:t>border.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effect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depends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border-color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inset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-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Defines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 3D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inset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3C3C3C"/>
                </a:solidFill>
                <a:latin typeface="Calibri"/>
                <a:cs typeface="Calibri"/>
              </a:rPr>
              <a:t>border.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effect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depends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border-color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outset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-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Defines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 3D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outset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3C3C3C"/>
                </a:solidFill>
                <a:latin typeface="Calibri"/>
                <a:cs typeface="Calibri"/>
              </a:rPr>
              <a:t>border.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effect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depends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border-color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none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-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Defines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no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border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hidden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-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Defines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hidden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border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</a:rPr>
              <a:t>BORDER </a:t>
            </a:r>
            <a:r>
              <a:rPr sz="2800" spc="-5" dirty="0">
                <a:solidFill>
                  <a:srgbClr val="FFFFFF"/>
                </a:solidFill>
              </a:rPr>
              <a:t>-</a:t>
            </a:r>
            <a:r>
              <a:rPr sz="2800" spc="-30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INDIVIDUAL</a:t>
            </a:r>
            <a:r>
              <a:rPr sz="2800" spc="-25" dirty="0">
                <a:solidFill>
                  <a:srgbClr val="FFFFFF"/>
                </a:solidFill>
              </a:rPr>
              <a:t> </a:t>
            </a:r>
            <a:r>
              <a:rPr sz="2800" spc="-5" dirty="0">
                <a:solidFill>
                  <a:srgbClr val="FFFFFF"/>
                </a:solidFill>
              </a:rPr>
              <a:t>SIDES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765552"/>
            <a:ext cx="409321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dirty="0">
                <a:solidFill>
                  <a:srgbClr val="A42A2A"/>
                </a:solidFill>
                <a:latin typeface="Consolas"/>
                <a:cs typeface="Consolas"/>
              </a:rPr>
              <a:t>p</a:t>
            </a:r>
            <a:r>
              <a:rPr sz="1800" spc="-80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68960" marR="5080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border-top-style</a:t>
            </a:r>
            <a:r>
              <a:rPr sz="1800" spc="-5" dirty="0">
                <a:latin typeface="Consolas"/>
                <a:cs typeface="Consolas"/>
              </a:rPr>
              <a:t>: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dotted</a:t>
            </a:r>
            <a:r>
              <a:rPr sz="1800" spc="-5" dirty="0">
                <a:latin typeface="Consolas"/>
                <a:cs typeface="Consolas"/>
              </a:rPr>
              <a:t>; </a:t>
            </a:r>
            <a:r>
              <a:rPr sz="1800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border-right-style</a:t>
            </a:r>
            <a:r>
              <a:rPr sz="1800" spc="-5" dirty="0">
                <a:latin typeface="Consolas"/>
                <a:cs typeface="Consolas"/>
              </a:rPr>
              <a:t>: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solid</a:t>
            </a:r>
            <a:r>
              <a:rPr sz="1800" spc="-5" dirty="0">
                <a:latin typeface="Consolas"/>
                <a:cs typeface="Consolas"/>
              </a:rPr>
              <a:t>; </a:t>
            </a:r>
            <a:r>
              <a:rPr sz="1800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border-bottom-style</a:t>
            </a:r>
            <a:r>
              <a:rPr sz="1800" spc="-5" dirty="0">
                <a:latin typeface="Consolas"/>
                <a:cs typeface="Consolas"/>
              </a:rPr>
              <a:t>:</a:t>
            </a:r>
            <a:r>
              <a:rPr sz="1800" spc="-7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dotted</a:t>
            </a:r>
            <a:r>
              <a:rPr sz="1800" spc="-5" dirty="0">
                <a:latin typeface="Consolas"/>
                <a:cs typeface="Consolas"/>
              </a:rPr>
              <a:t>; </a:t>
            </a:r>
            <a:r>
              <a:rPr sz="1800" spc="-97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border-left-style</a:t>
            </a:r>
            <a:r>
              <a:rPr sz="1800" spc="-5" dirty="0">
                <a:latin typeface="Consolas"/>
                <a:cs typeface="Consolas"/>
              </a:rPr>
              <a:t>: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solid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18770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</a:rPr>
              <a:t>BORDER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RADIUS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614421"/>
            <a:ext cx="5565775" cy="316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indent="-306705" algn="just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2400" spc="-65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modify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corners</a:t>
            </a:r>
            <a:r>
              <a:rPr sz="24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endParaRPr sz="2400">
              <a:latin typeface="Calibri"/>
              <a:cs typeface="Calibri"/>
            </a:endParaRPr>
          </a:p>
          <a:p>
            <a:pPr marL="318770" marR="493395" algn="just">
              <a:lnSpc>
                <a:spcPct val="100000"/>
              </a:lnSpc>
            </a:pP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element’s border </a:t>
            </a:r>
            <a:r>
              <a:rPr sz="2400" spc="-25" dirty="0">
                <a:solidFill>
                  <a:srgbClr val="3C3C3C"/>
                </a:solidFill>
                <a:latin typeface="Calibri"/>
                <a:cs typeface="Calibri"/>
              </a:rPr>
              <a:t>box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with the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border- </a:t>
            </a:r>
            <a:r>
              <a:rPr sz="2400" spc="-5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radius </a:t>
            </a:r>
            <a:r>
              <a:rPr sz="2400" spc="-25" dirty="0">
                <a:solidFill>
                  <a:srgbClr val="3C3C3C"/>
                </a:solidFill>
                <a:latin typeface="Calibri"/>
                <a:cs typeface="Calibri"/>
              </a:rPr>
              <a:t>property.</a:t>
            </a:r>
            <a:endParaRPr sz="2400">
              <a:latin typeface="Calibri"/>
              <a:cs typeface="Calibri"/>
            </a:endParaRPr>
          </a:p>
          <a:p>
            <a:pPr marL="318770" marR="5080" indent="-306705" algn="just">
              <a:lnSpc>
                <a:spcPct val="100000"/>
              </a:lnSpc>
              <a:spcBef>
                <a:spcPts val="117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2400" spc="-65" dirty="0">
                <a:solidFill>
                  <a:srgbClr val="0F162E"/>
                </a:solidFill>
                <a:latin typeface="Calibri"/>
                <a:cs typeface="Calibri"/>
              </a:rPr>
              <a:t>You </a:t>
            </a:r>
            <a:r>
              <a:rPr sz="2400" spc="-10" dirty="0">
                <a:solidFill>
                  <a:srgbClr val="0F162E"/>
                </a:solidFill>
                <a:latin typeface="Calibri"/>
                <a:cs typeface="Calibri"/>
              </a:rPr>
              <a:t>can </a:t>
            </a:r>
            <a:r>
              <a:rPr sz="2400" spc="-15" dirty="0">
                <a:solidFill>
                  <a:srgbClr val="0F162E"/>
                </a:solidFill>
                <a:latin typeface="Calibri"/>
                <a:cs typeface="Calibri"/>
              </a:rPr>
              <a:t>create </a:t>
            </a:r>
            <a:r>
              <a:rPr sz="2400" dirty="0">
                <a:solidFill>
                  <a:srgbClr val="0F162E"/>
                </a:solidFill>
                <a:latin typeface="Calibri"/>
                <a:cs typeface="Calibri"/>
              </a:rPr>
              <a:t>a </a:t>
            </a:r>
            <a:r>
              <a:rPr sz="2400" spc="-10" dirty="0">
                <a:solidFill>
                  <a:srgbClr val="0F162E"/>
                </a:solidFill>
                <a:latin typeface="Calibri"/>
                <a:cs typeface="Calibri"/>
              </a:rPr>
              <a:t>border that </a:t>
            </a:r>
            <a:r>
              <a:rPr sz="2400" dirty="0">
                <a:solidFill>
                  <a:srgbClr val="0F162E"/>
                </a:solidFill>
                <a:latin typeface="Calibri"/>
                <a:cs typeface="Calibri"/>
              </a:rPr>
              <a:t>is a </a:t>
            </a:r>
            <a:r>
              <a:rPr sz="2400" spc="-10" dirty="0">
                <a:solidFill>
                  <a:srgbClr val="0F162E"/>
                </a:solidFill>
                <a:latin typeface="Calibri"/>
                <a:cs typeface="Calibri"/>
              </a:rPr>
              <a:t>perfect </a:t>
            </a:r>
            <a:r>
              <a:rPr sz="24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F162E"/>
                </a:solidFill>
                <a:latin typeface="Calibri"/>
                <a:cs typeface="Calibri"/>
              </a:rPr>
              <a:t>circle by </a:t>
            </a:r>
            <a:r>
              <a:rPr sz="2400" spc="-20" dirty="0">
                <a:solidFill>
                  <a:srgbClr val="0F162E"/>
                </a:solidFill>
                <a:latin typeface="Calibri"/>
                <a:cs typeface="Calibri"/>
              </a:rPr>
              <a:t>first </a:t>
            </a:r>
            <a:r>
              <a:rPr sz="2400" spc="-10" dirty="0">
                <a:solidFill>
                  <a:srgbClr val="0F162E"/>
                </a:solidFill>
                <a:latin typeface="Calibri"/>
                <a:cs typeface="Calibri"/>
              </a:rPr>
              <a:t>creating </a:t>
            </a:r>
            <a:r>
              <a:rPr sz="2400" dirty="0">
                <a:solidFill>
                  <a:srgbClr val="0F162E"/>
                </a:solidFill>
                <a:latin typeface="Calibri"/>
                <a:cs typeface="Calibri"/>
              </a:rPr>
              <a:t>an </a:t>
            </a:r>
            <a:r>
              <a:rPr sz="2400" spc="-5" dirty="0">
                <a:solidFill>
                  <a:srgbClr val="0F162E"/>
                </a:solidFill>
                <a:latin typeface="Calibri"/>
                <a:cs typeface="Calibri"/>
              </a:rPr>
              <a:t>element with </a:t>
            </a:r>
            <a:r>
              <a:rPr sz="240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2400" spc="-53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F162E"/>
                </a:solidFill>
                <a:latin typeface="Calibri"/>
                <a:cs typeface="Calibri"/>
              </a:rPr>
              <a:t>same </a:t>
            </a:r>
            <a:r>
              <a:rPr sz="2400" dirty="0">
                <a:solidFill>
                  <a:srgbClr val="0F162E"/>
                </a:solidFill>
                <a:latin typeface="Calibri"/>
                <a:cs typeface="Calibri"/>
              </a:rPr>
              <a:t>width and </a:t>
            </a:r>
            <a:r>
              <a:rPr sz="2400" spc="-10" dirty="0">
                <a:solidFill>
                  <a:srgbClr val="0F162E"/>
                </a:solidFill>
                <a:latin typeface="Calibri"/>
                <a:cs typeface="Calibri"/>
              </a:rPr>
              <a:t>height, </a:t>
            </a:r>
            <a:r>
              <a:rPr sz="2400" dirty="0">
                <a:solidFill>
                  <a:srgbClr val="0F162E"/>
                </a:solidFill>
                <a:latin typeface="Calibri"/>
                <a:cs typeface="Calibri"/>
              </a:rPr>
              <a:t>and then </a:t>
            </a:r>
            <a:r>
              <a:rPr sz="2800" spc="-15" dirty="0">
                <a:solidFill>
                  <a:srgbClr val="0F162E"/>
                </a:solidFill>
                <a:latin typeface="Calibri"/>
                <a:cs typeface="Calibri"/>
              </a:rPr>
              <a:t>setting </a:t>
            </a:r>
            <a:r>
              <a:rPr sz="28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0F162E"/>
                </a:solidFill>
                <a:latin typeface="Calibri"/>
                <a:cs typeface="Calibri"/>
              </a:rPr>
              <a:t>radius </a:t>
            </a:r>
            <a:r>
              <a:rPr sz="2400" dirty="0">
                <a:solidFill>
                  <a:srgbClr val="0F162E"/>
                </a:solidFill>
                <a:latin typeface="Calibri"/>
                <a:cs typeface="Calibri"/>
              </a:rPr>
              <a:t>equal </a:t>
            </a:r>
            <a:r>
              <a:rPr sz="2400" spc="-15" dirty="0">
                <a:solidFill>
                  <a:srgbClr val="0F162E"/>
                </a:solidFill>
                <a:latin typeface="Calibri"/>
                <a:cs typeface="Calibri"/>
              </a:rPr>
              <a:t>to </a:t>
            </a:r>
            <a:r>
              <a:rPr sz="2400" spc="-5" dirty="0">
                <a:solidFill>
                  <a:srgbClr val="0F162E"/>
                </a:solidFill>
                <a:latin typeface="Calibri"/>
                <a:cs typeface="Calibri"/>
              </a:rPr>
              <a:t>half the </a:t>
            </a:r>
            <a:r>
              <a:rPr sz="2400" dirty="0">
                <a:solidFill>
                  <a:srgbClr val="0F162E"/>
                </a:solidFill>
                <a:latin typeface="Calibri"/>
                <a:cs typeface="Calibri"/>
              </a:rPr>
              <a:t>width </a:t>
            </a:r>
            <a:r>
              <a:rPr sz="2400" spc="-5" dirty="0">
                <a:solidFill>
                  <a:srgbClr val="0F162E"/>
                </a:solidFill>
                <a:latin typeface="Calibri"/>
                <a:cs typeface="Calibri"/>
              </a:rPr>
              <a:t>of the </a:t>
            </a:r>
            <a:r>
              <a:rPr sz="24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F162E"/>
                </a:solidFill>
                <a:latin typeface="Calibri"/>
                <a:cs typeface="Calibri"/>
              </a:rPr>
              <a:t>box,</a:t>
            </a:r>
            <a:r>
              <a:rPr sz="24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F162E"/>
                </a:solidFill>
                <a:latin typeface="Calibri"/>
                <a:cs typeface="Calibri"/>
              </a:rPr>
              <a:t>which</a:t>
            </a:r>
            <a:r>
              <a:rPr sz="24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F162E"/>
                </a:solidFill>
                <a:latin typeface="Calibri"/>
                <a:cs typeface="Calibri"/>
              </a:rPr>
              <a:t>50%.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4000" y="2794253"/>
            <a:ext cx="22123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div.container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 marR="5080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border: 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3px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solid blue; </a:t>
            </a:r>
            <a:r>
              <a:rPr sz="1800" spc="-3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border-radius: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5px;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4000" y="4535804"/>
            <a:ext cx="22123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marR="868680" indent="-105410" algn="just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div.container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 </a:t>
            </a:r>
            <a:r>
              <a:rPr sz="1800" spc="-4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height: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60px; </a:t>
            </a:r>
            <a:r>
              <a:rPr sz="1800" spc="-3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width: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60px;</a:t>
            </a:r>
            <a:endParaRPr sz="1800">
              <a:latin typeface="Calibri"/>
              <a:cs typeface="Calibri"/>
            </a:endParaRPr>
          </a:p>
          <a:p>
            <a:pPr marL="117475" marR="5080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border: 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3px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solid blue; </a:t>
            </a:r>
            <a:r>
              <a:rPr sz="1800" spc="-3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border-radius: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50%;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40" dirty="0">
                <a:solidFill>
                  <a:srgbClr val="FFFFFF"/>
                </a:solidFill>
              </a:rPr>
              <a:t>PADDING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283968"/>
            <a:ext cx="7209790" cy="194056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18770" marR="6350" indent="-306705" algn="just">
              <a:lnSpc>
                <a:spcPts val="1839"/>
              </a:lnSpc>
              <a:spcBef>
                <a:spcPts val="33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 space between the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contents of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box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and the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borders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 a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box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is known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as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padding.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Padding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like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space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between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a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picture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frame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surrounding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it.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CSS,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you</a:t>
            </a:r>
            <a:r>
              <a:rPr sz="17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modify this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space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padding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property.</a:t>
            </a:r>
            <a:endParaRPr sz="1700">
              <a:latin typeface="Calibri"/>
              <a:cs typeface="Calibri"/>
            </a:endParaRPr>
          </a:p>
          <a:p>
            <a:pPr marL="318770" marR="5080" indent="-306705">
              <a:lnSpc>
                <a:spcPts val="1839"/>
              </a:lnSpc>
              <a:spcBef>
                <a:spcPts val="100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padding</a:t>
            </a:r>
            <a:r>
              <a:rPr sz="1700" spc="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property</a:t>
            </a:r>
            <a:r>
              <a:rPr sz="1700" spc="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700" spc="5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often</a:t>
            </a:r>
            <a:r>
              <a:rPr sz="1700" spc="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used</a:t>
            </a:r>
            <a:r>
              <a:rPr sz="1700" spc="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700" spc="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expand</a:t>
            </a:r>
            <a:r>
              <a:rPr sz="1700" spc="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background</a:t>
            </a:r>
            <a:r>
              <a:rPr sz="1700" spc="6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color</a:t>
            </a:r>
            <a:r>
              <a:rPr sz="1700" spc="6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700" spc="5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make </a:t>
            </a:r>
            <a:r>
              <a:rPr sz="1700" spc="-37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content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look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less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cramped.</a:t>
            </a:r>
            <a:endParaRPr sz="1700">
              <a:latin typeface="Calibri"/>
              <a:cs typeface="Calibri"/>
            </a:endParaRPr>
          </a:p>
          <a:p>
            <a:pPr marL="318770" indent="-306705">
              <a:lnSpc>
                <a:spcPts val="1939"/>
              </a:lnSpc>
              <a:spcBef>
                <a:spcPts val="77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If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7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want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be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more</a:t>
            </a:r>
            <a:r>
              <a:rPr sz="17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specific</a:t>
            </a:r>
            <a:r>
              <a:rPr sz="17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about</a:t>
            </a:r>
            <a:r>
              <a:rPr sz="17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amount</a:t>
            </a:r>
            <a:r>
              <a:rPr sz="17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padding</a:t>
            </a:r>
            <a:r>
              <a:rPr sz="17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7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each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side</a:t>
            </a:r>
            <a:r>
              <a:rPr sz="17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endParaRPr sz="1700">
              <a:latin typeface="Calibri"/>
              <a:cs typeface="Calibri"/>
            </a:endParaRPr>
          </a:p>
          <a:p>
            <a:pPr marL="318770">
              <a:lnSpc>
                <a:spcPts val="1939"/>
              </a:lnSpc>
            </a:pP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box’s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content,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use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following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properties: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4605" y="4200270"/>
            <a:ext cx="1591945" cy="133667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17500" indent="-305435">
              <a:lnSpc>
                <a:spcPct val="100000"/>
              </a:lnSpc>
              <a:spcBef>
                <a:spcPts val="8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6865" algn="l"/>
                <a:tab pos="318135" algn="l"/>
              </a:tabLst>
            </a:pP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padding-top</a:t>
            </a:r>
            <a:endParaRPr sz="1500">
              <a:latin typeface="Calibri"/>
              <a:cs typeface="Calibri"/>
            </a:endParaRPr>
          </a:p>
          <a:p>
            <a:pPr marL="317500" indent="-305435">
              <a:lnSpc>
                <a:spcPct val="100000"/>
              </a:lnSpc>
              <a:spcBef>
                <a:spcPts val="7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6865" algn="l"/>
                <a:tab pos="318135" algn="l"/>
              </a:tabLst>
            </a:pP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padding-right</a:t>
            </a:r>
            <a:endParaRPr sz="1500">
              <a:latin typeface="Calibri"/>
              <a:cs typeface="Calibri"/>
            </a:endParaRPr>
          </a:p>
          <a:p>
            <a:pPr marL="317500" indent="-305435">
              <a:lnSpc>
                <a:spcPct val="100000"/>
              </a:lnSpc>
              <a:spcBef>
                <a:spcPts val="7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6865" algn="l"/>
                <a:tab pos="318135" algn="l"/>
              </a:tabLst>
            </a:pP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padding-bottom</a:t>
            </a:r>
            <a:endParaRPr sz="1500">
              <a:latin typeface="Calibri"/>
              <a:cs typeface="Calibri"/>
            </a:endParaRPr>
          </a:p>
          <a:p>
            <a:pPr marL="317500" indent="-305435">
              <a:lnSpc>
                <a:spcPct val="100000"/>
              </a:lnSpc>
              <a:spcBef>
                <a:spcPts val="7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6865" algn="l"/>
                <a:tab pos="318135" algn="l"/>
              </a:tabLst>
            </a:pP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padding-left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9993" y="5611774"/>
            <a:ext cx="7209790" cy="51879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18770" marR="5080" indent="-306705">
              <a:lnSpc>
                <a:spcPts val="1839"/>
              </a:lnSpc>
              <a:spcBef>
                <a:spcPts val="33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Each</a:t>
            </a:r>
            <a:r>
              <a:rPr sz="17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property</a:t>
            </a:r>
            <a:r>
              <a:rPr sz="17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affects</a:t>
            </a:r>
            <a:r>
              <a:rPr sz="17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padding</a:t>
            </a:r>
            <a:r>
              <a:rPr sz="17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7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only</a:t>
            </a:r>
            <a:r>
              <a:rPr sz="17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one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side</a:t>
            </a:r>
            <a:r>
              <a:rPr sz="17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box’s</a:t>
            </a:r>
            <a:r>
              <a:rPr sz="17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content,</a:t>
            </a:r>
            <a:r>
              <a:rPr sz="17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giving </a:t>
            </a:r>
            <a:r>
              <a:rPr sz="1700" spc="-37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more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flexibility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customization.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68842" y="2429002"/>
            <a:ext cx="22574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marR="5080" indent="-10541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p.content-header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 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border: 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3px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solid 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coral; </a:t>
            </a:r>
            <a:r>
              <a:rPr sz="1800" spc="-3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padding: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10px;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68842" y="4251197"/>
            <a:ext cx="24638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marR="5080" indent="-10541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p.content-header</a:t>
            </a:r>
            <a:r>
              <a:rPr sz="1800" spc="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 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border: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3px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solid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fuchsia; </a:t>
            </a:r>
            <a:r>
              <a:rPr sz="1800" spc="-3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padding-bottom: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10px;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35" dirty="0">
                <a:solidFill>
                  <a:srgbClr val="FFFFFF"/>
                </a:solidFill>
              </a:rPr>
              <a:t>PADDING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SHORTHAND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18770" marR="5080" indent="-306705" algn="just">
              <a:lnSpc>
                <a:spcPts val="1839"/>
              </a:lnSpc>
              <a:spcBef>
                <a:spcPts val="33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dirty="0"/>
              <a:t>Another </a:t>
            </a:r>
            <a:r>
              <a:rPr spc="-5" dirty="0"/>
              <a:t>implementation</a:t>
            </a:r>
            <a:r>
              <a:rPr dirty="0"/>
              <a:t> of </a:t>
            </a:r>
            <a:r>
              <a:rPr spc="-5" dirty="0"/>
              <a:t>the </a:t>
            </a:r>
            <a:r>
              <a:rPr spc="-10" dirty="0"/>
              <a:t>padding</a:t>
            </a:r>
            <a:r>
              <a:rPr spc="-5" dirty="0"/>
              <a:t> </a:t>
            </a:r>
            <a:r>
              <a:rPr spc="-10" dirty="0"/>
              <a:t>property</a:t>
            </a:r>
            <a:r>
              <a:rPr spc="-5" dirty="0"/>
              <a:t> </a:t>
            </a:r>
            <a:r>
              <a:rPr dirty="0"/>
              <a:t>lets </a:t>
            </a:r>
            <a:r>
              <a:rPr spc="-10" dirty="0"/>
              <a:t>you</a:t>
            </a:r>
            <a:r>
              <a:rPr spc="-5" dirty="0"/>
              <a:t> </a:t>
            </a:r>
            <a:r>
              <a:rPr dirty="0"/>
              <a:t>specify </a:t>
            </a:r>
            <a:r>
              <a:rPr spc="-10" dirty="0"/>
              <a:t>exactly</a:t>
            </a:r>
            <a:r>
              <a:rPr spc="-5" dirty="0"/>
              <a:t> </a:t>
            </a:r>
            <a:r>
              <a:rPr spc="-10" dirty="0"/>
              <a:t>how </a:t>
            </a:r>
            <a:r>
              <a:rPr spc="-5" dirty="0"/>
              <a:t> </a:t>
            </a:r>
            <a:r>
              <a:rPr dirty="0"/>
              <a:t>much</a:t>
            </a:r>
            <a:r>
              <a:rPr spc="50" dirty="0"/>
              <a:t> </a:t>
            </a:r>
            <a:r>
              <a:rPr spc="-5" dirty="0"/>
              <a:t>padding</a:t>
            </a:r>
            <a:r>
              <a:rPr spc="70" dirty="0"/>
              <a:t> </a:t>
            </a:r>
            <a:r>
              <a:rPr spc="-10" dirty="0"/>
              <a:t>there</a:t>
            </a:r>
            <a:r>
              <a:rPr spc="65" dirty="0"/>
              <a:t> </a:t>
            </a:r>
            <a:r>
              <a:rPr spc="-10" dirty="0"/>
              <a:t>should</a:t>
            </a:r>
            <a:r>
              <a:rPr spc="60" dirty="0"/>
              <a:t> </a:t>
            </a:r>
            <a:r>
              <a:rPr dirty="0"/>
              <a:t>be</a:t>
            </a:r>
            <a:r>
              <a:rPr spc="65" dirty="0"/>
              <a:t> </a:t>
            </a:r>
            <a:r>
              <a:rPr dirty="0"/>
              <a:t>on</a:t>
            </a:r>
            <a:r>
              <a:rPr spc="55" dirty="0"/>
              <a:t> </a:t>
            </a:r>
            <a:r>
              <a:rPr dirty="0"/>
              <a:t>each</a:t>
            </a:r>
            <a:r>
              <a:rPr spc="70" dirty="0"/>
              <a:t> </a:t>
            </a:r>
            <a:r>
              <a:rPr spc="-5" dirty="0"/>
              <a:t>side</a:t>
            </a:r>
            <a:r>
              <a:rPr spc="70" dirty="0"/>
              <a:t> </a:t>
            </a:r>
            <a:r>
              <a:rPr dirty="0"/>
              <a:t>of</a:t>
            </a:r>
            <a:r>
              <a:rPr spc="60" dirty="0"/>
              <a:t> </a:t>
            </a:r>
            <a:r>
              <a:rPr spc="5" dirty="0"/>
              <a:t>the</a:t>
            </a:r>
            <a:r>
              <a:rPr spc="65" dirty="0"/>
              <a:t> </a:t>
            </a:r>
            <a:r>
              <a:rPr spc="-10" dirty="0"/>
              <a:t>content</a:t>
            </a:r>
            <a:r>
              <a:rPr spc="55" dirty="0"/>
              <a:t> </a:t>
            </a:r>
            <a:r>
              <a:rPr spc="-5" dirty="0"/>
              <a:t>in</a:t>
            </a:r>
            <a:r>
              <a:rPr spc="65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spc="-5" dirty="0"/>
              <a:t>single</a:t>
            </a:r>
            <a:r>
              <a:rPr spc="75" dirty="0"/>
              <a:t> </a:t>
            </a:r>
            <a:r>
              <a:rPr spc="-10" dirty="0"/>
              <a:t>declaration. </a:t>
            </a:r>
            <a:r>
              <a:rPr spc="-370" dirty="0"/>
              <a:t> </a:t>
            </a:r>
            <a:r>
              <a:rPr dirty="0"/>
              <a:t>A </a:t>
            </a:r>
            <a:r>
              <a:rPr spc="-10" dirty="0"/>
              <a:t>declaration that </a:t>
            </a:r>
            <a:r>
              <a:rPr spc="-5" dirty="0"/>
              <a:t>uses multiple properties as </a:t>
            </a:r>
            <a:r>
              <a:rPr spc="-10" dirty="0"/>
              <a:t>values </a:t>
            </a:r>
            <a:r>
              <a:rPr spc="-5" dirty="0"/>
              <a:t>is known as </a:t>
            </a:r>
            <a:r>
              <a:rPr dirty="0"/>
              <a:t>a </a:t>
            </a:r>
            <a:r>
              <a:rPr spc="-5" dirty="0"/>
              <a:t>shorthand </a:t>
            </a:r>
            <a:r>
              <a:rPr dirty="0"/>
              <a:t> </a:t>
            </a:r>
            <a:r>
              <a:rPr spc="-20" dirty="0"/>
              <a:t>property.</a:t>
            </a:r>
          </a:p>
          <a:p>
            <a:pPr marL="318770" marR="5080" indent="-306705" algn="just">
              <a:lnSpc>
                <a:spcPts val="1839"/>
              </a:lnSpc>
              <a:spcBef>
                <a:spcPts val="994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pc="-15" dirty="0"/>
              <a:t>Padding </a:t>
            </a:r>
            <a:r>
              <a:rPr spc="-10" dirty="0"/>
              <a:t>shorthand </a:t>
            </a:r>
            <a:r>
              <a:rPr spc="-5" dirty="0"/>
              <a:t>lets </a:t>
            </a:r>
            <a:r>
              <a:rPr spc="-10" dirty="0"/>
              <a:t>you </a:t>
            </a:r>
            <a:r>
              <a:rPr spc="-5" dirty="0"/>
              <a:t>specify </a:t>
            </a:r>
            <a:r>
              <a:rPr dirty="0"/>
              <a:t>all of </a:t>
            </a:r>
            <a:r>
              <a:rPr spc="5" dirty="0"/>
              <a:t>the </a:t>
            </a:r>
            <a:r>
              <a:rPr spc="-5" dirty="0"/>
              <a:t>padding </a:t>
            </a:r>
            <a:r>
              <a:rPr spc="-10" dirty="0"/>
              <a:t>properties </a:t>
            </a:r>
            <a:r>
              <a:rPr spc="-5" dirty="0"/>
              <a:t>as </a:t>
            </a:r>
            <a:r>
              <a:rPr spc="-10" dirty="0"/>
              <a:t>values on </a:t>
            </a:r>
            <a:r>
              <a:rPr dirty="0"/>
              <a:t>a </a:t>
            </a:r>
            <a:r>
              <a:rPr spc="5" dirty="0"/>
              <a:t> </a:t>
            </a:r>
            <a:r>
              <a:rPr dirty="0"/>
              <a:t>single</a:t>
            </a:r>
            <a:r>
              <a:rPr spc="-25" dirty="0"/>
              <a:t> </a:t>
            </a:r>
            <a:r>
              <a:rPr dirty="0"/>
              <a:t>line: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9993" y="3883532"/>
            <a:ext cx="7569834" cy="239649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641985" indent="-305435">
              <a:lnSpc>
                <a:spcPct val="100000"/>
              </a:lnSpc>
              <a:spcBef>
                <a:spcPts val="8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padding-top</a:t>
            </a:r>
            <a:endParaRPr sz="1500">
              <a:latin typeface="Calibri"/>
              <a:cs typeface="Calibri"/>
            </a:endParaRPr>
          </a:p>
          <a:p>
            <a:pPr marL="641985" indent="-305435">
              <a:lnSpc>
                <a:spcPct val="100000"/>
              </a:lnSpc>
              <a:spcBef>
                <a:spcPts val="7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padding-right</a:t>
            </a:r>
            <a:endParaRPr sz="1500">
              <a:latin typeface="Calibri"/>
              <a:cs typeface="Calibri"/>
            </a:endParaRPr>
          </a:p>
          <a:p>
            <a:pPr marL="641985" indent="-305435">
              <a:lnSpc>
                <a:spcPct val="100000"/>
              </a:lnSpc>
              <a:spcBef>
                <a:spcPts val="7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padding-bottom</a:t>
            </a:r>
            <a:endParaRPr sz="1500">
              <a:latin typeface="Calibri"/>
              <a:cs typeface="Calibri"/>
            </a:endParaRPr>
          </a:p>
          <a:p>
            <a:pPr marL="641985" indent="-305435">
              <a:lnSpc>
                <a:spcPct val="100000"/>
              </a:lnSpc>
              <a:spcBef>
                <a:spcPts val="7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padding-left</a:t>
            </a:r>
            <a:endParaRPr sz="1500">
              <a:latin typeface="Calibri"/>
              <a:cs typeface="Calibri"/>
            </a:endParaRPr>
          </a:p>
          <a:p>
            <a:pPr marL="318770" marR="5080" indent="-306705" algn="just">
              <a:lnSpc>
                <a:spcPct val="90000"/>
              </a:lnSpc>
              <a:spcBef>
                <a:spcPts val="100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In the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example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above,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four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values 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6px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11px 4px 9px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correspond to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amount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padding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on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each side, in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clockwise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rotation.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In 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order,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it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specifies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padding-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top value (6px),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padding-right value (11px),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 padding-bottom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value (4px),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padding-left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(9px)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content.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3659" y="2285491"/>
            <a:ext cx="265176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p.content-header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padding: 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6px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11px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4px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9px;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35" dirty="0">
                <a:solidFill>
                  <a:srgbClr val="FFFFFF"/>
                </a:solidFill>
              </a:rPr>
              <a:t>PADDING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SHORTHAND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264409"/>
            <a:ext cx="10681970" cy="3711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marR="8301990" indent="-10541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p.content-header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 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padding: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5px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10px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20px;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318770" marR="97790" indent="-306705" algn="just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If the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left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right sides of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content can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 equal,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padding shorthand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property allows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for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3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values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specified. The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first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 sets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padding-top value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(5px),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second value sets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padding-left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padding-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right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(10px),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third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 sets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padding-bottom value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(20px).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p.content-header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padding: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5px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10px;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318770" marR="508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libri"/>
                <a:cs typeface="Calibri"/>
              </a:rPr>
              <a:t>finally,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if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top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bottom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sides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equal,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left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and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right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sides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equal,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specify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2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values.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first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sets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padding-top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padding-bottom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values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(5px),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second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sets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padding-left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padding-right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(10px).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5" dirty="0">
                <a:solidFill>
                  <a:srgbClr val="FFFFFF"/>
                </a:solidFill>
              </a:rPr>
              <a:t>MARGIN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086052"/>
            <a:ext cx="10335895" cy="40132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10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Margin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refers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to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space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directly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outside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box.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 margin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property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is used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specify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size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this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space.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7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7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700">
              <a:latin typeface="Calibri"/>
              <a:cs typeface="Calibri"/>
            </a:endParaRPr>
          </a:p>
          <a:p>
            <a:pPr marL="111125" marR="7582534">
              <a:lnSpc>
                <a:spcPct val="100000"/>
              </a:lnSpc>
            </a:pPr>
            <a:r>
              <a:rPr sz="1700" spc="-5" dirty="0">
                <a:solidFill>
                  <a:srgbClr val="FF0000"/>
                </a:solidFill>
                <a:latin typeface="Calibri"/>
                <a:cs typeface="Calibri"/>
              </a:rPr>
              <a:t>border:</a:t>
            </a:r>
            <a:r>
              <a:rPr sz="17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0000"/>
                </a:solidFill>
                <a:latin typeface="Calibri"/>
                <a:cs typeface="Calibri"/>
              </a:rPr>
              <a:t>1px</a:t>
            </a:r>
            <a:r>
              <a:rPr sz="17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0000"/>
                </a:solidFill>
                <a:latin typeface="Calibri"/>
                <a:cs typeface="Calibri"/>
              </a:rPr>
              <a:t>solid</a:t>
            </a:r>
            <a:r>
              <a:rPr sz="17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0000"/>
                </a:solidFill>
                <a:latin typeface="Calibri"/>
                <a:cs typeface="Calibri"/>
              </a:rPr>
              <a:t>aquamarine; </a:t>
            </a:r>
            <a:r>
              <a:rPr sz="1700" spc="-3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FF0000"/>
                </a:solidFill>
                <a:latin typeface="Calibri"/>
                <a:cs typeface="Calibri"/>
              </a:rPr>
              <a:t>margin:</a:t>
            </a:r>
            <a:r>
              <a:rPr sz="17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0000"/>
                </a:solidFill>
                <a:latin typeface="Calibri"/>
                <a:cs typeface="Calibri"/>
              </a:rPr>
              <a:t>20px;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7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7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1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If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7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want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7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even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more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specific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about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amount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margin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each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side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box,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can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use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following</a:t>
            </a:r>
            <a:endParaRPr sz="1700">
              <a:latin typeface="Calibri"/>
              <a:cs typeface="Calibri"/>
            </a:endParaRPr>
          </a:p>
          <a:p>
            <a:pPr marL="318770">
              <a:lnSpc>
                <a:spcPct val="100000"/>
              </a:lnSpc>
              <a:spcBef>
                <a:spcPts val="5"/>
              </a:spcBef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properties:</a:t>
            </a:r>
            <a:endParaRPr sz="17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965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margin-top</a:t>
            </a:r>
            <a:endParaRPr sz="15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96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margin-right</a:t>
            </a:r>
            <a:endParaRPr sz="15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96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margin-bottom</a:t>
            </a:r>
            <a:endParaRPr sz="15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965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margin-left</a:t>
            </a:r>
            <a:endParaRPr sz="15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0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Each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property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affects</a:t>
            </a:r>
            <a:r>
              <a:rPr sz="17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margin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on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only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one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side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box,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providing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more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flexibility</a:t>
            </a:r>
            <a:r>
              <a:rPr sz="17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customization.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5" dirty="0">
                <a:solidFill>
                  <a:srgbClr val="FFFFFF"/>
                </a:solidFill>
              </a:rPr>
              <a:t>MARGIN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SHORTHAND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532634"/>
            <a:ext cx="7414259" cy="330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6985" indent="-306705" algn="just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The shorthand </a:t>
            </a:r>
            <a:r>
              <a:rPr sz="1800" spc="-15" dirty="0">
                <a:solidFill>
                  <a:srgbClr val="0F162E"/>
                </a:solidFill>
                <a:latin typeface="Calibri"/>
                <a:cs typeface="Calibri"/>
              </a:rPr>
              <a:t>syntax for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margins is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same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as padding, so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if </a:t>
            </a:r>
            <a:r>
              <a:rPr sz="1800" spc="-20" dirty="0">
                <a:solidFill>
                  <a:srgbClr val="0F162E"/>
                </a:solidFill>
                <a:latin typeface="Calibri"/>
                <a:cs typeface="Calibri"/>
              </a:rPr>
              <a:t>you’re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feeling </a:t>
            </a:r>
            <a:r>
              <a:rPr sz="1800" spc="-39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comfortable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with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that, skip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instructions. Otherwise,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read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on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learn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how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162E"/>
                </a:solidFill>
                <a:latin typeface="Calibri"/>
                <a:cs typeface="Calibri"/>
              </a:rPr>
              <a:t>use</a:t>
            </a:r>
            <a:r>
              <a:rPr sz="18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margin</a:t>
            </a:r>
            <a:r>
              <a:rPr sz="18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F162E"/>
                </a:solidFill>
                <a:latin typeface="Calibri"/>
                <a:cs typeface="Calibri"/>
              </a:rPr>
              <a:t>shorthand!</a:t>
            </a:r>
            <a:endParaRPr sz="1800">
              <a:latin typeface="Calibri"/>
              <a:cs typeface="Calibri"/>
            </a:endParaRPr>
          </a:p>
          <a:p>
            <a:pPr marL="318770" marR="5715" indent="-306705" algn="just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In the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example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above,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four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values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6px 10px 5px 12px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correspond to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thickness of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margin on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each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side, in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clockwise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rotation.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In </a:t>
            </a:r>
            <a:r>
              <a:rPr sz="1800" spc="-35" dirty="0">
                <a:solidFill>
                  <a:srgbClr val="3C3C3C"/>
                </a:solidFill>
                <a:latin typeface="Calibri"/>
                <a:cs typeface="Calibri"/>
              </a:rPr>
              <a:t>order,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it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specifies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margin-top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(6px),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margin-right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(10px),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margin-bottom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value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(5px),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 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margin-left value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(12px)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content.</a:t>
            </a:r>
            <a:endParaRPr sz="1800">
              <a:latin typeface="Calibri"/>
              <a:cs typeface="Calibri"/>
            </a:endParaRPr>
          </a:p>
          <a:p>
            <a:pPr marL="318770" marR="5080" indent="-306705" algn="just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If the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left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right sides of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content can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be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equal,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margin shorthand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property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allows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for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3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values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 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be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specified. The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first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 sets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margin-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top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(5px),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second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sets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margin-left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and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margin-right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(12px),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third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sets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margin-bottom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(4px).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14256" y="3647694"/>
            <a:ext cx="21672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margin: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5px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12px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4px;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14256" y="2121534"/>
            <a:ext cx="26657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margin: 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6px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10px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5px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12px;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14256" y="4958333"/>
            <a:ext cx="19005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margin: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20px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10px;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5" dirty="0">
                <a:solidFill>
                  <a:srgbClr val="FFFFFF"/>
                </a:solidFill>
              </a:rPr>
              <a:t>MARGIN</a:t>
            </a:r>
            <a:r>
              <a:rPr sz="2800" spc="-7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COLLAPSE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482088"/>
            <a:ext cx="10875010" cy="3044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8770" marR="5080" indent="-306705" algn="just">
              <a:lnSpc>
                <a:spcPct val="100000"/>
              </a:lnSpc>
              <a:spcBef>
                <a:spcPts val="105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9405" algn="l"/>
              </a:tabLst>
            </a:pP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As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you </a:t>
            </a:r>
            <a:r>
              <a:rPr sz="2000" spc="-20" dirty="0">
                <a:solidFill>
                  <a:srgbClr val="3C3C3C"/>
                </a:solidFill>
                <a:latin typeface="Calibri"/>
                <a:cs typeface="Calibri"/>
              </a:rPr>
              <a:t>have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seen, padding is space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added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inside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an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element’s </a:t>
            </a:r>
            <a:r>
              <a:rPr sz="2000" spc="-30" dirty="0">
                <a:solidFill>
                  <a:srgbClr val="3C3C3C"/>
                </a:solidFill>
                <a:latin typeface="Calibri"/>
                <a:cs typeface="Calibri"/>
              </a:rPr>
              <a:t>border,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while margin is space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added 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outside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an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element’s </a:t>
            </a:r>
            <a:r>
              <a:rPr sz="2000" spc="-35" dirty="0">
                <a:solidFill>
                  <a:srgbClr val="3C3C3C"/>
                </a:solidFill>
                <a:latin typeface="Calibri"/>
                <a:cs typeface="Calibri"/>
              </a:rPr>
              <a:t>border.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One additional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difference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is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that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top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and 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bottom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margins,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also called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vertical</a:t>
            </a:r>
            <a:r>
              <a:rPr sz="20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margins,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collapse,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while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top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bottom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padding</a:t>
            </a:r>
            <a:r>
              <a:rPr sz="20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does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not.</a:t>
            </a:r>
            <a:endParaRPr sz="2000">
              <a:latin typeface="Calibri"/>
              <a:cs typeface="Calibri"/>
            </a:endParaRPr>
          </a:p>
          <a:p>
            <a:pPr marL="318770" marR="6350" indent="-306705" algn="just">
              <a:lnSpc>
                <a:spcPct val="100000"/>
              </a:lnSpc>
              <a:spcBef>
                <a:spcPts val="10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9405" algn="l"/>
              </a:tabLst>
            </a:pP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Horizontal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margins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(left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and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right),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C3C3C"/>
                </a:solidFill>
                <a:latin typeface="Calibri"/>
                <a:cs typeface="Calibri"/>
              </a:rPr>
              <a:t>like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padding,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are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always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 displayed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added</a:t>
            </a:r>
            <a:r>
              <a:rPr sz="2000" spc="4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3C3C3C"/>
                </a:solidFill>
                <a:latin typeface="Calibri"/>
                <a:cs typeface="Calibri"/>
              </a:rPr>
              <a:t>together.</a:t>
            </a:r>
            <a:r>
              <a:rPr sz="2000" spc="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For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example,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if 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two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divs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with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ids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#div-one and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#div-two, are next 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to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each </a:t>
            </a:r>
            <a:r>
              <a:rPr sz="2000" spc="-35" dirty="0">
                <a:solidFill>
                  <a:srgbClr val="3C3C3C"/>
                </a:solidFill>
                <a:latin typeface="Calibri"/>
                <a:cs typeface="Calibri"/>
              </a:rPr>
              <a:t>other,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they will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be as 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far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apart as 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sum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their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adjacent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margins.</a:t>
            </a:r>
            <a:endParaRPr sz="2000">
              <a:latin typeface="Calibri"/>
              <a:cs typeface="Calibri"/>
            </a:endParaRPr>
          </a:p>
          <a:p>
            <a:pPr marL="318770" marR="5080" indent="-306705" algn="just">
              <a:lnSpc>
                <a:spcPct val="100000"/>
              </a:lnSpc>
              <a:spcBef>
                <a:spcPts val="10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9405" algn="l"/>
              </a:tabLst>
            </a:pPr>
            <a:r>
              <a:rPr sz="2000" spc="-10" dirty="0">
                <a:solidFill>
                  <a:srgbClr val="0F162E"/>
                </a:solidFill>
                <a:latin typeface="Calibri"/>
                <a:cs typeface="Calibri"/>
              </a:rPr>
              <a:t>Unlike </a:t>
            </a:r>
            <a:r>
              <a:rPr sz="2000" spc="-15" dirty="0">
                <a:solidFill>
                  <a:srgbClr val="0F162E"/>
                </a:solidFill>
                <a:latin typeface="Calibri"/>
                <a:cs typeface="Calibri"/>
              </a:rPr>
              <a:t>horizontal </a:t>
            </a:r>
            <a:r>
              <a:rPr sz="2000" spc="-5" dirty="0">
                <a:solidFill>
                  <a:srgbClr val="0F162E"/>
                </a:solidFill>
                <a:latin typeface="Calibri"/>
                <a:cs typeface="Calibri"/>
              </a:rPr>
              <a:t>margins, vertical margins </a:t>
            </a:r>
            <a:r>
              <a:rPr sz="2000" dirty="0">
                <a:solidFill>
                  <a:srgbClr val="0F162E"/>
                </a:solidFill>
                <a:latin typeface="Calibri"/>
                <a:cs typeface="Calibri"/>
              </a:rPr>
              <a:t>do </a:t>
            </a:r>
            <a:r>
              <a:rPr sz="2000" spc="-5" dirty="0">
                <a:solidFill>
                  <a:srgbClr val="0F162E"/>
                </a:solidFill>
                <a:latin typeface="Calibri"/>
                <a:cs typeface="Calibri"/>
              </a:rPr>
              <a:t>not add. </a:t>
            </a:r>
            <a:r>
              <a:rPr sz="2000" spc="-10" dirty="0">
                <a:solidFill>
                  <a:srgbClr val="0F162E"/>
                </a:solidFill>
                <a:latin typeface="Calibri"/>
                <a:cs typeface="Calibri"/>
              </a:rPr>
              <a:t>Instead, </a:t>
            </a:r>
            <a:r>
              <a:rPr sz="200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0F162E"/>
                </a:solidFill>
                <a:latin typeface="Calibri"/>
                <a:cs typeface="Calibri"/>
              </a:rPr>
              <a:t>larger </a:t>
            </a:r>
            <a:r>
              <a:rPr sz="2000" spc="-5" dirty="0">
                <a:solidFill>
                  <a:srgbClr val="0F162E"/>
                </a:solidFill>
                <a:latin typeface="Calibri"/>
                <a:cs typeface="Calibri"/>
              </a:rPr>
              <a:t>of the </a:t>
            </a:r>
            <a:r>
              <a:rPr sz="2000" spc="-10" dirty="0">
                <a:solidFill>
                  <a:srgbClr val="0F162E"/>
                </a:solidFill>
                <a:latin typeface="Calibri"/>
                <a:cs typeface="Calibri"/>
              </a:rPr>
              <a:t>two </a:t>
            </a:r>
            <a:r>
              <a:rPr sz="2000" spc="-5" dirty="0">
                <a:solidFill>
                  <a:srgbClr val="0F162E"/>
                </a:solidFill>
                <a:latin typeface="Calibri"/>
                <a:cs typeface="Calibri"/>
              </a:rPr>
              <a:t>vertical margins </a:t>
            </a:r>
            <a:r>
              <a:rPr sz="20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F162E"/>
                </a:solidFill>
                <a:latin typeface="Calibri"/>
                <a:cs typeface="Calibri"/>
              </a:rPr>
              <a:t>sets </a:t>
            </a:r>
            <a:r>
              <a:rPr sz="2000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2000" spc="-5" dirty="0">
                <a:solidFill>
                  <a:srgbClr val="0F162E"/>
                </a:solidFill>
                <a:latin typeface="Calibri"/>
                <a:cs typeface="Calibri"/>
              </a:rPr>
              <a:t>distance between adjacent elements. </a:t>
            </a:r>
            <a:r>
              <a:rPr sz="2000" spc="-10" dirty="0">
                <a:solidFill>
                  <a:srgbClr val="0F162E"/>
                </a:solidFill>
                <a:latin typeface="Calibri"/>
                <a:cs typeface="Calibri"/>
              </a:rPr>
              <a:t>Unlike </a:t>
            </a:r>
            <a:r>
              <a:rPr sz="2000" spc="-15" dirty="0">
                <a:solidFill>
                  <a:srgbClr val="0F162E"/>
                </a:solidFill>
                <a:latin typeface="Calibri"/>
                <a:cs typeface="Calibri"/>
              </a:rPr>
              <a:t>horizontal </a:t>
            </a:r>
            <a:r>
              <a:rPr sz="2000" spc="-5" dirty="0">
                <a:solidFill>
                  <a:srgbClr val="0F162E"/>
                </a:solidFill>
                <a:latin typeface="Calibri"/>
                <a:cs typeface="Calibri"/>
              </a:rPr>
              <a:t>margins, vertical margins </a:t>
            </a:r>
            <a:r>
              <a:rPr sz="2000" dirty="0">
                <a:solidFill>
                  <a:srgbClr val="0F162E"/>
                </a:solidFill>
                <a:latin typeface="Calibri"/>
                <a:cs typeface="Calibri"/>
              </a:rPr>
              <a:t>do </a:t>
            </a:r>
            <a:r>
              <a:rPr sz="2000" spc="-5" dirty="0">
                <a:solidFill>
                  <a:srgbClr val="0F162E"/>
                </a:solidFill>
                <a:latin typeface="Calibri"/>
                <a:cs typeface="Calibri"/>
              </a:rPr>
              <a:t>not add. </a:t>
            </a:r>
            <a:r>
              <a:rPr sz="20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F162E"/>
                </a:solidFill>
                <a:latin typeface="Calibri"/>
                <a:cs typeface="Calibri"/>
              </a:rPr>
              <a:t>Instead,</a:t>
            </a:r>
            <a:r>
              <a:rPr sz="20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2000" spc="-10" dirty="0">
                <a:solidFill>
                  <a:srgbClr val="0F162E"/>
                </a:solidFill>
                <a:latin typeface="Calibri"/>
                <a:cs typeface="Calibri"/>
              </a:rPr>
              <a:t> larger</a:t>
            </a:r>
            <a:r>
              <a:rPr sz="20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F162E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F162E"/>
                </a:solidFill>
                <a:latin typeface="Calibri"/>
                <a:cs typeface="Calibri"/>
              </a:rPr>
              <a:t>two</a:t>
            </a:r>
            <a:r>
              <a:rPr sz="2000" spc="-5" dirty="0">
                <a:solidFill>
                  <a:srgbClr val="0F162E"/>
                </a:solidFill>
                <a:latin typeface="Calibri"/>
                <a:cs typeface="Calibri"/>
              </a:rPr>
              <a:t> vertical</a:t>
            </a:r>
            <a:r>
              <a:rPr sz="20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F162E"/>
                </a:solidFill>
                <a:latin typeface="Calibri"/>
                <a:cs typeface="Calibri"/>
              </a:rPr>
              <a:t>margins</a:t>
            </a:r>
            <a:r>
              <a:rPr sz="20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F162E"/>
                </a:solidFill>
                <a:latin typeface="Calibri"/>
                <a:cs typeface="Calibri"/>
              </a:rPr>
              <a:t>sets</a:t>
            </a:r>
            <a:r>
              <a:rPr sz="20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2000" spc="-10" dirty="0">
                <a:solidFill>
                  <a:srgbClr val="0F162E"/>
                </a:solidFill>
                <a:latin typeface="Calibri"/>
                <a:cs typeface="Calibri"/>
              </a:rPr>
              <a:t> distance</a:t>
            </a:r>
            <a:r>
              <a:rPr sz="20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F162E"/>
                </a:solidFill>
                <a:latin typeface="Calibri"/>
                <a:cs typeface="Calibri"/>
              </a:rPr>
              <a:t>between</a:t>
            </a:r>
            <a:r>
              <a:rPr sz="20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F162E"/>
                </a:solidFill>
                <a:latin typeface="Calibri"/>
                <a:cs typeface="Calibri"/>
              </a:rPr>
              <a:t>adjacent elements.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</a:rPr>
              <a:t>MINIMUM</a:t>
            </a:r>
            <a:r>
              <a:rPr sz="2800" spc="2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AND</a:t>
            </a:r>
            <a:r>
              <a:rPr sz="2800" spc="-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MAXIMUM</a:t>
            </a:r>
            <a:r>
              <a:rPr sz="2800" spc="30" dirty="0">
                <a:solidFill>
                  <a:srgbClr val="FFFFFF"/>
                </a:solidFill>
              </a:rPr>
              <a:t> </a:t>
            </a:r>
            <a:r>
              <a:rPr sz="2800" spc="-5" dirty="0">
                <a:solidFill>
                  <a:srgbClr val="FFFFFF"/>
                </a:solidFill>
              </a:rPr>
              <a:t>HEIGHT</a:t>
            </a:r>
            <a:r>
              <a:rPr sz="2800" spc="3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AND</a:t>
            </a:r>
            <a:r>
              <a:rPr sz="2800" spc="-5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WIDTH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191004"/>
            <a:ext cx="7929245" cy="9848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18770" marR="5080" indent="-306705" algn="just">
              <a:lnSpc>
                <a:spcPct val="90000"/>
              </a:lnSpc>
              <a:spcBef>
                <a:spcPts val="305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Because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a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web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page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viewed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through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displays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differing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screen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size,</a:t>
            </a:r>
            <a:r>
              <a:rPr sz="1700" spc="36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700" spc="-37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content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on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web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page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can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suffer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from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those changes in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size. </a:t>
            </a:r>
            <a:r>
              <a:rPr sz="1700" spc="-80" dirty="0">
                <a:solidFill>
                  <a:srgbClr val="3C3C3C"/>
                </a:solidFill>
                <a:latin typeface="Calibri"/>
                <a:cs typeface="Calibri"/>
              </a:rPr>
              <a:t>To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avoid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this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problem,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CSS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offers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two properties that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can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limit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how narrow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or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how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wide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an element’s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box can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sized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to: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4605" y="3151377"/>
            <a:ext cx="6025515" cy="68072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17500" indent="-305435">
              <a:lnSpc>
                <a:spcPct val="100000"/>
              </a:lnSpc>
              <a:spcBef>
                <a:spcPts val="8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6865" algn="l"/>
                <a:tab pos="318135" algn="l"/>
              </a:tabLst>
            </a:pP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min-width—this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 property</a:t>
            </a:r>
            <a:r>
              <a:rPr sz="15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ensures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minimum</a:t>
            </a:r>
            <a:r>
              <a:rPr sz="15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width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of an</a:t>
            </a:r>
            <a:r>
              <a:rPr sz="15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element’s</a:t>
            </a:r>
            <a:r>
              <a:rPr sz="15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box.</a:t>
            </a:r>
            <a:endParaRPr sz="1500">
              <a:latin typeface="Calibri"/>
              <a:cs typeface="Calibri"/>
            </a:endParaRPr>
          </a:p>
          <a:p>
            <a:pPr marL="317500" indent="-305435">
              <a:lnSpc>
                <a:spcPct val="100000"/>
              </a:lnSpc>
              <a:spcBef>
                <a:spcPts val="7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6865" algn="l"/>
                <a:tab pos="318135" algn="l"/>
              </a:tabLst>
            </a:pP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max-width—this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property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ensures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maximum</a:t>
            </a:r>
            <a:r>
              <a:rPr sz="15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width</a:t>
            </a:r>
            <a:r>
              <a:rPr sz="15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 element’s</a:t>
            </a:r>
            <a:r>
              <a:rPr sz="15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box.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9993" y="3907663"/>
            <a:ext cx="7929245" cy="1707514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18770" marR="5080" indent="-306705" algn="just">
              <a:lnSpc>
                <a:spcPts val="1839"/>
              </a:lnSpc>
              <a:spcBef>
                <a:spcPts val="33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In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example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above,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width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of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all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paragraphs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will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not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shrink below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300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pixels, nor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will</a:t>
            </a:r>
            <a:r>
              <a:rPr sz="17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width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exceed</a:t>
            </a:r>
            <a:r>
              <a:rPr sz="1700" spc="-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600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pixels.</a:t>
            </a:r>
            <a:endParaRPr sz="1700">
              <a:latin typeface="Calibri"/>
              <a:cs typeface="Calibri"/>
            </a:endParaRPr>
          </a:p>
          <a:p>
            <a:pPr marL="318770" marR="5080" indent="-306705" algn="just">
              <a:lnSpc>
                <a:spcPts val="1839"/>
              </a:lnSpc>
              <a:spcBef>
                <a:spcPts val="100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Content,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like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text,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can become difficult to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read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when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browser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window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is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narrowed or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expanded.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These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two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properties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ensure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that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content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legible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by</a:t>
            </a:r>
            <a:r>
              <a:rPr sz="1700" spc="37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limiting</a:t>
            </a:r>
            <a:r>
              <a:rPr sz="1700" spc="37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 minimum</a:t>
            </a:r>
            <a:r>
              <a:rPr sz="1700" spc="-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maximum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widths</a:t>
            </a:r>
            <a:r>
              <a:rPr sz="1700" spc="-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element.</a:t>
            </a:r>
            <a:endParaRPr sz="1700">
              <a:latin typeface="Calibri"/>
              <a:cs typeface="Calibri"/>
            </a:endParaRPr>
          </a:p>
          <a:p>
            <a:pPr marL="318770" indent="-306705" algn="just">
              <a:lnSpc>
                <a:spcPct val="100000"/>
              </a:lnSpc>
              <a:spcBef>
                <a:spcPts val="77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spc="-5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can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also</a:t>
            </a:r>
            <a:r>
              <a:rPr sz="17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limit </a:t>
            </a:r>
            <a:r>
              <a:rPr sz="1700" spc="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minimum</a:t>
            </a:r>
            <a:r>
              <a:rPr sz="17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maximum</a:t>
            </a:r>
            <a:r>
              <a:rPr sz="17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height</a:t>
            </a:r>
            <a:r>
              <a:rPr sz="17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7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3C3C3C"/>
                </a:solidFill>
                <a:latin typeface="Calibri"/>
                <a:cs typeface="Calibri"/>
              </a:rPr>
              <a:t>an </a:t>
            </a:r>
            <a:r>
              <a:rPr sz="1700" dirty="0">
                <a:solidFill>
                  <a:srgbClr val="3C3C3C"/>
                </a:solidFill>
                <a:latin typeface="Calibri"/>
                <a:cs typeface="Calibri"/>
              </a:rPr>
              <a:t>element: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4605" y="5590438"/>
            <a:ext cx="6211570" cy="68072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17500" indent="-305435">
              <a:lnSpc>
                <a:spcPct val="100000"/>
              </a:lnSpc>
              <a:spcBef>
                <a:spcPts val="8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6865" algn="l"/>
                <a:tab pos="318135" algn="l"/>
              </a:tabLst>
            </a:pP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min-height</a:t>
            </a:r>
            <a:r>
              <a:rPr sz="15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—</a:t>
            </a:r>
            <a:r>
              <a:rPr sz="15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this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property</a:t>
            </a:r>
            <a:r>
              <a:rPr sz="15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ensures</a:t>
            </a:r>
            <a:r>
              <a:rPr sz="15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minimum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 height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 for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 an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element’s</a:t>
            </a:r>
            <a:r>
              <a:rPr sz="15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box.</a:t>
            </a:r>
            <a:endParaRPr sz="1500">
              <a:latin typeface="Calibri"/>
              <a:cs typeface="Calibri"/>
            </a:endParaRPr>
          </a:p>
          <a:p>
            <a:pPr marL="317500" indent="-305435">
              <a:lnSpc>
                <a:spcPct val="100000"/>
              </a:lnSpc>
              <a:spcBef>
                <a:spcPts val="7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6865" algn="l"/>
                <a:tab pos="318135" algn="l"/>
              </a:tabLst>
            </a:pP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max-height</a:t>
            </a:r>
            <a:r>
              <a:rPr sz="15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—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this</a:t>
            </a:r>
            <a:r>
              <a:rPr sz="15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property</a:t>
            </a:r>
            <a:r>
              <a:rPr sz="15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ensures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maximum</a:t>
            </a:r>
            <a:r>
              <a:rPr sz="15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3C3C3C"/>
                </a:solidFill>
                <a:latin typeface="Calibri"/>
                <a:cs typeface="Calibri"/>
              </a:rPr>
              <a:t>height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C3C3C"/>
                </a:solidFill>
                <a:latin typeface="Calibri"/>
                <a:cs typeface="Calibri"/>
              </a:rPr>
              <a:t>of an</a:t>
            </a:r>
            <a:r>
              <a:rPr sz="15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element’s</a:t>
            </a:r>
            <a:r>
              <a:rPr sz="15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C3C3C"/>
                </a:solidFill>
                <a:latin typeface="Calibri"/>
                <a:cs typeface="Calibri"/>
              </a:rPr>
              <a:t>box.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57131" y="2438780"/>
            <a:ext cx="18586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 marR="5080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min-width: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300px; </a:t>
            </a:r>
            <a:r>
              <a:rPr sz="1800" spc="-3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max-width:</a:t>
            </a:r>
            <a:r>
              <a:rPr sz="18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600px;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94646" y="4160901"/>
            <a:ext cx="191706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min-height: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150px;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max-height:</a:t>
            </a:r>
            <a:r>
              <a:rPr sz="1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300px;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15" dirty="0">
                <a:solidFill>
                  <a:srgbClr val="FFFFFF"/>
                </a:solidFill>
              </a:rPr>
              <a:t>OVERFLOW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145537"/>
            <a:ext cx="8802370" cy="38163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18770" marR="5080" indent="-306705">
              <a:lnSpc>
                <a:spcPts val="1250"/>
              </a:lnSpc>
              <a:spcBef>
                <a:spcPts val="395"/>
              </a:spcBef>
              <a:buClr>
                <a:srgbClr val="8BB649"/>
              </a:buClr>
              <a:buSzPct val="92307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All</a:t>
            </a:r>
            <a:r>
              <a:rPr sz="13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3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3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components</a:t>
            </a:r>
            <a:r>
              <a:rPr sz="13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300" spc="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300" spc="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5" dirty="0">
                <a:solidFill>
                  <a:srgbClr val="3C3C3C"/>
                </a:solidFill>
                <a:latin typeface="Calibri"/>
                <a:cs typeface="Calibri"/>
              </a:rPr>
              <a:t>box</a:t>
            </a:r>
            <a:r>
              <a:rPr sz="1300" spc="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model</a:t>
            </a:r>
            <a:r>
              <a:rPr sz="1300" spc="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comprise</a:t>
            </a:r>
            <a:r>
              <a:rPr sz="13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300" spc="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element’s</a:t>
            </a:r>
            <a:r>
              <a:rPr sz="1300" spc="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size.</a:t>
            </a:r>
            <a:r>
              <a:rPr sz="13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13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example,</a:t>
            </a:r>
            <a:r>
              <a:rPr sz="13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5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3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image</a:t>
            </a:r>
            <a:r>
              <a:rPr sz="1300" spc="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3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has</a:t>
            </a:r>
            <a:r>
              <a:rPr sz="13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3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following</a:t>
            </a:r>
            <a:r>
              <a:rPr sz="13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dimensions </a:t>
            </a:r>
            <a:r>
              <a:rPr sz="1300" spc="-27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3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364</a:t>
            </a:r>
            <a:r>
              <a:rPr sz="13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pixels</a:t>
            </a:r>
            <a:r>
              <a:rPr sz="13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wide</a:t>
            </a:r>
            <a:r>
              <a:rPr sz="13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3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244</a:t>
            </a:r>
            <a:r>
              <a:rPr sz="13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pixels</a:t>
            </a:r>
            <a:r>
              <a:rPr sz="13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tall.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4605" y="2502763"/>
            <a:ext cx="2638425" cy="19767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17500" indent="-305435">
              <a:lnSpc>
                <a:spcPct val="100000"/>
              </a:lnSpc>
              <a:spcBef>
                <a:spcPts val="700"/>
              </a:spcBef>
              <a:buClr>
                <a:srgbClr val="8BB649"/>
              </a:buClr>
              <a:buSzPct val="90909"/>
              <a:buFont typeface="Cambria"/>
              <a:buChar char="◾"/>
              <a:tabLst>
                <a:tab pos="316865" algn="l"/>
                <a:tab pos="318135" algn="l"/>
              </a:tabLst>
            </a:pP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300</a:t>
            </a:r>
            <a:r>
              <a:rPr sz="11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pixels</a:t>
            </a:r>
            <a:r>
              <a:rPr sz="11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wide</a:t>
            </a:r>
            <a:endParaRPr sz="1100">
              <a:latin typeface="Calibri"/>
              <a:cs typeface="Calibri"/>
            </a:endParaRPr>
          </a:p>
          <a:p>
            <a:pPr marL="317500" indent="-305435">
              <a:lnSpc>
                <a:spcPct val="100000"/>
              </a:lnSpc>
              <a:spcBef>
                <a:spcPts val="600"/>
              </a:spcBef>
              <a:buClr>
                <a:srgbClr val="8BB649"/>
              </a:buClr>
              <a:buSzPct val="90909"/>
              <a:buFont typeface="Cambria"/>
              <a:buChar char="◾"/>
              <a:tabLst>
                <a:tab pos="316865" algn="l"/>
                <a:tab pos="318135" algn="l"/>
              </a:tabLst>
            </a:pP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200</a:t>
            </a:r>
            <a:r>
              <a:rPr sz="11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pixels</a:t>
            </a:r>
            <a:r>
              <a:rPr sz="11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tall</a:t>
            </a:r>
            <a:endParaRPr sz="1100">
              <a:latin typeface="Calibri"/>
              <a:cs typeface="Calibri"/>
            </a:endParaRPr>
          </a:p>
          <a:p>
            <a:pPr marL="317500" indent="-305435">
              <a:lnSpc>
                <a:spcPct val="100000"/>
              </a:lnSpc>
              <a:spcBef>
                <a:spcPts val="600"/>
              </a:spcBef>
              <a:buClr>
                <a:srgbClr val="8BB649"/>
              </a:buClr>
              <a:buSzPct val="90909"/>
              <a:buFont typeface="Cambria"/>
              <a:buChar char="◾"/>
              <a:tabLst>
                <a:tab pos="316865" algn="l"/>
                <a:tab pos="318135" algn="l"/>
              </a:tabLst>
            </a:pP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10 pixels</a:t>
            </a:r>
            <a:r>
              <a:rPr sz="11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padding</a:t>
            </a:r>
            <a:r>
              <a:rPr sz="11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1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left</a:t>
            </a:r>
            <a:r>
              <a:rPr sz="11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right</a:t>
            </a:r>
            <a:endParaRPr sz="1100">
              <a:latin typeface="Calibri"/>
              <a:cs typeface="Calibri"/>
            </a:endParaRPr>
          </a:p>
          <a:p>
            <a:pPr marL="317500" indent="-305435">
              <a:lnSpc>
                <a:spcPct val="100000"/>
              </a:lnSpc>
              <a:spcBef>
                <a:spcPts val="600"/>
              </a:spcBef>
              <a:buClr>
                <a:srgbClr val="8BB649"/>
              </a:buClr>
              <a:buSzPct val="90909"/>
              <a:buFont typeface="Cambria"/>
              <a:buChar char="◾"/>
              <a:tabLst>
                <a:tab pos="316865" algn="l"/>
                <a:tab pos="318135" algn="l"/>
              </a:tabLst>
            </a:pP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10 pixels</a:t>
            </a:r>
            <a:r>
              <a:rPr sz="11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padding</a:t>
            </a:r>
            <a:r>
              <a:rPr sz="11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1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top</a:t>
            </a:r>
            <a:r>
              <a:rPr sz="11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bottom</a:t>
            </a:r>
            <a:endParaRPr sz="1100">
              <a:latin typeface="Calibri"/>
              <a:cs typeface="Calibri"/>
            </a:endParaRPr>
          </a:p>
          <a:p>
            <a:pPr marL="317500" indent="-305435">
              <a:lnSpc>
                <a:spcPct val="100000"/>
              </a:lnSpc>
              <a:spcBef>
                <a:spcPts val="600"/>
              </a:spcBef>
              <a:buClr>
                <a:srgbClr val="8BB649"/>
              </a:buClr>
              <a:buSzPct val="90909"/>
              <a:buFont typeface="Cambria"/>
              <a:buChar char="◾"/>
              <a:tabLst>
                <a:tab pos="316865" algn="l"/>
                <a:tab pos="318135" algn="l"/>
              </a:tabLst>
            </a:pP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2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pixels</a:t>
            </a:r>
            <a:r>
              <a:rPr sz="11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border</a:t>
            </a:r>
            <a:r>
              <a:rPr sz="11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1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left</a:t>
            </a:r>
            <a:r>
              <a:rPr sz="11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right</a:t>
            </a:r>
            <a:endParaRPr sz="1100">
              <a:latin typeface="Calibri"/>
              <a:cs typeface="Calibri"/>
            </a:endParaRPr>
          </a:p>
          <a:p>
            <a:pPr marL="317500" indent="-305435">
              <a:lnSpc>
                <a:spcPct val="100000"/>
              </a:lnSpc>
              <a:spcBef>
                <a:spcPts val="600"/>
              </a:spcBef>
              <a:buClr>
                <a:srgbClr val="8BB649"/>
              </a:buClr>
              <a:buSzPct val="90909"/>
              <a:buFont typeface="Cambria"/>
              <a:buChar char="◾"/>
              <a:tabLst>
                <a:tab pos="316865" algn="l"/>
                <a:tab pos="318135" algn="l"/>
              </a:tabLst>
            </a:pP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2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pixels</a:t>
            </a:r>
            <a:r>
              <a:rPr sz="11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border</a:t>
            </a:r>
            <a:r>
              <a:rPr sz="11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1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top</a:t>
            </a:r>
            <a:r>
              <a:rPr sz="11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bottom</a:t>
            </a:r>
            <a:endParaRPr sz="1100">
              <a:latin typeface="Calibri"/>
              <a:cs typeface="Calibri"/>
            </a:endParaRPr>
          </a:p>
          <a:p>
            <a:pPr marL="317500" indent="-305435">
              <a:lnSpc>
                <a:spcPct val="100000"/>
              </a:lnSpc>
              <a:spcBef>
                <a:spcPts val="600"/>
              </a:spcBef>
              <a:buClr>
                <a:srgbClr val="8BB649"/>
              </a:buClr>
              <a:buSzPct val="90909"/>
              <a:buFont typeface="Cambria"/>
              <a:buChar char="◾"/>
              <a:tabLst>
                <a:tab pos="316865" algn="l"/>
                <a:tab pos="318135" algn="l"/>
              </a:tabLst>
            </a:pP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20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pixels</a:t>
            </a:r>
            <a:r>
              <a:rPr sz="11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margin</a:t>
            </a:r>
            <a:r>
              <a:rPr sz="11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1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left</a:t>
            </a:r>
            <a:r>
              <a:rPr sz="11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right</a:t>
            </a:r>
            <a:endParaRPr sz="1100">
              <a:latin typeface="Calibri"/>
              <a:cs typeface="Calibri"/>
            </a:endParaRPr>
          </a:p>
          <a:p>
            <a:pPr marL="317500" indent="-305435">
              <a:lnSpc>
                <a:spcPct val="100000"/>
              </a:lnSpc>
              <a:spcBef>
                <a:spcPts val="600"/>
              </a:spcBef>
              <a:buClr>
                <a:srgbClr val="8BB649"/>
              </a:buClr>
              <a:buSzPct val="90909"/>
              <a:buFont typeface="Cambria"/>
              <a:buChar char="◾"/>
              <a:tabLst>
                <a:tab pos="316865" algn="l"/>
                <a:tab pos="318135" algn="l"/>
              </a:tabLst>
            </a:pP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10 pixels</a:t>
            </a:r>
            <a:r>
              <a:rPr sz="11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margin</a:t>
            </a:r>
            <a:r>
              <a:rPr sz="11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1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top</a:t>
            </a:r>
            <a:r>
              <a:rPr sz="1100" spc="-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bottom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9993" y="4529709"/>
            <a:ext cx="8803005" cy="1980564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18770" marR="5080" indent="-306705" algn="just">
              <a:lnSpc>
                <a:spcPct val="80000"/>
              </a:lnSpc>
              <a:spcBef>
                <a:spcPts val="405"/>
              </a:spcBef>
              <a:buClr>
                <a:srgbClr val="8BB649"/>
              </a:buClr>
              <a:buSzPct val="92307"/>
              <a:buFont typeface="Cambria"/>
              <a:buChar char="◾"/>
              <a:tabLst>
                <a:tab pos="319405" algn="l"/>
              </a:tabLst>
            </a:pP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total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dimensions</a:t>
            </a:r>
            <a:r>
              <a:rPr sz="13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(364px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by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 244px)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are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 calculated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by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 adding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all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 of</a:t>
            </a:r>
            <a:r>
              <a:rPr sz="13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vertical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 dimensions</a:t>
            </a:r>
            <a:r>
              <a:rPr sz="13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together</a:t>
            </a:r>
            <a:r>
              <a:rPr sz="1300" spc="27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300" spc="29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all</a:t>
            </a:r>
            <a:r>
              <a:rPr sz="1300" spc="28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300" spc="28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3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horizontal 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dimensions </a:t>
            </a:r>
            <a:r>
              <a:rPr sz="1300" spc="-20" dirty="0">
                <a:solidFill>
                  <a:srgbClr val="3C3C3C"/>
                </a:solidFill>
                <a:latin typeface="Calibri"/>
                <a:cs typeface="Calibri"/>
              </a:rPr>
              <a:t>together.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Sometimes, these components result in </a:t>
            </a:r>
            <a:r>
              <a:rPr sz="1300" spc="5" dirty="0">
                <a:solidFill>
                  <a:srgbClr val="3C3C3C"/>
                </a:solidFill>
                <a:latin typeface="Calibri"/>
                <a:cs typeface="Calibri"/>
              </a:rPr>
              <a:t>an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element that 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is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larger than the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parent’s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containing 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area.</a:t>
            </a:r>
            <a:endParaRPr sz="1300">
              <a:latin typeface="Calibri"/>
              <a:cs typeface="Calibri"/>
            </a:endParaRPr>
          </a:p>
          <a:p>
            <a:pPr marL="318770" indent="-306705" algn="just">
              <a:lnSpc>
                <a:spcPct val="100000"/>
              </a:lnSpc>
              <a:spcBef>
                <a:spcPts val="600"/>
              </a:spcBef>
              <a:buClr>
                <a:srgbClr val="8BB649"/>
              </a:buClr>
              <a:buSzPct val="92307"/>
              <a:buFont typeface="Cambria"/>
              <a:buChar char="◾"/>
              <a:tabLst>
                <a:tab pos="319405" algn="l"/>
              </a:tabLst>
            </a:pP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How</a:t>
            </a:r>
            <a:r>
              <a:rPr sz="13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3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we</a:t>
            </a:r>
            <a:r>
              <a:rPr sz="13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ensure</a:t>
            </a:r>
            <a:r>
              <a:rPr sz="13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3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we</a:t>
            </a:r>
            <a:r>
              <a:rPr sz="13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3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view</a:t>
            </a:r>
            <a:r>
              <a:rPr sz="13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all</a:t>
            </a:r>
            <a:r>
              <a:rPr sz="13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3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3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r>
              <a:rPr sz="13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3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3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larger</a:t>
            </a:r>
            <a:r>
              <a:rPr sz="13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than</a:t>
            </a:r>
            <a:r>
              <a:rPr sz="13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its</a:t>
            </a:r>
            <a:r>
              <a:rPr sz="13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parent’s</a:t>
            </a:r>
            <a:r>
              <a:rPr sz="13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containing</a:t>
            </a:r>
            <a:r>
              <a:rPr sz="1300" spc="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area?</a:t>
            </a:r>
            <a:endParaRPr sz="1300">
              <a:latin typeface="Calibri"/>
              <a:cs typeface="Calibri"/>
            </a:endParaRPr>
          </a:p>
          <a:p>
            <a:pPr marL="318770" indent="-306705" algn="just">
              <a:lnSpc>
                <a:spcPts val="1405"/>
              </a:lnSpc>
              <a:spcBef>
                <a:spcPts val="600"/>
              </a:spcBef>
              <a:buClr>
                <a:srgbClr val="8BB649"/>
              </a:buClr>
              <a:buSzPct val="92307"/>
              <a:buFont typeface="Cambria"/>
              <a:buChar char="◾"/>
              <a:tabLst>
                <a:tab pos="319405" algn="l"/>
              </a:tabLst>
            </a:pP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300" spc="8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overflow</a:t>
            </a:r>
            <a:r>
              <a:rPr sz="1300" spc="1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property</a:t>
            </a:r>
            <a:r>
              <a:rPr sz="1300" spc="1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controls</a:t>
            </a:r>
            <a:r>
              <a:rPr sz="1300" spc="9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what</a:t>
            </a:r>
            <a:r>
              <a:rPr sz="1300" spc="9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happens</a:t>
            </a:r>
            <a:r>
              <a:rPr sz="1300" spc="1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300" spc="9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content</a:t>
            </a:r>
            <a:r>
              <a:rPr sz="1300" spc="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300" spc="9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spills,</a:t>
            </a:r>
            <a:r>
              <a:rPr sz="1300" spc="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or</a:t>
            </a:r>
            <a:r>
              <a:rPr sz="1300" spc="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overflows,</a:t>
            </a:r>
            <a:r>
              <a:rPr sz="1300" spc="1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outside</a:t>
            </a:r>
            <a:r>
              <a:rPr sz="1300" spc="10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its</a:t>
            </a:r>
            <a:r>
              <a:rPr sz="1300" spc="9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box.</a:t>
            </a:r>
            <a:r>
              <a:rPr sz="1300" spc="9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300" spc="1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most</a:t>
            </a:r>
            <a:r>
              <a:rPr sz="1300" spc="8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commonly</a:t>
            </a:r>
            <a:r>
              <a:rPr sz="1300" spc="10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C3C3C"/>
                </a:solidFill>
                <a:latin typeface="Calibri"/>
                <a:cs typeface="Calibri"/>
              </a:rPr>
              <a:t>used</a:t>
            </a:r>
            <a:endParaRPr sz="1300">
              <a:latin typeface="Calibri"/>
              <a:cs typeface="Calibri"/>
            </a:endParaRPr>
          </a:p>
          <a:p>
            <a:pPr marL="318770">
              <a:lnSpc>
                <a:spcPts val="1405"/>
              </a:lnSpc>
            </a:pPr>
            <a:r>
              <a:rPr sz="1300" spc="-10" dirty="0">
                <a:solidFill>
                  <a:srgbClr val="3C3C3C"/>
                </a:solidFill>
                <a:latin typeface="Calibri"/>
                <a:cs typeface="Calibri"/>
              </a:rPr>
              <a:t>values</a:t>
            </a:r>
            <a:r>
              <a:rPr sz="1300" spc="-5" dirty="0">
                <a:solidFill>
                  <a:srgbClr val="3C3C3C"/>
                </a:solidFill>
                <a:latin typeface="Calibri"/>
                <a:cs typeface="Calibri"/>
              </a:rPr>
              <a:t> are:</a:t>
            </a:r>
            <a:endParaRPr sz="13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610"/>
              </a:spcBef>
              <a:buClr>
                <a:srgbClr val="8BB649"/>
              </a:buClr>
              <a:buSzPct val="90909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hidden—when</a:t>
            </a:r>
            <a:r>
              <a:rPr sz="11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set</a:t>
            </a:r>
            <a:r>
              <a:rPr sz="11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this</a:t>
            </a:r>
            <a:r>
              <a:rPr sz="11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value, any content</a:t>
            </a:r>
            <a:r>
              <a:rPr sz="11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1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overflows</a:t>
            </a:r>
            <a:r>
              <a:rPr sz="11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will</a:t>
            </a:r>
            <a:r>
              <a:rPr sz="11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be hidden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from</a:t>
            </a:r>
            <a:r>
              <a:rPr sz="11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view.</a:t>
            </a:r>
            <a:endParaRPr sz="11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600"/>
              </a:spcBef>
              <a:buClr>
                <a:srgbClr val="8BB649"/>
              </a:buClr>
              <a:buSzPct val="90909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scroll—when</a:t>
            </a:r>
            <a:r>
              <a:rPr sz="11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set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 to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this</a:t>
            </a:r>
            <a:r>
              <a:rPr sz="11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value, a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scrollbar</a:t>
            </a:r>
            <a:r>
              <a:rPr sz="11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will</a:t>
            </a:r>
            <a:r>
              <a:rPr sz="11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 added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the element’s</a:t>
            </a:r>
            <a:r>
              <a:rPr sz="11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box</a:t>
            </a:r>
            <a:r>
              <a:rPr sz="11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so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1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the rest</a:t>
            </a:r>
            <a:r>
              <a:rPr sz="11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the content</a:t>
            </a:r>
            <a:r>
              <a:rPr sz="11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can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 viewed</a:t>
            </a:r>
            <a:r>
              <a:rPr sz="11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by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scrolling.</a:t>
            </a:r>
            <a:endParaRPr sz="11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600"/>
              </a:spcBef>
              <a:buClr>
                <a:srgbClr val="8BB649"/>
              </a:buClr>
              <a:buSzPct val="90909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visible—when</a:t>
            </a:r>
            <a:r>
              <a:rPr sz="11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set</a:t>
            </a:r>
            <a:r>
              <a:rPr sz="11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this</a:t>
            </a:r>
            <a:r>
              <a:rPr sz="11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value, the</a:t>
            </a:r>
            <a:r>
              <a:rPr sz="11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overflow</a:t>
            </a:r>
            <a:r>
              <a:rPr sz="11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content</a:t>
            </a:r>
            <a:r>
              <a:rPr sz="1100" spc="-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will</a:t>
            </a:r>
            <a:r>
              <a:rPr sz="11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1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displayed</a:t>
            </a:r>
            <a:r>
              <a:rPr sz="11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outside</a:t>
            </a:r>
            <a:r>
              <a:rPr sz="11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1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containing</a:t>
            </a:r>
            <a:r>
              <a:rPr sz="11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element.</a:t>
            </a:r>
            <a:r>
              <a:rPr sz="1100" spc="-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Note,</a:t>
            </a:r>
            <a:r>
              <a:rPr sz="11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this</a:t>
            </a:r>
            <a:r>
              <a:rPr sz="11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default</a:t>
            </a:r>
            <a:r>
              <a:rPr sz="11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C3C3C"/>
                </a:solidFill>
                <a:latin typeface="Calibri"/>
                <a:cs typeface="Calibri"/>
              </a:rPr>
              <a:t>value.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39070" y="2683840"/>
            <a:ext cx="161226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overflow: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scroll;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VISIBILITY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541801"/>
            <a:ext cx="9446260" cy="2752725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375"/>
              </a:spcBef>
              <a:buClr>
                <a:srgbClr val="8BB649"/>
              </a:buClr>
              <a:buSzPct val="91071"/>
              <a:buFont typeface="Cambria"/>
              <a:buChar char="◾"/>
              <a:tabLst>
                <a:tab pos="319405" algn="l"/>
              </a:tabLst>
            </a:pPr>
            <a:r>
              <a:rPr sz="2800" spc="-10" dirty="0">
                <a:solidFill>
                  <a:srgbClr val="3C3C3C"/>
                </a:solidFill>
                <a:latin typeface="Calibri"/>
                <a:cs typeface="Calibri"/>
              </a:rPr>
              <a:t>Elements</a:t>
            </a:r>
            <a:r>
              <a:rPr sz="2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2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C3C3C"/>
                </a:solidFill>
                <a:latin typeface="Calibri"/>
                <a:cs typeface="Calibri"/>
              </a:rPr>
              <a:t>be </a:t>
            </a:r>
            <a:r>
              <a:rPr sz="2800" spc="-10" dirty="0">
                <a:solidFill>
                  <a:srgbClr val="3C3C3C"/>
                </a:solidFill>
                <a:latin typeface="Calibri"/>
                <a:cs typeface="Calibri"/>
              </a:rPr>
              <a:t>hidden</a:t>
            </a:r>
            <a:r>
              <a:rPr sz="2800" spc="4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C3C3C"/>
                </a:solidFill>
                <a:latin typeface="Calibri"/>
                <a:cs typeface="Calibri"/>
              </a:rPr>
              <a:t>from</a:t>
            </a:r>
            <a:r>
              <a:rPr sz="2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C3C3C"/>
                </a:solidFill>
                <a:latin typeface="Calibri"/>
                <a:cs typeface="Calibri"/>
              </a:rPr>
              <a:t>view</a:t>
            </a:r>
            <a:r>
              <a:rPr sz="2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2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C3C3C"/>
                </a:solidFill>
                <a:latin typeface="Calibri"/>
                <a:cs typeface="Calibri"/>
              </a:rPr>
              <a:t>visibility</a:t>
            </a:r>
            <a:r>
              <a:rPr sz="2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3C3C3C"/>
                </a:solidFill>
                <a:latin typeface="Calibri"/>
                <a:cs typeface="Calibri"/>
              </a:rPr>
              <a:t>property.</a:t>
            </a:r>
            <a:endParaRPr sz="2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275"/>
              </a:spcBef>
              <a:buClr>
                <a:srgbClr val="8BB649"/>
              </a:buClr>
              <a:buSzPct val="91071"/>
              <a:buFont typeface="Cambria"/>
              <a:buChar char="◾"/>
              <a:tabLst>
                <a:tab pos="319405" algn="l"/>
              </a:tabLst>
            </a:pPr>
            <a:r>
              <a:rPr sz="2800" spc="-1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C3C3C"/>
                </a:solidFill>
                <a:latin typeface="Calibri"/>
                <a:cs typeface="Calibri"/>
              </a:rPr>
              <a:t>visibility</a:t>
            </a:r>
            <a:r>
              <a:rPr sz="28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C3C3C"/>
                </a:solidFill>
                <a:latin typeface="Calibri"/>
                <a:cs typeface="Calibri"/>
              </a:rPr>
              <a:t>property</a:t>
            </a:r>
            <a:r>
              <a:rPr sz="2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2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2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C3C3C"/>
                </a:solidFill>
                <a:latin typeface="Calibri"/>
                <a:cs typeface="Calibri"/>
              </a:rPr>
              <a:t>set</a:t>
            </a:r>
            <a:r>
              <a:rPr sz="2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2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C3C3C"/>
                </a:solidFill>
                <a:latin typeface="Calibri"/>
                <a:cs typeface="Calibri"/>
              </a:rPr>
              <a:t>one</a:t>
            </a:r>
            <a:r>
              <a:rPr sz="2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C3C3C"/>
                </a:solidFill>
                <a:latin typeface="Calibri"/>
                <a:cs typeface="Calibri"/>
              </a:rPr>
              <a:t>of the</a:t>
            </a:r>
            <a:r>
              <a:rPr sz="2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C3C3C"/>
                </a:solidFill>
                <a:latin typeface="Calibri"/>
                <a:cs typeface="Calibri"/>
              </a:rPr>
              <a:t>following</a:t>
            </a:r>
            <a:r>
              <a:rPr sz="2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C3C3C"/>
                </a:solidFill>
                <a:latin typeface="Calibri"/>
                <a:cs typeface="Calibri"/>
              </a:rPr>
              <a:t>values:</a:t>
            </a:r>
            <a:endParaRPr sz="28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120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hidden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—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hides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element.</a:t>
            </a:r>
            <a:endParaRPr sz="24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118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visible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—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displays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element.</a:t>
            </a:r>
            <a:endParaRPr sz="24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117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collapse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—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collapses</a:t>
            </a:r>
            <a:r>
              <a:rPr sz="2400" spc="-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element.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0" dirty="0">
                <a:solidFill>
                  <a:srgbClr val="FFFFFF"/>
                </a:solidFill>
              </a:rPr>
              <a:t>DISPLAY: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-5" dirty="0">
                <a:solidFill>
                  <a:srgbClr val="FFFFFF"/>
                </a:solidFill>
              </a:rPr>
              <a:t>INLINE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692400"/>
            <a:ext cx="10819130" cy="262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508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Every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HTML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has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a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default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display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dictates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if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share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horizontal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space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other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elements. </a:t>
            </a:r>
            <a:r>
              <a:rPr sz="1800" spc="-39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Some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fill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entire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browser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from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left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right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regardless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size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their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content.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Other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elements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only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Calibri"/>
                <a:cs typeface="Calibri"/>
              </a:rPr>
              <a:t>take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up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as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much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horizontal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space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their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content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requires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directly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next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other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elements.</a:t>
            </a:r>
            <a:endParaRPr sz="1800">
              <a:latin typeface="Calibri"/>
              <a:cs typeface="Calibri"/>
            </a:endParaRPr>
          </a:p>
          <a:p>
            <a:pPr marL="318770" marR="112395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default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display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some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elements,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such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as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&lt;em&gt;,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&lt;strong&gt;,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and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&lt;a&gt;,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is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called</a:t>
            </a:r>
            <a:r>
              <a:rPr sz="18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inline.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Inline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have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box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that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wraps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tightly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around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their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content,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only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taking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up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amount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 space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necessary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display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their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content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not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requiring</a:t>
            </a:r>
            <a:r>
              <a:rPr sz="1800" spc="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new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line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after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each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element.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height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width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these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cannot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specified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CSS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document.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example,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text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of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anchor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tag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(&lt;a&gt;)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will,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by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default,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displayed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same line</a:t>
            </a:r>
            <a:r>
              <a:rPr sz="18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as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surrounding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text,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will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only be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wide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as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necessary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contain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its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content.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inline</a:t>
            </a:r>
            <a:r>
              <a:rPr sz="18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elements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cannot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altered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size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height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or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width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CSS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properties.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0" dirty="0">
                <a:solidFill>
                  <a:srgbClr val="FFFFFF"/>
                </a:solidFill>
              </a:rPr>
              <a:t>DISPLAY:</a:t>
            </a:r>
            <a:r>
              <a:rPr sz="2800" spc="-75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BLOCK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815539"/>
            <a:ext cx="10866755" cy="2370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508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Some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elements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 are</a:t>
            </a:r>
            <a:r>
              <a:rPr sz="24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not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displayed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 in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4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same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line</a:t>
            </a:r>
            <a:r>
              <a:rPr sz="24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as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4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C3C3C"/>
                </a:solidFill>
                <a:latin typeface="Calibri"/>
                <a:cs typeface="Calibri"/>
              </a:rPr>
              <a:t>content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around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them.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These </a:t>
            </a:r>
            <a:r>
              <a:rPr sz="2400" spc="-5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are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called block-level elements. These elements fill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entire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width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page by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default,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but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their width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property can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also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be set.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Unless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otherwise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specified,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they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are </a:t>
            </a:r>
            <a:r>
              <a:rPr sz="2400" spc="-5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height</a:t>
            </a:r>
            <a:r>
              <a:rPr sz="24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necessary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to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accommodate</a:t>
            </a:r>
            <a:r>
              <a:rPr sz="24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their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content.</a:t>
            </a:r>
            <a:endParaRPr sz="2400">
              <a:latin typeface="Calibri"/>
              <a:cs typeface="Calibri"/>
            </a:endParaRPr>
          </a:p>
          <a:p>
            <a:pPr marL="318770" marR="177165" indent="-306705">
              <a:lnSpc>
                <a:spcPct val="100000"/>
              </a:lnSpc>
              <a:spcBef>
                <a:spcPts val="118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Elements</a:t>
            </a:r>
            <a:r>
              <a:rPr sz="24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that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are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block-level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by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default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include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all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levels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 heading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elements</a:t>
            </a:r>
            <a:r>
              <a:rPr sz="24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(&lt;h1&gt; </a:t>
            </a:r>
            <a:r>
              <a:rPr sz="2400" spc="-5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through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&lt;h6&gt;),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&lt;p&gt;,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&lt;div&gt;</a:t>
            </a:r>
            <a:r>
              <a:rPr sz="24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and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&lt;footer&gt;.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 a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complete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list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block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level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elements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0" dirty="0">
                <a:solidFill>
                  <a:srgbClr val="FFFFFF"/>
                </a:solidFill>
              </a:rPr>
              <a:t>DISPLAY:</a:t>
            </a:r>
            <a:r>
              <a:rPr sz="2800" spc="-4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INLINE-BLOCK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3256534"/>
            <a:ext cx="107283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508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third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 the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display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property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inline-block.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Inline-block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 display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combines </a:t>
            </a:r>
            <a:r>
              <a:rPr sz="2400" spc="-5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features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of both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inline and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block elements. Inline-block elements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can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appear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next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to </a:t>
            </a:r>
            <a:r>
              <a:rPr sz="2400" spc="-5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each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other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and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we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can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specify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their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dimensions using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the width and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height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properties.</a:t>
            </a:r>
            <a:r>
              <a:rPr sz="24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Images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are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best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example</a:t>
            </a:r>
            <a:r>
              <a:rPr sz="24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default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inline-block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 elements.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POSITION</a:t>
            </a:r>
            <a:r>
              <a:rPr sz="2800" spc="-5" dirty="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sz="2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BLOCK-LEVEL</a:t>
            </a:r>
            <a:r>
              <a:rPr sz="2800" spc="1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ELEMENTS: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93" y="2205989"/>
            <a:ext cx="10874375" cy="385191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18770" marR="6985" indent="-306705" algn="just">
              <a:lnSpc>
                <a:spcPts val="1630"/>
              </a:lnSpc>
              <a:spcBef>
                <a:spcPts val="50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Block-level elements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like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these </a:t>
            </a: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boxes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create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a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block 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full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width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of their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parent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elements,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and they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prevent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other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 elements</a:t>
            </a:r>
            <a:r>
              <a:rPr sz="1700" spc="-3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from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appearing</a:t>
            </a:r>
            <a:r>
              <a:rPr sz="1700" spc="-3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in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same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 horizontal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space.</a:t>
            </a:r>
            <a:endParaRPr sz="1700">
              <a:latin typeface="Calibri"/>
              <a:cs typeface="Calibri"/>
            </a:endParaRPr>
          </a:p>
          <a:p>
            <a:pPr marL="318770" marR="5080" indent="-306705" algn="just">
              <a:lnSpc>
                <a:spcPts val="1630"/>
              </a:lnSpc>
              <a:spcBef>
                <a:spcPts val="101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9405" algn="l"/>
              </a:tabLst>
            </a:pP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Notice the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block-level elements in 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image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above </a:t>
            </a: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take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up their own line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of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space and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therefore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don’t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overlap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each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30" dirty="0">
                <a:solidFill>
                  <a:srgbClr val="0F162E"/>
                </a:solidFill>
                <a:latin typeface="Calibri"/>
                <a:cs typeface="Calibri"/>
              </a:rPr>
              <a:t>other.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In the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browser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to the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right, you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can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see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block-level elements also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consistently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appear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on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the left side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of 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the </a:t>
            </a:r>
            <a:r>
              <a:rPr sz="17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30" dirty="0">
                <a:solidFill>
                  <a:srgbClr val="0F162E"/>
                </a:solidFill>
                <a:latin typeface="Calibri"/>
                <a:cs typeface="Calibri"/>
              </a:rPr>
              <a:t>browser.</a:t>
            </a:r>
            <a:r>
              <a:rPr sz="1700" spc="-5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This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is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default</a:t>
            </a:r>
            <a:r>
              <a:rPr sz="1700" spc="-3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position</a:t>
            </a:r>
            <a:r>
              <a:rPr sz="1700" spc="-4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for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block-level</a:t>
            </a:r>
            <a:r>
              <a:rPr sz="1700" spc="-3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elements.</a:t>
            </a:r>
            <a:endParaRPr sz="1700">
              <a:latin typeface="Calibri"/>
              <a:cs typeface="Calibri"/>
            </a:endParaRPr>
          </a:p>
          <a:p>
            <a:pPr marL="318770" marR="6350" indent="-306705">
              <a:lnSpc>
                <a:spcPct val="80000"/>
              </a:lnSpc>
              <a:spcBef>
                <a:spcPts val="103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700" spc="8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default</a:t>
            </a:r>
            <a:r>
              <a:rPr sz="1700" spc="9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position</a:t>
            </a:r>
            <a:r>
              <a:rPr sz="1700" spc="9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of</a:t>
            </a:r>
            <a:r>
              <a:rPr sz="1700" spc="8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an</a:t>
            </a:r>
            <a:r>
              <a:rPr sz="1700" spc="9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element</a:t>
            </a:r>
            <a:r>
              <a:rPr sz="1700" spc="8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can</a:t>
            </a:r>
            <a:r>
              <a:rPr sz="1700" spc="1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be</a:t>
            </a:r>
            <a:r>
              <a:rPr sz="1700" spc="9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changed</a:t>
            </a:r>
            <a:r>
              <a:rPr sz="1700" spc="9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by</a:t>
            </a:r>
            <a:r>
              <a:rPr sz="1700" spc="8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setting</a:t>
            </a:r>
            <a:r>
              <a:rPr sz="1700" spc="9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its</a:t>
            </a:r>
            <a:r>
              <a:rPr sz="1700" spc="8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position</a:t>
            </a:r>
            <a:r>
              <a:rPr sz="1700" spc="10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property.</a:t>
            </a:r>
            <a:r>
              <a:rPr sz="1700" spc="9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700" spc="9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position</a:t>
            </a:r>
            <a:r>
              <a:rPr sz="1700" spc="1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property</a:t>
            </a:r>
            <a:r>
              <a:rPr sz="1700" spc="8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can</a:t>
            </a:r>
            <a:r>
              <a:rPr sz="1700" spc="9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take</a:t>
            </a:r>
            <a:r>
              <a:rPr sz="1700" spc="9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one </a:t>
            </a:r>
            <a:r>
              <a:rPr sz="1700" spc="-37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of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five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values:</a:t>
            </a:r>
            <a:endParaRPr sz="17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605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500" spc="-10" dirty="0">
                <a:solidFill>
                  <a:srgbClr val="0F162E"/>
                </a:solidFill>
                <a:latin typeface="Calibri"/>
                <a:cs typeface="Calibri"/>
              </a:rPr>
              <a:t>static</a:t>
            </a:r>
            <a:r>
              <a:rPr sz="15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F162E"/>
                </a:solidFill>
                <a:latin typeface="Calibri"/>
                <a:cs typeface="Calibri"/>
              </a:rPr>
              <a:t>-</a:t>
            </a:r>
            <a:r>
              <a:rPr sz="15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5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F162E"/>
                </a:solidFill>
                <a:latin typeface="Calibri"/>
                <a:cs typeface="Calibri"/>
              </a:rPr>
              <a:t>default</a:t>
            </a:r>
            <a:r>
              <a:rPr sz="15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F162E"/>
                </a:solidFill>
                <a:latin typeface="Calibri"/>
                <a:cs typeface="Calibri"/>
              </a:rPr>
              <a:t>value</a:t>
            </a:r>
            <a:r>
              <a:rPr sz="15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0F162E"/>
                </a:solidFill>
                <a:latin typeface="Calibri"/>
                <a:cs typeface="Calibri"/>
              </a:rPr>
              <a:t>(it</a:t>
            </a:r>
            <a:r>
              <a:rPr sz="15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0F162E"/>
                </a:solidFill>
                <a:latin typeface="Calibri"/>
                <a:cs typeface="Calibri"/>
              </a:rPr>
              <a:t>does</a:t>
            </a:r>
            <a:r>
              <a:rPr sz="15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0F162E"/>
                </a:solidFill>
                <a:latin typeface="Calibri"/>
                <a:cs typeface="Calibri"/>
              </a:rPr>
              <a:t>not</a:t>
            </a:r>
            <a:r>
              <a:rPr sz="1500" spc="-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0F162E"/>
                </a:solidFill>
                <a:latin typeface="Calibri"/>
                <a:cs typeface="Calibri"/>
              </a:rPr>
              <a:t>need</a:t>
            </a:r>
            <a:r>
              <a:rPr sz="15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F162E"/>
                </a:solidFill>
                <a:latin typeface="Calibri"/>
                <a:cs typeface="Calibri"/>
              </a:rPr>
              <a:t>to </a:t>
            </a:r>
            <a:r>
              <a:rPr sz="1500" dirty="0">
                <a:solidFill>
                  <a:srgbClr val="0F162E"/>
                </a:solidFill>
                <a:latin typeface="Calibri"/>
                <a:cs typeface="Calibri"/>
              </a:rPr>
              <a:t>be</a:t>
            </a:r>
            <a:r>
              <a:rPr sz="1500" spc="-5" dirty="0">
                <a:solidFill>
                  <a:srgbClr val="0F162E"/>
                </a:solidFill>
                <a:latin typeface="Calibri"/>
                <a:cs typeface="Calibri"/>
              </a:rPr>
              <a:t> specified)</a:t>
            </a:r>
            <a:endParaRPr sz="15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60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500" spc="-10" dirty="0">
                <a:solidFill>
                  <a:srgbClr val="0F162E"/>
                </a:solidFill>
                <a:latin typeface="Calibri"/>
                <a:cs typeface="Calibri"/>
              </a:rPr>
              <a:t>relative</a:t>
            </a:r>
            <a:endParaRPr sz="15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605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500" spc="-5" dirty="0">
                <a:solidFill>
                  <a:srgbClr val="0F162E"/>
                </a:solidFill>
                <a:latin typeface="Calibri"/>
                <a:cs typeface="Calibri"/>
              </a:rPr>
              <a:t>absolute</a:t>
            </a:r>
            <a:endParaRPr sz="15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60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500" spc="-10" dirty="0">
                <a:solidFill>
                  <a:srgbClr val="0F162E"/>
                </a:solidFill>
                <a:latin typeface="Calibri"/>
                <a:cs typeface="Calibri"/>
              </a:rPr>
              <a:t>fixed</a:t>
            </a:r>
            <a:endParaRPr sz="1500">
              <a:latin typeface="Calibri"/>
              <a:cs typeface="Calibri"/>
            </a:endParaRPr>
          </a:p>
          <a:p>
            <a:pPr marL="641985" lvl="1" indent="-305435">
              <a:lnSpc>
                <a:spcPct val="100000"/>
              </a:lnSpc>
              <a:spcBef>
                <a:spcPts val="60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500" spc="-5" dirty="0">
                <a:solidFill>
                  <a:srgbClr val="0F162E"/>
                </a:solidFill>
                <a:latin typeface="Calibri"/>
                <a:cs typeface="Calibri"/>
              </a:rPr>
              <a:t>sticky</a:t>
            </a:r>
            <a:endParaRPr sz="1500">
              <a:latin typeface="Calibri"/>
              <a:cs typeface="Calibri"/>
            </a:endParaRPr>
          </a:p>
          <a:p>
            <a:pPr marL="318770" indent="-306705">
              <a:lnSpc>
                <a:spcPts val="1835"/>
              </a:lnSpc>
              <a:spcBef>
                <a:spcPts val="590"/>
              </a:spcBef>
              <a:buClr>
                <a:srgbClr val="8BB649"/>
              </a:buClr>
              <a:buSzPct val="9117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In</a:t>
            </a:r>
            <a:r>
              <a:rPr sz="17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7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next</a:t>
            </a:r>
            <a:r>
              <a:rPr sz="17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few</a:t>
            </a:r>
            <a:r>
              <a:rPr sz="17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exercises,</a:t>
            </a:r>
            <a:r>
              <a:rPr sz="17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you’ll</a:t>
            </a:r>
            <a:r>
              <a:rPr sz="17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learn</a:t>
            </a:r>
            <a:r>
              <a:rPr sz="17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about</a:t>
            </a:r>
            <a:r>
              <a:rPr sz="17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7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values</a:t>
            </a:r>
            <a:r>
              <a:rPr sz="17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in</a:t>
            </a:r>
            <a:r>
              <a:rPr sz="17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7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list</a:t>
            </a:r>
            <a:r>
              <a:rPr sz="17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above.</a:t>
            </a:r>
            <a:r>
              <a:rPr sz="17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For</a:t>
            </a:r>
            <a:r>
              <a:rPr sz="17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40" dirty="0">
                <a:solidFill>
                  <a:srgbClr val="0F162E"/>
                </a:solidFill>
                <a:latin typeface="Calibri"/>
                <a:cs typeface="Calibri"/>
              </a:rPr>
              <a:t>now,</a:t>
            </a:r>
            <a:r>
              <a:rPr sz="1700" spc="1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it’s</a:t>
            </a:r>
            <a:r>
              <a:rPr sz="17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important</a:t>
            </a:r>
            <a:r>
              <a:rPr sz="1700" spc="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7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understand</a:t>
            </a:r>
            <a:r>
              <a:rPr sz="1700" spc="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that</a:t>
            </a:r>
            <a:r>
              <a:rPr sz="17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if</a:t>
            </a:r>
            <a:r>
              <a:rPr sz="17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you</a:t>
            </a:r>
            <a:endParaRPr sz="1700">
              <a:latin typeface="Calibri"/>
              <a:cs typeface="Calibri"/>
            </a:endParaRPr>
          </a:p>
          <a:p>
            <a:pPr marL="318770">
              <a:lnSpc>
                <a:spcPts val="1835"/>
              </a:lnSpc>
            </a:pP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favor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the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default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position</a:t>
            </a:r>
            <a:r>
              <a:rPr sz="1700" spc="-4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of</a:t>
            </a:r>
            <a:r>
              <a:rPr sz="1700" spc="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an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HTML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element,</a:t>
            </a:r>
            <a:r>
              <a:rPr sz="1700" spc="-2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F162E"/>
                </a:solidFill>
                <a:latin typeface="Calibri"/>
                <a:cs typeface="Calibri"/>
              </a:rPr>
              <a:t>you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don’t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need</a:t>
            </a:r>
            <a:r>
              <a:rPr sz="1700" spc="-2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to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0F162E"/>
                </a:solidFill>
                <a:latin typeface="Calibri"/>
                <a:cs typeface="Calibri"/>
              </a:rPr>
              <a:t>set</a:t>
            </a:r>
            <a:r>
              <a:rPr sz="1700" spc="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its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F162E"/>
                </a:solidFill>
                <a:latin typeface="Calibri"/>
                <a:cs typeface="Calibri"/>
              </a:rPr>
              <a:t>position</a:t>
            </a:r>
            <a:r>
              <a:rPr sz="1700" spc="-40" dirty="0">
                <a:solidFill>
                  <a:srgbClr val="0F162E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0F162E"/>
                </a:solidFill>
                <a:latin typeface="Calibri"/>
                <a:cs typeface="Calibri"/>
              </a:rPr>
              <a:t>property.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POSITION: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-65" dirty="0">
                <a:solidFill>
                  <a:srgbClr val="FFFFFF"/>
                </a:solidFill>
              </a:rPr>
              <a:t>STATIC;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802076"/>
            <a:ext cx="6061075" cy="226758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318770" indent="-306705" algn="just">
              <a:lnSpc>
                <a:spcPct val="100000"/>
              </a:lnSpc>
              <a:spcBef>
                <a:spcPts val="1185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9405" algn="l"/>
              </a:tabLst>
            </a:pP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HTML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elements</a:t>
            </a:r>
            <a:r>
              <a:rPr sz="20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are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positioned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static</a:t>
            </a:r>
            <a:r>
              <a:rPr sz="20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by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default.</a:t>
            </a:r>
            <a:endParaRPr sz="2000">
              <a:latin typeface="Calibri"/>
              <a:cs typeface="Calibri"/>
            </a:endParaRPr>
          </a:p>
          <a:p>
            <a:pPr marL="318770" marR="5080" indent="-306705" algn="just">
              <a:lnSpc>
                <a:spcPct val="100000"/>
              </a:lnSpc>
              <a:spcBef>
                <a:spcPts val="10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9405" algn="l"/>
              </a:tabLst>
            </a:pP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Static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positioned elements are not 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affected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by the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top,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bottom,</a:t>
            </a:r>
            <a:r>
              <a:rPr sz="20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left,</a:t>
            </a:r>
            <a:r>
              <a:rPr sz="20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 right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properties.</a:t>
            </a:r>
            <a:endParaRPr sz="2000">
              <a:latin typeface="Calibri"/>
              <a:cs typeface="Calibri"/>
            </a:endParaRPr>
          </a:p>
          <a:p>
            <a:pPr marL="318770" marR="5080" indent="-306705" algn="just">
              <a:lnSpc>
                <a:spcPct val="100000"/>
              </a:lnSpc>
              <a:spcBef>
                <a:spcPts val="1080"/>
              </a:spcBef>
              <a:buClr>
                <a:srgbClr val="8BB649"/>
              </a:buClr>
              <a:buSzPct val="90000"/>
              <a:buFont typeface="Cambria"/>
              <a:buChar char="◾"/>
              <a:tabLst>
                <a:tab pos="319405" algn="l"/>
              </a:tabLst>
            </a:pP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An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element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with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position: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static;</a:t>
            </a:r>
            <a:r>
              <a:rPr sz="2000" spc="4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is not positioned in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any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special </a:t>
            </a:r>
            <a:r>
              <a:rPr sz="2000" spc="-20" dirty="0">
                <a:solidFill>
                  <a:srgbClr val="3C3C3C"/>
                </a:solidFill>
                <a:latin typeface="Calibri"/>
                <a:cs typeface="Calibri"/>
              </a:rPr>
              <a:t>way;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it is 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always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positioned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according </a:t>
            </a:r>
            <a:r>
              <a:rPr sz="2000" spc="-15" dirty="0">
                <a:solidFill>
                  <a:srgbClr val="3C3C3C"/>
                </a:solidFill>
                <a:latin typeface="Calibri"/>
                <a:cs typeface="Calibri"/>
              </a:rPr>
              <a:t>to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2000" spc="-44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normal 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flow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0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libri"/>
                <a:cs typeface="Calibri"/>
              </a:rPr>
              <a:t>page: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42988" y="3419855"/>
            <a:ext cx="4569460" cy="1199515"/>
          </a:xfrm>
          <a:prstGeom prst="rect">
            <a:avLst/>
          </a:prstGeom>
          <a:ln w="9525">
            <a:solidFill>
              <a:srgbClr val="284D42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40995" marR="2087880" indent="-250190">
              <a:lnSpc>
                <a:spcPct val="100000"/>
              </a:lnSpc>
              <a:spcBef>
                <a:spcPts val="254"/>
              </a:spcBef>
            </a:pPr>
            <a:r>
              <a:rPr sz="1800" spc="-5" dirty="0">
                <a:solidFill>
                  <a:srgbClr val="A42A2A"/>
                </a:solidFill>
                <a:latin typeface="Consolas"/>
                <a:cs typeface="Consolas"/>
              </a:rPr>
              <a:t>div.static </a:t>
            </a:r>
            <a:r>
              <a:rPr sz="1800" dirty="0">
                <a:latin typeface="Consolas"/>
                <a:cs typeface="Consolas"/>
              </a:rPr>
              <a:t>{ </a:t>
            </a:r>
            <a:r>
              <a:rPr sz="1800" spc="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position</a:t>
            </a:r>
            <a:r>
              <a:rPr sz="1800" spc="-5" dirty="0">
                <a:latin typeface="Consolas"/>
                <a:cs typeface="Consolas"/>
              </a:rPr>
              <a:t>:</a:t>
            </a:r>
            <a:r>
              <a:rPr sz="1800" spc="-80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static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POSITION: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-25" dirty="0">
                <a:solidFill>
                  <a:srgbClr val="FFFFFF"/>
                </a:solidFill>
              </a:rPr>
              <a:t>RELATIVE;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805992" y="2274032"/>
            <a:ext cx="7724775" cy="2065020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318770" indent="-306705" algn="just">
              <a:lnSpc>
                <a:spcPct val="100000"/>
              </a:lnSpc>
              <a:spcBef>
                <a:spcPts val="112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8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position: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relative;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positioned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relative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its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normal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position.</a:t>
            </a:r>
            <a:endParaRPr sz="1800">
              <a:latin typeface="Calibri"/>
              <a:cs typeface="Calibri"/>
            </a:endParaRPr>
          </a:p>
          <a:p>
            <a:pPr marL="318770" marR="5080" indent="-306705" algn="just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Setting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top,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right,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bottom,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left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properties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a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relatively-positioned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element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will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cause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be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adjusted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away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from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its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normal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position.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Other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content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will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not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be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adjusted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fit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into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any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gap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left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by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element.</a:t>
            </a:r>
            <a:endParaRPr sz="1800">
              <a:latin typeface="Calibri"/>
              <a:cs typeface="Calibri"/>
            </a:endParaRPr>
          </a:p>
          <a:p>
            <a:pPr marL="318770" indent="-306705" algn="just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This</a:t>
            </a:r>
            <a:r>
              <a:rPr sz="1800" spc="5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value</a:t>
            </a:r>
            <a:r>
              <a:rPr sz="1800" spc="509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allows</a:t>
            </a:r>
            <a:r>
              <a:rPr sz="1800" spc="5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1800" spc="50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50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position</a:t>
            </a:r>
            <a:r>
              <a:rPr sz="1800" spc="509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</a:t>
            </a:r>
            <a:r>
              <a:rPr sz="1800" spc="509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r>
              <a:rPr sz="1800" spc="509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relative</a:t>
            </a:r>
            <a:r>
              <a:rPr sz="1800" spc="50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50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its</a:t>
            </a:r>
            <a:r>
              <a:rPr sz="1800" spc="49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default</a:t>
            </a:r>
            <a:r>
              <a:rPr sz="1800" spc="50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static</a:t>
            </a:r>
            <a:endParaRPr sz="1800">
              <a:latin typeface="Calibri"/>
              <a:cs typeface="Calibri"/>
            </a:endParaRPr>
          </a:p>
          <a:p>
            <a:pPr marL="318770" algn="just">
              <a:lnSpc>
                <a:spcPct val="100000"/>
              </a:lnSpc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position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on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web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page.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96284" y="4867655"/>
            <a:ext cx="4813300" cy="1199515"/>
          </a:xfrm>
          <a:prstGeom prst="rect">
            <a:avLst/>
          </a:prstGeom>
          <a:ln w="9525">
            <a:solidFill>
              <a:srgbClr val="284D42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40995" marR="2080260" indent="-250190">
              <a:lnSpc>
                <a:spcPct val="100000"/>
              </a:lnSpc>
              <a:spcBef>
                <a:spcPts val="254"/>
              </a:spcBef>
            </a:pPr>
            <a:r>
              <a:rPr sz="1800" spc="-5" dirty="0">
                <a:solidFill>
                  <a:srgbClr val="A42A2A"/>
                </a:solidFill>
                <a:latin typeface="Consolas"/>
                <a:cs typeface="Consolas"/>
              </a:rPr>
              <a:t>div.relative </a:t>
            </a:r>
            <a:r>
              <a:rPr sz="1800" dirty="0">
                <a:latin typeface="Consolas"/>
                <a:cs typeface="Consolas"/>
              </a:rPr>
              <a:t>{ </a:t>
            </a:r>
            <a:r>
              <a:rPr sz="1800" spc="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position</a:t>
            </a:r>
            <a:r>
              <a:rPr sz="1800" spc="-5" dirty="0">
                <a:latin typeface="Consolas"/>
                <a:cs typeface="Consolas"/>
              </a:rPr>
              <a:t>:</a:t>
            </a:r>
            <a:r>
              <a:rPr sz="1800" spc="-6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relative</a:t>
            </a:r>
            <a:r>
              <a:rPr sz="1800" spc="-5" dirty="0">
                <a:latin typeface="Consolas"/>
                <a:cs typeface="Consolas"/>
              </a:rPr>
              <a:t>; </a:t>
            </a:r>
            <a:r>
              <a:rPr sz="1800" spc="-97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left</a:t>
            </a:r>
            <a:r>
              <a:rPr sz="1800" spc="-5" dirty="0">
                <a:latin typeface="Consolas"/>
                <a:cs typeface="Consolas"/>
              </a:rPr>
              <a:t>:</a:t>
            </a:r>
            <a:r>
              <a:rPr sz="1800" spc="-10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30px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216535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POSITION:</a:t>
            </a:r>
            <a:r>
              <a:rPr sz="2800" spc="-80" dirty="0">
                <a:solidFill>
                  <a:srgbClr val="FFFFFF"/>
                </a:solidFill>
              </a:rPr>
              <a:t> </a:t>
            </a:r>
            <a:r>
              <a:rPr sz="2800" spc="-5" dirty="0">
                <a:solidFill>
                  <a:srgbClr val="FFFFFF"/>
                </a:solidFill>
              </a:rPr>
              <a:t>FIXED;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367788"/>
            <a:ext cx="10601325" cy="1385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508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position: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fixed;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positioned</a:t>
            </a:r>
            <a:r>
              <a:rPr sz="18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relative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viewport,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which</a:t>
            </a:r>
            <a:r>
              <a:rPr sz="18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means it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always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stays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same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place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even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if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page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is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scrolled.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top,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right,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bottom,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left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properties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are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used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position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element.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fixed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does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not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leave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gap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page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where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would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normally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have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been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located.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Notice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C3C3C"/>
                </a:solidFill>
                <a:latin typeface="Calibri"/>
                <a:cs typeface="Calibri"/>
              </a:rPr>
              <a:t>fixed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lower-right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corner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page.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Here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the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CSS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that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used: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31364" y="4117847"/>
            <a:ext cx="6094730" cy="2308860"/>
          </a:xfrm>
          <a:prstGeom prst="rect">
            <a:avLst/>
          </a:prstGeom>
          <a:ln w="9525">
            <a:solidFill>
              <a:srgbClr val="284D42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341630" marR="3738245" indent="-250190">
              <a:lnSpc>
                <a:spcPct val="100000"/>
              </a:lnSpc>
              <a:spcBef>
                <a:spcPts val="265"/>
              </a:spcBef>
            </a:pPr>
            <a:r>
              <a:rPr sz="1800" spc="-5" dirty="0">
                <a:solidFill>
                  <a:srgbClr val="A42A2A"/>
                </a:solidFill>
                <a:latin typeface="Consolas"/>
                <a:cs typeface="Consolas"/>
              </a:rPr>
              <a:t>div.fixed </a:t>
            </a:r>
            <a:r>
              <a:rPr sz="1800" dirty="0">
                <a:latin typeface="Consolas"/>
                <a:cs typeface="Consolas"/>
              </a:rPr>
              <a:t>{ </a:t>
            </a:r>
            <a:r>
              <a:rPr sz="1800" spc="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position</a:t>
            </a:r>
            <a:r>
              <a:rPr sz="1800" spc="-5" dirty="0">
                <a:latin typeface="Consolas"/>
                <a:cs typeface="Consolas"/>
              </a:rPr>
              <a:t>:</a:t>
            </a:r>
            <a:r>
              <a:rPr sz="1800" spc="-80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fixed</a:t>
            </a:r>
            <a:r>
              <a:rPr sz="1800" spc="-5" dirty="0">
                <a:latin typeface="Consolas"/>
                <a:cs typeface="Consolas"/>
              </a:rPr>
              <a:t>; </a:t>
            </a:r>
            <a:r>
              <a:rPr sz="1800" spc="-97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bottom</a:t>
            </a:r>
            <a:r>
              <a:rPr sz="1800" spc="-5" dirty="0">
                <a:latin typeface="Consolas"/>
                <a:cs typeface="Consolas"/>
              </a:rPr>
              <a:t>: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0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right</a:t>
            </a:r>
            <a:r>
              <a:rPr sz="1800" spc="-5" dirty="0">
                <a:latin typeface="Consolas"/>
                <a:cs typeface="Consolas"/>
              </a:rPr>
              <a:t>:</a:t>
            </a:r>
            <a:r>
              <a:rPr sz="1800" spc="-60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0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width</a:t>
            </a:r>
            <a:r>
              <a:rPr sz="1800" spc="-5" dirty="0">
                <a:latin typeface="Consolas"/>
                <a:cs typeface="Consolas"/>
              </a:rPr>
              <a:t>:</a:t>
            </a:r>
            <a:r>
              <a:rPr sz="1800" spc="-60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300px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border</a:t>
            </a:r>
            <a:r>
              <a:rPr sz="1800" spc="-5" dirty="0">
                <a:latin typeface="Consolas"/>
                <a:cs typeface="Consolas"/>
              </a:rPr>
              <a:t>: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3px</a:t>
            </a:r>
            <a:r>
              <a:rPr sz="1800" spc="-30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solid</a:t>
            </a:r>
            <a:r>
              <a:rPr sz="1800" spc="-20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#73AD21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POSITION: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ABSOLUTE;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3378454"/>
            <a:ext cx="10728325" cy="1254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805180" indent="-306705">
              <a:lnSpc>
                <a:spcPct val="100000"/>
              </a:lnSpc>
              <a:spcBef>
                <a:spcPts val="10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An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position: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absolute;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positioned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relative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nearest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positioned</a:t>
            </a:r>
            <a:r>
              <a:rPr sz="1800" spc="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ancestor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(instead</a:t>
            </a:r>
            <a:r>
              <a:rPr sz="1800" spc="3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of </a:t>
            </a:r>
            <a:r>
              <a:rPr sz="1800" spc="-39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positioned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relative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viewport,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like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fixed).</a:t>
            </a:r>
            <a:endParaRPr sz="1800">
              <a:latin typeface="Calibri"/>
              <a:cs typeface="Calibri"/>
            </a:endParaRPr>
          </a:p>
          <a:p>
            <a:pPr marL="318770" indent="-306705">
              <a:lnSpc>
                <a:spcPct val="100000"/>
              </a:lnSpc>
              <a:spcBef>
                <a:spcPts val="103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However;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if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an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absolute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positioned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has no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positioned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ancestors,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it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uses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document</a:t>
            </a:r>
            <a:r>
              <a:rPr sz="18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3C3C3C"/>
                </a:solidFill>
                <a:latin typeface="Calibri"/>
                <a:cs typeface="Calibri"/>
              </a:rPr>
              <a:t>body,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and</a:t>
            </a:r>
            <a:r>
              <a:rPr sz="18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moves</a:t>
            </a:r>
            <a:endParaRPr sz="1800">
              <a:latin typeface="Calibri"/>
              <a:cs typeface="Calibri"/>
            </a:endParaRPr>
          </a:p>
          <a:p>
            <a:pPr marL="318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along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 with</a:t>
            </a:r>
            <a:r>
              <a:rPr sz="18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libri"/>
                <a:cs typeface="Calibri"/>
              </a:rPr>
              <a:t>page</a:t>
            </a:r>
            <a:r>
              <a:rPr sz="18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Calibri"/>
                <a:cs typeface="Calibri"/>
              </a:rPr>
              <a:t>scrolling.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36665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POSITION:</a:t>
            </a:r>
            <a:r>
              <a:rPr sz="2800" spc="-80" dirty="0">
                <a:solidFill>
                  <a:srgbClr val="FFFFFF"/>
                </a:solidFill>
              </a:rPr>
              <a:t> </a:t>
            </a:r>
            <a:r>
              <a:rPr sz="2800" spc="-30" dirty="0">
                <a:solidFill>
                  <a:srgbClr val="FFFFFF"/>
                </a:solidFill>
              </a:rPr>
              <a:t>STICKY;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408682"/>
            <a:ext cx="10835640" cy="303466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275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An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element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with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position: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sticky;</a:t>
            </a:r>
            <a:r>
              <a:rPr sz="24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positioned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based on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 the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user's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scroll</a:t>
            </a:r>
            <a:r>
              <a:rPr sz="24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position.</a:t>
            </a:r>
            <a:endParaRPr sz="2400">
              <a:latin typeface="Calibri"/>
              <a:cs typeface="Calibri"/>
            </a:endParaRPr>
          </a:p>
          <a:p>
            <a:pPr marL="318770" marR="190500" indent="-306705">
              <a:lnSpc>
                <a:spcPct val="100000"/>
              </a:lnSpc>
              <a:spcBef>
                <a:spcPts val="118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sticky element toggles between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relative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and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fixed,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depending on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scroll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 position.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It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positioned</a:t>
            </a:r>
            <a:r>
              <a:rPr sz="24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relative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until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a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given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offset</a:t>
            </a:r>
            <a:r>
              <a:rPr sz="24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position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 is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met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in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viewport</a:t>
            </a:r>
            <a:r>
              <a:rPr sz="2400" spc="-3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- </a:t>
            </a:r>
            <a:r>
              <a:rPr sz="2400" spc="-5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then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it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"sticks"</a:t>
            </a:r>
            <a:r>
              <a:rPr sz="24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in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place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C3C3C"/>
                </a:solidFill>
                <a:latin typeface="Calibri"/>
                <a:cs typeface="Calibri"/>
              </a:rPr>
              <a:t>(like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position:fixed).</a:t>
            </a:r>
            <a:endParaRPr sz="2400">
              <a:latin typeface="Calibri"/>
              <a:cs typeface="Calibri"/>
            </a:endParaRPr>
          </a:p>
          <a:p>
            <a:pPr marL="318770" marR="5080" indent="-306705">
              <a:lnSpc>
                <a:spcPct val="100000"/>
              </a:lnSpc>
              <a:spcBef>
                <a:spcPts val="1180"/>
              </a:spcBef>
              <a:buClr>
                <a:srgbClr val="8BB649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Internet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Explorer</a:t>
            </a:r>
            <a:r>
              <a:rPr sz="24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does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not support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sticky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positioning.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Safari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requires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a</a:t>
            </a:r>
            <a:r>
              <a:rPr sz="2400" spc="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-webkit-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prefix </a:t>
            </a:r>
            <a:r>
              <a:rPr sz="2400" spc="-5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(see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 example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below).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65" dirty="0">
                <a:solidFill>
                  <a:srgbClr val="3C3C3C"/>
                </a:solidFill>
                <a:latin typeface="Calibri"/>
                <a:cs typeface="Calibri"/>
              </a:rPr>
              <a:t>You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 must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C3C3C"/>
                </a:solidFill>
                <a:latin typeface="Calibri"/>
                <a:cs typeface="Calibri"/>
              </a:rPr>
              <a:t>also</a:t>
            </a:r>
            <a:r>
              <a:rPr sz="24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specify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at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least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one of</a:t>
            </a:r>
            <a:r>
              <a:rPr sz="2400" spc="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top,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right,</a:t>
            </a:r>
            <a:r>
              <a:rPr sz="24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bottom</a:t>
            </a:r>
            <a:r>
              <a:rPr sz="24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or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left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C3C3C"/>
                </a:solidFill>
                <a:latin typeface="Calibri"/>
                <a:cs typeface="Calibri"/>
              </a:rPr>
              <a:t>for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sticky</a:t>
            </a:r>
            <a:r>
              <a:rPr sz="2400" spc="-2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Calibri"/>
                <a:cs typeface="Calibri"/>
              </a:rPr>
              <a:t>positioning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C3C3C"/>
                </a:solidFill>
                <a:latin typeface="Calibri"/>
                <a:cs typeface="Calibri"/>
              </a:rPr>
              <a:t>to</a:t>
            </a:r>
            <a:r>
              <a:rPr sz="2400" spc="-25" dirty="0">
                <a:solidFill>
                  <a:srgbClr val="3C3C3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Calibri"/>
                <a:cs typeface="Calibri"/>
              </a:rPr>
              <a:t>work.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8055" y="5141976"/>
            <a:ext cx="11291570" cy="1259205"/>
          </a:xfrm>
          <a:custGeom>
            <a:avLst/>
            <a:gdLst/>
            <a:ahLst/>
            <a:cxnLst/>
            <a:rect l="l" t="t" r="r" b="b"/>
            <a:pathLst>
              <a:path w="11291570" h="1259204">
                <a:moveTo>
                  <a:pt x="11291316" y="0"/>
                </a:moveTo>
                <a:lnTo>
                  <a:pt x="0" y="0"/>
                </a:lnTo>
                <a:lnTo>
                  <a:pt x="0" y="1258824"/>
                </a:lnTo>
                <a:lnTo>
                  <a:pt x="11291316" y="1258824"/>
                </a:lnTo>
                <a:lnTo>
                  <a:pt x="11291316" y="0"/>
                </a:lnTo>
                <a:close/>
              </a:path>
            </a:pathLst>
          </a:custGeom>
          <a:solidFill>
            <a:srgbClr val="366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9993" y="3547948"/>
            <a:ext cx="284099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6481</Words>
  <Application>Microsoft Office PowerPoint</Application>
  <PresentationFormat>Widescreen</PresentationFormat>
  <Paragraphs>575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9" baseType="lpstr">
      <vt:lpstr>Arial MT</vt:lpstr>
      <vt:lpstr>Calibri</vt:lpstr>
      <vt:lpstr>Cambria</vt:lpstr>
      <vt:lpstr>Consolas</vt:lpstr>
      <vt:lpstr>Segoe UI</vt:lpstr>
      <vt:lpstr>Times New Roman</vt:lpstr>
      <vt:lpstr>Verdana</vt:lpstr>
      <vt:lpstr>Wingdings</vt:lpstr>
      <vt:lpstr>Office Theme</vt:lpstr>
      <vt:lpstr>CSS: CASCADING STYLE SHEETS BY ARPITA TIWARI</vt:lpstr>
      <vt:lpstr> CASCADING STYLE SHEETS</vt:lpstr>
      <vt:lpstr> STYLING A WEB PAGE:</vt:lpstr>
      <vt:lpstr>INLINE CSS</vt:lpstr>
      <vt:lpstr>INTERNAL CSS</vt:lpstr>
      <vt:lpstr>EXTERNAL CSS</vt:lpstr>
      <vt:lpstr> SELECTORS</vt:lpstr>
      <vt:lpstr> TYPE SELECTOR</vt:lpstr>
      <vt:lpstr> THE UNIVERSAL SELECTOR</vt:lpstr>
      <vt:lpstr> CLASS SELECTOR</vt:lpstr>
      <vt:lpstr> MULTIPLE CLASSES</vt:lpstr>
      <vt:lpstr> ID SELECTOR</vt:lpstr>
      <vt:lpstr> ATTRIBUTE SELECTOR</vt:lpstr>
      <vt:lpstr> ATTRIBUTE SELECTOR</vt:lpstr>
      <vt:lpstr> PSEUDO-CLASS</vt:lpstr>
      <vt:lpstr> SPECIFICITY</vt:lpstr>
      <vt:lpstr> MULTIPLE SELECTORS</vt:lpstr>
      <vt:lpstr> FONT FAMILY</vt:lpstr>
      <vt:lpstr> FONT SIZE</vt:lpstr>
      <vt:lpstr> FONT WEIGHT</vt:lpstr>
      <vt:lpstr> FONT STYLE</vt:lpstr>
      <vt:lpstr> TEXT TRANSFORMATION</vt:lpstr>
      <vt:lpstr> TEXT LAYOUT</vt:lpstr>
      <vt:lpstr> TEXT ALIGN</vt:lpstr>
      <vt:lpstr> OPACITY</vt:lpstr>
      <vt:lpstr> BACKGROUND IMAGE</vt:lpstr>
      <vt:lpstr> IMPORTANT</vt:lpstr>
      <vt:lpstr> WEB FONTS</vt:lpstr>
      <vt:lpstr> INTRODUCTION TO COLOR</vt:lpstr>
      <vt:lpstr> COLOR AND BACKGROUND COLOR</vt:lpstr>
      <vt:lpstr> HEXADECIMAL COLOR CODE</vt:lpstr>
      <vt:lpstr> RGB COLORS</vt:lpstr>
      <vt:lpstr> HUE, SATURATION, AND LIGHTNESS</vt:lpstr>
      <vt:lpstr> OPACITY AND ALPHA</vt:lpstr>
      <vt:lpstr> THE BOX MODEL</vt:lpstr>
      <vt:lpstr> THE BOX MODEL</vt:lpstr>
      <vt:lpstr> THE BOX MODEL: HEIGHT AND WIDTH</vt:lpstr>
      <vt:lpstr> BORDERS</vt:lpstr>
      <vt:lpstr> CSS BORDER STYLE</vt:lpstr>
      <vt:lpstr> BORDER - INDIVIDUAL SIDES</vt:lpstr>
      <vt:lpstr> BORDER RADIUS</vt:lpstr>
      <vt:lpstr> PADDING</vt:lpstr>
      <vt:lpstr> PADDING SHORTHAND</vt:lpstr>
      <vt:lpstr> PADDING SHORTHAND</vt:lpstr>
      <vt:lpstr> MARGIN</vt:lpstr>
      <vt:lpstr> MARGIN SHORTHAND</vt:lpstr>
      <vt:lpstr> MARGIN COLLAPSE</vt:lpstr>
      <vt:lpstr> MINIMUM AND MAXIMUM HEIGHT AND WIDTH</vt:lpstr>
      <vt:lpstr> OVERFLOW</vt:lpstr>
      <vt:lpstr> VISIBILITY</vt:lpstr>
      <vt:lpstr> DISPLAY: INLINE</vt:lpstr>
      <vt:lpstr> DISPLAY: BLOCK</vt:lpstr>
      <vt:lpstr> DISPLAY: INLINE-BLOCK</vt:lpstr>
      <vt:lpstr> POSITION BLOCK-LEVEL ELEMENTS:</vt:lpstr>
      <vt:lpstr> POSITION: STATIC;</vt:lpstr>
      <vt:lpstr> POSITION: RELATIVE;</vt:lpstr>
      <vt:lpstr> POSITION: FIXED;</vt:lpstr>
      <vt:lpstr> POSITION: ABSOLUTE;</vt:lpstr>
      <vt:lpstr> POSITION: STICKY;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</dc:title>
  <dc:creator>Arpita Tiwari</dc:creator>
  <cp:lastModifiedBy>Arpita Tiwari</cp:lastModifiedBy>
  <cp:revision>4</cp:revision>
  <dcterms:created xsi:type="dcterms:W3CDTF">2022-12-14T09:50:25Z</dcterms:created>
  <dcterms:modified xsi:type="dcterms:W3CDTF">2023-10-17T03:08:54Z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2022-12-14T00:00:00Z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2022-12-14T00:00:00Z</vt:filetime>
  </property>
</Properties>
</file>