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307" r:id="rId3"/>
    <p:sldId id="308" r:id="rId4"/>
    <p:sldId id="330" r:id="rId5"/>
    <p:sldId id="332" r:id="rId6"/>
    <p:sldId id="333" r:id="rId7"/>
    <p:sldId id="334" r:id="rId8"/>
    <p:sldId id="309" r:id="rId9"/>
    <p:sldId id="312" r:id="rId10"/>
    <p:sldId id="310" r:id="rId11"/>
    <p:sldId id="319" r:id="rId12"/>
    <p:sldId id="320" r:id="rId13"/>
    <p:sldId id="321" r:id="rId14"/>
    <p:sldId id="323" r:id="rId15"/>
    <p:sldId id="322" r:id="rId16"/>
    <p:sldId id="324" r:id="rId17"/>
    <p:sldId id="313" r:id="rId18"/>
    <p:sldId id="325" r:id="rId19"/>
    <p:sldId id="314" r:id="rId20"/>
    <p:sldId id="326" r:id="rId21"/>
    <p:sldId id="327" r:id="rId22"/>
    <p:sldId id="315" r:id="rId23"/>
    <p:sldId id="328" r:id="rId24"/>
    <p:sldId id="329" r:id="rId25"/>
    <p:sldId id="316" r:id="rId26"/>
    <p:sldId id="317" r:id="rId27"/>
    <p:sldId id="318" r:id="rId28"/>
    <p:sldId id="335" r:id="rId29"/>
    <p:sldId id="336" r:id="rId30"/>
    <p:sldId id="337" r:id="rId31"/>
    <p:sldId id="338" r:id="rId32"/>
    <p:sldId id="339" r:id="rId33"/>
    <p:sldId id="340" r:id="rId34"/>
    <p:sldId id="341" r:id="rId35"/>
    <p:sldId id="342" r:id="rId36"/>
    <p:sldId id="343" r:id="rId37"/>
    <p:sldId id="344" r:id="rId38"/>
    <p:sldId id="345" r:id="rId39"/>
    <p:sldId id="346" r:id="rId40"/>
    <p:sldId id="347" r:id="rId41"/>
    <p:sldId id="348" r:id="rId42"/>
    <p:sldId id="349" r:id="rId43"/>
    <p:sldId id="350" r:id="rId44"/>
    <p:sldId id="351" r:id="rId45"/>
    <p:sldId id="352" r:id="rId46"/>
    <p:sldId id="353" r:id="rId47"/>
    <p:sldId id="354" r:id="rId48"/>
    <p:sldId id="355" r:id="rId49"/>
    <p:sldId id="356" r:id="rId50"/>
    <p:sldId id="357" r:id="rId51"/>
    <p:sldId id="358" r:id="rId52"/>
    <p:sldId id="359" r:id="rId53"/>
    <p:sldId id="360" r:id="rId54"/>
    <p:sldId id="361" r:id="rId55"/>
    <p:sldId id="362" r:id="rId56"/>
    <p:sldId id="363" r:id="rId57"/>
    <p:sldId id="364" r:id="rId58"/>
    <p:sldId id="365" r:id="rId59"/>
    <p:sldId id="366" r:id="rId60"/>
    <p:sldId id="367" r:id="rId61"/>
    <p:sldId id="368" r:id="rId62"/>
    <p:sldId id="369" r:id="rId63"/>
    <p:sldId id="370" r:id="rId64"/>
    <p:sldId id="372" r:id="rId65"/>
    <p:sldId id="373" r:id="rId66"/>
    <p:sldId id="371" r:id="rId67"/>
    <p:sldId id="374" r:id="rId68"/>
    <p:sldId id="375" r:id="rId69"/>
    <p:sldId id="311" r:id="rId7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8" d="100"/>
          <a:sy n="68" d="100"/>
        </p:scale>
        <p:origin x="616"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85E35C6C-632E-4896-A57D-A5B1E746F4BE}" type="datetimeFigureOut">
              <a:rPr lang="en-IN" smtClean="0"/>
              <a:t>01-11-2023</a:t>
            </a:fld>
            <a:endParaRPr lang="en-IN"/>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IN"/>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54D73FA0-9026-41C6-950B-0EAF0132A897}" type="slidenum">
              <a:rPr lang="en-IN" smtClean="0"/>
              <a:t>‹#›</a:t>
            </a:fld>
            <a:endParaRPr lang="en-IN"/>
          </a:p>
        </p:txBody>
      </p:sp>
    </p:spTree>
    <p:extLst>
      <p:ext uri="{BB962C8B-B14F-4D97-AF65-F5344CB8AC3E}">
        <p14:creationId xmlns:p14="http://schemas.microsoft.com/office/powerpoint/2010/main" val="21706577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5E35C6C-632E-4896-A57D-A5B1E746F4BE}" type="datetimeFigureOut">
              <a:rPr lang="en-IN" smtClean="0"/>
              <a:t>01-11-2023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10558300" y="5956137"/>
            <a:ext cx="1052508" cy="365125"/>
          </a:xfrm>
        </p:spPr>
        <p:txBody>
          <a:bodyPr/>
          <a:lstStyle/>
          <a:p>
            <a:fld id="{54D73FA0-9026-41C6-950B-0EAF0132A897}" type="slidenum">
              <a:rPr lang="en-IN" smtClean="0"/>
              <a:t>‹#›</a:t>
            </a:fld>
            <a:endParaRPr lang="en-IN"/>
          </a:p>
        </p:txBody>
      </p:sp>
    </p:spTree>
    <p:extLst>
      <p:ext uri="{BB962C8B-B14F-4D97-AF65-F5344CB8AC3E}">
        <p14:creationId xmlns:p14="http://schemas.microsoft.com/office/powerpoint/2010/main" val="33649181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85E35C6C-632E-4896-A57D-A5B1E746F4BE}" type="datetimeFigureOut">
              <a:rPr lang="en-IN" smtClean="0"/>
              <a:t>01-11-2023</a:t>
            </a:fld>
            <a:endParaRPr lang="en-IN"/>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IN"/>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54D73FA0-9026-41C6-950B-0EAF0132A897}" type="slidenum">
              <a:rPr lang="en-IN" smtClean="0"/>
              <a:t>‹#›</a:t>
            </a:fld>
            <a:endParaRPr lang="en-IN"/>
          </a:p>
        </p:txBody>
      </p:sp>
    </p:spTree>
    <p:extLst>
      <p:ext uri="{BB962C8B-B14F-4D97-AF65-F5344CB8AC3E}">
        <p14:creationId xmlns:p14="http://schemas.microsoft.com/office/powerpoint/2010/main" val="26983874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5E35C6C-632E-4896-A57D-A5B1E746F4BE}" type="datetimeFigureOut">
              <a:rPr lang="en-IN" smtClean="0"/>
              <a:t>01-11-2023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4D73FA0-9026-41C6-950B-0EAF0132A897}" type="slidenum">
              <a:rPr lang="en-IN" smtClean="0"/>
              <a:t>‹#›</a:t>
            </a:fld>
            <a:endParaRPr lang="en-IN"/>
          </a:p>
        </p:txBody>
      </p:sp>
    </p:spTree>
    <p:extLst>
      <p:ext uri="{BB962C8B-B14F-4D97-AF65-F5344CB8AC3E}">
        <p14:creationId xmlns:p14="http://schemas.microsoft.com/office/powerpoint/2010/main" val="26768351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5E35C6C-632E-4896-A57D-A5B1E746F4BE}" type="datetimeFigureOut">
              <a:rPr lang="en-IN" smtClean="0"/>
              <a:t>01-11-2023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4D73FA0-9026-41C6-950B-0EAF0132A897}" type="slidenum">
              <a:rPr lang="en-IN" smtClean="0"/>
              <a:t>‹#›</a:t>
            </a:fld>
            <a:endParaRPr lang="en-IN"/>
          </a:p>
        </p:txBody>
      </p:sp>
    </p:spTree>
    <p:extLst>
      <p:ext uri="{BB962C8B-B14F-4D97-AF65-F5344CB8AC3E}">
        <p14:creationId xmlns:p14="http://schemas.microsoft.com/office/powerpoint/2010/main" val="19649761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5E35C6C-632E-4896-A57D-A5B1E746F4BE}" type="datetimeFigureOut">
              <a:rPr lang="en-IN" smtClean="0"/>
              <a:t>01-11-2023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4D73FA0-9026-41C6-950B-0EAF0132A897}" type="slidenum">
              <a:rPr lang="en-IN" smtClean="0"/>
              <a:t>‹#›</a:t>
            </a:fld>
            <a:endParaRPr lang="en-IN"/>
          </a:p>
        </p:txBody>
      </p:sp>
    </p:spTree>
    <p:extLst>
      <p:ext uri="{BB962C8B-B14F-4D97-AF65-F5344CB8AC3E}">
        <p14:creationId xmlns:p14="http://schemas.microsoft.com/office/powerpoint/2010/main" val="31792321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5E35C6C-632E-4896-A57D-A5B1E746F4BE}" type="datetimeFigureOut">
              <a:rPr lang="en-IN" smtClean="0"/>
              <a:t>01-11-2023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4D73FA0-9026-41C6-950B-0EAF0132A897}" type="slidenum">
              <a:rPr lang="en-IN" smtClean="0"/>
              <a:t>‹#›</a:t>
            </a:fld>
            <a:endParaRPr lang="en-IN"/>
          </a:p>
        </p:txBody>
      </p:sp>
    </p:spTree>
    <p:extLst>
      <p:ext uri="{BB962C8B-B14F-4D97-AF65-F5344CB8AC3E}">
        <p14:creationId xmlns:p14="http://schemas.microsoft.com/office/powerpoint/2010/main" val="16702714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85E35C6C-632E-4896-A57D-A5B1E746F4BE}" type="datetimeFigureOut">
              <a:rPr lang="en-IN" smtClean="0"/>
              <a:t>01-11-2023</a:t>
            </a:fld>
            <a:endParaRPr lang="en-IN"/>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54D73FA0-9026-41C6-950B-0EAF0132A897}" type="slidenum">
              <a:rPr lang="en-IN" smtClean="0"/>
              <a:t>‹#›</a:t>
            </a:fld>
            <a:endParaRPr lang="en-IN"/>
          </a:p>
        </p:txBody>
      </p:sp>
    </p:spTree>
    <p:extLst>
      <p:ext uri="{BB962C8B-B14F-4D97-AF65-F5344CB8AC3E}">
        <p14:creationId xmlns:p14="http://schemas.microsoft.com/office/powerpoint/2010/main" val="14609474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5E35C6C-632E-4896-A57D-A5B1E746F4BE}" type="datetimeFigureOut">
              <a:rPr lang="en-IN" smtClean="0"/>
              <a:t>01-11-2023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4D73FA0-9026-41C6-950B-0EAF0132A897}" type="slidenum">
              <a:rPr lang="en-IN" smtClean="0"/>
              <a:t>‹#›</a:t>
            </a:fld>
            <a:endParaRPr lang="en-IN"/>
          </a:p>
        </p:txBody>
      </p:sp>
    </p:spTree>
    <p:extLst>
      <p:ext uri="{BB962C8B-B14F-4D97-AF65-F5344CB8AC3E}">
        <p14:creationId xmlns:p14="http://schemas.microsoft.com/office/powerpoint/2010/main" val="4190159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5E35C6C-632E-4896-A57D-A5B1E746F4BE}" type="datetimeFigureOut">
              <a:rPr lang="en-IN" smtClean="0"/>
              <a:t>01-11-2023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4D73FA0-9026-41C6-950B-0EAF0132A897}" type="slidenum">
              <a:rPr lang="en-IN" smtClean="0"/>
              <a:t>‹#›</a:t>
            </a:fld>
            <a:endParaRPr lang="en-IN"/>
          </a:p>
        </p:txBody>
      </p:sp>
    </p:spTree>
    <p:extLst>
      <p:ext uri="{BB962C8B-B14F-4D97-AF65-F5344CB8AC3E}">
        <p14:creationId xmlns:p14="http://schemas.microsoft.com/office/powerpoint/2010/main" val="31738953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85E35C6C-632E-4896-A57D-A5B1E746F4BE}" type="datetimeFigureOut">
              <a:rPr lang="en-IN" smtClean="0"/>
              <a:t>01-11-2023</a:t>
            </a:fld>
            <a:endParaRPr lang="en-IN"/>
          </a:p>
        </p:txBody>
      </p:sp>
      <p:sp>
        <p:nvSpPr>
          <p:cNvPr id="5" name="Footer Placeholder 4"/>
          <p:cNvSpPr>
            <a:spLocks noGrp="1"/>
          </p:cNvSpPr>
          <p:nvPr>
            <p:ph type="ftr" sz="quarter" idx="11"/>
          </p:nvPr>
        </p:nvSpPr>
        <p:spPr>
          <a:xfrm>
            <a:off x="774923" y="5951811"/>
            <a:ext cx="7896279" cy="365125"/>
          </a:xfrm>
        </p:spPr>
        <p:txBody>
          <a:bodyPr/>
          <a:lstStyle/>
          <a:p>
            <a:endParaRPr lang="en-IN"/>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54D73FA0-9026-41C6-950B-0EAF0132A897}" type="slidenum">
              <a:rPr lang="en-IN" smtClean="0"/>
              <a:t>‹#›</a:t>
            </a:fld>
            <a:endParaRPr lang="en-IN"/>
          </a:p>
        </p:txBody>
      </p:sp>
    </p:spTree>
    <p:extLst>
      <p:ext uri="{BB962C8B-B14F-4D97-AF65-F5344CB8AC3E}">
        <p14:creationId xmlns:p14="http://schemas.microsoft.com/office/powerpoint/2010/main" val="4133720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85E35C6C-632E-4896-A57D-A5B1E746F4BE}" type="datetimeFigureOut">
              <a:rPr lang="en-IN" smtClean="0"/>
              <a:t>01-11-2023</a:t>
            </a:fld>
            <a:endParaRPr lang="en-IN"/>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IN"/>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54D73FA0-9026-41C6-950B-0EAF0132A897}" type="slidenum">
              <a:rPr lang="en-IN" smtClean="0"/>
              <a:t>‹#›</a:t>
            </a:fld>
            <a:endParaRPr lang="en-IN"/>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903600831"/>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E6708D-0DC9-22A3-266B-A1C57B9C3C5B}"/>
              </a:ext>
            </a:extLst>
          </p:cNvPr>
          <p:cNvSpPr>
            <a:spLocks noGrp="1"/>
          </p:cNvSpPr>
          <p:nvPr>
            <p:ph type="ctrTitle"/>
          </p:nvPr>
        </p:nvSpPr>
        <p:spPr/>
        <p:txBody>
          <a:bodyPr/>
          <a:lstStyle/>
          <a:p>
            <a:r>
              <a:rPr lang="en-IN" dirty="0"/>
              <a:t>JS: JavaScript</a:t>
            </a:r>
          </a:p>
        </p:txBody>
      </p:sp>
      <p:sp>
        <p:nvSpPr>
          <p:cNvPr id="3" name="Subtitle 2">
            <a:extLst>
              <a:ext uri="{FF2B5EF4-FFF2-40B4-BE49-F238E27FC236}">
                <a16:creationId xmlns:a16="http://schemas.microsoft.com/office/drawing/2014/main" id="{DAD0E09F-0EF9-C475-4982-2C5E1427D85F}"/>
              </a:ext>
            </a:extLst>
          </p:cNvPr>
          <p:cNvSpPr>
            <a:spLocks noGrp="1"/>
          </p:cNvSpPr>
          <p:nvPr>
            <p:ph type="subTitle" idx="1"/>
          </p:nvPr>
        </p:nvSpPr>
        <p:spPr>
          <a:xfrm>
            <a:off x="599227" y="2495444"/>
            <a:ext cx="10993546" cy="590321"/>
          </a:xfrm>
        </p:spPr>
        <p:txBody>
          <a:bodyPr/>
          <a:lstStyle/>
          <a:p>
            <a:r>
              <a:rPr lang="en-IN" dirty="0"/>
              <a:t>By Arpita Tiwari</a:t>
            </a:r>
          </a:p>
        </p:txBody>
      </p:sp>
    </p:spTree>
    <p:extLst>
      <p:ext uri="{BB962C8B-B14F-4D97-AF65-F5344CB8AC3E}">
        <p14:creationId xmlns:p14="http://schemas.microsoft.com/office/powerpoint/2010/main" val="34660602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E6708D-0DC9-22A3-266B-A1C57B9C3C5B}"/>
              </a:ext>
            </a:extLst>
          </p:cNvPr>
          <p:cNvSpPr>
            <a:spLocks noGrp="1"/>
          </p:cNvSpPr>
          <p:nvPr>
            <p:ph type="ctrTitle"/>
          </p:nvPr>
        </p:nvSpPr>
        <p:spPr/>
        <p:txBody>
          <a:bodyPr/>
          <a:lstStyle/>
          <a:p>
            <a:r>
              <a:rPr lang="en-IN" dirty="0"/>
              <a:t>JS: JavaScript</a:t>
            </a:r>
          </a:p>
        </p:txBody>
      </p:sp>
      <p:sp>
        <p:nvSpPr>
          <p:cNvPr id="3" name="Subtitle 2">
            <a:extLst>
              <a:ext uri="{FF2B5EF4-FFF2-40B4-BE49-F238E27FC236}">
                <a16:creationId xmlns:a16="http://schemas.microsoft.com/office/drawing/2014/main" id="{DAD0E09F-0EF9-C475-4982-2C5E1427D85F}"/>
              </a:ext>
            </a:extLst>
          </p:cNvPr>
          <p:cNvSpPr>
            <a:spLocks noGrp="1"/>
          </p:cNvSpPr>
          <p:nvPr>
            <p:ph type="subTitle" idx="1"/>
          </p:nvPr>
        </p:nvSpPr>
        <p:spPr>
          <a:xfrm>
            <a:off x="599227" y="2495444"/>
            <a:ext cx="10993546" cy="590321"/>
          </a:xfrm>
        </p:spPr>
        <p:txBody>
          <a:bodyPr/>
          <a:lstStyle/>
          <a:p>
            <a:r>
              <a:rPr lang="en-IN" dirty="0"/>
              <a:t>By Arpita Tiwari</a:t>
            </a:r>
          </a:p>
        </p:txBody>
      </p:sp>
    </p:spTree>
    <p:extLst>
      <p:ext uri="{BB962C8B-B14F-4D97-AF65-F5344CB8AC3E}">
        <p14:creationId xmlns:p14="http://schemas.microsoft.com/office/powerpoint/2010/main" val="390204495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A2BBD1-CF91-BC4A-C4EA-C594136E5F78}"/>
              </a:ext>
            </a:extLst>
          </p:cNvPr>
          <p:cNvSpPr>
            <a:spLocks noGrp="1"/>
          </p:cNvSpPr>
          <p:nvPr>
            <p:ph type="title"/>
          </p:nvPr>
        </p:nvSpPr>
        <p:spPr/>
        <p:txBody>
          <a:bodyPr/>
          <a:lstStyle/>
          <a:p>
            <a:r>
              <a:rPr lang="en-IN" dirty="0"/>
              <a:t>What is JavaScript?</a:t>
            </a:r>
          </a:p>
        </p:txBody>
      </p:sp>
      <p:sp>
        <p:nvSpPr>
          <p:cNvPr id="3" name="Content Placeholder 2">
            <a:extLst>
              <a:ext uri="{FF2B5EF4-FFF2-40B4-BE49-F238E27FC236}">
                <a16:creationId xmlns:a16="http://schemas.microsoft.com/office/drawing/2014/main" id="{BFD01C36-321D-0301-BF72-49D74FBBC83C}"/>
              </a:ext>
            </a:extLst>
          </p:cNvPr>
          <p:cNvSpPr>
            <a:spLocks noGrp="1"/>
          </p:cNvSpPr>
          <p:nvPr>
            <p:ph idx="1"/>
          </p:nvPr>
        </p:nvSpPr>
        <p:spPr/>
        <p:txBody>
          <a:bodyPr>
            <a:normAutofit/>
          </a:bodyPr>
          <a:lstStyle/>
          <a:p>
            <a:pPr algn="just"/>
            <a:r>
              <a:rPr lang="en-US" sz="2400" b="0" i="0" dirty="0">
                <a:solidFill>
                  <a:srgbClr val="202124"/>
                </a:solidFill>
                <a:effectLst/>
                <a:latin typeface="arial" panose="020B0604020202020204" pitchFamily="34" charset="0"/>
              </a:rPr>
              <a:t>JavaScript is a scripting language that enables you to </a:t>
            </a:r>
            <a:r>
              <a:rPr lang="en-US" sz="2400" b="1" i="0" dirty="0">
                <a:solidFill>
                  <a:srgbClr val="202124"/>
                </a:solidFill>
                <a:effectLst/>
                <a:latin typeface="arial" panose="020B0604020202020204" pitchFamily="34" charset="0"/>
              </a:rPr>
              <a:t>create dynamically updating content, control multimedia, animate images, and pretty much everything else</a:t>
            </a:r>
            <a:r>
              <a:rPr lang="en-US" sz="2400" b="0" i="0" dirty="0">
                <a:solidFill>
                  <a:srgbClr val="202124"/>
                </a:solidFill>
                <a:effectLst/>
                <a:latin typeface="arial" panose="020B0604020202020204" pitchFamily="34" charset="0"/>
              </a:rPr>
              <a:t>.</a:t>
            </a:r>
            <a:endParaRPr lang="en-IN" sz="2400" dirty="0"/>
          </a:p>
        </p:txBody>
      </p:sp>
    </p:spTree>
    <p:extLst>
      <p:ext uri="{BB962C8B-B14F-4D97-AF65-F5344CB8AC3E}">
        <p14:creationId xmlns:p14="http://schemas.microsoft.com/office/powerpoint/2010/main" val="145434659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62AD4-71E2-C0D1-478A-8BBFC16005DB}"/>
              </a:ext>
            </a:extLst>
          </p:cNvPr>
          <p:cNvSpPr>
            <a:spLocks noGrp="1"/>
          </p:cNvSpPr>
          <p:nvPr>
            <p:ph type="title"/>
          </p:nvPr>
        </p:nvSpPr>
        <p:spPr/>
        <p:txBody>
          <a:bodyPr/>
          <a:lstStyle/>
          <a:p>
            <a:r>
              <a:rPr lang="en-US" dirty="0"/>
              <a:t>JavaScript Versions: ES6 and Before</a:t>
            </a:r>
            <a:endParaRPr lang="en-IN" dirty="0"/>
          </a:p>
        </p:txBody>
      </p:sp>
      <p:sp>
        <p:nvSpPr>
          <p:cNvPr id="3" name="Content Placeholder 2">
            <a:extLst>
              <a:ext uri="{FF2B5EF4-FFF2-40B4-BE49-F238E27FC236}">
                <a16:creationId xmlns:a16="http://schemas.microsoft.com/office/drawing/2014/main" id="{75B8C7E7-BE6B-1C31-48F8-EF6F7AFABE46}"/>
              </a:ext>
            </a:extLst>
          </p:cNvPr>
          <p:cNvSpPr>
            <a:spLocks noGrp="1"/>
          </p:cNvSpPr>
          <p:nvPr>
            <p:ph idx="1"/>
          </p:nvPr>
        </p:nvSpPr>
        <p:spPr/>
        <p:txBody>
          <a:bodyPr>
            <a:normAutofit/>
          </a:bodyPr>
          <a:lstStyle/>
          <a:p>
            <a:r>
              <a:rPr lang="en-US" sz="2400" dirty="0"/>
              <a:t>First, let’s bring in some history. JavaScript was introduced in 1995 by the company Netscape communications as a scripting language for web designers and programmers to interact with web pages. </a:t>
            </a:r>
          </a:p>
          <a:p>
            <a:r>
              <a:rPr lang="en-US" sz="2400" dirty="0"/>
              <a:t>The next year, Netscape submitted JavaScript to a standards developing organization called ECMA International to create standards for a scripting language (a type of programming language). </a:t>
            </a:r>
          </a:p>
          <a:p>
            <a:r>
              <a:rPr lang="en-US" sz="2400" dirty="0"/>
              <a:t>In 1997, ECMA International released ECMA-262 which sets standards for the first version of a scripting language called ECMAScript, shortened to ES.</a:t>
            </a:r>
            <a:endParaRPr lang="en-IN" sz="2400" dirty="0"/>
          </a:p>
        </p:txBody>
      </p:sp>
    </p:spTree>
    <p:extLst>
      <p:ext uri="{BB962C8B-B14F-4D97-AF65-F5344CB8AC3E}">
        <p14:creationId xmlns:p14="http://schemas.microsoft.com/office/powerpoint/2010/main" val="27515902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8FC02F-4BD2-5E22-6CC3-E6E1103BC633}"/>
              </a:ext>
            </a:extLst>
          </p:cNvPr>
          <p:cNvSpPr>
            <a:spLocks noGrp="1"/>
          </p:cNvSpPr>
          <p:nvPr>
            <p:ph type="title"/>
          </p:nvPr>
        </p:nvSpPr>
        <p:spPr/>
        <p:txBody>
          <a:bodyPr/>
          <a:lstStyle/>
          <a:p>
            <a:r>
              <a:rPr lang="en-US" dirty="0"/>
              <a:t>JavaScript Versions: ES6 and Before</a:t>
            </a:r>
            <a:endParaRPr lang="en-IN" dirty="0"/>
          </a:p>
        </p:txBody>
      </p:sp>
      <p:sp>
        <p:nvSpPr>
          <p:cNvPr id="3" name="Content Placeholder 2">
            <a:extLst>
              <a:ext uri="{FF2B5EF4-FFF2-40B4-BE49-F238E27FC236}">
                <a16:creationId xmlns:a16="http://schemas.microsoft.com/office/drawing/2014/main" id="{38A5AEA2-5810-26E4-8ECE-8924BBC0DE1D}"/>
              </a:ext>
            </a:extLst>
          </p:cNvPr>
          <p:cNvSpPr>
            <a:spLocks noGrp="1"/>
          </p:cNvSpPr>
          <p:nvPr>
            <p:ph idx="1"/>
          </p:nvPr>
        </p:nvSpPr>
        <p:spPr/>
        <p:txBody>
          <a:bodyPr>
            <a:normAutofit lnSpcReduction="10000"/>
          </a:bodyPr>
          <a:lstStyle/>
          <a:p>
            <a:r>
              <a:rPr lang="en-US" sz="2000" dirty="0"/>
              <a:t>These new ECMAScript standards provided rules for the architecture of JavaScript features. As new programming paradigms emerged and developers sought new features, newer versions of ECMAScript provided a basis for consistency between new and old JavaScript versions.</a:t>
            </a:r>
          </a:p>
          <a:p>
            <a:r>
              <a:rPr lang="en-US" sz="2000" dirty="0"/>
              <a:t>To fully distinguish the difference between JavaScript and ECMAScript: if you want to create an app or program you can use JavaScript — if you want to create a new scripting language you can follow the guidelines in ECMAScript. </a:t>
            </a:r>
          </a:p>
          <a:p>
            <a:r>
              <a:rPr lang="en-US" sz="2000" dirty="0"/>
              <a:t>So, when you see ES6 or JavaScript ES6, it means that that version of JavaScript is following the specifications in the sixth edition of ECMAScript! You might also see ES2015 instead of ES6, but both terminologies are referring to the same 6th edition of ECMAScript that was released in 2015.</a:t>
            </a:r>
            <a:endParaRPr lang="en-IN" sz="2000" dirty="0"/>
          </a:p>
        </p:txBody>
      </p:sp>
    </p:spTree>
    <p:extLst>
      <p:ext uri="{BB962C8B-B14F-4D97-AF65-F5344CB8AC3E}">
        <p14:creationId xmlns:p14="http://schemas.microsoft.com/office/powerpoint/2010/main" val="372947016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F5D735-8CC0-E3B4-1089-AD8849E100FD}"/>
              </a:ext>
            </a:extLst>
          </p:cNvPr>
          <p:cNvSpPr>
            <a:spLocks noGrp="1"/>
          </p:cNvSpPr>
          <p:nvPr>
            <p:ph type="title"/>
          </p:nvPr>
        </p:nvSpPr>
        <p:spPr/>
        <p:txBody>
          <a:bodyPr/>
          <a:lstStyle/>
          <a:p>
            <a:r>
              <a:rPr lang="en-IN" dirty="0"/>
              <a:t>Modern JavaScript</a:t>
            </a:r>
          </a:p>
        </p:txBody>
      </p:sp>
      <p:sp>
        <p:nvSpPr>
          <p:cNvPr id="3" name="Content Placeholder 2">
            <a:extLst>
              <a:ext uri="{FF2B5EF4-FFF2-40B4-BE49-F238E27FC236}">
                <a16:creationId xmlns:a16="http://schemas.microsoft.com/office/drawing/2014/main" id="{D6AEC3CE-F710-8484-E168-CBF584FA47BD}"/>
              </a:ext>
            </a:extLst>
          </p:cNvPr>
          <p:cNvSpPr>
            <a:spLocks noGrp="1"/>
          </p:cNvSpPr>
          <p:nvPr>
            <p:ph idx="1"/>
          </p:nvPr>
        </p:nvSpPr>
        <p:spPr/>
        <p:txBody>
          <a:bodyPr>
            <a:normAutofit/>
          </a:bodyPr>
          <a:lstStyle/>
          <a:p>
            <a:r>
              <a:rPr lang="en-US" sz="2400" dirty="0"/>
              <a:t>Now, you may be asking, what makes an update in 2015 still relevant today when there are more recent updates like ES7 and ES8?</a:t>
            </a:r>
          </a:p>
          <a:p>
            <a:r>
              <a:rPr lang="en-US" sz="2400" dirty="0"/>
              <a:t>Well, despite the release of newer versions, ES6 is actually the biggest update made to ECMAScript since the first edition released in 1997! Some developers even refer to ES6 as “Modern JavaScript” because of all the major additions.</a:t>
            </a:r>
            <a:endParaRPr lang="en-IN" sz="2400" dirty="0"/>
          </a:p>
        </p:txBody>
      </p:sp>
    </p:spTree>
    <p:extLst>
      <p:ext uri="{BB962C8B-B14F-4D97-AF65-F5344CB8AC3E}">
        <p14:creationId xmlns:p14="http://schemas.microsoft.com/office/powerpoint/2010/main" val="259344066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3D3607-FC16-F3EC-7847-24EA7F5ADD4C}"/>
              </a:ext>
            </a:extLst>
          </p:cNvPr>
          <p:cNvSpPr>
            <a:spLocks noGrp="1"/>
          </p:cNvSpPr>
          <p:nvPr>
            <p:ph type="title"/>
          </p:nvPr>
        </p:nvSpPr>
        <p:spPr/>
        <p:txBody>
          <a:bodyPr/>
          <a:lstStyle/>
          <a:p>
            <a:r>
              <a:rPr lang="en-IN" dirty="0"/>
              <a:t>Modern JavaScript</a:t>
            </a:r>
          </a:p>
        </p:txBody>
      </p:sp>
      <p:sp>
        <p:nvSpPr>
          <p:cNvPr id="3" name="Content Placeholder 2">
            <a:extLst>
              <a:ext uri="{FF2B5EF4-FFF2-40B4-BE49-F238E27FC236}">
                <a16:creationId xmlns:a16="http://schemas.microsoft.com/office/drawing/2014/main" id="{41148E64-2A11-D347-62F5-FDDF87E125C3}"/>
              </a:ext>
            </a:extLst>
          </p:cNvPr>
          <p:cNvSpPr>
            <a:spLocks noGrp="1"/>
          </p:cNvSpPr>
          <p:nvPr>
            <p:ph idx="1"/>
          </p:nvPr>
        </p:nvSpPr>
        <p:spPr/>
        <p:txBody>
          <a:bodyPr>
            <a:normAutofit/>
          </a:bodyPr>
          <a:lstStyle/>
          <a:p>
            <a:r>
              <a:rPr lang="en-US" dirty="0"/>
              <a:t>There were so many great features added to help JavaScript developers that include:</a:t>
            </a:r>
          </a:p>
          <a:p>
            <a:pPr lvl="1"/>
            <a:r>
              <a:rPr lang="en-US" dirty="0"/>
              <a:t>new keywords like let and const to declare variables</a:t>
            </a:r>
          </a:p>
          <a:p>
            <a:pPr lvl="1"/>
            <a:r>
              <a:rPr lang="en-US" dirty="0"/>
              <a:t>new function syntax using Arrow functions</a:t>
            </a:r>
          </a:p>
          <a:p>
            <a:pPr lvl="1"/>
            <a:r>
              <a:rPr lang="en-US" dirty="0"/>
              <a:t>creation of Classes</a:t>
            </a:r>
          </a:p>
          <a:p>
            <a:pPr lvl="1"/>
            <a:r>
              <a:rPr lang="en-US" dirty="0"/>
              <a:t>parameters with default values</a:t>
            </a:r>
          </a:p>
          <a:p>
            <a:pPr lvl="1"/>
            <a:r>
              <a:rPr lang="en-US" dirty="0"/>
              <a:t>promises for asynchronous actions</a:t>
            </a:r>
          </a:p>
          <a:p>
            <a:pPr lvl="1"/>
            <a:r>
              <a:rPr lang="en-US" dirty="0"/>
              <a:t>and many more!</a:t>
            </a:r>
          </a:p>
          <a:p>
            <a:r>
              <a:rPr lang="en-US" dirty="0"/>
              <a:t>Up-to-date browsers now support most of the ES6 features which allow developers to take advantage of these new additions. ES6 ultimately allows programmers to save time and write more concise code.</a:t>
            </a:r>
            <a:endParaRPr lang="en-IN" dirty="0"/>
          </a:p>
        </p:txBody>
      </p:sp>
    </p:spTree>
    <p:extLst>
      <p:ext uri="{BB962C8B-B14F-4D97-AF65-F5344CB8AC3E}">
        <p14:creationId xmlns:p14="http://schemas.microsoft.com/office/powerpoint/2010/main" val="140625737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037DDF-6ECA-974C-6C1C-EA384CF19A33}"/>
              </a:ext>
            </a:extLst>
          </p:cNvPr>
          <p:cNvSpPr>
            <a:spLocks noGrp="1"/>
          </p:cNvSpPr>
          <p:nvPr>
            <p:ph type="title"/>
          </p:nvPr>
        </p:nvSpPr>
        <p:spPr/>
        <p:txBody>
          <a:bodyPr/>
          <a:lstStyle/>
          <a:p>
            <a:r>
              <a:rPr lang="en-IN" dirty="0"/>
              <a:t>Comments</a:t>
            </a:r>
          </a:p>
        </p:txBody>
      </p:sp>
      <p:sp>
        <p:nvSpPr>
          <p:cNvPr id="3" name="Content Placeholder 2">
            <a:extLst>
              <a:ext uri="{FF2B5EF4-FFF2-40B4-BE49-F238E27FC236}">
                <a16:creationId xmlns:a16="http://schemas.microsoft.com/office/drawing/2014/main" id="{F3C76E8A-7B6F-8587-FF29-A560472693FA}"/>
              </a:ext>
            </a:extLst>
          </p:cNvPr>
          <p:cNvSpPr>
            <a:spLocks noGrp="1"/>
          </p:cNvSpPr>
          <p:nvPr>
            <p:ph idx="1"/>
          </p:nvPr>
        </p:nvSpPr>
        <p:spPr/>
        <p:txBody>
          <a:bodyPr>
            <a:normAutofit/>
          </a:bodyPr>
          <a:lstStyle/>
          <a:p>
            <a:r>
              <a:rPr lang="en-US" sz="2000" dirty="0">
                <a:solidFill>
                  <a:schemeClr val="tx1">
                    <a:lumMod val="95000"/>
                    <a:lumOff val="5000"/>
                  </a:schemeClr>
                </a:solidFill>
              </a:rPr>
              <a:t>There are two types of</a:t>
            </a:r>
            <a:r>
              <a:rPr lang="en-US" sz="2800" dirty="0">
                <a:solidFill>
                  <a:schemeClr val="tx1">
                    <a:lumMod val="95000"/>
                    <a:lumOff val="5000"/>
                  </a:schemeClr>
                </a:solidFill>
              </a:rPr>
              <a:t> </a:t>
            </a:r>
            <a:r>
              <a:rPr lang="en-US" sz="2000" dirty="0">
                <a:solidFill>
                  <a:schemeClr val="tx1">
                    <a:lumMod val="95000"/>
                    <a:lumOff val="5000"/>
                  </a:schemeClr>
                </a:solidFill>
              </a:rPr>
              <a:t>code comments in JavaScript:</a:t>
            </a:r>
          </a:p>
          <a:p>
            <a:r>
              <a:rPr lang="en-US" sz="2000" dirty="0">
                <a:solidFill>
                  <a:schemeClr val="tx1">
                    <a:lumMod val="95000"/>
                    <a:lumOff val="5000"/>
                  </a:schemeClr>
                </a:solidFill>
              </a:rPr>
              <a:t>A single line comment will comment out a single line and is denoted with two forward slashes // preceding it.</a:t>
            </a:r>
          </a:p>
          <a:p>
            <a:r>
              <a:rPr lang="en-US" sz="2000" dirty="0">
                <a:solidFill>
                  <a:schemeClr val="tx1">
                    <a:lumMod val="95000"/>
                    <a:lumOff val="5000"/>
                  </a:schemeClr>
                </a:solidFill>
              </a:rPr>
              <a:t>A multi-line comment will comment out multiple lines and is denoted with /* to begin the comment, and */ to end the comment.</a:t>
            </a:r>
            <a:endParaRPr lang="en-IN" sz="2000" dirty="0">
              <a:solidFill>
                <a:schemeClr val="tx1">
                  <a:lumMod val="95000"/>
                  <a:lumOff val="5000"/>
                </a:schemeClr>
              </a:solidFill>
            </a:endParaRPr>
          </a:p>
        </p:txBody>
      </p:sp>
    </p:spTree>
    <p:extLst>
      <p:ext uri="{BB962C8B-B14F-4D97-AF65-F5344CB8AC3E}">
        <p14:creationId xmlns:p14="http://schemas.microsoft.com/office/powerpoint/2010/main" val="385676832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BC592-30B9-8AD3-9064-7D7AE3EB9D41}"/>
              </a:ext>
            </a:extLst>
          </p:cNvPr>
          <p:cNvSpPr>
            <a:spLocks noGrp="1"/>
          </p:cNvSpPr>
          <p:nvPr>
            <p:ph type="title"/>
          </p:nvPr>
        </p:nvSpPr>
        <p:spPr/>
        <p:txBody>
          <a:bodyPr/>
          <a:lstStyle/>
          <a:p>
            <a:r>
              <a:rPr lang="en-IN" dirty="0"/>
              <a:t>Console</a:t>
            </a:r>
          </a:p>
        </p:txBody>
      </p:sp>
      <p:sp>
        <p:nvSpPr>
          <p:cNvPr id="3" name="Content Placeholder 2">
            <a:extLst>
              <a:ext uri="{FF2B5EF4-FFF2-40B4-BE49-F238E27FC236}">
                <a16:creationId xmlns:a16="http://schemas.microsoft.com/office/drawing/2014/main" id="{D5BEC2DF-9880-DEBF-54CF-5551BDE94F4E}"/>
              </a:ext>
            </a:extLst>
          </p:cNvPr>
          <p:cNvSpPr>
            <a:spLocks noGrp="1"/>
          </p:cNvSpPr>
          <p:nvPr>
            <p:ph idx="1"/>
          </p:nvPr>
        </p:nvSpPr>
        <p:spPr/>
        <p:txBody>
          <a:bodyPr/>
          <a:lstStyle/>
          <a:p>
            <a:r>
              <a:rPr lang="en-US" dirty="0">
                <a:solidFill>
                  <a:schemeClr val="tx1">
                    <a:lumMod val="85000"/>
                    <a:lumOff val="15000"/>
                  </a:schemeClr>
                </a:solidFill>
              </a:rPr>
              <a:t>The console is a panel that displays important messages, like errors, for developers. Much of the work the computer does with our code is invisible to us by default. If we want to see things appear on our screen, we can print, or log, to our console directly.</a:t>
            </a:r>
          </a:p>
          <a:p>
            <a:r>
              <a:rPr lang="en-US" dirty="0">
                <a:solidFill>
                  <a:schemeClr val="tx1">
                    <a:lumMod val="85000"/>
                    <a:lumOff val="15000"/>
                  </a:schemeClr>
                </a:solidFill>
              </a:rPr>
              <a:t>In JavaScript, the console keyword refers to an object, a collection of data and actions, that we can use in our code. Keywords are words that are built into the JavaScript language, so the computer recognizes them and treats them specially.</a:t>
            </a:r>
          </a:p>
          <a:p>
            <a:r>
              <a:rPr lang="en-US" dirty="0">
                <a:solidFill>
                  <a:schemeClr val="tx1">
                    <a:lumMod val="85000"/>
                    <a:lumOff val="15000"/>
                  </a:schemeClr>
                </a:solidFill>
              </a:rPr>
              <a:t>One action, or method, that is built into the console object is the .log() method. When we write console.log() what we put inside the parentheses will get printed, or logged, to the console.</a:t>
            </a:r>
            <a:endParaRPr lang="en-IN" dirty="0">
              <a:solidFill>
                <a:schemeClr val="tx1">
                  <a:lumMod val="85000"/>
                  <a:lumOff val="15000"/>
                </a:schemeClr>
              </a:solidFill>
            </a:endParaRPr>
          </a:p>
        </p:txBody>
      </p:sp>
    </p:spTree>
    <p:extLst>
      <p:ext uri="{BB962C8B-B14F-4D97-AF65-F5344CB8AC3E}">
        <p14:creationId xmlns:p14="http://schemas.microsoft.com/office/powerpoint/2010/main" val="365942983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4315E8-CF1B-C23D-D6B2-FBF9545B06EB}"/>
              </a:ext>
            </a:extLst>
          </p:cNvPr>
          <p:cNvSpPr>
            <a:spLocks noGrp="1"/>
          </p:cNvSpPr>
          <p:nvPr>
            <p:ph type="title"/>
          </p:nvPr>
        </p:nvSpPr>
        <p:spPr/>
        <p:txBody>
          <a:bodyPr/>
          <a:lstStyle/>
          <a:p>
            <a:r>
              <a:rPr lang="en-IN" dirty="0"/>
              <a:t>Data Types</a:t>
            </a:r>
          </a:p>
        </p:txBody>
      </p:sp>
      <p:sp>
        <p:nvSpPr>
          <p:cNvPr id="3" name="Content Placeholder 2">
            <a:extLst>
              <a:ext uri="{FF2B5EF4-FFF2-40B4-BE49-F238E27FC236}">
                <a16:creationId xmlns:a16="http://schemas.microsoft.com/office/drawing/2014/main" id="{4BF4D750-FD0D-76FE-DBD9-4105E5F48215}"/>
              </a:ext>
            </a:extLst>
          </p:cNvPr>
          <p:cNvSpPr>
            <a:spLocks noGrp="1"/>
          </p:cNvSpPr>
          <p:nvPr>
            <p:ph idx="1"/>
          </p:nvPr>
        </p:nvSpPr>
        <p:spPr>
          <a:xfrm>
            <a:off x="581192" y="2180496"/>
            <a:ext cx="11029615" cy="4307853"/>
          </a:xfrm>
        </p:spPr>
        <p:txBody>
          <a:bodyPr>
            <a:normAutofit fontScale="92500" lnSpcReduction="10000"/>
          </a:bodyPr>
          <a:lstStyle/>
          <a:p>
            <a:r>
              <a:rPr lang="en-US" dirty="0">
                <a:solidFill>
                  <a:schemeClr val="tx1">
                    <a:lumMod val="95000"/>
                    <a:lumOff val="5000"/>
                  </a:schemeClr>
                </a:solidFill>
              </a:rPr>
              <a:t>Data types are the classifications we give to the different kinds of data that we use in programming. In JavaScript, there are seven fundamental data types:</a:t>
            </a:r>
          </a:p>
          <a:p>
            <a:pPr lvl="1"/>
            <a:r>
              <a:rPr lang="en-US" b="1" dirty="0">
                <a:solidFill>
                  <a:schemeClr val="tx1">
                    <a:lumMod val="95000"/>
                    <a:lumOff val="5000"/>
                  </a:schemeClr>
                </a:solidFill>
              </a:rPr>
              <a:t>Number: </a:t>
            </a:r>
            <a:r>
              <a:rPr lang="en-US" dirty="0">
                <a:solidFill>
                  <a:schemeClr val="tx1">
                    <a:lumMod val="95000"/>
                    <a:lumOff val="5000"/>
                  </a:schemeClr>
                </a:solidFill>
              </a:rPr>
              <a:t>Any number, including numbers with decimals: 4, 8, 1516, 23.42.</a:t>
            </a:r>
          </a:p>
          <a:p>
            <a:pPr lvl="1"/>
            <a:r>
              <a:rPr lang="en-US" b="1" dirty="0">
                <a:solidFill>
                  <a:schemeClr val="tx1">
                    <a:lumMod val="95000"/>
                    <a:lumOff val="5000"/>
                  </a:schemeClr>
                </a:solidFill>
              </a:rPr>
              <a:t>String:</a:t>
            </a:r>
            <a:r>
              <a:rPr lang="en-US" dirty="0">
                <a:solidFill>
                  <a:schemeClr val="tx1">
                    <a:lumMod val="95000"/>
                    <a:lumOff val="5000"/>
                  </a:schemeClr>
                </a:solidFill>
              </a:rPr>
              <a:t> Any grouping of characters on your keyboard (letters, numbers, spaces, symbols, etc.) surrounded by single quotes: ' ... ' or double quotes " ... ", though we prefer single quotes. Some people like to think of string as a fancy word for text.</a:t>
            </a:r>
          </a:p>
          <a:p>
            <a:pPr lvl="1"/>
            <a:r>
              <a:rPr lang="en-US" b="1" dirty="0">
                <a:solidFill>
                  <a:schemeClr val="tx1">
                    <a:lumMod val="95000"/>
                    <a:lumOff val="5000"/>
                  </a:schemeClr>
                </a:solidFill>
              </a:rPr>
              <a:t>Boolean:</a:t>
            </a:r>
            <a:r>
              <a:rPr lang="en-US" dirty="0">
                <a:solidFill>
                  <a:schemeClr val="tx1">
                    <a:lumMod val="95000"/>
                    <a:lumOff val="5000"/>
                  </a:schemeClr>
                </a:solidFill>
              </a:rPr>
              <a:t> This data type only has two possible values— either true or false (without quotes). It’s helpful to think of </a:t>
            </a:r>
            <a:r>
              <a:rPr lang="en-US" dirty="0" err="1">
                <a:solidFill>
                  <a:schemeClr val="tx1">
                    <a:lumMod val="95000"/>
                    <a:lumOff val="5000"/>
                  </a:schemeClr>
                </a:solidFill>
              </a:rPr>
              <a:t>booleans</a:t>
            </a:r>
            <a:r>
              <a:rPr lang="en-US" dirty="0">
                <a:solidFill>
                  <a:schemeClr val="tx1">
                    <a:lumMod val="95000"/>
                    <a:lumOff val="5000"/>
                  </a:schemeClr>
                </a:solidFill>
              </a:rPr>
              <a:t> as on and off switches or as the answers to a “yes” or “no” question.</a:t>
            </a:r>
          </a:p>
          <a:p>
            <a:pPr lvl="1"/>
            <a:r>
              <a:rPr lang="en-US" b="1" dirty="0">
                <a:solidFill>
                  <a:schemeClr val="tx1">
                    <a:lumMod val="95000"/>
                    <a:lumOff val="5000"/>
                  </a:schemeClr>
                </a:solidFill>
              </a:rPr>
              <a:t>Null:</a:t>
            </a:r>
            <a:r>
              <a:rPr lang="en-US" dirty="0">
                <a:solidFill>
                  <a:schemeClr val="tx1">
                    <a:lumMod val="95000"/>
                    <a:lumOff val="5000"/>
                  </a:schemeClr>
                </a:solidFill>
              </a:rPr>
              <a:t> This data type represents the intentional absence of a value, and is represented by the keyword null (without quotes).</a:t>
            </a:r>
          </a:p>
          <a:p>
            <a:pPr lvl="1"/>
            <a:r>
              <a:rPr lang="en-US" b="1" dirty="0">
                <a:solidFill>
                  <a:schemeClr val="tx1">
                    <a:lumMod val="95000"/>
                    <a:lumOff val="5000"/>
                  </a:schemeClr>
                </a:solidFill>
              </a:rPr>
              <a:t>Undefined:</a:t>
            </a:r>
            <a:r>
              <a:rPr lang="en-US" dirty="0">
                <a:solidFill>
                  <a:schemeClr val="tx1">
                    <a:lumMod val="95000"/>
                    <a:lumOff val="5000"/>
                  </a:schemeClr>
                </a:solidFill>
              </a:rPr>
              <a:t> This data type is denoted by the keyword undefined (without quotes). It also represents the absence of a value though it has a different use than null. undefined means that a given value does not exist.</a:t>
            </a:r>
          </a:p>
          <a:p>
            <a:pPr lvl="1"/>
            <a:r>
              <a:rPr lang="en-US" b="1" dirty="0">
                <a:solidFill>
                  <a:schemeClr val="tx1">
                    <a:lumMod val="95000"/>
                    <a:lumOff val="5000"/>
                  </a:schemeClr>
                </a:solidFill>
              </a:rPr>
              <a:t>Symbol:</a:t>
            </a:r>
            <a:r>
              <a:rPr lang="en-US" dirty="0">
                <a:solidFill>
                  <a:schemeClr val="tx1">
                    <a:lumMod val="95000"/>
                    <a:lumOff val="5000"/>
                  </a:schemeClr>
                </a:solidFill>
              </a:rPr>
              <a:t> A newer feature to the language, symbols are unique identifiers, useful in more complex coding. No need to worry about these for now.</a:t>
            </a:r>
          </a:p>
          <a:p>
            <a:pPr lvl="1"/>
            <a:r>
              <a:rPr lang="en-US" b="1" i="1" dirty="0">
                <a:solidFill>
                  <a:srgbClr val="10162F"/>
                </a:solidFill>
                <a:effectLst/>
                <a:latin typeface="Apercu"/>
              </a:rPr>
              <a:t>Object</a:t>
            </a:r>
            <a:r>
              <a:rPr lang="en-US" b="1" i="0" dirty="0">
                <a:solidFill>
                  <a:srgbClr val="10162F"/>
                </a:solidFill>
                <a:effectLst/>
                <a:latin typeface="Apercu"/>
              </a:rPr>
              <a:t>:</a:t>
            </a:r>
            <a:r>
              <a:rPr lang="en-US" b="0" i="0" dirty="0">
                <a:solidFill>
                  <a:srgbClr val="10162F"/>
                </a:solidFill>
                <a:effectLst/>
                <a:latin typeface="Apercu"/>
              </a:rPr>
              <a:t> Collections of related data.</a:t>
            </a:r>
          </a:p>
          <a:p>
            <a:pPr lvl="1"/>
            <a:endParaRPr lang="en-IN" dirty="0">
              <a:solidFill>
                <a:schemeClr val="tx1">
                  <a:lumMod val="95000"/>
                  <a:lumOff val="5000"/>
                </a:schemeClr>
              </a:solidFill>
            </a:endParaRPr>
          </a:p>
        </p:txBody>
      </p:sp>
    </p:spTree>
    <p:extLst>
      <p:ext uri="{BB962C8B-B14F-4D97-AF65-F5344CB8AC3E}">
        <p14:creationId xmlns:p14="http://schemas.microsoft.com/office/powerpoint/2010/main" val="414494319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6BCD4-E3D0-9447-E9A0-1C8702FC7A9C}"/>
              </a:ext>
            </a:extLst>
          </p:cNvPr>
          <p:cNvSpPr>
            <a:spLocks noGrp="1"/>
          </p:cNvSpPr>
          <p:nvPr>
            <p:ph type="title"/>
          </p:nvPr>
        </p:nvSpPr>
        <p:spPr/>
        <p:txBody>
          <a:bodyPr/>
          <a:lstStyle/>
          <a:p>
            <a:r>
              <a:rPr lang="en-IN" dirty="0"/>
              <a:t>Variables </a:t>
            </a:r>
          </a:p>
        </p:txBody>
      </p:sp>
      <p:sp>
        <p:nvSpPr>
          <p:cNvPr id="3" name="Content Placeholder 2">
            <a:extLst>
              <a:ext uri="{FF2B5EF4-FFF2-40B4-BE49-F238E27FC236}">
                <a16:creationId xmlns:a16="http://schemas.microsoft.com/office/drawing/2014/main" id="{3DEB2080-9A20-FA13-F3AC-16C5A6414A94}"/>
              </a:ext>
            </a:extLst>
          </p:cNvPr>
          <p:cNvSpPr>
            <a:spLocks noGrp="1"/>
          </p:cNvSpPr>
          <p:nvPr>
            <p:ph idx="1"/>
          </p:nvPr>
        </p:nvSpPr>
        <p:spPr/>
        <p:txBody>
          <a:bodyPr>
            <a:normAutofit lnSpcReduction="10000"/>
          </a:bodyPr>
          <a:lstStyle/>
          <a:p>
            <a:r>
              <a:rPr lang="en-US" sz="2400" dirty="0">
                <a:solidFill>
                  <a:schemeClr val="tx1">
                    <a:lumMod val="85000"/>
                    <a:lumOff val="15000"/>
                  </a:schemeClr>
                </a:solidFill>
              </a:rPr>
              <a:t>Variables are used whenever there’s a need to store a piece of data. A variable contains data that can be used in the program elsewhere. Using variables also ensures code re-usability since it can be used to replace the same value in multiple places.</a:t>
            </a:r>
          </a:p>
          <a:p>
            <a:r>
              <a:rPr lang="en-US" sz="2400" dirty="0">
                <a:solidFill>
                  <a:schemeClr val="tx1">
                    <a:lumMod val="85000"/>
                    <a:lumOff val="15000"/>
                  </a:schemeClr>
                </a:solidFill>
              </a:rPr>
              <a:t>To declare a variable in JavaScript, any of these three keywords can be used along with a variable name:</a:t>
            </a:r>
          </a:p>
          <a:p>
            <a:r>
              <a:rPr lang="en-US" sz="2400" b="1" i="1" dirty="0">
                <a:solidFill>
                  <a:schemeClr val="tx1">
                    <a:lumMod val="85000"/>
                    <a:lumOff val="15000"/>
                  </a:schemeClr>
                </a:solidFill>
              </a:rPr>
              <a:t>var</a:t>
            </a:r>
            <a:r>
              <a:rPr lang="en-US" sz="2400" dirty="0">
                <a:solidFill>
                  <a:schemeClr val="tx1">
                    <a:lumMod val="85000"/>
                    <a:lumOff val="15000"/>
                  </a:schemeClr>
                </a:solidFill>
              </a:rPr>
              <a:t> is used in pre-ES6 versions of JavaScript.</a:t>
            </a:r>
          </a:p>
          <a:p>
            <a:r>
              <a:rPr lang="en-US" sz="2400" b="1" i="1" dirty="0">
                <a:solidFill>
                  <a:schemeClr val="tx1">
                    <a:lumMod val="85000"/>
                    <a:lumOff val="15000"/>
                  </a:schemeClr>
                </a:solidFill>
              </a:rPr>
              <a:t>let</a:t>
            </a:r>
            <a:r>
              <a:rPr lang="en-US" sz="2400" dirty="0">
                <a:solidFill>
                  <a:schemeClr val="tx1">
                    <a:lumMod val="85000"/>
                    <a:lumOff val="15000"/>
                  </a:schemeClr>
                </a:solidFill>
              </a:rPr>
              <a:t> is the preferred way to declare a variable when it can be reassigned.</a:t>
            </a:r>
          </a:p>
          <a:p>
            <a:r>
              <a:rPr lang="en-US" sz="2400" b="1" i="1" dirty="0">
                <a:solidFill>
                  <a:schemeClr val="tx1">
                    <a:lumMod val="85000"/>
                    <a:lumOff val="15000"/>
                  </a:schemeClr>
                </a:solidFill>
              </a:rPr>
              <a:t>const</a:t>
            </a:r>
            <a:r>
              <a:rPr lang="en-US" sz="2400" dirty="0">
                <a:solidFill>
                  <a:schemeClr val="tx1">
                    <a:lumMod val="85000"/>
                    <a:lumOff val="15000"/>
                  </a:schemeClr>
                </a:solidFill>
              </a:rPr>
              <a:t> is the preferred way to declare a variable with a constant value.</a:t>
            </a:r>
            <a:endParaRPr lang="en-IN" sz="2400" dirty="0">
              <a:solidFill>
                <a:schemeClr val="tx1">
                  <a:lumMod val="85000"/>
                  <a:lumOff val="15000"/>
                </a:schemeClr>
              </a:solidFill>
            </a:endParaRPr>
          </a:p>
        </p:txBody>
      </p:sp>
    </p:spTree>
    <p:extLst>
      <p:ext uri="{BB962C8B-B14F-4D97-AF65-F5344CB8AC3E}">
        <p14:creationId xmlns:p14="http://schemas.microsoft.com/office/powerpoint/2010/main" val="357489511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AC24A0-F39B-764A-0805-72ABBF09D21E}"/>
              </a:ext>
            </a:extLst>
          </p:cNvPr>
          <p:cNvSpPr>
            <a:spLocks noGrp="1"/>
          </p:cNvSpPr>
          <p:nvPr>
            <p:ph type="title"/>
          </p:nvPr>
        </p:nvSpPr>
        <p:spPr/>
        <p:txBody>
          <a:bodyPr/>
          <a:lstStyle/>
          <a:p>
            <a:r>
              <a:rPr lang="en-IN" dirty="0"/>
              <a:t>Declaring Variables</a:t>
            </a:r>
          </a:p>
        </p:txBody>
      </p:sp>
      <p:sp>
        <p:nvSpPr>
          <p:cNvPr id="3" name="Content Placeholder 2">
            <a:extLst>
              <a:ext uri="{FF2B5EF4-FFF2-40B4-BE49-F238E27FC236}">
                <a16:creationId xmlns:a16="http://schemas.microsoft.com/office/drawing/2014/main" id="{CFBCC7FE-58C8-5A0D-86F3-CF8D41CEF1AC}"/>
              </a:ext>
            </a:extLst>
          </p:cNvPr>
          <p:cNvSpPr>
            <a:spLocks noGrp="1"/>
          </p:cNvSpPr>
          <p:nvPr>
            <p:ph idx="1"/>
          </p:nvPr>
        </p:nvSpPr>
        <p:spPr/>
        <p:txBody>
          <a:bodyPr>
            <a:normAutofit fontScale="92500" lnSpcReduction="10000"/>
          </a:bodyPr>
          <a:lstStyle/>
          <a:p>
            <a:r>
              <a:rPr lang="en-US" dirty="0">
                <a:solidFill>
                  <a:schemeClr val="tx1">
                    <a:lumMod val="85000"/>
                    <a:lumOff val="15000"/>
                  </a:schemeClr>
                </a:solidFill>
              </a:rPr>
              <a:t>In programming, a variable is a container for a value. You can think of variables as little containers for information that live in a computer’s memory. Information stored in variables, such as a username, account number, or even personalized greeting can then be found in memory.</a:t>
            </a:r>
          </a:p>
          <a:p>
            <a:r>
              <a:rPr lang="en-US" dirty="0">
                <a:solidFill>
                  <a:schemeClr val="tx1">
                    <a:lumMod val="85000"/>
                    <a:lumOff val="15000"/>
                  </a:schemeClr>
                </a:solidFill>
              </a:rPr>
              <a:t>Variables also provide a way of labeling data with a descriptive name, so our programs can be understood more clearly by the reader and ourselves.</a:t>
            </a:r>
          </a:p>
          <a:p>
            <a:r>
              <a:rPr lang="en-US" dirty="0">
                <a:solidFill>
                  <a:schemeClr val="tx1">
                    <a:lumMod val="85000"/>
                    <a:lumOff val="15000"/>
                  </a:schemeClr>
                </a:solidFill>
              </a:rPr>
              <a:t>In short, variables label and store data in memory. There are only a few things you can do with variables:</a:t>
            </a:r>
          </a:p>
          <a:p>
            <a:r>
              <a:rPr lang="en-US" dirty="0">
                <a:solidFill>
                  <a:schemeClr val="tx1">
                    <a:lumMod val="85000"/>
                    <a:lumOff val="15000"/>
                  </a:schemeClr>
                </a:solidFill>
              </a:rPr>
              <a:t>Create a variable with a descriptive name.</a:t>
            </a:r>
          </a:p>
          <a:p>
            <a:r>
              <a:rPr lang="en-US" dirty="0">
                <a:solidFill>
                  <a:schemeClr val="tx1">
                    <a:lumMod val="85000"/>
                    <a:lumOff val="15000"/>
                  </a:schemeClr>
                </a:solidFill>
              </a:rPr>
              <a:t>Store or update information stored in a variable.</a:t>
            </a:r>
          </a:p>
          <a:p>
            <a:r>
              <a:rPr lang="en-US" dirty="0">
                <a:solidFill>
                  <a:schemeClr val="tx1">
                    <a:lumMod val="85000"/>
                    <a:lumOff val="15000"/>
                  </a:schemeClr>
                </a:solidFill>
              </a:rPr>
              <a:t>Reference or “get” information stored in a variable.</a:t>
            </a:r>
          </a:p>
          <a:p>
            <a:r>
              <a:rPr lang="en-US" dirty="0">
                <a:solidFill>
                  <a:schemeClr val="tx1">
                    <a:lumMod val="85000"/>
                    <a:lumOff val="15000"/>
                  </a:schemeClr>
                </a:solidFill>
              </a:rPr>
              <a:t>It is important to distinguish that variables are not values; they contain values and represent them with a name. </a:t>
            </a:r>
            <a:endParaRPr lang="en-IN" dirty="0">
              <a:solidFill>
                <a:schemeClr val="tx1">
                  <a:lumMod val="85000"/>
                  <a:lumOff val="15000"/>
                </a:schemeClr>
              </a:solidFill>
            </a:endParaRPr>
          </a:p>
        </p:txBody>
      </p:sp>
    </p:spTree>
    <p:extLst>
      <p:ext uri="{BB962C8B-B14F-4D97-AF65-F5344CB8AC3E}">
        <p14:creationId xmlns:p14="http://schemas.microsoft.com/office/powerpoint/2010/main" val="93663422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0AC5CE-CC13-73AF-8BC3-97041AA3091A}"/>
              </a:ext>
            </a:extLst>
          </p:cNvPr>
          <p:cNvSpPr>
            <a:spLocks noGrp="1"/>
          </p:cNvSpPr>
          <p:nvPr>
            <p:ph type="title"/>
          </p:nvPr>
        </p:nvSpPr>
        <p:spPr/>
        <p:txBody>
          <a:bodyPr/>
          <a:lstStyle/>
          <a:p>
            <a:r>
              <a:rPr lang="en-IN" dirty="0"/>
              <a:t>Create a Variable: var</a:t>
            </a:r>
          </a:p>
        </p:txBody>
      </p:sp>
      <p:sp>
        <p:nvSpPr>
          <p:cNvPr id="3" name="Content Placeholder 2">
            <a:extLst>
              <a:ext uri="{FF2B5EF4-FFF2-40B4-BE49-F238E27FC236}">
                <a16:creationId xmlns:a16="http://schemas.microsoft.com/office/drawing/2014/main" id="{F0E5D5B6-7F25-167D-D5B3-88D8557B3A9B}"/>
              </a:ext>
            </a:extLst>
          </p:cNvPr>
          <p:cNvSpPr>
            <a:spLocks noGrp="1"/>
          </p:cNvSpPr>
          <p:nvPr>
            <p:ph idx="1"/>
          </p:nvPr>
        </p:nvSpPr>
        <p:spPr/>
        <p:txBody>
          <a:bodyPr>
            <a:normAutofit fontScale="85000" lnSpcReduction="10000"/>
          </a:bodyPr>
          <a:lstStyle/>
          <a:p>
            <a:r>
              <a:rPr lang="en-US" sz="1600" dirty="0"/>
              <a:t>There were a lot of changes introduced in the ES6 version of JavaScript in 2015. One of the biggest changes was two new keywords, let and const, to create, or declare, variables. Prior to the ES6, programmers could only use the var keyword to declare variables.</a:t>
            </a:r>
          </a:p>
          <a:p>
            <a:r>
              <a:rPr lang="en-IN" sz="1600" b="0" i="0" dirty="0">
                <a:solidFill>
                  <a:srgbClr val="FF0000"/>
                </a:solidFill>
                <a:effectLst/>
                <a:latin typeface="Monaco"/>
              </a:rPr>
              <a:t>var </a:t>
            </a:r>
            <a:r>
              <a:rPr lang="en-IN" sz="1600" b="0" i="0" dirty="0" err="1">
                <a:solidFill>
                  <a:srgbClr val="FF0000"/>
                </a:solidFill>
                <a:effectLst/>
                <a:latin typeface="Monaco"/>
              </a:rPr>
              <a:t>myName</a:t>
            </a:r>
            <a:r>
              <a:rPr lang="en-IN" sz="1600" b="0" i="0" dirty="0">
                <a:solidFill>
                  <a:srgbClr val="FF0000"/>
                </a:solidFill>
                <a:effectLst/>
                <a:latin typeface="Monaco"/>
              </a:rPr>
              <a:t> = 'Arya';</a:t>
            </a:r>
            <a:r>
              <a:rPr lang="en-IN" sz="1600" dirty="0">
                <a:solidFill>
                  <a:srgbClr val="FF0000"/>
                </a:solidFill>
              </a:rPr>
              <a:t/>
            </a:r>
            <a:br>
              <a:rPr lang="en-IN" sz="1600" dirty="0">
                <a:solidFill>
                  <a:srgbClr val="FF0000"/>
                </a:solidFill>
              </a:rPr>
            </a:br>
            <a:r>
              <a:rPr lang="en-IN" sz="1600" b="0" i="0" dirty="0">
                <a:solidFill>
                  <a:srgbClr val="FF0000"/>
                </a:solidFill>
                <a:effectLst/>
                <a:latin typeface="Monaco"/>
              </a:rPr>
              <a:t>console.log(</a:t>
            </a:r>
            <a:r>
              <a:rPr lang="en-IN" sz="1600" b="0" i="0" dirty="0" err="1">
                <a:solidFill>
                  <a:srgbClr val="FF0000"/>
                </a:solidFill>
                <a:effectLst/>
                <a:latin typeface="Monaco"/>
              </a:rPr>
              <a:t>myName</a:t>
            </a:r>
            <a:r>
              <a:rPr lang="en-IN" sz="1600" b="0" i="0" dirty="0">
                <a:solidFill>
                  <a:srgbClr val="FF0000"/>
                </a:solidFill>
                <a:effectLst/>
                <a:latin typeface="Monaco"/>
              </a:rPr>
              <a:t>);</a:t>
            </a:r>
            <a:r>
              <a:rPr lang="en-IN" sz="1600" b="0" i="0" dirty="0">
                <a:solidFill>
                  <a:srgbClr val="FFFFFF"/>
                </a:solidFill>
                <a:effectLst/>
                <a:latin typeface="Monaco"/>
              </a:rPr>
              <a:t>); </a:t>
            </a:r>
            <a:r>
              <a:rPr lang="en-IN" sz="1600" b="0" i="0" dirty="0">
                <a:solidFill>
                  <a:srgbClr val="939598"/>
                </a:solidFill>
                <a:effectLst/>
                <a:latin typeface="Monaco"/>
              </a:rPr>
              <a:t>// Output: Arya</a:t>
            </a:r>
            <a:endParaRPr lang="en-US" sz="1600" b="0" i="0" dirty="0">
              <a:solidFill>
                <a:srgbClr val="939598"/>
              </a:solidFill>
              <a:effectLst/>
              <a:latin typeface="Monaco"/>
            </a:endParaRPr>
          </a:p>
          <a:p>
            <a:r>
              <a:rPr lang="en-US" sz="1600" dirty="0"/>
              <a:t>Let’s consider the example above:</a:t>
            </a:r>
          </a:p>
          <a:p>
            <a:r>
              <a:rPr lang="en-US" sz="1600" dirty="0"/>
              <a:t>var, short for variable, is a JavaScript keyword that creates, or declares, a new variable.</a:t>
            </a:r>
          </a:p>
          <a:p>
            <a:r>
              <a:rPr lang="en-US" sz="1600" dirty="0" err="1"/>
              <a:t>myName</a:t>
            </a:r>
            <a:r>
              <a:rPr lang="en-US" sz="1600" dirty="0"/>
              <a:t> is the variable’s name. Capitalizing in this way is a standard convention in JavaScript called camel casing. In camel casing you group words into one, the first word is lowercase, then every word that follows will have its first letter uppercased. (e.g. </a:t>
            </a:r>
            <a:r>
              <a:rPr lang="en-US" sz="1600" dirty="0" err="1"/>
              <a:t>camelCaseEverything</a:t>
            </a:r>
            <a:r>
              <a:rPr lang="en-US" sz="1600" dirty="0"/>
              <a:t>).</a:t>
            </a:r>
          </a:p>
          <a:p>
            <a:r>
              <a:rPr lang="en-US" sz="1600" dirty="0"/>
              <a:t>= is the assignment operator. It assigns the value ('Arya') to the variable (</a:t>
            </a:r>
            <a:r>
              <a:rPr lang="en-US" sz="1600" dirty="0" err="1"/>
              <a:t>myName</a:t>
            </a:r>
            <a:r>
              <a:rPr lang="en-US" sz="1600" dirty="0"/>
              <a:t>).</a:t>
            </a:r>
          </a:p>
          <a:p>
            <a:r>
              <a:rPr lang="en-US" sz="1600" dirty="0"/>
              <a:t>'Arya' is the value assigned (=) to the variable </a:t>
            </a:r>
            <a:r>
              <a:rPr lang="en-US" sz="1600" dirty="0" err="1"/>
              <a:t>myName</a:t>
            </a:r>
            <a:r>
              <a:rPr lang="en-US" sz="1600" dirty="0"/>
              <a:t>. You can also say that the </a:t>
            </a:r>
            <a:r>
              <a:rPr lang="en-US" sz="1600" dirty="0" err="1"/>
              <a:t>myName</a:t>
            </a:r>
            <a:r>
              <a:rPr lang="en-US" sz="1600" dirty="0"/>
              <a:t> variable is initialized with a value of 'Arya'.</a:t>
            </a:r>
          </a:p>
          <a:p>
            <a:r>
              <a:rPr lang="en-US" sz="1600" dirty="0"/>
              <a:t>After the variable is declared, the string value 'Arya' is printed to the console by referencing the variable name: console.log(</a:t>
            </a:r>
            <a:r>
              <a:rPr lang="en-US" sz="1600" dirty="0" err="1"/>
              <a:t>myName</a:t>
            </a:r>
            <a:r>
              <a:rPr lang="en-US" sz="1600" dirty="0"/>
              <a:t>).</a:t>
            </a:r>
            <a:endParaRPr lang="en-IN" sz="1600" dirty="0"/>
          </a:p>
        </p:txBody>
      </p:sp>
    </p:spTree>
    <p:extLst>
      <p:ext uri="{BB962C8B-B14F-4D97-AF65-F5344CB8AC3E}">
        <p14:creationId xmlns:p14="http://schemas.microsoft.com/office/powerpoint/2010/main" val="227053811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16915-EC86-F1AE-3C06-7559BDA5AFD3}"/>
              </a:ext>
            </a:extLst>
          </p:cNvPr>
          <p:cNvSpPr>
            <a:spLocks noGrp="1"/>
          </p:cNvSpPr>
          <p:nvPr>
            <p:ph type="title"/>
          </p:nvPr>
        </p:nvSpPr>
        <p:spPr/>
        <p:txBody>
          <a:bodyPr/>
          <a:lstStyle/>
          <a:p>
            <a:r>
              <a:rPr lang="en-IN" dirty="0"/>
              <a:t>general rules for naming variables:</a:t>
            </a:r>
          </a:p>
        </p:txBody>
      </p:sp>
      <p:sp>
        <p:nvSpPr>
          <p:cNvPr id="3" name="Content Placeholder 2">
            <a:extLst>
              <a:ext uri="{FF2B5EF4-FFF2-40B4-BE49-F238E27FC236}">
                <a16:creationId xmlns:a16="http://schemas.microsoft.com/office/drawing/2014/main" id="{3456B54C-CD0A-393E-D31B-64FCBC7E6060}"/>
              </a:ext>
            </a:extLst>
          </p:cNvPr>
          <p:cNvSpPr>
            <a:spLocks noGrp="1"/>
          </p:cNvSpPr>
          <p:nvPr>
            <p:ph idx="1"/>
          </p:nvPr>
        </p:nvSpPr>
        <p:spPr/>
        <p:txBody>
          <a:bodyPr>
            <a:normAutofit/>
          </a:bodyPr>
          <a:lstStyle/>
          <a:p>
            <a:r>
              <a:rPr lang="en-US" sz="2000" dirty="0"/>
              <a:t>Names can contain letters, digits, underscores, and dollar signs.</a:t>
            </a:r>
          </a:p>
          <a:p>
            <a:r>
              <a:rPr lang="en-US" sz="2000" dirty="0"/>
              <a:t>Variable names cannot start with numbers.</a:t>
            </a:r>
          </a:p>
          <a:p>
            <a:r>
              <a:rPr lang="en-US" sz="2000" dirty="0"/>
              <a:t>Variable names are case sensitive, so </a:t>
            </a:r>
            <a:r>
              <a:rPr lang="en-US" sz="2000" dirty="0" err="1"/>
              <a:t>myName</a:t>
            </a:r>
            <a:r>
              <a:rPr lang="en-US" sz="2000" dirty="0"/>
              <a:t> and </a:t>
            </a:r>
            <a:r>
              <a:rPr lang="en-US" sz="2000" dirty="0" err="1"/>
              <a:t>myname</a:t>
            </a:r>
            <a:r>
              <a:rPr lang="en-US" sz="2000" dirty="0"/>
              <a:t> would be different variables. It is bad practice to create two variables that have the same name using different cases.</a:t>
            </a:r>
          </a:p>
          <a:p>
            <a:r>
              <a:rPr lang="en-US" sz="2000" dirty="0"/>
              <a:t>Variable names cannot be the same as keywords. </a:t>
            </a:r>
          </a:p>
          <a:p>
            <a:r>
              <a:rPr lang="en-US" sz="2000" dirty="0"/>
              <a:t>Variable names must be meaningful avoid using single latter names. </a:t>
            </a:r>
            <a:endParaRPr lang="en-IN" sz="2000" dirty="0"/>
          </a:p>
        </p:txBody>
      </p:sp>
    </p:spTree>
    <p:extLst>
      <p:ext uri="{BB962C8B-B14F-4D97-AF65-F5344CB8AC3E}">
        <p14:creationId xmlns:p14="http://schemas.microsoft.com/office/powerpoint/2010/main" val="178252783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9E5C3A-ABD5-B072-4398-BEEB246D7139}"/>
              </a:ext>
            </a:extLst>
          </p:cNvPr>
          <p:cNvSpPr>
            <a:spLocks noGrp="1"/>
          </p:cNvSpPr>
          <p:nvPr>
            <p:ph type="title"/>
          </p:nvPr>
        </p:nvSpPr>
        <p:spPr/>
        <p:txBody>
          <a:bodyPr/>
          <a:lstStyle/>
          <a:p>
            <a:r>
              <a:rPr lang="en-IN" dirty="0"/>
              <a:t>Create a Variable: let</a:t>
            </a:r>
          </a:p>
        </p:txBody>
      </p:sp>
      <p:sp>
        <p:nvSpPr>
          <p:cNvPr id="3" name="Content Placeholder 2">
            <a:extLst>
              <a:ext uri="{FF2B5EF4-FFF2-40B4-BE49-F238E27FC236}">
                <a16:creationId xmlns:a16="http://schemas.microsoft.com/office/drawing/2014/main" id="{891C64F0-2513-4D08-93FB-9074CC1153FE}"/>
              </a:ext>
            </a:extLst>
          </p:cNvPr>
          <p:cNvSpPr>
            <a:spLocks noGrp="1"/>
          </p:cNvSpPr>
          <p:nvPr>
            <p:ph idx="1"/>
          </p:nvPr>
        </p:nvSpPr>
        <p:spPr/>
        <p:txBody>
          <a:bodyPr>
            <a:normAutofit fontScale="92500" lnSpcReduction="10000"/>
          </a:bodyPr>
          <a:lstStyle/>
          <a:p>
            <a:r>
              <a:rPr lang="en-US" dirty="0"/>
              <a:t>let keyword was introduced in ES6. The let keyword signals that the variable can be reassigned a different value. Take a look at the example:</a:t>
            </a:r>
          </a:p>
          <a:p>
            <a:r>
              <a:rPr lang="en-IN" b="0" i="0" dirty="0">
                <a:solidFill>
                  <a:srgbClr val="FF0000"/>
                </a:solidFill>
                <a:effectLst/>
                <a:latin typeface="Monaco"/>
              </a:rPr>
              <a:t>let language = ’Java';</a:t>
            </a:r>
            <a:r>
              <a:rPr lang="en-IN" dirty="0">
                <a:solidFill>
                  <a:srgbClr val="FF0000"/>
                </a:solidFill>
              </a:rPr>
              <a:t/>
            </a:r>
            <a:br>
              <a:rPr lang="en-IN" dirty="0">
                <a:solidFill>
                  <a:srgbClr val="FF0000"/>
                </a:solidFill>
              </a:rPr>
            </a:br>
            <a:r>
              <a:rPr lang="en-IN" b="0" i="0" dirty="0">
                <a:solidFill>
                  <a:srgbClr val="FF0000"/>
                </a:solidFill>
                <a:effectLst/>
                <a:latin typeface="Monaco"/>
              </a:rPr>
              <a:t>console.log(language); // Output: Java</a:t>
            </a:r>
            <a:r>
              <a:rPr lang="en-IN" dirty="0">
                <a:solidFill>
                  <a:srgbClr val="FF0000"/>
                </a:solidFill>
              </a:rPr>
              <a:t/>
            </a:r>
            <a:br>
              <a:rPr lang="en-IN" dirty="0">
                <a:solidFill>
                  <a:srgbClr val="FF0000"/>
                </a:solidFill>
              </a:rPr>
            </a:br>
            <a:r>
              <a:rPr lang="en-IN" b="0" i="0" dirty="0">
                <a:solidFill>
                  <a:srgbClr val="FF0000"/>
                </a:solidFill>
                <a:effectLst/>
                <a:latin typeface="Monaco"/>
              </a:rPr>
              <a:t>language = ’JavaScript';</a:t>
            </a:r>
            <a:r>
              <a:rPr lang="en-IN" dirty="0">
                <a:solidFill>
                  <a:srgbClr val="FF0000"/>
                </a:solidFill>
              </a:rPr>
              <a:t/>
            </a:r>
            <a:br>
              <a:rPr lang="en-IN" dirty="0">
                <a:solidFill>
                  <a:srgbClr val="FF0000"/>
                </a:solidFill>
              </a:rPr>
            </a:br>
            <a:r>
              <a:rPr lang="en-IN" b="0" i="0" dirty="0" smtClean="0">
                <a:solidFill>
                  <a:srgbClr val="FF0000"/>
                </a:solidFill>
                <a:effectLst/>
                <a:latin typeface="Monaco"/>
              </a:rPr>
              <a:t>console.log(language); </a:t>
            </a:r>
            <a:r>
              <a:rPr lang="en-IN" b="0" i="0" dirty="0">
                <a:solidFill>
                  <a:srgbClr val="FF0000"/>
                </a:solidFill>
                <a:effectLst/>
                <a:latin typeface="Monaco"/>
              </a:rPr>
              <a:t>// Output: JavaScript</a:t>
            </a:r>
          </a:p>
          <a:p>
            <a:r>
              <a:rPr lang="en-US" dirty="0"/>
              <a:t>Another concept that we should be aware of when using let (and even var) is that we can declare a variable without assigning the variable a value. In such a case, the variable will be automatically initialized with a value of undefined:</a:t>
            </a:r>
          </a:p>
          <a:p>
            <a:r>
              <a:rPr lang="en-US" b="0" i="0" dirty="0">
                <a:solidFill>
                  <a:srgbClr val="FF0000"/>
                </a:solidFill>
                <a:effectLst/>
                <a:latin typeface="Monaco"/>
              </a:rPr>
              <a:t>let price;</a:t>
            </a:r>
            <a:r>
              <a:rPr lang="en-US" dirty="0">
                <a:solidFill>
                  <a:srgbClr val="FF0000"/>
                </a:solidFill>
              </a:rPr>
              <a:t/>
            </a:r>
            <a:br>
              <a:rPr lang="en-US" dirty="0">
                <a:solidFill>
                  <a:srgbClr val="FF0000"/>
                </a:solidFill>
              </a:rPr>
            </a:br>
            <a:r>
              <a:rPr lang="en-US" b="0" i="0" dirty="0">
                <a:solidFill>
                  <a:srgbClr val="FF0000"/>
                </a:solidFill>
                <a:effectLst/>
                <a:latin typeface="Monaco"/>
              </a:rPr>
              <a:t>console.log(price); // Output: undefined</a:t>
            </a:r>
            <a:r>
              <a:rPr lang="en-US" dirty="0">
                <a:solidFill>
                  <a:srgbClr val="FF0000"/>
                </a:solidFill>
              </a:rPr>
              <a:t/>
            </a:r>
            <a:br>
              <a:rPr lang="en-US" dirty="0">
                <a:solidFill>
                  <a:srgbClr val="FF0000"/>
                </a:solidFill>
              </a:rPr>
            </a:br>
            <a:r>
              <a:rPr lang="en-US" b="0" i="0" dirty="0">
                <a:solidFill>
                  <a:srgbClr val="FF0000"/>
                </a:solidFill>
                <a:effectLst/>
                <a:latin typeface="Monaco"/>
              </a:rPr>
              <a:t>price = 350;</a:t>
            </a:r>
            <a:r>
              <a:rPr lang="en-US" dirty="0">
                <a:solidFill>
                  <a:srgbClr val="FF0000"/>
                </a:solidFill>
              </a:rPr>
              <a:t/>
            </a:r>
            <a:br>
              <a:rPr lang="en-US" dirty="0">
                <a:solidFill>
                  <a:srgbClr val="FF0000"/>
                </a:solidFill>
              </a:rPr>
            </a:br>
            <a:r>
              <a:rPr lang="en-US" b="0" i="0" dirty="0">
                <a:solidFill>
                  <a:srgbClr val="FF0000"/>
                </a:solidFill>
                <a:effectLst/>
                <a:latin typeface="Monaco"/>
              </a:rPr>
              <a:t>console.log(price); // Output: 350</a:t>
            </a:r>
            <a:endParaRPr lang="en-IN" dirty="0">
              <a:solidFill>
                <a:srgbClr val="FF0000"/>
              </a:solidFill>
            </a:endParaRPr>
          </a:p>
        </p:txBody>
      </p:sp>
    </p:spTree>
    <p:extLst>
      <p:ext uri="{BB962C8B-B14F-4D97-AF65-F5344CB8AC3E}">
        <p14:creationId xmlns:p14="http://schemas.microsoft.com/office/powerpoint/2010/main" val="188967512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ECFA0-B88B-DCDD-8CC0-8B2F1E311871}"/>
              </a:ext>
            </a:extLst>
          </p:cNvPr>
          <p:cNvSpPr>
            <a:spLocks noGrp="1"/>
          </p:cNvSpPr>
          <p:nvPr>
            <p:ph type="title"/>
          </p:nvPr>
        </p:nvSpPr>
        <p:spPr/>
        <p:txBody>
          <a:bodyPr/>
          <a:lstStyle/>
          <a:p>
            <a:r>
              <a:rPr lang="en-IN" dirty="0"/>
              <a:t>Create a Variable: </a:t>
            </a:r>
            <a:r>
              <a:rPr lang="en-IN" dirty="0" err="1"/>
              <a:t>const</a:t>
            </a:r>
            <a:endParaRPr lang="en-IN" dirty="0"/>
          </a:p>
        </p:txBody>
      </p:sp>
      <p:sp>
        <p:nvSpPr>
          <p:cNvPr id="3" name="Content Placeholder 2">
            <a:extLst>
              <a:ext uri="{FF2B5EF4-FFF2-40B4-BE49-F238E27FC236}">
                <a16:creationId xmlns:a16="http://schemas.microsoft.com/office/drawing/2014/main" id="{CE5ABC54-4B0F-C46A-8435-C34C8991814F}"/>
              </a:ext>
            </a:extLst>
          </p:cNvPr>
          <p:cNvSpPr>
            <a:spLocks noGrp="1"/>
          </p:cNvSpPr>
          <p:nvPr>
            <p:ph idx="1"/>
          </p:nvPr>
        </p:nvSpPr>
        <p:spPr/>
        <p:txBody>
          <a:bodyPr>
            <a:normAutofit lnSpcReduction="10000"/>
          </a:bodyPr>
          <a:lstStyle/>
          <a:p>
            <a:r>
              <a:rPr lang="en-US" sz="2000" dirty="0">
                <a:solidFill>
                  <a:schemeClr val="tx1">
                    <a:lumMod val="85000"/>
                    <a:lumOff val="15000"/>
                  </a:schemeClr>
                </a:solidFill>
              </a:rPr>
              <a:t>The const keyword was also introduced in ES6, and is short for the word constant. Just like with var and let you can store any value in a const variable. The way you declare a const variable and assign a value to it follows the same structure as let and var. Take a look at the following example:</a:t>
            </a:r>
          </a:p>
          <a:p>
            <a:r>
              <a:rPr lang="en-US" sz="2000" dirty="0">
                <a:solidFill>
                  <a:schemeClr val="tx1">
                    <a:lumMod val="85000"/>
                    <a:lumOff val="15000"/>
                  </a:schemeClr>
                </a:solidFill>
              </a:rPr>
              <a:t>However, a const variable cannot be reassigned because it is constant. If you try to reassign a const variable, you’ll get a </a:t>
            </a:r>
            <a:r>
              <a:rPr lang="en-US" sz="2000" dirty="0" err="1">
                <a:solidFill>
                  <a:schemeClr val="tx1">
                    <a:lumMod val="85000"/>
                    <a:lumOff val="15000"/>
                  </a:schemeClr>
                </a:solidFill>
              </a:rPr>
              <a:t>TypeError</a:t>
            </a:r>
            <a:r>
              <a:rPr lang="en-US" sz="2000" dirty="0">
                <a:solidFill>
                  <a:schemeClr val="tx1">
                    <a:lumMod val="85000"/>
                    <a:lumOff val="15000"/>
                  </a:schemeClr>
                </a:solidFill>
              </a:rPr>
              <a:t>.</a:t>
            </a:r>
          </a:p>
          <a:p>
            <a:r>
              <a:rPr lang="en-US" sz="2000" dirty="0">
                <a:solidFill>
                  <a:schemeClr val="tx1">
                    <a:lumMod val="85000"/>
                    <a:lumOff val="15000"/>
                  </a:schemeClr>
                </a:solidFill>
              </a:rPr>
              <a:t>Constant variables must be assigned a value when declared. If you try to declare a const variable without a value, you’ll get a </a:t>
            </a:r>
            <a:r>
              <a:rPr lang="en-US" sz="2000" dirty="0" err="1">
                <a:solidFill>
                  <a:schemeClr val="tx1">
                    <a:lumMod val="85000"/>
                    <a:lumOff val="15000"/>
                  </a:schemeClr>
                </a:solidFill>
              </a:rPr>
              <a:t>SyntaxError</a:t>
            </a:r>
            <a:r>
              <a:rPr lang="en-US" sz="2000" dirty="0">
                <a:solidFill>
                  <a:schemeClr val="tx1">
                    <a:lumMod val="85000"/>
                    <a:lumOff val="15000"/>
                  </a:schemeClr>
                </a:solidFill>
              </a:rPr>
              <a:t>.</a:t>
            </a:r>
          </a:p>
          <a:p>
            <a:r>
              <a:rPr lang="en-US" sz="2000" dirty="0">
                <a:solidFill>
                  <a:schemeClr val="tx1">
                    <a:lumMod val="85000"/>
                    <a:lumOff val="15000"/>
                  </a:schemeClr>
                </a:solidFill>
              </a:rPr>
              <a:t>If you’re trying to decide between which keyword to use, let or const, think about whether you’ll need to reassign the variable later on. If you do need to reassign the variable use let, otherwise, use const.</a:t>
            </a:r>
            <a:endParaRPr lang="en-IN" sz="2000" dirty="0">
              <a:solidFill>
                <a:schemeClr val="tx1">
                  <a:lumMod val="85000"/>
                  <a:lumOff val="15000"/>
                </a:schemeClr>
              </a:solidFill>
            </a:endParaRPr>
          </a:p>
        </p:txBody>
      </p:sp>
    </p:spTree>
    <p:extLst>
      <p:ext uri="{BB962C8B-B14F-4D97-AF65-F5344CB8AC3E}">
        <p14:creationId xmlns:p14="http://schemas.microsoft.com/office/powerpoint/2010/main" val="139784489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D97CE-B956-2776-EE15-C6176E35418F}"/>
              </a:ext>
            </a:extLst>
          </p:cNvPr>
          <p:cNvSpPr>
            <a:spLocks noGrp="1"/>
          </p:cNvSpPr>
          <p:nvPr>
            <p:ph type="title"/>
          </p:nvPr>
        </p:nvSpPr>
        <p:spPr/>
        <p:txBody>
          <a:bodyPr/>
          <a:lstStyle/>
          <a:p>
            <a:r>
              <a:rPr lang="en-IN" dirty="0"/>
              <a:t>Arithmetic Operators</a:t>
            </a:r>
          </a:p>
        </p:txBody>
      </p:sp>
      <p:sp>
        <p:nvSpPr>
          <p:cNvPr id="3" name="Content Placeholder 2">
            <a:extLst>
              <a:ext uri="{FF2B5EF4-FFF2-40B4-BE49-F238E27FC236}">
                <a16:creationId xmlns:a16="http://schemas.microsoft.com/office/drawing/2014/main" id="{9BD61A09-42EF-26E8-182C-69E1B22C0DBD}"/>
              </a:ext>
            </a:extLst>
          </p:cNvPr>
          <p:cNvSpPr>
            <a:spLocks noGrp="1"/>
          </p:cNvSpPr>
          <p:nvPr>
            <p:ph idx="1"/>
          </p:nvPr>
        </p:nvSpPr>
        <p:spPr/>
        <p:txBody>
          <a:bodyPr>
            <a:normAutofit/>
          </a:bodyPr>
          <a:lstStyle/>
          <a:p>
            <a:pPr algn="just"/>
            <a:r>
              <a:rPr lang="en-US" sz="2000" dirty="0">
                <a:solidFill>
                  <a:schemeClr val="tx1">
                    <a:lumMod val="85000"/>
                    <a:lumOff val="15000"/>
                  </a:schemeClr>
                </a:solidFill>
              </a:rPr>
              <a:t>An operator is a character that performs a task in our code. JavaScript has several built-in arithmetic operators, that allow us to perform mathematical calculations on numbers. These include the following operators and their corresponding symbols:</a:t>
            </a:r>
          </a:p>
          <a:p>
            <a:pPr lvl="1" algn="just"/>
            <a:r>
              <a:rPr lang="en-US" sz="1800" dirty="0">
                <a:solidFill>
                  <a:schemeClr val="tx1">
                    <a:lumMod val="85000"/>
                    <a:lumOff val="15000"/>
                  </a:schemeClr>
                </a:solidFill>
              </a:rPr>
              <a:t>Add: 		+</a:t>
            </a:r>
          </a:p>
          <a:p>
            <a:pPr lvl="1" algn="just"/>
            <a:r>
              <a:rPr lang="en-US" sz="1800" dirty="0">
                <a:solidFill>
                  <a:schemeClr val="tx1">
                    <a:lumMod val="85000"/>
                    <a:lumOff val="15000"/>
                  </a:schemeClr>
                </a:solidFill>
              </a:rPr>
              <a:t>Subtract:	 -</a:t>
            </a:r>
          </a:p>
          <a:p>
            <a:pPr lvl="1" algn="just"/>
            <a:r>
              <a:rPr lang="en-US" sz="1800" dirty="0">
                <a:solidFill>
                  <a:schemeClr val="tx1">
                    <a:lumMod val="85000"/>
                    <a:lumOff val="15000"/>
                  </a:schemeClr>
                </a:solidFill>
              </a:rPr>
              <a:t>Multiply: 	*</a:t>
            </a:r>
          </a:p>
          <a:p>
            <a:pPr lvl="1" algn="just"/>
            <a:r>
              <a:rPr lang="en-US" sz="1800" dirty="0">
                <a:solidFill>
                  <a:schemeClr val="tx1">
                    <a:lumMod val="85000"/>
                    <a:lumOff val="15000"/>
                  </a:schemeClr>
                </a:solidFill>
              </a:rPr>
              <a:t>Divide: 	</a:t>
            </a:r>
            <a:r>
              <a:rPr lang="en-US" sz="1800" dirty="0" smtClean="0">
                <a:solidFill>
                  <a:schemeClr val="tx1">
                    <a:lumMod val="85000"/>
                    <a:lumOff val="15000"/>
                  </a:schemeClr>
                </a:solidFill>
              </a:rPr>
              <a:t>/</a:t>
            </a:r>
            <a:endParaRPr lang="en-US" sz="1800" dirty="0">
              <a:solidFill>
                <a:schemeClr val="tx1">
                  <a:lumMod val="85000"/>
                  <a:lumOff val="15000"/>
                </a:schemeClr>
              </a:solidFill>
            </a:endParaRPr>
          </a:p>
          <a:p>
            <a:pPr lvl="1" algn="just"/>
            <a:r>
              <a:rPr lang="en-US" sz="1800" dirty="0">
                <a:solidFill>
                  <a:schemeClr val="tx1">
                    <a:lumMod val="85000"/>
                    <a:lumOff val="15000"/>
                  </a:schemeClr>
                </a:solidFill>
              </a:rPr>
              <a:t>Remainder:	</a:t>
            </a:r>
            <a:r>
              <a:rPr lang="en-US" sz="1800" dirty="0" smtClean="0">
                <a:solidFill>
                  <a:schemeClr val="tx1">
                    <a:lumMod val="85000"/>
                    <a:lumOff val="15000"/>
                  </a:schemeClr>
                </a:solidFill>
              </a:rPr>
              <a:t> %</a:t>
            </a:r>
            <a:endParaRPr lang="en-IN" sz="1800" dirty="0">
              <a:solidFill>
                <a:schemeClr val="tx1">
                  <a:lumMod val="85000"/>
                  <a:lumOff val="15000"/>
                </a:schemeClr>
              </a:solidFill>
            </a:endParaRPr>
          </a:p>
        </p:txBody>
      </p:sp>
      <p:sp>
        <p:nvSpPr>
          <p:cNvPr id="6" name="TextBox 5">
            <a:extLst>
              <a:ext uri="{FF2B5EF4-FFF2-40B4-BE49-F238E27FC236}">
                <a16:creationId xmlns:a16="http://schemas.microsoft.com/office/drawing/2014/main" id="{EB926F48-D556-13EF-A2EC-8377CEFC576B}"/>
              </a:ext>
            </a:extLst>
          </p:cNvPr>
          <p:cNvSpPr txBox="1"/>
          <p:nvPr/>
        </p:nvSpPr>
        <p:spPr>
          <a:xfrm>
            <a:off x="5002448" y="3947517"/>
            <a:ext cx="6094378" cy="1569660"/>
          </a:xfrm>
          <a:prstGeom prst="rect">
            <a:avLst/>
          </a:prstGeom>
          <a:noFill/>
        </p:spPr>
        <p:txBody>
          <a:bodyPr wrap="square">
            <a:spAutoFit/>
          </a:bodyPr>
          <a:lstStyle/>
          <a:p>
            <a:r>
              <a:rPr lang="fr-FR" sz="2400" b="1" i="0" dirty="0">
                <a:solidFill>
                  <a:schemeClr val="accent1"/>
                </a:solidFill>
                <a:effectLst/>
                <a:latin typeface="Monaco"/>
              </a:rPr>
              <a:t>console.log(3 + 4); // </a:t>
            </a:r>
            <a:r>
              <a:rPr lang="fr-FR" sz="2400" b="1" i="0" dirty="0" err="1">
                <a:solidFill>
                  <a:schemeClr val="accent1"/>
                </a:solidFill>
                <a:effectLst/>
                <a:latin typeface="Monaco"/>
              </a:rPr>
              <a:t>Prints</a:t>
            </a:r>
            <a:r>
              <a:rPr lang="fr-FR" sz="2400" b="1" i="0" dirty="0">
                <a:solidFill>
                  <a:schemeClr val="accent1"/>
                </a:solidFill>
                <a:effectLst/>
                <a:latin typeface="Monaco"/>
              </a:rPr>
              <a:t> 7</a:t>
            </a:r>
            <a:r>
              <a:rPr lang="fr-FR" sz="2400" b="1" dirty="0">
                <a:solidFill>
                  <a:schemeClr val="accent1"/>
                </a:solidFill>
              </a:rPr>
              <a:t/>
            </a:r>
            <a:br>
              <a:rPr lang="fr-FR" sz="2400" b="1" dirty="0">
                <a:solidFill>
                  <a:schemeClr val="accent1"/>
                </a:solidFill>
              </a:rPr>
            </a:br>
            <a:r>
              <a:rPr lang="fr-FR" sz="2400" b="1" i="0" dirty="0">
                <a:solidFill>
                  <a:schemeClr val="accent1"/>
                </a:solidFill>
                <a:effectLst/>
                <a:latin typeface="Monaco"/>
              </a:rPr>
              <a:t>console.log(5 - 1); // </a:t>
            </a:r>
            <a:r>
              <a:rPr lang="fr-FR" sz="2400" b="1" i="0" dirty="0" err="1">
                <a:solidFill>
                  <a:schemeClr val="accent1"/>
                </a:solidFill>
                <a:effectLst/>
                <a:latin typeface="Monaco"/>
              </a:rPr>
              <a:t>Prints</a:t>
            </a:r>
            <a:r>
              <a:rPr lang="fr-FR" sz="2400" b="1" i="0" dirty="0">
                <a:solidFill>
                  <a:schemeClr val="accent1"/>
                </a:solidFill>
                <a:effectLst/>
                <a:latin typeface="Monaco"/>
              </a:rPr>
              <a:t> 4</a:t>
            </a:r>
            <a:r>
              <a:rPr lang="fr-FR" sz="2400" b="1" dirty="0">
                <a:solidFill>
                  <a:schemeClr val="accent1"/>
                </a:solidFill>
              </a:rPr>
              <a:t/>
            </a:r>
            <a:br>
              <a:rPr lang="fr-FR" sz="2400" b="1" dirty="0">
                <a:solidFill>
                  <a:schemeClr val="accent1"/>
                </a:solidFill>
              </a:rPr>
            </a:br>
            <a:r>
              <a:rPr lang="fr-FR" sz="2400" b="1" i="0" dirty="0">
                <a:solidFill>
                  <a:schemeClr val="accent1"/>
                </a:solidFill>
                <a:effectLst/>
                <a:latin typeface="Monaco"/>
              </a:rPr>
              <a:t>console.log(4 * 2); // </a:t>
            </a:r>
            <a:r>
              <a:rPr lang="fr-FR" sz="2400" b="1" i="0" dirty="0" err="1">
                <a:solidFill>
                  <a:schemeClr val="accent1"/>
                </a:solidFill>
                <a:effectLst/>
                <a:latin typeface="Monaco"/>
              </a:rPr>
              <a:t>Prints</a:t>
            </a:r>
            <a:r>
              <a:rPr lang="fr-FR" sz="2400" b="1" i="0" dirty="0">
                <a:solidFill>
                  <a:schemeClr val="accent1"/>
                </a:solidFill>
                <a:effectLst/>
                <a:latin typeface="Monaco"/>
              </a:rPr>
              <a:t> 8</a:t>
            </a:r>
            <a:r>
              <a:rPr lang="fr-FR" sz="2400" b="1" dirty="0">
                <a:solidFill>
                  <a:schemeClr val="accent1"/>
                </a:solidFill>
              </a:rPr>
              <a:t/>
            </a:r>
            <a:br>
              <a:rPr lang="fr-FR" sz="2400" b="1" dirty="0">
                <a:solidFill>
                  <a:schemeClr val="accent1"/>
                </a:solidFill>
              </a:rPr>
            </a:br>
            <a:r>
              <a:rPr lang="fr-FR" sz="2400" b="1" i="0" dirty="0">
                <a:solidFill>
                  <a:schemeClr val="accent1"/>
                </a:solidFill>
                <a:effectLst/>
                <a:latin typeface="Monaco"/>
              </a:rPr>
              <a:t>console.log(9 / 3); // </a:t>
            </a:r>
            <a:r>
              <a:rPr lang="fr-FR" sz="2400" b="1" i="0" dirty="0" err="1">
                <a:solidFill>
                  <a:schemeClr val="accent1"/>
                </a:solidFill>
                <a:effectLst/>
                <a:latin typeface="Monaco"/>
              </a:rPr>
              <a:t>Prints</a:t>
            </a:r>
            <a:r>
              <a:rPr lang="fr-FR" sz="2400" b="1" i="0" dirty="0">
                <a:solidFill>
                  <a:schemeClr val="accent1"/>
                </a:solidFill>
                <a:effectLst/>
                <a:latin typeface="Monaco"/>
              </a:rPr>
              <a:t> 3</a:t>
            </a:r>
            <a:endParaRPr lang="en-IN" sz="2400" b="1" dirty="0">
              <a:solidFill>
                <a:schemeClr val="accent1"/>
              </a:solidFill>
            </a:endParaRPr>
          </a:p>
        </p:txBody>
      </p:sp>
    </p:spTree>
    <p:extLst>
      <p:ext uri="{BB962C8B-B14F-4D97-AF65-F5344CB8AC3E}">
        <p14:creationId xmlns:p14="http://schemas.microsoft.com/office/powerpoint/2010/main" val="425119409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03F7AE-1F68-6A44-E0E1-7AE1138B1B58}"/>
              </a:ext>
            </a:extLst>
          </p:cNvPr>
          <p:cNvSpPr>
            <a:spLocks noGrp="1"/>
          </p:cNvSpPr>
          <p:nvPr>
            <p:ph type="title"/>
          </p:nvPr>
        </p:nvSpPr>
        <p:spPr/>
        <p:txBody>
          <a:bodyPr/>
          <a:lstStyle/>
          <a:p>
            <a:r>
              <a:rPr lang="en-IN" dirty="0"/>
              <a:t>Mathematical Assignment Operators</a:t>
            </a:r>
          </a:p>
        </p:txBody>
      </p:sp>
      <p:sp>
        <p:nvSpPr>
          <p:cNvPr id="3" name="Content Placeholder 2">
            <a:extLst>
              <a:ext uri="{FF2B5EF4-FFF2-40B4-BE49-F238E27FC236}">
                <a16:creationId xmlns:a16="http://schemas.microsoft.com/office/drawing/2014/main" id="{F697795D-FF26-50B1-DC9B-3CE6D746A9A3}"/>
              </a:ext>
            </a:extLst>
          </p:cNvPr>
          <p:cNvSpPr>
            <a:spLocks noGrp="1"/>
          </p:cNvSpPr>
          <p:nvPr>
            <p:ph idx="1"/>
          </p:nvPr>
        </p:nvSpPr>
        <p:spPr>
          <a:xfrm>
            <a:off x="668741" y="2277772"/>
            <a:ext cx="11029615" cy="4239760"/>
          </a:xfrm>
        </p:spPr>
        <p:txBody>
          <a:bodyPr>
            <a:normAutofit fontScale="62500" lnSpcReduction="20000"/>
          </a:bodyPr>
          <a:lstStyle/>
          <a:p>
            <a:pPr marL="0" indent="0">
              <a:buNone/>
            </a:pPr>
            <a:r>
              <a:rPr lang="en-US" b="0" dirty="0">
                <a:solidFill>
                  <a:schemeClr val="tx1">
                    <a:lumMod val="85000"/>
                    <a:lumOff val="15000"/>
                  </a:schemeClr>
                </a:solidFill>
                <a:effectLst/>
                <a:latin typeface="Monaco, Menlo,  Ubuntu Mono"/>
              </a:rPr>
              <a:t>let </a:t>
            </a:r>
            <a:r>
              <a:rPr lang="en-US" b="0" dirty="0" err="1">
                <a:solidFill>
                  <a:schemeClr val="tx1">
                    <a:lumMod val="85000"/>
                    <a:lumOff val="15000"/>
                  </a:schemeClr>
                </a:solidFill>
                <a:effectLst/>
                <a:latin typeface="Monaco, Menlo,  Ubuntu Mono"/>
              </a:rPr>
              <a:t>levelUp</a:t>
            </a:r>
            <a:r>
              <a:rPr lang="en-US" b="0" dirty="0">
                <a:solidFill>
                  <a:schemeClr val="tx1">
                    <a:lumMod val="85000"/>
                    <a:lumOff val="15000"/>
                  </a:schemeClr>
                </a:solidFill>
                <a:effectLst/>
                <a:latin typeface="Monaco, Menlo,  Ubuntu Mono"/>
              </a:rPr>
              <a:t> = 10;</a:t>
            </a:r>
          </a:p>
          <a:p>
            <a:pPr marL="0" indent="0">
              <a:buNone/>
            </a:pPr>
            <a:r>
              <a:rPr lang="en-US" b="0" dirty="0">
                <a:solidFill>
                  <a:schemeClr val="tx1">
                    <a:lumMod val="85000"/>
                    <a:lumOff val="15000"/>
                  </a:schemeClr>
                </a:solidFill>
                <a:effectLst/>
                <a:latin typeface="Monaco, Menlo,  Ubuntu Mono"/>
              </a:rPr>
              <a:t>let </a:t>
            </a:r>
            <a:r>
              <a:rPr lang="en-US" b="0" dirty="0" err="1">
                <a:solidFill>
                  <a:schemeClr val="tx1">
                    <a:lumMod val="85000"/>
                    <a:lumOff val="15000"/>
                  </a:schemeClr>
                </a:solidFill>
                <a:effectLst/>
                <a:latin typeface="Monaco, Menlo,  Ubuntu Mono"/>
              </a:rPr>
              <a:t>powerLevel</a:t>
            </a:r>
            <a:r>
              <a:rPr lang="en-US" b="0" dirty="0">
                <a:solidFill>
                  <a:schemeClr val="tx1">
                    <a:lumMod val="85000"/>
                    <a:lumOff val="15000"/>
                  </a:schemeClr>
                </a:solidFill>
                <a:effectLst/>
                <a:latin typeface="Monaco, Menlo,  Ubuntu Mono"/>
              </a:rPr>
              <a:t> = 9001;</a:t>
            </a:r>
          </a:p>
          <a:p>
            <a:pPr marL="0" indent="0">
              <a:buNone/>
            </a:pPr>
            <a:r>
              <a:rPr lang="en-US" b="0" dirty="0">
                <a:solidFill>
                  <a:schemeClr val="tx1">
                    <a:lumMod val="85000"/>
                    <a:lumOff val="15000"/>
                  </a:schemeClr>
                </a:solidFill>
                <a:effectLst/>
                <a:latin typeface="Monaco, Menlo,  Ubuntu Mono"/>
              </a:rPr>
              <a:t>let </a:t>
            </a:r>
            <a:r>
              <a:rPr lang="en-US" b="0" dirty="0" err="1">
                <a:solidFill>
                  <a:schemeClr val="tx1">
                    <a:lumMod val="85000"/>
                    <a:lumOff val="15000"/>
                  </a:schemeClr>
                </a:solidFill>
                <a:effectLst/>
                <a:latin typeface="Monaco, Menlo,  Ubuntu Mono"/>
              </a:rPr>
              <a:t>multiplyMe</a:t>
            </a:r>
            <a:r>
              <a:rPr lang="en-US" b="0" dirty="0">
                <a:solidFill>
                  <a:schemeClr val="tx1">
                    <a:lumMod val="85000"/>
                    <a:lumOff val="15000"/>
                  </a:schemeClr>
                </a:solidFill>
                <a:effectLst/>
                <a:latin typeface="Monaco, Menlo,  Ubuntu Mono"/>
              </a:rPr>
              <a:t> = 32;</a:t>
            </a:r>
          </a:p>
          <a:p>
            <a:pPr marL="0" indent="0">
              <a:buNone/>
            </a:pPr>
            <a:r>
              <a:rPr lang="en-US" b="0" dirty="0">
                <a:solidFill>
                  <a:schemeClr val="tx1">
                    <a:lumMod val="85000"/>
                    <a:lumOff val="15000"/>
                  </a:schemeClr>
                </a:solidFill>
                <a:effectLst/>
                <a:latin typeface="Monaco, Menlo,  Ubuntu Mono"/>
              </a:rPr>
              <a:t>let </a:t>
            </a:r>
            <a:r>
              <a:rPr lang="en-US" b="0" dirty="0" err="1">
                <a:solidFill>
                  <a:schemeClr val="tx1">
                    <a:lumMod val="85000"/>
                    <a:lumOff val="15000"/>
                  </a:schemeClr>
                </a:solidFill>
                <a:effectLst/>
                <a:latin typeface="Monaco, Menlo,  Ubuntu Mono"/>
              </a:rPr>
              <a:t>quarterMe</a:t>
            </a:r>
            <a:r>
              <a:rPr lang="en-US" b="0" dirty="0">
                <a:solidFill>
                  <a:schemeClr val="tx1">
                    <a:lumMod val="85000"/>
                    <a:lumOff val="15000"/>
                  </a:schemeClr>
                </a:solidFill>
                <a:effectLst/>
                <a:latin typeface="Monaco, Menlo,  Ubuntu Mono"/>
              </a:rPr>
              <a:t> = 1152;</a:t>
            </a:r>
          </a:p>
          <a:p>
            <a:pPr marL="0" indent="0">
              <a:buNone/>
            </a:pPr>
            <a:r>
              <a:rPr lang="en-US" b="0" dirty="0">
                <a:solidFill>
                  <a:schemeClr val="tx1">
                    <a:lumMod val="85000"/>
                    <a:lumOff val="15000"/>
                  </a:schemeClr>
                </a:solidFill>
                <a:effectLst/>
                <a:latin typeface="Monaco, Menlo,  Ubuntu Mono"/>
              </a:rPr>
              <a:t/>
            </a:r>
            <a:br>
              <a:rPr lang="en-US" b="0" dirty="0">
                <a:solidFill>
                  <a:schemeClr val="tx1">
                    <a:lumMod val="85000"/>
                    <a:lumOff val="15000"/>
                  </a:schemeClr>
                </a:solidFill>
                <a:effectLst/>
                <a:latin typeface="Monaco, Menlo,  Ubuntu Mono"/>
              </a:rPr>
            </a:br>
            <a:r>
              <a:rPr lang="en-US" b="0" dirty="0">
                <a:solidFill>
                  <a:schemeClr val="tx1">
                    <a:lumMod val="85000"/>
                    <a:lumOff val="15000"/>
                  </a:schemeClr>
                </a:solidFill>
                <a:effectLst/>
                <a:latin typeface="Monaco, Menlo,  Ubuntu Mono"/>
              </a:rPr>
              <a:t>// Use the mathematical assignments in the space below:</a:t>
            </a:r>
          </a:p>
          <a:p>
            <a:pPr marL="0" indent="0">
              <a:buNone/>
            </a:pPr>
            <a:r>
              <a:rPr lang="en-US" b="0" dirty="0" err="1">
                <a:solidFill>
                  <a:schemeClr val="tx1">
                    <a:lumMod val="85000"/>
                    <a:lumOff val="15000"/>
                  </a:schemeClr>
                </a:solidFill>
                <a:effectLst/>
                <a:latin typeface="Monaco, Menlo,  Ubuntu Mono"/>
              </a:rPr>
              <a:t>levelUp</a:t>
            </a:r>
            <a:r>
              <a:rPr lang="en-US" b="0" dirty="0">
                <a:solidFill>
                  <a:schemeClr val="tx1">
                    <a:lumMod val="85000"/>
                    <a:lumOff val="15000"/>
                  </a:schemeClr>
                </a:solidFill>
                <a:effectLst/>
                <a:latin typeface="Monaco, Menlo,  Ubuntu Mono"/>
              </a:rPr>
              <a:t>+=5;</a:t>
            </a:r>
          </a:p>
          <a:p>
            <a:pPr marL="0" indent="0">
              <a:buNone/>
            </a:pPr>
            <a:r>
              <a:rPr lang="en-US" b="0" dirty="0" err="1">
                <a:solidFill>
                  <a:schemeClr val="tx1">
                    <a:lumMod val="85000"/>
                    <a:lumOff val="15000"/>
                  </a:schemeClr>
                </a:solidFill>
                <a:effectLst/>
                <a:latin typeface="Monaco, Menlo,  Ubuntu Mono"/>
              </a:rPr>
              <a:t>powerLevel</a:t>
            </a:r>
            <a:r>
              <a:rPr lang="en-US" b="0" dirty="0">
                <a:solidFill>
                  <a:schemeClr val="tx1">
                    <a:lumMod val="85000"/>
                    <a:lumOff val="15000"/>
                  </a:schemeClr>
                </a:solidFill>
                <a:effectLst/>
                <a:latin typeface="Monaco, Menlo,  Ubuntu Mono"/>
              </a:rPr>
              <a:t>-=100;</a:t>
            </a:r>
          </a:p>
          <a:p>
            <a:pPr marL="0" indent="0">
              <a:buNone/>
            </a:pPr>
            <a:r>
              <a:rPr lang="en-US" b="0" dirty="0" err="1">
                <a:solidFill>
                  <a:schemeClr val="tx1">
                    <a:lumMod val="85000"/>
                    <a:lumOff val="15000"/>
                  </a:schemeClr>
                </a:solidFill>
                <a:effectLst/>
                <a:latin typeface="Monaco, Menlo,  Ubuntu Mono"/>
              </a:rPr>
              <a:t>multiplyMe</a:t>
            </a:r>
            <a:r>
              <a:rPr lang="en-US" b="0" dirty="0">
                <a:solidFill>
                  <a:schemeClr val="tx1">
                    <a:lumMod val="85000"/>
                    <a:lumOff val="15000"/>
                  </a:schemeClr>
                </a:solidFill>
                <a:effectLst/>
                <a:latin typeface="Monaco, Menlo,  Ubuntu Mono"/>
              </a:rPr>
              <a:t>*=11;</a:t>
            </a:r>
          </a:p>
          <a:p>
            <a:pPr marL="0" indent="0">
              <a:buNone/>
            </a:pPr>
            <a:r>
              <a:rPr lang="en-US" b="0" dirty="0" err="1">
                <a:solidFill>
                  <a:schemeClr val="tx1">
                    <a:lumMod val="85000"/>
                    <a:lumOff val="15000"/>
                  </a:schemeClr>
                </a:solidFill>
                <a:effectLst/>
                <a:latin typeface="Monaco, Menlo,  Ubuntu Mono"/>
              </a:rPr>
              <a:t>quarterMe</a:t>
            </a:r>
            <a:r>
              <a:rPr lang="en-US" b="0" dirty="0">
                <a:solidFill>
                  <a:schemeClr val="tx1">
                    <a:lumMod val="85000"/>
                    <a:lumOff val="15000"/>
                  </a:schemeClr>
                </a:solidFill>
                <a:effectLst/>
                <a:latin typeface="Monaco, Menlo,  Ubuntu Mono"/>
              </a:rPr>
              <a:t>/=4;</a:t>
            </a:r>
          </a:p>
          <a:p>
            <a:pPr marL="0" indent="0">
              <a:buNone/>
            </a:pPr>
            <a:r>
              <a:rPr lang="en-US" b="0" dirty="0">
                <a:solidFill>
                  <a:schemeClr val="tx1">
                    <a:lumMod val="85000"/>
                    <a:lumOff val="15000"/>
                  </a:schemeClr>
                </a:solidFill>
                <a:effectLst/>
                <a:latin typeface="Monaco, Menlo,  Ubuntu Mono"/>
              </a:rPr>
              <a:t/>
            </a:r>
            <a:br>
              <a:rPr lang="en-US" b="0" dirty="0">
                <a:solidFill>
                  <a:schemeClr val="tx1">
                    <a:lumMod val="85000"/>
                    <a:lumOff val="15000"/>
                  </a:schemeClr>
                </a:solidFill>
                <a:effectLst/>
                <a:latin typeface="Monaco, Menlo,  Ubuntu Mono"/>
              </a:rPr>
            </a:br>
            <a:r>
              <a:rPr lang="en-US" b="0" dirty="0">
                <a:solidFill>
                  <a:schemeClr val="tx1">
                    <a:lumMod val="85000"/>
                    <a:lumOff val="15000"/>
                  </a:schemeClr>
                </a:solidFill>
                <a:effectLst/>
                <a:latin typeface="Monaco, Menlo,  Ubuntu Mono"/>
              </a:rPr>
              <a:t>// These console.log() statements below will help you check the values of the variables.</a:t>
            </a:r>
          </a:p>
          <a:p>
            <a:pPr marL="0" indent="0">
              <a:buNone/>
            </a:pPr>
            <a:r>
              <a:rPr lang="en-US" b="0" dirty="0">
                <a:solidFill>
                  <a:schemeClr val="tx1">
                    <a:lumMod val="85000"/>
                    <a:lumOff val="15000"/>
                  </a:schemeClr>
                </a:solidFill>
                <a:effectLst/>
                <a:latin typeface="Monaco, Menlo,  Ubuntu Mono"/>
              </a:rPr>
              <a:t>// You do not need to edit these statements. </a:t>
            </a:r>
          </a:p>
          <a:p>
            <a:pPr marL="0" indent="0">
              <a:buNone/>
            </a:pPr>
            <a:r>
              <a:rPr lang="en-US" b="0" dirty="0">
                <a:solidFill>
                  <a:schemeClr val="tx1">
                    <a:lumMod val="85000"/>
                    <a:lumOff val="15000"/>
                  </a:schemeClr>
                </a:solidFill>
                <a:effectLst/>
                <a:latin typeface="Monaco, Menlo,  Ubuntu Mono"/>
              </a:rPr>
              <a:t>console.log('The value of </a:t>
            </a:r>
            <a:r>
              <a:rPr lang="en-US" b="0" dirty="0" err="1">
                <a:solidFill>
                  <a:schemeClr val="tx1">
                    <a:lumMod val="85000"/>
                    <a:lumOff val="15000"/>
                  </a:schemeClr>
                </a:solidFill>
                <a:effectLst/>
                <a:latin typeface="Monaco, Menlo,  Ubuntu Mono"/>
              </a:rPr>
              <a:t>levelUp</a:t>
            </a:r>
            <a:r>
              <a:rPr lang="en-US" b="0" dirty="0">
                <a:solidFill>
                  <a:schemeClr val="tx1">
                    <a:lumMod val="85000"/>
                    <a:lumOff val="15000"/>
                  </a:schemeClr>
                </a:solidFill>
                <a:effectLst/>
                <a:latin typeface="Monaco, Menlo,  Ubuntu Mono"/>
              </a:rPr>
              <a:t>:', </a:t>
            </a:r>
            <a:r>
              <a:rPr lang="en-US" b="0" dirty="0" err="1">
                <a:solidFill>
                  <a:schemeClr val="tx1">
                    <a:lumMod val="85000"/>
                    <a:lumOff val="15000"/>
                  </a:schemeClr>
                </a:solidFill>
                <a:effectLst/>
                <a:latin typeface="Monaco, Menlo,  Ubuntu Mono"/>
              </a:rPr>
              <a:t>levelUp</a:t>
            </a:r>
            <a:r>
              <a:rPr lang="en-US" b="0" dirty="0">
                <a:solidFill>
                  <a:schemeClr val="tx1">
                    <a:lumMod val="85000"/>
                    <a:lumOff val="15000"/>
                  </a:schemeClr>
                </a:solidFill>
                <a:effectLst/>
                <a:latin typeface="Monaco, Menlo,  Ubuntu Mono"/>
              </a:rPr>
              <a:t>); </a:t>
            </a:r>
          </a:p>
          <a:p>
            <a:pPr marL="0" indent="0">
              <a:buNone/>
            </a:pPr>
            <a:r>
              <a:rPr lang="en-US" b="0" dirty="0">
                <a:solidFill>
                  <a:schemeClr val="tx1">
                    <a:lumMod val="85000"/>
                    <a:lumOff val="15000"/>
                  </a:schemeClr>
                </a:solidFill>
                <a:effectLst/>
                <a:latin typeface="Monaco, Menlo,  Ubuntu Mono"/>
              </a:rPr>
              <a:t>console.log('The value of </a:t>
            </a:r>
            <a:r>
              <a:rPr lang="en-US" b="0" dirty="0" err="1">
                <a:solidFill>
                  <a:schemeClr val="tx1">
                    <a:lumMod val="85000"/>
                    <a:lumOff val="15000"/>
                  </a:schemeClr>
                </a:solidFill>
                <a:effectLst/>
                <a:latin typeface="Monaco, Menlo,  Ubuntu Mono"/>
              </a:rPr>
              <a:t>powerLevel</a:t>
            </a:r>
            <a:r>
              <a:rPr lang="en-US" b="0" dirty="0">
                <a:solidFill>
                  <a:schemeClr val="tx1">
                    <a:lumMod val="85000"/>
                    <a:lumOff val="15000"/>
                  </a:schemeClr>
                </a:solidFill>
                <a:effectLst/>
                <a:latin typeface="Monaco, Menlo,  Ubuntu Mono"/>
              </a:rPr>
              <a:t>:', </a:t>
            </a:r>
            <a:r>
              <a:rPr lang="en-US" b="0" dirty="0" err="1">
                <a:solidFill>
                  <a:schemeClr val="tx1">
                    <a:lumMod val="85000"/>
                    <a:lumOff val="15000"/>
                  </a:schemeClr>
                </a:solidFill>
                <a:effectLst/>
                <a:latin typeface="Monaco, Menlo,  Ubuntu Mono"/>
              </a:rPr>
              <a:t>powerLevel</a:t>
            </a:r>
            <a:r>
              <a:rPr lang="en-US" b="0" dirty="0">
                <a:solidFill>
                  <a:schemeClr val="tx1">
                    <a:lumMod val="85000"/>
                    <a:lumOff val="15000"/>
                  </a:schemeClr>
                </a:solidFill>
                <a:effectLst/>
                <a:latin typeface="Monaco, Menlo,  Ubuntu Mono"/>
              </a:rPr>
              <a:t>); </a:t>
            </a:r>
          </a:p>
          <a:p>
            <a:pPr marL="0" indent="0">
              <a:buNone/>
            </a:pPr>
            <a:r>
              <a:rPr lang="en-US" b="0" dirty="0">
                <a:solidFill>
                  <a:schemeClr val="tx1">
                    <a:lumMod val="85000"/>
                    <a:lumOff val="15000"/>
                  </a:schemeClr>
                </a:solidFill>
                <a:effectLst/>
                <a:latin typeface="Monaco, Menlo,  Ubuntu Mono"/>
              </a:rPr>
              <a:t>console.log('The value of </a:t>
            </a:r>
            <a:r>
              <a:rPr lang="en-US" b="0" dirty="0" err="1">
                <a:solidFill>
                  <a:schemeClr val="tx1">
                    <a:lumMod val="85000"/>
                    <a:lumOff val="15000"/>
                  </a:schemeClr>
                </a:solidFill>
                <a:effectLst/>
                <a:latin typeface="Monaco, Menlo,  Ubuntu Mono"/>
              </a:rPr>
              <a:t>multiplyMe</a:t>
            </a:r>
            <a:r>
              <a:rPr lang="en-US" b="0" dirty="0">
                <a:solidFill>
                  <a:schemeClr val="tx1">
                    <a:lumMod val="85000"/>
                    <a:lumOff val="15000"/>
                  </a:schemeClr>
                </a:solidFill>
                <a:effectLst/>
                <a:latin typeface="Monaco, Menlo,  Ubuntu Mono"/>
              </a:rPr>
              <a:t>:', </a:t>
            </a:r>
            <a:r>
              <a:rPr lang="en-US" b="0" dirty="0" err="1">
                <a:solidFill>
                  <a:schemeClr val="tx1">
                    <a:lumMod val="85000"/>
                    <a:lumOff val="15000"/>
                  </a:schemeClr>
                </a:solidFill>
                <a:effectLst/>
                <a:latin typeface="Monaco, Menlo,  Ubuntu Mono"/>
              </a:rPr>
              <a:t>multiplyMe</a:t>
            </a:r>
            <a:r>
              <a:rPr lang="en-US" b="0" dirty="0">
                <a:solidFill>
                  <a:schemeClr val="tx1">
                    <a:lumMod val="85000"/>
                    <a:lumOff val="15000"/>
                  </a:schemeClr>
                </a:solidFill>
                <a:effectLst/>
                <a:latin typeface="Monaco, Menlo,  Ubuntu Mono"/>
              </a:rPr>
              <a:t>); </a:t>
            </a:r>
          </a:p>
          <a:p>
            <a:pPr marL="0" indent="0">
              <a:buNone/>
            </a:pPr>
            <a:r>
              <a:rPr lang="en-US" b="0" dirty="0">
                <a:solidFill>
                  <a:schemeClr val="tx1">
                    <a:lumMod val="85000"/>
                    <a:lumOff val="15000"/>
                  </a:schemeClr>
                </a:solidFill>
                <a:effectLst/>
                <a:latin typeface="Monaco, Menlo,  Ubuntu Mono"/>
              </a:rPr>
              <a:t>console.log('The value of </a:t>
            </a:r>
            <a:r>
              <a:rPr lang="en-US" b="0" dirty="0" err="1">
                <a:solidFill>
                  <a:schemeClr val="tx1">
                    <a:lumMod val="85000"/>
                    <a:lumOff val="15000"/>
                  </a:schemeClr>
                </a:solidFill>
                <a:effectLst/>
                <a:latin typeface="Monaco, Menlo,  Ubuntu Mono"/>
              </a:rPr>
              <a:t>quarterMe</a:t>
            </a:r>
            <a:r>
              <a:rPr lang="en-US" b="0" dirty="0">
                <a:solidFill>
                  <a:schemeClr val="tx1">
                    <a:lumMod val="85000"/>
                    <a:lumOff val="15000"/>
                  </a:schemeClr>
                </a:solidFill>
                <a:effectLst/>
                <a:latin typeface="Monaco, Menlo,  Ubuntu Mono"/>
              </a:rPr>
              <a:t>:', </a:t>
            </a:r>
            <a:r>
              <a:rPr lang="en-US" b="0" dirty="0" err="1">
                <a:solidFill>
                  <a:schemeClr val="tx1">
                    <a:lumMod val="85000"/>
                    <a:lumOff val="15000"/>
                  </a:schemeClr>
                </a:solidFill>
                <a:effectLst/>
                <a:latin typeface="Monaco, Menlo,  Ubuntu Mono"/>
              </a:rPr>
              <a:t>quarterMe</a:t>
            </a:r>
            <a:r>
              <a:rPr lang="en-US" b="0" dirty="0">
                <a:solidFill>
                  <a:schemeClr val="tx1">
                    <a:lumMod val="85000"/>
                    <a:lumOff val="15000"/>
                  </a:schemeClr>
                </a:solidFill>
                <a:effectLst/>
                <a:latin typeface="Monaco, Menlo,  Ubuntu Mono"/>
              </a:rPr>
              <a:t>);</a:t>
            </a:r>
          </a:p>
        </p:txBody>
      </p:sp>
    </p:spTree>
    <p:extLst>
      <p:ext uri="{BB962C8B-B14F-4D97-AF65-F5344CB8AC3E}">
        <p14:creationId xmlns:p14="http://schemas.microsoft.com/office/powerpoint/2010/main" val="362252543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9E16D-0F01-2F30-1048-2DEB09F3DF09}"/>
              </a:ext>
            </a:extLst>
          </p:cNvPr>
          <p:cNvSpPr>
            <a:spLocks noGrp="1"/>
          </p:cNvSpPr>
          <p:nvPr>
            <p:ph type="title"/>
          </p:nvPr>
        </p:nvSpPr>
        <p:spPr/>
        <p:txBody>
          <a:bodyPr/>
          <a:lstStyle/>
          <a:p>
            <a:r>
              <a:rPr lang="en-IN" dirty="0"/>
              <a:t>String Concatenation</a:t>
            </a:r>
          </a:p>
        </p:txBody>
      </p:sp>
      <p:sp>
        <p:nvSpPr>
          <p:cNvPr id="3" name="Content Placeholder 2">
            <a:extLst>
              <a:ext uri="{FF2B5EF4-FFF2-40B4-BE49-F238E27FC236}">
                <a16:creationId xmlns:a16="http://schemas.microsoft.com/office/drawing/2014/main" id="{67C3BE07-E916-9F02-1267-7D98113A6BDB}"/>
              </a:ext>
            </a:extLst>
          </p:cNvPr>
          <p:cNvSpPr>
            <a:spLocks noGrp="1"/>
          </p:cNvSpPr>
          <p:nvPr>
            <p:ph idx="1"/>
          </p:nvPr>
        </p:nvSpPr>
        <p:spPr/>
        <p:txBody>
          <a:bodyPr/>
          <a:lstStyle/>
          <a:p>
            <a:r>
              <a:rPr lang="en-US" b="1" dirty="0">
                <a:solidFill>
                  <a:schemeClr val="tx1">
                    <a:lumMod val="85000"/>
                    <a:lumOff val="15000"/>
                  </a:schemeClr>
                </a:solidFill>
              </a:rPr>
              <a:t>Operators aren’t just for numbers! When a + operator is used on two strings, it appends the right string to the left string:</a:t>
            </a:r>
          </a:p>
          <a:p>
            <a:pPr marL="534988" indent="0">
              <a:buNone/>
            </a:pPr>
            <a:r>
              <a:rPr lang="en-IN" sz="2000" b="1" i="0" dirty="0">
                <a:solidFill>
                  <a:schemeClr val="tx1">
                    <a:lumMod val="85000"/>
                    <a:lumOff val="15000"/>
                  </a:schemeClr>
                </a:solidFill>
                <a:effectLst/>
                <a:latin typeface="Monaco"/>
              </a:rPr>
              <a:t>console.log('hi' + </a:t>
            </a:r>
            <a:r>
              <a:rPr lang="en-IN" sz="2000" b="1" i="0" dirty="0" smtClean="0">
                <a:solidFill>
                  <a:schemeClr val="tx1">
                    <a:lumMod val="85000"/>
                    <a:lumOff val="15000"/>
                  </a:schemeClr>
                </a:solidFill>
                <a:effectLst/>
                <a:latin typeface="Monaco"/>
              </a:rPr>
              <a:t>‘ Riya</a:t>
            </a:r>
            <a:r>
              <a:rPr lang="en-IN" sz="2000" b="1" i="0" dirty="0">
                <a:solidFill>
                  <a:schemeClr val="tx1">
                    <a:lumMod val="85000"/>
                    <a:lumOff val="15000"/>
                  </a:schemeClr>
                </a:solidFill>
                <a:effectLst/>
                <a:latin typeface="Monaco"/>
              </a:rPr>
              <a:t>'); // Prints </a:t>
            </a:r>
            <a:r>
              <a:rPr lang="en-IN" sz="2000" b="1" i="0" dirty="0" smtClean="0">
                <a:solidFill>
                  <a:schemeClr val="tx1">
                    <a:lumMod val="85000"/>
                    <a:lumOff val="15000"/>
                  </a:schemeClr>
                </a:solidFill>
                <a:effectLst/>
                <a:latin typeface="Monaco"/>
              </a:rPr>
              <a:t>'hi Riya</a:t>
            </a:r>
            <a:r>
              <a:rPr lang="en-IN" sz="2000" b="1" i="0" dirty="0">
                <a:solidFill>
                  <a:schemeClr val="tx1">
                    <a:lumMod val="85000"/>
                    <a:lumOff val="15000"/>
                  </a:schemeClr>
                </a:solidFill>
                <a:effectLst/>
                <a:latin typeface="Monaco"/>
              </a:rPr>
              <a:t>'</a:t>
            </a:r>
            <a:r>
              <a:rPr lang="en-IN" sz="2000" b="1" dirty="0">
                <a:solidFill>
                  <a:schemeClr val="tx1">
                    <a:lumMod val="85000"/>
                    <a:lumOff val="15000"/>
                  </a:schemeClr>
                </a:solidFill>
              </a:rPr>
              <a:t/>
            </a:r>
            <a:br>
              <a:rPr lang="en-IN" sz="2000" b="1" dirty="0">
                <a:solidFill>
                  <a:schemeClr val="tx1">
                    <a:lumMod val="85000"/>
                    <a:lumOff val="15000"/>
                  </a:schemeClr>
                </a:solidFill>
              </a:rPr>
            </a:br>
            <a:r>
              <a:rPr lang="en-IN" sz="2000" b="1" i="0" dirty="0">
                <a:solidFill>
                  <a:schemeClr val="tx1">
                    <a:lumMod val="85000"/>
                    <a:lumOff val="15000"/>
                  </a:schemeClr>
                </a:solidFill>
                <a:effectLst/>
                <a:latin typeface="Monaco"/>
              </a:rPr>
              <a:t>console.log('wo' + 'ah'); // Prints 'woah'</a:t>
            </a:r>
            <a:r>
              <a:rPr lang="en-IN" sz="2000" b="1" dirty="0">
                <a:solidFill>
                  <a:schemeClr val="tx1">
                    <a:lumMod val="85000"/>
                    <a:lumOff val="15000"/>
                  </a:schemeClr>
                </a:solidFill>
              </a:rPr>
              <a:t/>
            </a:r>
            <a:br>
              <a:rPr lang="en-IN" sz="2000" b="1" dirty="0">
                <a:solidFill>
                  <a:schemeClr val="tx1">
                    <a:lumMod val="85000"/>
                    <a:lumOff val="15000"/>
                  </a:schemeClr>
                </a:solidFill>
              </a:rPr>
            </a:br>
            <a:r>
              <a:rPr lang="en-IN" sz="2000" b="1" i="0" dirty="0">
                <a:solidFill>
                  <a:schemeClr val="tx1">
                    <a:lumMod val="85000"/>
                    <a:lumOff val="15000"/>
                  </a:schemeClr>
                </a:solidFill>
                <a:effectLst/>
                <a:latin typeface="Monaco"/>
              </a:rPr>
              <a:t>console.log('I love to ' + 'code.’)</a:t>
            </a:r>
          </a:p>
          <a:p>
            <a:pPr marL="534988" indent="0">
              <a:buNone/>
            </a:pPr>
            <a:r>
              <a:rPr lang="en-US" sz="2000" b="1" dirty="0">
                <a:solidFill>
                  <a:schemeClr val="tx1">
                    <a:lumMod val="85000"/>
                    <a:lumOff val="15000"/>
                  </a:schemeClr>
                </a:solidFill>
              </a:rPr>
              <a:t>let </a:t>
            </a:r>
            <a:r>
              <a:rPr lang="en-US" sz="2000" b="1" dirty="0" err="1">
                <a:solidFill>
                  <a:schemeClr val="tx1">
                    <a:lumMod val="85000"/>
                    <a:lumOff val="15000"/>
                  </a:schemeClr>
                </a:solidFill>
              </a:rPr>
              <a:t>myPet</a:t>
            </a:r>
            <a:r>
              <a:rPr lang="en-US" sz="2000" b="1" dirty="0">
                <a:solidFill>
                  <a:schemeClr val="tx1">
                    <a:lumMod val="85000"/>
                    <a:lumOff val="15000"/>
                  </a:schemeClr>
                </a:solidFill>
              </a:rPr>
              <a:t> = </a:t>
            </a:r>
            <a:r>
              <a:rPr lang="en-US" sz="2000" b="1" dirty="0" smtClean="0">
                <a:solidFill>
                  <a:schemeClr val="tx1">
                    <a:lumMod val="85000"/>
                    <a:lumOff val="15000"/>
                  </a:schemeClr>
                </a:solidFill>
              </a:rPr>
              <a:t>‘</a:t>
            </a:r>
            <a:r>
              <a:rPr lang="en-US" sz="2000" b="1" dirty="0" err="1" smtClean="0">
                <a:solidFill>
                  <a:schemeClr val="tx1">
                    <a:lumMod val="85000"/>
                    <a:lumOff val="15000"/>
                  </a:schemeClr>
                </a:solidFill>
              </a:rPr>
              <a:t>bruno</a:t>
            </a:r>
            <a:r>
              <a:rPr lang="en-US" sz="2000" b="1" dirty="0" smtClean="0">
                <a:solidFill>
                  <a:schemeClr val="tx1">
                    <a:lumMod val="85000"/>
                    <a:lumOff val="15000"/>
                  </a:schemeClr>
                </a:solidFill>
              </a:rPr>
              <a:t>';</a:t>
            </a:r>
            <a:endParaRPr lang="en-US" sz="2000" b="1" dirty="0">
              <a:solidFill>
                <a:schemeClr val="tx1">
                  <a:lumMod val="85000"/>
                  <a:lumOff val="15000"/>
                </a:schemeClr>
              </a:solidFill>
            </a:endParaRPr>
          </a:p>
          <a:p>
            <a:pPr marL="534988" indent="0">
              <a:buNone/>
            </a:pPr>
            <a:r>
              <a:rPr lang="en-US" sz="2000" b="1" dirty="0">
                <a:solidFill>
                  <a:schemeClr val="tx1">
                    <a:lumMod val="85000"/>
                    <a:lumOff val="15000"/>
                  </a:schemeClr>
                </a:solidFill>
              </a:rPr>
              <a:t>console.log('I own a pet ' + </a:t>
            </a:r>
            <a:r>
              <a:rPr lang="en-US" sz="2000" b="1" dirty="0" err="1">
                <a:solidFill>
                  <a:schemeClr val="tx1">
                    <a:lumMod val="85000"/>
                    <a:lumOff val="15000"/>
                  </a:schemeClr>
                </a:solidFill>
              </a:rPr>
              <a:t>myPet</a:t>
            </a:r>
            <a:r>
              <a:rPr lang="en-US" sz="2000" b="1" dirty="0">
                <a:solidFill>
                  <a:schemeClr val="tx1">
                    <a:lumMod val="85000"/>
                    <a:lumOff val="15000"/>
                  </a:schemeClr>
                </a:solidFill>
              </a:rPr>
              <a:t> + '.'); </a:t>
            </a:r>
          </a:p>
          <a:p>
            <a:r>
              <a:rPr lang="en-US" b="1" dirty="0">
                <a:solidFill>
                  <a:schemeClr val="tx1">
                    <a:lumMod val="85000"/>
                    <a:lumOff val="15000"/>
                  </a:schemeClr>
                </a:solidFill>
              </a:rPr>
              <a:t>This process of appending one string to another is called concatenation.</a:t>
            </a:r>
            <a:endParaRPr lang="en-IN" b="1" dirty="0">
              <a:solidFill>
                <a:schemeClr val="tx1">
                  <a:lumMod val="85000"/>
                  <a:lumOff val="15000"/>
                </a:schemeClr>
              </a:solidFill>
            </a:endParaRPr>
          </a:p>
        </p:txBody>
      </p:sp>
    </p:spTree>
    <p:extLst>
      <p:ext uri="{BB962C8B-B14F-4D97-AF65-F5344CB8AC3E}">
        <p14:creationId xmlns:p14="http://schemas.microsoft.com/office/powerpoint/2010/main" val="252809089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F8F15B-C6F9-ADD3-EF61-EC4E554129C6}"/>
              </a:ext>
            </a:extLst>
          </p:cNvPr>
          <p:cNvSpPr>
            <a:spLocks noGrp="1"/>
          </p:cNvSpPr>
          <p:nvPr>
            <p:ph type="title"/>
          </p:nvPr>
        </p:nvSpPr>
        <p:spPr/>
        <p:txBody>
          <a:bodyPr/>
          <a:lstStyle/>
          <a:p>
            <a:r>
              <a:rPr lang="en-IN" dirty="0"/>
              <a:t>String Interpolation</a:t>
            </a:r>
          </a:p>
        </p:txBody>
      </p:sp>
      <p:sp>
        <p:nvSpPr>
          <p:cNvPr id="3" name="Content Placeholder 2">
            <a:extLst>
              <a:ext uri="{FF2B5EF4-FFF2-40B4-BE49-F238E27FC236}">
                <a16:creationId xmlns:a16="http://schemas.microsoft.com/office/drawing/2014/main" id="{0CA34E3D-7366-92B2-F80E-FD0D071D7FB4}"/>
              </a:ext>
            </a:extLst>
          </p:cNvPr>
          <p:cNvSpPr>
            <a:spLocks noGrp="1"/>
          </p:cNvSpPr>
          <p:nvPr>
            <p:ph idx="1"/>
          </p:nvPr>
        </p:nvSpPr>
        <p:spPr>
          <a:xfrm>
            <a:off x="581192" y="2180496"/>
            <a:ext cx="11029615" cy="4200849"/>
          </a:xfrm>
        </p:spPr>
        <p:txBody>
          <a:bodyPr>
            <a:normAutofit lnSpcReduction="10000"/>
          </a:bodyPr>
          <a:lstStyle/>
          <a:p>
            <a:r>
              <a:rPr lang="en-US" b="0" i="0" dirty="0">
                <a:solidFill>
                  <a:srgbClr val="10162F"/>
                </a:solidFill>
                <a:effectLst/>
                <a:latin typeface="Apercu"/>
              </a:rPr>
              <a:t>In the ES6 version of JavaScript, we can insert, or </a:t>
            </a:r>
            <a:r>
              <a:rPr lang="en-US" b="0" i="1" dirty="0">
                <a:solidFill>
                  <a:srgbClr val="10162F"/>
                </a:solidFill>
                <a:effectLst/>
                <a:latin typeface="Apercu"/>
              </a:rPr>
              <a:t>interpolate</a:t>
            </a:r>
            <a:r>
              <a:rPr lang="en-US" b="0" i="0" dirty="0">
                <a:solidFill>
                  <a:srgbClr val="10162F"/>
                </a:solidFill>
                <a:effectLst/>
                <a:latin typeface="Apercu"/>
              </a:rPr>
              <a:t>, variables into strings using </a:t>
            </a:r>
            <a:r>
              <a:rPr lang="en-US" b="0" i="1" dirty="0">
                <a:solidFill>
                  <a:srgbClr val="10162F"/>
                </a:solidFill>
                <a:effectLst/>
                <a:latin typeface="Apercu"/>
              </a:rPr>
              <a:t>template literals</a:t>
            </a:r>
            <a:r>
              <a:rPr lang="en-US" b="0" i="0" dirty="0">
                <a:solidFill>
                  <a:srgbClr val="10162F"/>
                </a:solidFill>
                <a:effectLst/>
                <a:latin typeface="Apercu"/>
              </a:rPr>
              <a:t>. Check out the following example where a template literal is used to log strings together:</a:t>
            </a:r>
          </a:p>
          <a:p>
            <a:pPr marL="0" indent="0">
              <a:buNone/>
            </a:pPr>
            <a:r>
              <a:rPr lang="en-IN" b="0" i="0" dirty="0" err="1">
                <a:solidFill>
                  <a:srgbClr val="FF0000"/>
                </a:solidFill>
                <a:effectLst/>
                <a:latin typeface="Monaco"/>
              </a:rPr>
              <a:t>const</a:t>
            </a:r>
            <a:r>
              <a:rPr lang="en-IN" b="0" i="0" dirty="0">
                <a:solidFill>
                  <a:srgbClr val="FF0000"/>
                </a:solidFill>
                <a:effectLst/>
                <a:latin typeface="Monaco"/>
              </a:rPr>
              <a:t> </a:t>
            </a:r>
            <a:r>
              <a:rPr lang="en-IN" b="0" i="0" dirty="0" err="1">
                <a:solidFill>
                  <a:srgbClr val="FF0000"/>
                </a:solidFill>
                <a:effectLst/>
                <a:latin typeface="Monaco"/>
              </a:rPr>
              <a:t>myPet</a:t>
            </a:r>
            <a:r>
              <a:rPr lang="en-IN" b="0" i="0" dirty="0">
                <a:solidFill>
                  <a:srgbClr val="FF0000"/>
                </a:solidFill>
                <a:effectLst/>
                <a:latin typeface="Monaco"/>
              </a:rPr>
              <a:t> = </a:t>
            </a:r>
            <a:r>
              <a:rPr lang="en-IN" b="0" i="0" dirty="0" smtClean="0">
                <a:solidFill>
                  <a:srgbClr val="FF0000"/>
                </a:solidFill>
                <a:effectLst/>
                <a:latin typeface="Monaco"/>
              </a:rPr>
              <a:t>‘Bruno';</a:t>
            </a:r>
            <a:r>
              <a:rPr lang="en-IN" dirty="0">
                <a:solidFill>
                  <a:srgbClr val="FF0000"/>
                </a:solidFill>
              </a:rPr>
              <a:t/>
            </a:r>
            <a:br>
              <a:rPr lang="en-IN" dirty="0">
                <a:solidFill>
                  <a:srgbClr val="FF0000"/>
                </a:solidFill>
              </a:rPr>
            </a:br>
            <a:r>
              <a:rPr lang="en-IN" b="0" i="0" dirty="0">
                <a:solidFill>
                  <a:srgbClr val="FF0000"/>
                </a:solidFill>
                <a:effectLst/>
                <a:latin typeface="Monaco"/>
              </a:rPr>
              <a:t>console.log(`I own a pet ${</a:t>
            </a:r>
            <a:r>
              <a:rPr lang="en-IN" b="0" i="0" dirty="0" err="1">
                <a:solidFill>
                  <a:srgbClr val="FF0000"/>
                </a:solidFill>
                <a:effectLst/>
                <a:latin typeface="Monaco"/>
              </a:rPr>
              <a:t>myPet</a:t>
            </a:r>
            <a:r>
              <a:rPr lang="en-IN" b="0" i="0" dirty="0">
                <a:solidFill>
                  <a:srgbClr val="FF0000"/>
                </a:solidFill>
                <a:effectLst/>
                <a:latin typeface="Monaco"/>
              </a:rPr>
              <a:t>}.`);</a:t>
            </a:r>
            <a:r>
              <a:rPr lang="en-IN" dirty="0">
                <a:solidFill>
                  <a:srgbClr val="FF0000"/>
                </a:solidFill>
              </a:rPr>
              <a:t/>
            </a:r>
            <a:br>
              <a:rPr lang="en-IN" dirty="0">
                <a:solidFill>
                  <a:srgbClr val="FF0000"/>
                </a:solidFill>
              </a:rPr>
            </a:br>
            <a:r>
              <a:rPr lang="en-IN" b="0" i="0" dirty="0">
                <a:solidFill>
                  <a:srgbClr val="FF0000"/>
                </a:solidFill>
                <a:effectLst/>
                <a:latin typeface="Monaco"/>
              </a:rPr>
              <a:t>// Output: I own a pet </a:t>
            </a:r>
            <a:r>
              <a:rPr lang="en-IN" dirty="0">
                <a:solidFill>
                  <a:srgbClr val="FF0000"/>
                </a:solidFill>
                <a:latin typeface="Monaco"/>
              </a:rPr>
              <a:t>Bruno.</a:t>
            </a:r>
            <a:endParaRPr lang="en-US" dirty="0">
              <a:solidFill>
                <a:srgbClr val="FF0000"/>
              </a:solidFill>
              <a:latin typeface="Apercu"/>
            </a:endParaRPr>
          </a:p>
          <a:p>
            <a:r>
              <a:rPr lang="en-US" dirty="0"/>
              <a:t>a template literal is wrapped by backticks ` (this key is usually located on the top of your keyboard, left of the 1 key).</a:t>
            </a:r>
          </a:p>
          <a:p>
            <a:r>
              <a:rPr lang="en-US" dirty="0"/>
              <a:t>Inside the template literal, you’ll see a placeholder, ${</a:t>
            </a:r>
            <a:r>
              <a:rPr lang="en-US" dirty="0" err="1"/>
              <a:t>myPet</a:t>
            </a:r>
            <a:r>
              <a:rPr lang="en-US" dirty="0"/>
              <a:t>}. The value of </a:t>
            </a:r>
            <a:r>
              <a:rPr lang="en-US" dirty="0" err="1"/>
              <a:t>myPet</a:t>
            </a:r>
            <a:r>
              <a:rPr lang="en-US" dirty="0"/>
              <a:t> is inserted into the template literal.</a:t>
            </a:r>
          </a:p>
          <a:p>
            <a:r>
              <a:rPr lang="en-US" dirty="0"/>
              <a:t>When we interpolate `I own a pet ${</a:t>
            </a:r>
            <a:r>
              <a:rPr lang="en-US" dirty="0" err="1"/>
              <a:t>myPet</a:t>
            </a:r>
            <a:r>
              <a:rPr lang="en-US" dirty="0"/>
              <a:t>}.`, the output we print is the string: 'I own a pet armadillo.'</a:t>
            </a:r>
          </a:p>
          <a:p>
            <a:r>
              <a:rPr lang="en-US" dirty="0"/>
              <a:t>One of the biggest benefits to using template literals is the readability of the code. Using template literals, you can more easily tell what the new string will be. You also don’t have to worry about escaping double quotes or single quotes.</a:t>
            </a:r>
            <a:endParaRPr lang="en-IN" dirty="0"/>
          </a:p>
        </p:txBody>
      </p:sp>
    </p:spTree>
    <p:extLst>
      <p:ext uri="{BB962C8B-B14F-4D97-AF65-F5344CB8AC3E}">
        <p14:creationId xmlns:p14="http://schemas.microsoft.com/office/powerpoint/2010/main" val="420908067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4A66F1-54BA-14C7-9C0E-F84893670AAB}"/>
              </a:ext>
            </a:extLst>
          </p:cNvPr>
          <p:cNvSpPr>
            <a:spLocks noGrp="1"/>
          </p:cNvSpPr>
          <p:nvPr>
            <p:ph type="title"/>
          </p:nvPr>
        </p:nvSpPr>
        <p:spPr/>
        <p:txBody>
          <a:bodyPr/>
          <a:lstStyle/>
          <a:p>
            <a:r>
              <a:rPr lang="en-IN" dirty="0"/>
              <a:t>String Interpolation</a:t>
            </a:r>
          </a:p>
        </p:txBody>
      </p:sp>
      <p:sp>
        <p:nvSpPr>
          <p:cNvPr id="3" name="Content Placeholder 2">
            <a:extLst>
              <a:ext uri="{FF2B5EF4-FFF2-40B4-BE49-F238E27FC236}">
                <a16:creationId xmlns:a16="http://schemas.microsoft.com/office/drawing/2014/main" id="{7E0A8909-EE7E-1B94-9569-86033017FA70}"/>
              </a:ext>
            </a:extLst>
          </p:cNvPr>
          <p:cNvSpPr>
            <a:spLocks noGrp="1"/>
          </p:cNvSpPr>
          <p:nvPr>
            <p:ph idx="1"/>
          </p:nvPr>
        </p:nvSpPr>
        <p:spPr/>
        <p:txBody>
          <a:bodyPr/>
          <a:lstStyle/>
          <a:p>
            <a:r>
              <a:rPr lang="en-US" dirty="0"/>
              <a:t>A template literal is wrapped by backticks ` (this key is usually located on the top of your keyboard, left of the 1 key).</a:t>
            </a:r>
          </a:p>
          <a:p>
            <a:r>
              <a:rPr lang="en-US" dirty="0"/>
              <a:t>Inside the template literal, you’ll see a placeholder, ${</a:t>
            </a:r>
            <a:r>
              <a:rPr lang="en-US" dirty="0" err="1"/>
              <a:t>myPet</a:t>
            </a:r>
            <a:r>
              <a:rPr lang="en-US" dirty="0"/>
              <a:t>}. The value of </a:t>
            </a:r>
            <a:r>
              <a:rPr lang="en-US" dirty="0" err="1"/>
              <a:t>myPet</a:t>
            </a:r>
            <a:r>
              <a:rPr lang="en-US" dirty="0"/>
              <a:t> is inserted into the template literal.</a:t>
            </a:r>
          </a:p>
          <a:p>
            <a:r>
              <a:rPr lang="en-US" dirty="0"/>
              <a:t>When we interpolate `I own a pet ${</a:t>
            </a:r>
            <a:r>
              <a:rPr lang="en-US" dirty="0" err="1"/>
              <a:t>myPet</a:t>
            </a:r>
            <a:r>
              <a:rPr lang="en-US" dirty="0"/>
              <a:t>}.`, the output we print is the string: 'I own a pet armadillo.'</a:t>
            </a:r>
          </a:p>
          <a:p>
            <a:r>
              <a:rPr lang="en-US" dirty="0"/>
              <a:t>One of the biggest benefits to using template literals is the readability of the code. Using template literals, you can more easily tell what the new string will be. You also don’t have to worry about escaping double quotes or single quotes.</a:t>
            </a:r>
            <a:endParaRPr lang="en-IN" dirty="0"/>
          </a:p>
        </p:txBody>
      </p:sp>
    </p:spTree>
    <p:extLst>
      <p:ext uri="{BB962C8B-B14F-4D97-AF65-F5344CB8AC3E}">
        <p14:creationId xmlns:p14="http://schemas.microsoft.com/office/powerpoint/2010/main" val="90558103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ADEAAE-9D7B-E22A-F54C-209DFEB752EC}"/>
              </a:ext>
            </a:extLst>
          </p:cNvPr>
          <p:cNvSpPr>
            <a:spLocks noGrp="1"/>
          </p:cNvSpPr>
          <p:nvPr>
            <p:ph type="title"/>
          </p:nvPr>
        </p:nvSpPr>
        <p:spPr/>
        <p:txBody>
          <a:bodyPr/>
          <a:lstStyle/>
          <a:p>
            <a:r>
              <a:rPr lang="en-IN" dirty="0"/>
              <a:t>Properties</a:t>
            </a:r>
          </a:p>
        </p:txBody>
      </p:sp>
      <p:sp>
        <p:nvSpPr>
          <p:cNvPr id="3" name="Content Placeholder 2">
            <a:extLst>
              <a:ext uri="{FF2B5EF4-FFF2-40B4-BE49-F238E27FC236}">
                <a16:creationId xmlns:a16="http://schemas.microsoft.com/office/drawing/2014/main" id="{0243437D-DDA1-68CE-0A2D-3200FE6B772E}"/>
              </a:ext>
            </a:extLst>
          </p:cNvPr>
          <p:cNvSpPr>
            <a:spLocks noGrp="1"/>
          </p:cNvSpPr>
          <p:nvPr>
            <p:ph idx="1"/>
          </p:nvPr>
        </p:nvSpPr>
        <p:spPr>
          <a:xfrm>
            <a:off x="503371" y="2190223"/>
            <a:ext cx="11029615" cy="3678303"/>
          </a:xfrm>
        </p:spPr>
        <p:txBody>
          <a:bodyPr/>
          <a:lstStyle/>
          <a:p>
            <a:pPr algn="just"/>
            <a:r>
              <a:rPr lang="en-US" dirty="0">
                <a:solidFill>
                  <a:schemeClr val="tx1">
                    <a:lumMod val="85000"/>
                    <a:lumOff val="15000"/>
                  </a:schemeClr>
                </a:solidFill>
              </a:rPr>
              <a:t>When you introduce a new piece of data into a JavaScript program, the browser saves it as an instance of the data type. All data types have access to specific properties that are passed down to each instance. For example, every string instance has a property called length that stores the number of characters in that string. You can retrieve property information by appending the string with a period and the property name:</a:t>
            </a:r>
          </a:p>
          <a:p>
            <a:pPr marL="0" indent="0" algn="just">
              <a:buNone/>
            </a:pPr>
            <a:r>
              <a:rPr lang="en-US" b="0" i="0" dirty="0">
                <a:solidFill>
                  <a:schemeClr val="tx1">
                    <a:lumMod val="85000"/>
                    <a:lumOff val="15000"/>
                  </a:schemeClr>
                </a:solidFill>
                <a:effectLst/>
                <a:latin typeface="Monaco"/>
              </a:rPr>
              <a:t>         </a:t>
            </a:r>
            <a:r>
              <a:rPr lang="en-US" sz="2000" b="0" i="0" dirty="0">
                <a:solidFill>
                  <a:srgbClr val="FF0000"/>
                </a:solidFill>
                <a:effectLst/>
                <a:latin typeface="Monaco"/>
              </a:rPr>
              <a:t>console.log('</a:t>
            </a:r>
            <a:r>
              <a:rPr lang="en-US" sz="2000" b="0" i="0" dirty="0" err="1">
                <a:solidFill>
                  <a:srgbClr val="FF0000"/>
                </a:solidFill>
                <a:effectLst/>
                <a:latin typeface="Monaco"/>
              </a:rPr>
              <a:t>Hello'.length</a:t>
            </a:r>
            <a:r>
              <a:rPr lang="en-US" sz="2000" b="0" i="0" dirty="0">
                <a:solidFill>
                  <a:srgbClr val="FF0000"/>
                </a:solidFill>
                <a:effectLst/>
                <a:latin typeface="Monaco"/>
              </a:rPr>
              <a:t>); // Prints 5</a:t>
            </a:r>
            <a:endParaRPr lang="en-US" b="0" i="0" dirty="0">
              <a:solidFill>
                <a:srgbClr val="FF0000"/>
              </a:solidFill>
              <a:effectLst/>
              <a:latin typeface="Monaco"/>
            </a:endParaRPr>
          </a:p>
          <a:p>
            <a:pPr algn="just"/>
            <a:r>
              <a:rPr lang="en-US" dirty="0">
                <a:solidFill>
                  <a:schemeClr val="tx1">
                    <a:lumMod val="85000"/>
                    <a:lumOff val="15000"/>
                  </a:schemeClr>
                </a:solidFill>
              </a:rPr>
              <a:t>The . is another operator! We call it the dot operator.</a:t>
            </a:r>
          </a:p>
          <a:p>
            <a:pPr algn="just"/>
            <a:r>
              <a:rPr lang="en-US" dirty="0">
                <a:solidFill>
                  <a:schemeClr val="tx1">
                    <a:lumMod val="85000"/>
                    <a:lumOff val="15000"/>
                  </a:schemeClr>
                </a:solidFill>
              </a:rPr>
              <a:t>In the example above, the value saved to the length property is retrieved from the instance of the string, 'Hello'. The program prints 5 to the console, because Hello has five characters in it.</a:t>
            </a:r>
            <a:endParaRPr lang="en-IN" dirty="0">
              <a:solidFill>
                <a:schemeClr val="tx1">
                  <a:lumMod val="85000"/>
                  <a:lumOff val="15000"/>
                </a:schemeClr>
              </a:solidFill>
            </a:endParaRPr>
          </a:p>
        </p:txBody>
      </p:sp>
    </p:spTree>
    <p:extLst>
      <p:ext uri="{BB962C8B-B14F-4D97-AF65-F5344CB8AC3E}">
        <p14:creationId xmlns:p14="http://schemas.microsoft.com/office/powerpoint/2010/main" val="343894060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79B7B-C1A8-996D-D06A-5FFFAE5A6A15}"/>
              </a:ext>
            </a:extLst>
          </p:cNvPr>
          <p:cNvSpPr>
            <a:spLocks noGrp="1"/>
          </p:cNvSpPr>
          <p:nvPr>
            <p:ph type="title"/>
          </p:nvPr>
        </p:nvSpPr>
        <p:spPr/>
        <p:txBody>
          <a:bodyPr/>
          <a:lstStyle/>
          <a:p>
            <a:r>
              <a:rPr lang="en-IN" dirty="0" err="1"/>
              <a:t>t</a:t>
            </a:r>
            <a:r>
              <a:rPr lang="en-IN" cap="none" dirty="0" err="1"/>
              <a:t>ype</a:t>
            </a:r>
            <a:r>
              <a:rPr lang="en-IN" dirty="0" err="1"/>
              <a:t>o</a:t>
            </a:r>
            <a:r>
              <a:rPr lang="en-IN" cap="none" dirty="0" err="1"/>
              <a:t>f</a:t>
            </a:r>
            <a:r>
              <a:rPr lang="en-IN" dirty="0"/>
              <a:t> operator</a:t>
            </a:r>
          </a:p>
        </p:txBody>
      </p:sp>
      <p:sp>
        <p:nvSpPr>
          <p:cNvPr id="3" name="Content Placeholder 2">
            <a:extLst>
              <a:ext uri="{FF2B5EF4-FFF2-40B4-BE49-F238E27FC236}">
                <a16:creationId xmlns:a16="http://schemas.microsoft.com/office/drawing/2014/main" id="{0A61610E-5D67-A7EE-229B-5E5BEB2F8C72}"/>
              </a:ext>
            </a:extLst>
          </p:cNvPr>
          <p:cNvSpPr>
            <a:spLocks noGrp="1"/>
          </p:cNvSpPr>
          <p:nvPr>
            <p:ph idx="1"/>
          </p:nvPr>
        </p:nvSpPr>
        <p:spPr/>
        <p:txBody>
          <a:bodyPr/>
          <a:lstStyle/>
          <a:p>
            <a:r>
              <a:rPr lang="en-US" dirty="0"/>
              <a:t>While writing code, it can be useful to keep track of the data types of the variables in your program. If you need to check the data type of a variable’s value, you can use the </a:t>
            </a:r>
            <a:r>
              <a:rPr lang="en-US" dirty="0" err="1"/>
              <a:t>typeof</a:t>
            </a:r>
            <a:r>
              <a:rPr lang="en-US" dirty="0"/>
              <a:t> operator.</a:t>
            </a:r>
          </a:p>
          <a:p>
            <a:r>
              <a:rPr lang="en-US" dirty="0"/>
              <a:t>The </a:t>
            </a:r>
            <a:r>
              <a:rPr lang="en-US" dirty="0" err="1"/>
              <a:t>typeof</a:t>
            </a:r>
            <a:r>
              <a:rPr lang="en-US" dirty="0"/>
              <a:t> operator checks the value to its right and returns, or passes back, a string of the data type.</a:t>
            </a:r>
          </a:p>
          <a:p>
            <a:pPr marL="0" indent="0">
              <a:buNone/>
            </a:pPr>
            <a:r>
              <a:rPr lang="en-IN" b="0" i="0" dirty="0" err="1">
                <a:solidFill>
                  <a:srgbClr val="FF0000"/>
                </a:solidFill>
                <a:effectLst/>
                <a:latin typeface="Monaco"/>
              </a:rPr>
              <a:t>const</a:t>
            </a:r>
            <a:r>
              <a:rPr lang="en-IN" b="0" i="0" dirty="0">
                <a:solidFill>
                  <a:srgbClr val="FF0000"/>
                </a:solidFill>
                <a:effectLst/>
                <a:latin typeface="Monaco"/>
              </a:rPr>
              <a:t> unknown1 = ’Arpita';</a:t>
            </a:r>
            <a:r>
              <a:rPr lang="en-IN" dirty="0">
                <a:solidFill>
                  <a:srgbClr val="FF0000"/>
                </a:solidFill>
              </a:rPr>
              <a:t/>
            </a:r>
            <a:br>
              <a:rPr lang="en-IN" dirty="0">
                <a:solidFill>
                  <a:srgbClr val="FF0000"/>
                </a:solidFill>
              </a:rPr>
            </a:br>
            <a:r>
              <a:rPr lang="en-IN" b="0" i="0" dirty="0">
                <a:solidFill>
                  <a:srgbClr val="FF0000"/>
                </a:solidFill>
                <a:effectLst/>
                <a:latin typeface="Monaco"/>
              </a:rPr>
              <a:t>console.log(</a:t>
            </a:r>
            <a:r>
              <a:rPr lang="en-IN" b="0" i="0" dirty="0" err="1">
                <a:solidFill>
                  <a:srgbClr val="FF0000"/>
                </a:solidFill>
                <a:effectLst/>
                <a:latin typeface="Monaco"/>
              </a:rPr>
              <a:t>typeof</a:t>
            </a:r>
            <a:r>
              <a:rPr lang="en-IN" b="0" i="0" dirty="0">
                <a:solidFill>
                  <a:srgbClr val="FF0000"/>
                </a:solidFill>
                <a:effectLst/>
                <a:latin typeface="Monaco"/>
              </a:rPr>
              <a:t> unknown1); // Output: string</a:t>
            </a:r>
            <a:r>
              <a:rPr lang="en-IN" dirty="0">
                <a:solidFill>
                  <a:srgbClr val="FF0000"/>
                </a:solidFill>
              </a:rPr>
              <a:t/>
            </a:r>
            <a:br>
              <a:rPr lang="en-IN" dirty="0">
                <a:solidFill>
                  <a:srgbClr val="FF0000"/>
                </a:solidFill>
              </a:rPr>
            </a:br>
            <a:r>
              <a:rPr lang="en-IN" dirty="0">
                <a:solidFill>
                  <a:srgbClr val="FF0000"/>
                </a:solidFill>
              </a:rPr>
              <a:t/>
            </a:r>
            <a:br>
              <a:rPr lang="en-IN" dirty="0">
                <a:solidFill>
                  <a:srgbClr val="FF0000"/>
                </a:solidFill>
              </a:rPr>
            </a:br>
            <a:r>
              <a:rPr lang="en-IN" b="0" i="0" dirty="0" err="1">
                <a:solidFill>
                  <a:srgbClr val="FF0000"/>
                </a:solidFill>
                <a:effectLst/>
                <a:latin typeface="Monaco"/>
              </a:rPr>
              <a:t>const</a:t>
            </a:r>
            <a:r>
              <a:rPr lang="en-IN" b="0" i="0" dirty="0">
                <a:solidFill>
                  <a:srgbClr val="FF0000"/>
                </a:solidFill>
                <a:effectLst/>
                <a:latin typeface="Monaco"/>
              </a:rPr>
              <a:t> unknown2 = 10;</a:t>
            </a:r>
            <a:r>
              <a:rPr lang="en-IN" dirty="0">
                <a:solidFill>
                  <a:srgbClr val="FF0000"/>
                </a:solidFill>
              </a:rPr>
              <a:t/>
            </a:r>
            <a:br>
              <a:rPr lang="en-IN" dirty="0">
                <a:solidFill>
                  <a:srgbClr val="FF0000"/>
                </a:solidFill>
              </a:rPr>
            </a:br>
            <a:r>
              <a:rPr lang="en-IN" b="0" i="0" dirty="0">
                <a:solidFill>
                  <a:srgbClr val="FF0000"/>
                </a:solidFill>
                <a:effectLst/>
                <a:latin typeface="Monaco"/>
              </a:rPr>
              <a:t>console.log(</a:t>
            </a:r>
            <a:r>
              <a:rPr lang="en-IN" b="0" i="0" dirty="0" err="1">
                <a:solidFill>
                  <a:srgbClr val="FF0000"/>
                </a:solidFill>
                <a:effectLst/>
                <a:latin typeface="Monaco"/>
              </a:rPr>
              <a:t>typeof</a:t>
            </a:r>
            <a:r>
              <a:rPr lang="en-IN" b="0" i="0" dirty="0">
                <a:solidFill>
                  <a:srgbClr val="FF0000"/>
                </a:solidFill>
                <a:effectLst/>
                <a:latin typeface="Monaco"/>
              </a:rPr>
              <a:t> unknown2); // Output: number</a:t>
            </a:r>
            <a:r>
              <a:rPr lang="en-IN" dirty="0">
                <a:solidFill>
                  <a:srgbClr val="FF0000"/>
                </a:solidFill>
              </a:rPr>
              <a:t/>
            </a:r>
            <a:br>
              <a:rPr lang="en-IN" dirty="0">
                <a:solidFill>
                  <a:srgbClr val="FF0000"/>
                </a:solidFill>
              </a:rPr>
            </a:br>
            <a:r>
              <a:rPr lang="en-IN" dirty="0">
                <a:solidFill>
                  <a:srgbClr val="FF0000"/>
                </a:solidFill>
              </a:rPr>
              <a:t/>
            </a:r>
            <a:br>
              <a:rPr lang="en-IN" dirty="0">
                <a:solidFill>
                  <a:srgbClr val="FF0000"/>
                </a:solidFill>
              </a:rPr>
            </a:br>
            <a:r>
              <a:rPr lang="en-IN" b="0" i="0" dirty="0" err="1">
                <a:solidFill>
                  <a:srgbClr val="FF0000"/>
                </a:solidFill>
                <a:effectLst/>
                <a:latin typeface="Monaco"/>
              </a:rPr>
              <a:t>const</a:t>
            </a:r>
            <a:r>
              <a:rPr lang="en-IN" b="0" i="0" dirty="0">
                <a:solidFill>
                  <a:srgbClr val="FF0000"/>
                </a:solidFill>
                <a:effectLst/>
                <a:latin typeface="Monaco"/>
              </a:rPr>
              <a:t> unknown3 = true; </a:t>
            </a:r>
            <a:r>
              <a:rPr lang="en-IN" dirty="0">
                <a:solidFill>
                  <a:srgbClr val="FF0000"/>
                </a:solidFill>
              </a:rPr>
              <a:t/>
            </a:r>
            <a:br>
              <a:rPr lang="en-IN" dirty="0">
                <a:solidFill>
                  <a:srgbClr val="FF0000"/>
                </a:solidFill>
              </a:rPr>
            </a:br>
            <a:r>
              <a:rPr lang="en-IN" b="0" i="0" dirty="0">
                <a:solidFill>
                  <a:srgbClr val="FF0000"/>
                </a:solidFill>
                <a:effectLst/>
                <a:latin typeface="Monaco"/>
              </a:rPr>
              <a:t>console.log(</a:t>
            </a:r>
            <a:r>
              <a:rPr lang="en-IN" b="0" i="0" dirty="0" err="1">
                <a:solidFill>
                  <a:srgbClr val="FF0000"/>
                </a:solidFill>
                <a:effectLst/>
                <a:latin typeface="Monaco"/>
              </a:rPr>
              <a:t>typeof</a:t>
            </a:r>
            <a:r>
              <a:rPr lang="en-IN" b="0" i="0" dirty="0">
                <a:solidFill>
                  <a:srgbClr val="FF0000"/>
                </a:solidFill>
                <a:effectLst/>
                <a:latin typeface="Monaco"/>
              </a:rPr>
              <a:t> unknown3); // Output: </a:t>
            </a:r>
            <a:r>
              <a:rPr lang="en-IN" b="0" i="0" dirty="0" err="1">
                <a:solidFill>
                  <a:srgbClr val="FF0000"/>
                </a:solidFill>
                <a:effectLst/>
                <a:latin typeface="Monaco"/>
              </a:rPr>
              <a:t>boolean</a:t>
            </a:r>
            <a:endParaRPr lang="en-IN" dirty="0">
              <a:solidFill>
                <a:srgbClr val="FF0000"/>
              </a:solidFill>
            </a:endParaRPr>
          </a:p>
        </p:txBody>
      </p:sp>
    </p:spTree>
    <p:extLst>
      <p:ext uri="{BB962C8B-B14F-4D97-AF65-F5344CB8AC3E}">
        <p14:creationId xmlns:p14="http://schemas.microsoft.com/office/powerpoint/2010/main" val="151194499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0F3852-0EC0-61F8-AA66-5CC8204A309E}"/>
              </a:ext>
            </a:extLst>
          </p:cNvPr>
          <p:cNvSpPr>
            <a:spLocks noGrp="1"/>
          </p:cNvSpPr>
          <p:nvPr>
            <p:ph type="title"/>
          </p:nvPr>
        </p:nvSpPr>
        <p:spPr/>
        <p:txBody>
          <a:bodyPr/>
          <a:lstStyle/>
          <a:p>
            <a:r>
              <a:rPr lang="en-IN" dirty="0"/>
              <a:t>An Example</a:t>
            </a:r>
          </a:p>
        </p:txBody>
      </p:sp>
      <p:sp>
        <p:nvSpPr>
          <p:cNvPr id="3" name="Content Placeholder 2">
            <a:extLst>
              <a:ext uri="{FF2B5EF4-FFF2-40B4-BE49-F238E27FC236}">
                <a16:creationId xmlns:a16="http://schemas.microsoft.com/office/drawing/2014/main" id="{CC98F4EF-ED0A-597A-2274-10DA07043385}"/>
              </a:ext>
            </a:extLst>
          </p:cNvPr>
          <p:cNvSpPr>
            <a:spLocks noGrp="1"/>
          </p:cNvSpPr>
          <p:nvPr>
            <p:ph idx="1"/>
          </p:nvPr>
        </p:nvSpPr>
        <p:spPr/>
        <p:txBody>
          <a:bodyPr>
            <a:normAutofit fontScale="70000" lnSpcReduction="20000"/>
          </a:bodyPr>
          <a:lstStyle/>
          <a:p>
            <a:pPr marL="0" indent="0">
              <a:buNone/>
            </a:pPr>
            <a:r>
              <a:rPr lang="en-IN" b="0" dirty="0" err="1">
                <a:solidFill>
                  <a:srgbClr val="FF0000"/>
                </a:solidFill>
                <a:effectLst/>
                <a:latin typeface="Monaco, Menlo,  Ubuntu Mono"/>
              </a:rPr>
              <a:t>const</a:t>
            </a:r>
            <a:r>
              <a:rPr lang="en-IN" b="0" dirty="0">
                <a:solidFill>
                  <a:srgbClr val="FF0000"/>
                </a:solidFill>
                <a:effectLst/>
                <a:latin typeface="Monaco, Menlo,  Ubuntu Mono"/>
              </a:rPr>
              <a:t> kelvin=0;</a:t>
            </a:r>
          </a:p>
          <a:p>
            <a:pPr marL="0" indent="0">
              <a:buNone/>
            </a:pPr>
            <a:r>
              <a:rPr lang="en-IN" b="0" dirty="0">
                <a:solidFill>
                  <a:srgbClr val="FF0000"/>
                </a:solidFill>
                <a:effectLst/>
                <a:latin typeface="Monaco, Menlo,  Ubuntu Mono"/>
              </a:rPr>
              <a:t>//this is a constant type variable. </a:t>
            </a:r>
          </a:p>
          <a:p>
            <a:pPr marL="0" indent="0">
              <a:buNone/>
            </a:pPr>
            <a:r>
              <a:rPr lang="en-IN" b="0" dirty="0">
                <a:solidFill>
                  <a:srgbClr val="FF0000"/>
                </a:solidFill>
                <a:effectLst/>
                <a:latin typeface="Monaco, Menlo,  Ubuntu Mono"/>
              </a:rPr>
              <a:t>let </a:t>
            </a:r>
            <a:r>
              <a:rPr lang="en-IN" b="0" dirty="0" err="1">
                <a:solidFill>
                  <a:srgbClr val="FF0000"/>
                </a:solidFill>
                <a:effectLst/>
                <a:latin typeface="Monaco, Menlo,  Ubuntu Mono"/>
              </a:rPr>
              <a:t>celsius</a:t>
            </a:r>
            <a:r>
              <a:rPr lang="en-IN" b="0" dirty="0">
                <a:solidFill>
                  <a:srgbClr val="FF0000"/>
                </a:solidFill>
                <a:effectLst/>
                <a:latin typeface="Monaco, Menlo,  Ubuntu Mono"/>
              </a:rPr>
              <a:t>=kelvin-273;</a:t>
            </a:r>
          </a:p>
          <a:p>
            <a:pPr marL="0" indent="0">
              <a:buNone/>
            </a:pPr>
            <a:r>
              <a:rPr lang="en-IN" b="0" dirty="0">
                <a:solidFill>
                  <a:srgbClr val="FF0000"/>
                </a:solidFill>
                <a:effectLst/>
                <a:latin typeface="Monaco, Menlo,  Ubuntu Mono"/>
              </a:rPr>
              <a:t/>
            </a:r>
            <a:br>
              <a:rPr lang="en-IN" b="0" dirty="0">
                <a:solidFill>
                  <a:srgbClr val="FF0000"/>
                </a:solidFill>
                <a:effectLst/>
                <a:latin typeface="Monaco, Menlo,  Ubuntu Mono"/>
              </a:rPr>
            </a:br>
            <a:r>
              <a:rPr lang="en-IN" b="0" dirty="0">
                <a:solidFill>
                  <a:srgbClr val="FF0000"/>
                </a:solidFill>
                <a:effectLst/>
                <a:latin typeface="Monaco, Menlo,  Ubuntu Mono"/>
              </a:rPr>
              <a:t>// converted into </a:t>
            </a:r>
            <a:r>
              <a:rPr lang="en-IN" b="0" dirty="0" err="1">
                <a:solidFill>
                  <a:srgbClr val="FF0000"/>
                </a:solidFill>
                <a:effectLst/>
                <a:latin typeface="Monaco, Menlo,  Ubuntu Mono"/>
              </a:rPr>
              <a:t>celcius</a:t>
            </a:r>
            <a:r>
              <a:rPr lang="en-IN" b="0" dirty="0">
                <a:solidFill>
                  <a:srgbClr val="FF0000"/>
                </a:solidFill>
                <a:effectLst/>
                <a:latin typeface="Monaco, Menlo,  Ubuntu Mono"/>
              </a:rPr>
              <a:t>.</a:t>
            </a:r>
          </a:p>
          <a:p>
            <a:pPr marL="0" indent="0">
              <a:buNone/>
            </a:pPr>
            <a:r>
              <a:rPr lang="en-IN" b="0" dirty="0">
                <a:solidFill>
                  <a:srgbClr val="FF0000"/>
                </a:solidFill>
                <a:effectLst/>
                <a:latin typeface="Monaco, Menlo,  Ubuntu Mono"/>
              </a:rPr>
              <a:t>let </a:t>
            </a:r>
            <a:r>
              <a:rPr lang="en-IN" b="0" dirty="0" err="1">
                <a:solidFill>
                  <a:srgbClr val="FF0000"/>
                </a:solidFill>
                <a:effectLst/>
                <a:latin typeface="Monaco, Menlo,  Ubuntu Mono"/>
              </a:rPr>
              <a:t>fahrenheit</a:t>
            </a:r>
            <a:r>
              <a:rPr lang="en-IN" b="0" dirty="0">
                <a:solidFill>
                  <a:srgbClr val="FF0000"/>
                </a:solidFill>
                <a:effectLst/>
                <a:latin typeface="Monaco, Menlo,  Ubuntu Mono"/>
              </a:rPr>
              <a:t>= </a:t>
            </a:r>
            <a:r>
              <a:rPr lang="en-IN" b="0" dirty="0" err="1">
                <a:solidFill>
                  <a:srgbClr val="FF0000"/>
                </a:solidFill>
                <a:effectLst/>
                <a:latin typeface="Monaco, Menlo,  Ubuntu Mono"/>
              </a:rPr>
              <a:t>celsius</a:t>
            </a:r>
            <a:r>
              <a:rPr lang="en-IN" b="0" dirty="0">
                <a:solidFill>
                  <a:srgbClr val="FF0000"/>
                </a:solidFill>
                <a:effectLst/>
                <a:latin typeface="Monaco, Menlo,  Ubuntu Mono"/>
              </a:rPr>
              <a:t>*(9/5)+32;</a:t>
            </a:r>
          </a:p>
          <a:p>
            <a:pPr marL="0" indent="0">
              <a:buNone/>
            </a:pPr>
            <a:r>
              <a:rPr lang="en-IN" b="0" dirty="0">
                <a:solidFill>
                  <a:srgbClr val="FF0000"/>
                </a:solidFill>
                <a:effectLst/>
                <a:latin typeface="Monaco, Menlo,  Ubuntu Mono"/>
              </a:rPr>
              <a:t>// converted into F.</a:t>
            </a:r>
          </a:p>
          <a:p>
            <a:pPr marL="0" indent="0">
              <a:buNone/>
            </a:pPr>
            <a:r>
              <a:rPr lang="en-IN" b="0" dirty="0" err="1">
                <a:solidFill>
                  <a:srgbClr val="FF0000"/>
                </a:solidFill>
                <a:effectLst/>
                <a:latin typeface="Monaco, Menlo,  Ubuntu Mono"/>
              </a:rPr>
              <a:t>fahrenheit</a:t>
            </a:r>
            <a:r>
              <a:rPr lang="en-IN" b="0" dirty="0">
                <a:solidFill>
                  <a:srgbClr val="FF0000"/>
                </a:solidFill>
                <a:effectLst/>
                <a:latin typeface="Monaco, Menlo,  Ubuntu Mono"/>
              </a:rPr>
              <a:t>=</a:t>
            </a:r>
            <a:r>
              <a:rPr lang="en-IN" b="0" dirty="0" err="1">
                <a:solidFill>
                  <a:srgbClr val="FF0000"/>
                </a:solidFill>
                <a:effectLst/>
                <a:latin typeface="Monaco, Menlo,  Ubuntu Mono"/>
              </a:rPr>
              <a:t>Math.floor</a:t>
            </a:r>
            <a:r>
              <a:rPr lang="en-IN" b="0" dirty="0">
                <a:solidFill>
                  <a:srgbClr val="FF0000"/>
                </a:solidFill>
                <a:effectLst/>
                <a:latin typeface="Monaco, Menlo,  Ubuntu Mono"/>
              </a:rPr>
              <a:t>(</a:t>
            </a:r>
            <a:r>
              <a:rPr lang="en-IN" b="0" dirty="0" err="1">
                <a:solidFill>
                  <a:srgbClr val="FF0000"/>
                </a:solidFill>
                <a:effectLst/>
                <a:latin typeface="Monaco, Menlo,  Ubuntu Mono"/>
              </a:rPr>
              <a:t>fahrenheit</a:t>
            </a:r>
            <a:r>
              <a:rPr lang="en-IN" b="0" dirty="0">
                <a:solidFill>
                  <a:srgbClr val="FF0000"/>
                </a:solidFill>
                <a:effectLst/>
                <a:latin typeface="Monaco, Menlo,  Ubuntu Mono"/>
              </a:rPr>
              <a:t>);</a:t>
            </a:r>
          </a:p>
          <a:p>
            <a:pPr marL="0" indent="0">
              <a:buNone/>
            </a:pPr>
            <a:r>
              <a:rPr lang="en-IN" b="0" dirty="0">
                <a:solidFill>
                  <a:srgbClr val="FF0000"/>
                </a:solidFill>
                <a:effectLst/>
                <a:latin typeface="Monaco, Menlo,  Ubuntu Mono"/>
              </a:rPr>
              <a:t>//we rounded of the value in F </a:t>
            </a:r>
          </a:p>
          <a:p>
            <a:pPr marL="0" indent="0">
              <a:buNone/>
            </a:pPr>
            <a:r>
              <a:rPr lang="en-IN" b="0" dirty="0">
                <a:solidFill>
                  <a:srgbClr val="FF0000"/>
                </a:solidFill>
                <a:effectLst/>
                <a:latin typeface="Monaco, Menlo,  Ubuntu Mono"/>
              </a:rPr>
              <a:t>console.log(`The temperature is ${</a:t>
            </a:r>
            <a:r>
              <a:rPr lang="en-IN" b="0" dirty="0" err="1">
                <a:solidFill>
                  <a:srgbClr val="FF0000"/>
                </a:solidFill>
                <a:effectLst/>
                <a:latin typeface="Monaco, Menlo,  Ubuntu Mono"/>
              </a:rPr>
              <a:t>fahrenheit</a:t>
            </a:r>
            <a:r>
              <a:rPr lang="en-IN" b="0" dirty="0">
                <a:solidFill>
                  <a:srgbClr val="FF0000"/>
                </a:solidFill>
                <a:effectLst/>
                <a:latin typeface="Monaco, Menlo,  Ubuntu Mono"/>
              </a:rPr>
              <a:t>}degrees Fahrenheit`);</a:t>
            </a:r>
          </a:p>
          <a:p>
            <a:pPr marL="0" indent="0">
              <a:buNone/>
            </a:pPr>
            <a:r>
              <a:rPr lang="en-IN" b="0" dirty="0">
                <a:solidFill>
                  <a:srgbClr val="FF0000"/>
                </a:solidFill>
                <a:effectLst/>
                <a:latin typeface="Monaco, Menlo,  Ubuntu Mono"/>
              </a:rPr>
              <a:t>let newton=</a:t>
            </a:r>
            <a:r>
              <a:rPr lang="en-IN" b="0" dirty="0" err="1">
                <a:solidFill>
                  <a:srgbClr val="FF0000"/>
                </a:solidFill>
                <a:effectLst/>
                <a:latin typeface="Monaco, Menlo,  Ubuntu Mono"/>
              </a:rPr>
              <a:t>celsius</a:t>
            </a:r>
            <a:r>
              <a:rPr lang="en-IN" b="0" dirty="0">
                <a:solidFill>
                  <a:srgbClr val="FF0000"/>
                </a:solidFill>
                <a:effectLst/>
                <a:latin typeface="Monaco, Menlo,  Ubuntu Mono"/>
              </a:rPr>
              <a:t> * (33/100);</a:t>
            </a:r>
          </a:p>
          <a:p>
            <a:pPr marL="0" indent="0">
              <a:buNone/>
            </a:pPr>
            <a:r>
              <a:rPr lang="en-IN" b="0" dirty="0">
                <a:solidFill>
                  <a:srgbClr val="FF0000"/>
                </a:solidFill>
                <a:effectLst/>
                <a:latin typeface="Monaco, Menlo,  Ubuntu Mono"/>
              </a:rPr>
              <a:t>newton=</a:t>
            </a:r>
            <a:r>
              <a:rPr lang="en-IN" b="0" dirty="0" err="1">
                <a:solidFill>
                  <a:srgbClr val="FF0000"/>
                </a:solidFill>
                <a:effectLst/>
                <a:latin typeface="Monaco, Menlo,  Ubuntu Mono"/>
              </a:rPr>
              <a:t>Math.floor</a:t>
            </a:r>
            <a:r>
              <a:rPr lang="en-IN" b="0" dirty="0">
                <a:solidFill>
                  <a:srgbClr val="FF0000"/>
                </a:solidFill>
                <a:effectLst/>
                <a:latin typeface="Monaco, Menlo,  Ubuntu Mono"/>
              </a:rPr>
              <a:t>(newton);</a:t>
            </a:r>
          </a:p>
          <a:p>
            <a:pPr marL="0" indent="0">
              <a:buNone/>
            </a:pPr>
            <a:r>
              <a:rPr lang="en-IN" b="0" dirty="0">
                <a:solidFill>
                  <a:srgbClr val="FF0000"/>
                </a:solidFill>
                <a:effectLst/>
                <a:latin typeface="Monaco, Menlo,  Ubuntu Mono"/>
              </a:rPr>
              <a:t/>
            </a:r>
            <a:br>
              <a:rPr lang="en-IN" b="0" dirty="0">
                <a:solidFill>
                  <a:srgbClr val="FF0000"/>
                </a:solidFill>
                <a:effectLst/>
                <a:latin typeface="Monaco, Menlo,  Ubuntu Mono"/>
              </a:rPr>
            </a:br>
            <a:r>
              <a:rPr lang="en-IN" b="0" dirty="0">
                <a:solidFill>
                  <a:srgbClr val="FF0000"/>
                </a:solidFill>
                <a:effectLst/>
                <a:latin typeface="Monaco, Menlo,  Ubuntu Mono"/>
              </a:rPr>
              <a:t>console.log(`The temperature is ${newton} degrees Newton.`);</a:t>
            </a:r>
          </a:p>
          <a:p>
            <a:endParaRPr lang="en-IN" dirty="0"/>
          </a:p>
        </p:txBody>
      </p:sp>
    </p:spTree>
    <p:extLst>
      <p:ext uri="{BB962C8B-B14F-4D97-AF65-F5344CB8AC3E}">
        <p14:creationId xmlns:p14="http://schemas.microsoft.com/office/powerpoint/2010/main" val="81201847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F56B40-957D-6012-0A48-FC3EFFDC6265}"/>
              </a:ext>
            </a:extLst>
          </p:cNvPr>
          <p:cNvSpPr>
            <a:spLocks noGrp="1"/>
          </p:cNvSpPr>
          <p:nvPr>
            <p:ph type="title"/>
          </p:nvPr>
        </p:nvSpPr>
        <p:spPr/>
        <p:txBody>
          <a:bodyPr/>
          <a:lstStyle/>
          <a:p>
            <a:r>
              <a:rPr lang="en-IN" dirty="0"/>
              <a:t>Methods</a:t>
            </a:r>
          </a:p>
        </p:txBody>
      </p:sp>
      <p:sp>
        <p:nvSpPr>
          <p:cNvPr id="3" name="Content Placeholder 2">
            <a:extLst>
              <a:ext uri="{FF2B5EF4-FFF2-40B4-BE49-F238E27FC236}">
                <a16:creationId xmlns:a16="http://schemas.microsoft.com/office/drawing/2014/main" id="{E28CA582-BFB6-9B9A-2749-2B16DA1A91B3}"/>
              </a:ext>
            </a:extLst>
          </p:cNvPr>
          <p:cNvSpPr>
            <a:spLocks noGrp="1"/>
          </p:cNvSpPr>
          <p:nvPr>
            <p:ph idx="1"/>
          </p:nvPr>
        </p:nvSpPr>
        <p:spPr/>
        <p:txBody>
          <a:bodyPr>
            <a:normAutofit/>
          </a:bodyPr>
          <a:lstStyle/>
          <a:p>
            <a:r>
              <a:rPr lang="en-US" dirty="0">
                <a:solidFill>
                  <a:schemeClr val="tx1">
                    <a:lumMod val="85000"/>
                    <a:lumOff val="15000"/>
                  </a:schemeClr>
                </a:solidFill>
              </a:rPr>
              <a:t>Remember that methods are actions we can perform. Data types have access to specific methods that allow us to handle instances of that data type. JavaScript provides a number of string methods.</a:t>
            </a:r>
          </a:p>
          <a:p>
            <a:r>
              <a:rPr lang="en-US" dirty="0">
                <a:solidFill>
                  <a:schemeClr val="tx1">
                    <a:lumMod val="85000"/>
                    <a:lumOff val="15000"/>
                  </a:schemeClr>
                </a:solidFill>
              </a:rPr>
              <a:t>We call, or use, these methods by appending an instance with:</a:t>
            </a:r>
          </a:p>
          <a:p>
            <a:r>
              <a:rPr lang="en-US" dirty="0">
                <a:solidFill>
                  <a:schemeClr val="tx1">
                    <a:lumMod val="85000"/>
                    <a:lumOff val="15000"/>
                  </a:schemeClr>
                </a:solidFill>
              </a:rPr>
              <a:t>a period (the dot operator)</a:t>
            </a:r>
          </a:p>
          <a:p>
            <a:r>
              <a:rPr lang="en-US" dirty="0">
                <a:solidFill>
                  <a:schemeClr val="tx1">
                    <a:lumMod val="85000"/>
                    <a:lumOff val="15000"/>
                  </a:schemeClr>
                </a:solidFill>
              </a:rPr>
              <a:t>the name of the method</a:t>
            </a:r>
          </a:p>
          <a:p>
            <a:r>
              <a:rPr lang="en-US" dirty="0">
                <a:solidFill>
                  <a:schemeClr val="tx1">
                    <a:lumMod val="85000"/>
                    <a:lumOff val="15000"/>
                  </a:schemeClr>
                </a:solidFill>
              </a:rPr>
              <a:t>opening and closing parentheses</a:t>
            </a:r>
          </a:p>
          <a:p>
            <a:r>
              <a:rPr lang="en-US" dirty="0">
                <a:solidFill>
                  <a:schemeClr val="tx1">
                    <a:lumMod val="85000"/>
                    <a:lumOff val="15000"/>
                  </a:schemeClr>
                </a:solidFill>
              </a:rPr>
              <a:t>E.g. 'example string'.</a:t>
            </a:r>
            <a:r>
              <a:rPr lang="en-US" dirty="0" err="1">
                <a:solidFill>
                  <a:schemeClr val="tx1">
                    <a:lumMod val="85000"/>
                    <a:lumOff val="15000"/>
                  </a:schemeClr>
                </a:solidFill>
              </a:rPr>
              <a:t>methodName</a:t>
            </a:r>
            <a:r>
              <a:rPr lang="en-US" dirty="0">
                <a:solidFill>
                  <a:schemeClr val="tx1">
                    <a:lumMod val="85000"/>
                    <a:lumOff val="15000"/>
                  </a:schemeClr>
                </a:solidFill>
              </a:rPr>
              <a:t>().</a:t>
            </a:r>
          </a:p>
          <a:p>
            <a:r>
              <a:rPr lang="en-US" dirty="0">
                <a:solidFill>
                  <a:schemeClr val="tx1">
                    <a:lumMod val="85000"/>
                    <a:lumOff val="15000"/>
                  </a:schemeClr>
                </a:solidFill>
              </a:rPr>
              <a:t>Does that syntax look a little familiar? When we use console.log() we’re calling the .log() method on the console object. Let’s see console.log() and some real string methods in action!</a:t>
            </a:r>
            <a:endParaRPr lang="en-IN" dirty="0">
              <a:solidFill>
                <a:schemeClr val="tx1">
                  <a:lumMod val="85000"/>
                  <a:lumOff val="15000"/>
                </a:schemeClr>
              </a:solidFill>
            </a:endParaRPr>
          </a:p>
        </p:txBody>
      </p:sp>
      <p:sp>
        <p:nvSpPr>
          <p:cNvPr id="6" name="TextBox 5">
            <a:extLst>
              <a:ext uri="{FF2B5EF4-FFF2-40B4-BE49-F238E27FC236}">
                <a16:creationId xmlns:a16="http://schemas.microsoft.com/office/drawing/2014/main" id="{ABDEA440-3C62-8B84-E1D1-35D332118235}"/>
              </a:ext>
            </a:extLst>
          </p:cNvPr>
          <p:cNvSpPr txBox="1"/>
          <p:nvPr/>
        </p:nvSpPr>
        <p:spPr>
          <a:xfrm>
            <a:off x="5119181" y="3696481"/>
            <a:ext cx="6094378" cy="646331"/>
          </a:xfrm>
          <a:prstGeom prst="rect">
            <a:avLst/>
          </a:prstGeom>
          <a:noFill/>
        </p:spPr>
        <p:txBody>
          <a:bodyPr wrap="square">
            <a:spAutoFit/>
          </a:bodyPr>
          <a:lstStyle/>
          <a:p>
            <a:r>
              <a:rPr lang="en-IN" b="0" i="0" dirty="0">
                <a:solidFill>
                  <a:srgbClr val="FF0000"/>
                </a:solidFill>
                <a:effectLst/>
                <a:latin typeface="Monaco"/>
              </a:rPr>
              <a:t>console.log('hello'.</a:t>
            </a:r>
            <a:r>
              <a:rPr lang="en-IN" b="0" i="0" dirty="0" err="1">
                <a:solidFill>
                  <a:srgbClr val="FF0000"/>
                </a:solidFill>
                <a:effectLst/>
                <a:latin typeface="Monaco"/>
              </a:rPr>
              <a:t>toUpperCase</a:t>
            </a:r>
            <a:r>
              <a:rPr lang="en-IN" b="0" i="0" dirty="0">
                <a:solidFill>
                  <a:srgbClr val="FF0000"/>
                </a:solidFill>
                <a:effectLst/>
                <a:latin typeface="Monaco"/>
              </a:rPr>
              <a:t>()); // Prints 'HELLO'</a:t>
            </a:r>
            <a:r>
              <a:rPr lang="en-IN" dirty="0">
                <a:solidFill>
                  <a:srgbClr val="FF0000"/>
                </a:solidFill>
              </a:rPr>
              <a:t/>
            </a:r>
            <a:br>
              <a:rPr lang="en-IN" dirty="0">
                <a:solidFill>
                  <a:srgbClr val="FF0000"/>
                </a:solidFill>
              </a:rPr>
            </a:br>
            <a:r>
              <a:rPr lang="en-IN" b="0" i="0" dirty="0">
                <a:solidFill>
                  <a:srgbClr val="FF0000"/>
                </a:solidFill>
                <a:effectLst/>
                <a:latin typeface="Monaco"/>
              </a:rPr>
              <a:t>console.log('Hey'.</a:t>
            </a:r>
            <a:r>
              <a:rPr lang="en-IN" b="0" i="0" dirty="0" err="1">
                <a:solidFill>
                  <a:srgbClr val="FF0000"/>
                </a:solidFill>
                <a:effectLst/>
                <a:latin typeface="Monaco"/>
              </a:rPr>
              <a:t>startsWith</a:t>
            </a:r>
            <a:r>
              <a:rPr lang="en-IN" b="0" i="0" dirty="0">
                <a:solidFill>
                  <a:srgbClr val="FF0000"/>
                </a:solidFill>
                <a:effectLst/>
                <a:latin typeface="Monaco"/>
              </a:rPr>
              <a:t>('H')); // Prints true</a:t>
            </a:r>
            <a:endParaRPr lang="en-IN" dirty="0">
              <a:solidFill>
                <a:srgbClr val="FF0000"/>
              </a:solidFill>
            </a:endParaRPr>
          </a:p>
        </p:txBody>
      </p:sp>
    </p:spTree>
    <p:extLst>
      <p:ext uri="{BB962C8B-B14F-4D97-AF65-F5344CB8AC3E}">
        <p14:creationId xmlns:p14="http://schemas.microsoft.com/office/powerpoint/2010/main" val="147365344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C7A5FD-C66D-1E95-E1A0-5F8B3393CC78}"/>
              </a:ext>
            </a:extLst>
          </p:cNvPr>
          <p:cNvSpPr>
            <a:spLocks noGrp="1"/>
          </p:cNvSpPr>
          <p:nvPr>
            <p:ph type="title"/>
          </p:nvPr>
        </p:nvSpPr>
        <p:spPr/>
        <p:txBody>
          <a:bodyPr/>
          <a:lstStyle/>
          <a:p>
            <a:r>
              <a:rPr lang="en-IN" dirty="0"/>
              <a:t>Built-in Objects</a:t>
            </a:r>
          </a:p>
        </p:txBody>
      </p:sp>
      <p:sp>
        <p:nvSpPr>
          <p:cNvPr id="3" name="Content Placeholder 2">
            <a:extLst>
              <a:ext uri="{FF2B5EF4-FFF2-40B4-BE49-F238E27FC236}">
                <a16:creationId xmlns:a16="http://schemas.microsoft.com/office/drawing/2014/main" id="{E7931351-EAB5-2CBC-4E38-0CA733F2836E}"/>
              </a:ext>
            </a:extLst>
          </p:cNvPr>
          <p:cNvSpPr>
            <a:spLocks noGrp="1"/>
          </p:cNvSpPr>
          <p:nvPr>
            <p:ph idx="1"/>
          </p:nvPr>
        </p:nvSpPr>
        <p:spPr>
          <a:xfrm>
            <a:off x="581192" y="2180496"/>
            <a:ext cx="11029615" cy="3840925"/>
          </a:xfrm>
        </p:spPr>
        <p:txBody>
          <a:bodyPr>
            <a:normAutofit/>
          </a:bodyPr>
          <a:lstStyle/>
          <a:p>
            <a:r>
              <a:rPr lang="en-US" dirty="0">
                <a:solidFill>
                  <a:schemeClr val="tx1">
                    <a:lumMod val="85000"/>
                    <a:lumOff val="15000"/>
                  </a:schemeClr>
                </a:solidFill>
              </a:rPr>
              <a:t>In addition to console, there are other objects built into JavaScript. Down the line, you’ll build your own objects, but for now these “built-in” objects are full of useful functionality.</a:t>
            </a:r>
          </a:p>
          <a:p>
            <a:r>
              <a:rPr lang="en-US" dirty="0">
                <a:solidFill>
                  <a:schemeClr val="tx1">
                    <a:lumMod val="85000"/>
                    <a:lumOff val="15000"/>
                  </a:schemeClr>
                </a:solidFill>
              </a:rPr>
              <a:t>For example, if you wanted to perform more complex mathematical operations than arithmetic, JavaScript has the built-in Math object.</a:t>
            </a:r>
          </a:p>
          <a:p>
            <a:r>
              <a:rPr lang="en-US" dirty="0">
                <a:solidFill>
                  <a:schemeClr val="tx1">
                    <a:lumMod val="85000"/>
                    <a:lumOff val="15000"/>
                  </a:schemeClr>
                </a:solidFill>
              </a:rPr>
              <a:t>The great thing about objects is that they have methods! Let’s call the .random() method from the built-in Math object:</a:t>
            </a:r>
          </a:p>
          <a:p>
            <a:pPr marL="0" indent="0">
              <a:buNone/>
            </a:pPr>
            <a:r>
              <a:rPr lang="en-US" dirty="0">
                <a:solidFill>
                  <a:srgbClr val="FF0000"/>
                </a:solidFill>
              </a:rPr>
              <a:t>console.log(</a:t>
            </a:r>
            <a:r>
              <a:rPr lang="en-US" dirty="0" err="1">
                <a:solidFill>
                  <a:srgbClr val="FF0000"/>
                </a:solidFill>
              </a:rPr>
              <a:t>Math.random</a:t>
            </a:r>
            <a:r>
              <a:rPr lang="en-US" dirty="0">
                <a:solidFill>
                  <a:srgbClr val="FF0000"/>
                </a:solidFill>
              </a:rPr>
              <a:t>()); // Prints a random number between 0 and 1</a:t>
            </a:r>
            <a:endParaRPr lang="en-IN" dirty="0">
              <a:solidFill>
                <a:srgbClr val="FF0000"/>
              </a:solidFill>
            </a:endParaRPr>
          </a:p>
        </p:txBody>
      </p:sp>
    </p:spTree>
    <p:extLst>
      <p:ext uri="{BB962C8B-B14F-4D97-AF65-F5344CB8AC3E}">
        <p14:creationId xmlns:p14="http://schemas.microsoft.com/office/powerpoint/2010/main" val="26041992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80296F-4E13-C228-F006-209D9135853B}"/>
              </a:ext>
            </a:extLst>
          </p:cNvPr>
          <p:cNvSpPr>
            <a:spLocks noGrp="1"/>
          </p:cNvSpPr>
          <p:nvPr>
            <p:ph type="title"/>
          </p:nvPr>
        </p:nvSpPr>
        <p:spPr/>
        <p:txBody>
          <a:bodyPr/>
          <a:lstStyle/>
          <a:p>
            <a:r>
              <a:rPr lang="en-IN" dirty="0"/>
              <a:t>What are Conditional Statements</a:t>
            </a:r>
          </a:p>
        </p:txBody>
      </p:sp>
      <p:sp>
        <p:nvSpPr>
          <p:cNvPr id="3" name="Content Placeholder 2">
            <a:extLst>
              <a:ext uri="{FF2B5EF4-FFF2-40B4-BE49-F238E27FC236}">
                <a16:creationId xmlns:a16="http://schemas.microsoft.com/office/drawing/2014/main" id="{BB0836E5-A658-D004-ED6C-C2EB23DA9ED2}"/>
              </a:ext>
            </a:extLst>
          </p:cNvPr>
          <p:cNvSpPr>
            <a:spLocks noGrp="1"/>
          </p:cNvSpPr>
          <p:nvPr>
            <p:ph idx="1"/>
          </p:nvPr>
        </p:nvSpPr>
        <p:spPr/>
        <p:txBody>
          <a:bodyPr/>
          <a:lstStyle/>
          <a:p>
            <a:r>
              <a:rPr lang="en-US" dirty="0"/>
              <a:t>if, else if, and else statements</a:t>
            </a:r>
          </a:p>
          <a:p>
            <a:r>
              <a:rPr lang="en-US" dirty="0"/>
              <a:t>comparison operators</a:t>
            </a:r>
          </a:p>
          <a:p>
            <a:r>
              <a:rPr lang="en-US" dirty="0"/>
              <a:t>logical operators</a:t>
            </a:r>
          </a:p>
          <a:p>
            <a:r>
              <a:rPr lang="en-US" dirty="0"/>
              <a:t>truthy vs </a:t>
            </a:r>
            <a:r>
              <a:rPr lang="en-US" dirty="0" err="1"/>
              <a:t>falsy</a:t>
            </a:r>
            <a:r>
              <a:rPr lang="en-US" dirty="0"/>
              <a:t> values</a:t>
            </a:r>
          </a:p>
          <a:p>
            <a:r>
              <a:rPr lang="en-US" dirty="0"/>
              <a:t>ternary operators</a:t>
            </a:r>
          </a:p>
          <a:p>
            <a:r>
              <a:rPr lang="en-US" dirty="0"/>
              <a:t>switch statement</a:t>
            </a:r>
            <a:endParaRPr lang="en-IN" dirty="0"/>
          </a:p>
        </p:txBody>
      </p:sp>
    </p:spTree>
    <p:extLst>
      <p:ext uri="{BB962C8B-B14F-4D97-AF65-F5344CB8AC3E}">
        <p14:creationId xmlns:p14="http://schemas.microsoft.com/office/powerpoint/2010/main" val="180830950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D38C3D-CBE2-4A44-9B6D-74C5A74E6912}"/>
              </a:ext>
            </a:extLst>
          </p:cNvPr>
          <p:cNvSpPr>
            <a:spLocks noGrp="1"/>
          </p:cNvSpPr>
          <p:nvPr>
            <p:ph type="title"/>
          </p:nvPr>
        </p:nvSpPr>
        <p:spPr/>
        <p:txBody>
          <a:bodyPr/>
          <a:lstStyle/>
          <a:p>
            <a:r>
              <a:rPr lang="en-IN" dirty="0"/>
              <a:t>If Statement</a:t>
            </a:r>
          </a:p>
        </p:txBody>
      </p:sp>
      <p:sp>
        <p:nvSpPr>
          <p:cNvPr id="3" name="Content Placeholder 2">
            <a:extLst>
              <a:ext uri="{FF2B5EF4-FFF2-40B4-BE49-F238E27FC236}">
                <a16:creationId xmlns:a16="http://schemas.microsoft.com/office/drawing/2014/main" id="{2D0650EE-8F07-A34B-DA3A-A77B3278EAA2}"/>
              </a:ext>
            </a:extLst>
          </p:cNvPr>
          <p:cNvSpPr>
            <a:spLocks noGrp="1"/>
          </p:cNvSpPr>
          <p:nvPr>
            <p:ph idx="1"/>
          </p:nvPr>
        </p:nvSpPr>
        <p:spPr>
          <a:xfrm>
            <a:off x="581193" y="2180496"/>
            <a:ext cx="4730110" cy="3678303"/>
          </a:xfrm>
        </p:spPr>
        <p:txBody>
          <a:bodyPr>
            <a:normAutofit/>
          </a:bodyPr>
          <a:lstStyle/>
          <a:p>
            <a:pPr marL="0" indent="0">
              <a:buNone/>
            </a:pPr>
            <a:endParaRPr lang="en-US" sz="2000" dirty="0"/>
          </a:p>
          <a:p>
            <a:pPr marL="0" indent="0">
              <a:buNone/>
            </a:pPr>
            <a:r>
              <a:rPr lang="en-US" sz="2000" dirty="0"/>
              <a:t>if (true) {</a:t>
            </a:r>
          </a:p>
          <a:p>
            <a:pPr marL="0" indent="0">
              <a:buNone/>
            </a:pPr>
            <a:r>
              <a:rPr lang="en-US" sz="2000" dirty="0"/>
              <a:t>  console.log ('This message will print!'); </a:t>
            </a:r>
          </a:p>
          <a:p>
            <a:pPr marL="0" indent="0">
              <a:buNone/>
            </a:pPr>
            <a:r>
              <a:rPr lang="en-US" sz="2000" dirty="0"/>
              <a:t>}</a:t>
            </a:r>
          </a:p>
          <a:p>
            <a:pPr marL="0" indent="0">
              <a:buNone/>
            </a:pPr>
            <a:r>
              <a:rPr lang="en-US" sz="2000" dirty="0"/>
              <a:t>// Prints: This message will print!</a:t>
            </a:r>
            <a:endParaRPr lang="en-IN" sz="2000" dirty="0"/>
          </a:p>
        </p:txBody>
      </p:sp>
      <p:sp>
        <p:nvSpPr>
          <p:cNvPr id="5" name="TextBox 4">
            <a:extLst>
              <a:ext uri="{FF2B5EF4-FFF2-40B4-BE49-F238E27FC236}">
                <a16:creationId xmlns:a16="http://schemas.microsoft.com/office/drawing/2014/main" id="{3CE799C7-1B6C-49DE-B877-736ADCF61CBB}"/>
              </a:ext>
            </a:extLst>
          </p:cNvPr>
          <p:cNvSpPr txBox="1"/>
          <p:nvPr/>
        </p:nvSpPr>
        <p:spPr>
          <a:xfrm>
            <a:off x="6734784" y="3570501"/>
            <a:ext cx="4229101" cy="1477328"/>
          </a:xfrm>
          <a:prstGeom prst="rect">
            <a:avLst/>
          </a:prstGeom>
          <a:noFill/>
        </p:spPr>
        <p:txBody>
          <a:bodyPr wrap="square">
            <a:spAutoFit/>
          </a:bodyPr>
          <a:lstStyle/>
          <a:p>
            <a:pPr marL="0" indent="0">
              <a:buNone/>
            </a:pPr>
            <a:r>
              <a:rPr lang="en-US" dirty="0"/>
              <a:t>let sale = true;</a:t>
            </a:r>
          </a:p>
          <a:p>
            <a:pPr marL="0" indent="0">
              <a:buNone/>
            </a:pPr>
            <a:endParaRPr lang="en-US" dirty="0"/>
          </a:p>
          <a:p>
            <a:pPr marL="0" indent="0">
              <a:buNone/>
            </a:pPr>
            <a:r>
              <a:rPr lang="en-US" dirty="0"/>
              <a:t>if(sale) {</a:t>
            </a:r>
          </a:p>
          <a:p>
            <a:pPr marL="0" indent="0">
              <a:buNone/>
            </a:pPr>
            <a:r>
              <a:rPr lang="en-US" dirty="0"/>
              <a:t>  console.log ('Time to buy!');</a:t>
            </a:r>
          </a:p>
          <a:p>
            <a:pPr marL="0" indent="0">
              <a:buNone/>
            </a:pPr>
            <a:r>
              <a:rPr lang="en-US" dirty="0"/>
              <a:t>}</a:t>
            </a:r>
            <a:endParaRPr lang="en-IN" dirty="0"/>
          </a:p>
        </p:txBody>
      </p:sp>
    </p:spTree>
    <p:extLst>
      <p:ext uri="{BB962C8B-B14F-4D97-AF65-F5344CB8AC3E}">
        <p14:creationId xmlns:p14="http://schemas.microsoft.com/office/powerpoint/2010/main" val="376309536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E8B4BC-6198-D2DF-4CB2-764754F016E7}"/>
              </a:ext>
            </a:extLst>
          </p:cNvPr>
          <p:cNvSpPr>
            <a:spLocks noGrp="1"/>
          </p:cNvSpPr>
          <p:nvPr>
            <p:ph type="title"/>
          </p:nvPr>
        </p:nvSpPr>
        <p:spPr/>
        <p:txBody>
          <a:bodyPr/>
          <a:lstStyle/>
          <a:p>
            <a:r>
              <a:rPr lang="en-IN" dirty="0"/>
              <a:t>If...Else Statements</a:t>
            </a:r>
          </a:p>
        </p:txBody>
      </p:sp>
      <p:sp>
        <p:nvSpPr>
          <p:cNvPr id="3" name="Content Placeholder 2">
            <a:extLst>
              <a:ext uri="{FF2B5EF4-FFF2-40B4-BE49-F238E27FC236}">
                <a16:creationId xmlns:a16="http://schemas.microsoft.com/office/drawing/2014/main" id="{A465D8D7-22FB-8336-EA2F-85F08DB752B3}"/>
              </a:ext>
            </a:extLst>
          </p:cNvPr>
          <p:cNvSpPr>
            <a:spLocks noGrp="1"/>
          </p:cNvSpPr>
          <p:nvPr>
            <p:ph idx="1"/>
          </p:nvPr>
        </p:nvSpPr>
        <p:spPr/>
        <p:txBody>
          <a:bodyPr/>
          <a:lstStyle/>
          <a:p>
            <a:pPr marL="0" indent="0">
              <a:buNone/>
            </a:pPr>
            <a:r>
              <a:rPr lang="en-US" dirty="0"/>
              <a:t>if (false) {</a:t>
            </a:r>
          </a:p>
          <a:p>
            <a:pPr marL="0" indent="0">
              <a:buNone/>
            </a:pPr>
            <a:r>
              <a:rPr lang="en-US" dirty="0"/>
              <a:t>  console.log ('The code in this block will not run.');</a:t>
            </a:r>
          </a:p>
          <a:p>
            <a:pPr marL="0" indent="0">
              <a:buNone/>
            </a:pPr>
            <a:r>
              <a:rPr lang="en-US" dirty="0"/>
              <a:t>} else {</a:t>
            </a:r>
          </a:p>
          <a:p>
            <a:pPr marL="0" indent="0">
              <a:buNone/>
            </a:pPr>
            <a:r>
              <a:rPr lang="en-US" dirty="0"/>
              <a:t>  console.log ('But the code in this block will!');</a:t>
            </a:r>
          </a:p>
          <a:p>
            <a:pPr marL="0" indent="0">
              <a:buNone/>
            </a:pPr>
            <a:r>
              <a:rPr lang="en-US" dirty="0"/>
              <a:t>}</a:t>
            </a:r>
          </a:p>
          <a:p>
            <a:pPr marL="0" indent="0">
              <a:buNone/>
            </a:pPr>
            <a:r>
              <a:rPr lang="en-US" dirty="0"/>
              <a:t> </a:t>
            </a:r>
          </a:p>
          <a:p>
            <a:pPr marL="0" indent="0">
              <a:buNone/>
            </a:pPr>
            <a:r>
              <a:rPr lang="en-US" dirty="0"/>
              <a:t>// Prints: But the code in this block will!</a:t>
            </a:r>
            <a:endParaRPr lang="en-IN" dirty="0"/>
          </a:p>
        </p:txBody>
      </p:sp>
    </p:spTree>
    <p:extLst>
      <p:ext uri="{BB962C8B-B14F-4D97-AF65-F5344CB8AC3E}">
        <p14:creationId xmlns:p14="http://schemas.microsoft.com/office/powerpoint/2010/main" val="274537179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6C5D4-DEA4-5B0D-4C99-F8593EB54211}"/>
              </a:ext>
            </a:extLst>
          </p:cNvPr>
          <p:cNvSpPr>
            <a:spLocks noGrp="1"/>
          </p:cNvSpPr>
          <p:nvPr>
            <p:ph type="title"/>
          </p:nvPr>
        </p:nvSpPr>
        <p:spPr/>
        <p:txBody>
          <a:bodyPr/>
          <a:lstStyle/>
          <a:p>
            <a:r>
              <a:rPr lang="en-IN" dirty="0"/>
              <a:t>Comparison Operators</a:t>
            </a:r>
          </a:p>
        </p:txBody>
      </p:sp>
      <p:sp>
        <p:nvSpPr>
          <p:cNvPr id="3" name="Content Placeholder 2">
            <a:extLst>
              <a:ext uri="{FF2B5EF4-FFF2-40B4-BE49-F238E27FC236}">
                <a16:creationId xmlns:a16="http://schemas.microsoft.com/office/drawing/2014/main" id="{649A91CC-FA83-81F1-6BDD-CB44DD8DB616}"/>
              </a:ext>
            </a:extLst>
          </p:cNvPr>
          <p:cNvSpPr>
            <a:spLocks noGrp="1"/>
          </p:cNvSpPr>
          <p:nvPr>
            <p:ph idx="1"/>
          </p:nvPr>
        </p:nvSpPr>
        <p:spPr/>
        <p:txBody>
          <a:bodyPr>
            <a:normAutofit/>
          </a:bodyPr>
          <a:lstStyle/>
          <a:p>
            <a:r>
              <a:rPr lang="en-US" sz="2400" dirty="0"/>
              <a:t>Here is a list of some handy comparison operators and their syntax:</a:t>
            </a:r>
          </a:p>
          <a:p>
            <a:pPr lvl="1"/>
            <a:r>
              <a:rPr lang="en-US" sz="2000" dirty="0"/>
              <a:t>Less than: &lt;</a:t>
            </a:r>
          </a:p>
          <a:p>
            <a:pPr lvl="1"/>
            <a:r>
              <a:rPr lang="en-US" sz="2000" dirty="0"/>
              <a:t>Greater than: &gt;</a:t>
            </a:r>
          </a:p>
          <a:p>
            <a:pPr lvl="1"/>
            <a:r>
              <a:rPr lang="en-US" sz="2000" dirty="0"/>
              <a:t>Less than or equal to: &lt;=</a:t>
            </a:r>
          </a:p>
          <a:p>
            <a:pPr lvl="1"/>
            <a:r>
              <a:rPr lang="en-US" sz="2000" dirty="0"/>
              <a:t>Greater than or equal to: &gt;=</a:t>
            </a:r>
          </a:p>
          <a:p>
            <a:pPr lvl="1"/>
            <a:r>
              <a:rPr lang="en-US" sz="2000" dirty="0"/>
              <a:t>Is equal to: ===</a:t>
            </a:r>
          </a:p>
          <a:p>
            <a:pPr lvl="1"/>
            <a:r>
              <a:rPr lang="en-US" sz="2000" dirty="0"/>
              <a:t>Is not equal to: !==</a:t>
            </a:r>
            <a:endParaRPr lang="en-IN" sz="2000" dirty="0"/>
          </a:p>
        </p:txBody>
      </p:sp>
    </p:spTree>
    <p:extLst>
      <p:ext uri="{BB962C8B-B14F-4D97-AF65-F5344CB8AC3E}">
        <p14:creationId xmlns:p14="http://schemas.microsoft.com/office/powerpoint/2010/main" val="159340480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CC5138-8B99-6351-5823-E51EA1CE5388}"/>
              </a:ext>
            </a:extLst>
          </p:cNvPr>
          <p:cNvSpPr>
            <a:spLocks noGrp="1"/>
          </p:cNvSpPr>
          <p:nvPr>
            <p:ph type="title"/>
          </p:nvPr>
        </p:nvSpPr>
        <p:spPr/>
        <p:txBody>
          <a:bodyPr/>
          <a:lstStyle/>
          <a:p>
            <a:r>
              <a:rPr lang="en-IN" dirty="0"/>
              <a:t>Logical Operators</a:t>
            </a:r>
          </a:p>
        </p:txBody>
      </p:sp>
      <p:sp>
        <p:nvSpPr>
          <p:cNvPr id="3" name="Content Placeholder 2">
            <a:extLst>
              <a:ext uri="{FF2B5EF4-FFF2-40B4-BE49-F238E27FC236}">
                <a16:creationId xmlns:a16="http://schemas.microsoft.com/office/drawing/2014/main" id="{C36373BB-7761-C4DD-3AD1-AD2B238D6FDA}"/>
              </a:ext>
            </a:extLst>
          </p:cNvPr>
          <p:cNvSpPr>
            <a:spLocks noGrp="1"/>
          </p:cNvSpPr>
          <p:nvPr>
            <p:ph idx="1"/>
          </p:nvPr>
        </p:nvSpPr>
        <p:spPr>
          <a:xfrm>
            <a:off x="581193" y="2180496"/>
            <a:ext cx="5294314" cy="3678303"/>
          </a:xfrm>
        </p:spPr>
        <p:txBody>
          <a:bodyPr>
            <a:normAutofit/>
          </a:bodyPr>
          <a:lstStyle/>
          <a:p>
            <a:r>
              <a:rPr lang="en-US" sz="2000" dirty="0"/>
              <a:t>Here are three logical operators:</a:t>
            </a:r>
          </a:p>
          <a:p>
            <a:pPr lvl="1"/>
            <a:r>
              <a:rPr lang="en-US" sz="1800" dirty="0"/>
              <a:t>the and operator (&amp;&amp;)</a:t>
            </a:r>
          </a:p>
          <a:p>
            <a:pPr lvl="1"/>
            <a:r>
              <a:rPr lang="en-US" sz="1800" dirty="0"/>
              <a:t>the or operator (||)</a:t>
            </a:r>
          </a:p>
          <a:p>
            <a:pPr lvl="1"/>
            <a:r>
              <a:rPr lang="en-US" sz="1800" dirty="0"/>
              <a:t>the not operator, otherwise known as the bang operator (!)</a:t>
            </a:r>
            <a:endParaRPr lang="en-IN" sz="1800" dirty="0"/>
          </a:p>
        </p:txBody>
      </p:sp>
      <p:sp>
        <p:nvSpPr>
          <p:cNvPr id="6" name="TextBox 5">
            <a:extLst>
              <a:ext uri="{FF2B5EF4-FFF2-40B4-BE49-F238E27FC236}">
                <a16:creationId xmlns:a16="http://schemas.microsoft.com/office/drawing/2014/main" id="{E2BBA9F4-BFD0-E6AF-94D4-E9C6F055A0AE}"/>
              </a:ext>
            </a:extLst>
          </p:cNvPr>
          <p:cNvSpPr txBox="1"/>
          <p:nvPr/>
        </p:nvSpPr>
        <p:spPr>
          <a:xfrm>
            <a:off x="6316495" y="2739524"/>
            <a:ext cx="5126477" cy="3416320"/>
          </a:xfrm>
          <a:prstGeom prst="rect">
            <a:avLst/>
          </a:prstGeom>
          <a:noFill/>
        </p:spPr>
        <p:txBody>
          <a:bodyPr wrap="square">
            <a:spAutoFit/>
          </a:bodyPr>
          <a:lstStyle/>
          <a:p>
            <a:r>
              <a:rPr lang="en-IN" b="0" dirty="0">
                <a:solidFill>
                  <a:schemeClr val="accent1">
                    <a:lumMod val="75000"/>
                  </a:schemeClr>
                </a:solidFill>
                <a:effectLst/>
                <a:latin typeface="Monaco, Menlo,  Ubuntu Mono"/>
              </a:rPr>
              <a:t>let mood = 'sleepy';</a:t>
            </a:r>
          </a:p>
          <a:p>
            <a:r>
              <a:rPr lang="en-IN" b="0" dirty="0">
                <a:solidFill>
                  <a:schemeClr val="accent1">
                    <a:lumMod val="75000"/>
                  </a:schemeClr>
                </a:solidFill>
                <a:effectLst/>
                <a:latin typeface="Monaco, Menlo,  Ubuntu Mono"/>
              </a:rPr>
              <a:t>let </a:t>
            </a:r>
            <a:r>
              <a:rPr lang="en-IN" b="0" dirty="0" err="1">
                <a:solidFill>
                  <a:schemeClr val="accent1">
                    <a:lumMod val="75000"/>
                  </a:schemeClr>
                </a:solidFill>
                <a:effectLst/>
                <a:latin typeface="Monaco, Menlo,  Ubuntu Mono"/>
              </a:rPr>
              <a:t>tirednessLevel</a:t>
            </a:r>
            <a:r>
              <a:rPr lang="en-IN" b="0" dirty="0">
                <a:solidFill>
                  <a:schemeClr val="accent1">
                    <a:lumMod val="75000"/>
                  </a:schemeClr>
                </a:solidFill>
                <a:effectLst/>
                <a:latin typeface="Monaco, Menlo,  Ubuntu Mono"/>
              </a:rPr>
              <a:t> = 6;</a:t>
            </a:r>
          </a:p>
          <a:p>
            <a:r>
              <a:rPr lang="en-IN" b="0" dirty="0">
                <a:solidFill>
                  <a:schemeClr val="accent1">
                    <a:lumMod val="75000"/>
                  </a:schemeClr>
                </a:solidFill>
                <a:effectLst/>
                <a:latin typeface="Monaco, Menlo,  Ubuntu Mono"/>
              </a:rPr>
              <a:t>if(mood ==='sleepy' &amp;&amp; </a:t>
            </a:r>
            <a:r>
              <a:rPr lang="en-IN" b="0" dirty="0" err="1">
                <a:solidFill>
                  <a:schemeClr val="accent1">
                    <a:lumMod val="75000"/>
                  </a:schemeClr>
                </a:solidFill>
                <a:effectLst/>
                <a:latin typeface="Monaco, Menlo,  Ubuntu Mono"/>
              </a:rPr>
              <a:t>tirednessLevel</a:t>
            </a:r>
            <a:r>
              <a:rPr lang="en-IN" b="0" dirty="0">
                <a:solidFill>
                  <a:schemeClr val="accent1">
                    <a:lumMod val="75000"/>
                  </a:schemeClr>
                </a:solidFill>
                <a:effectLst/>
                <a:latin typeface="Monaco, Menlo,  Ubuntu Mono"/>
              </a:rPr>
              <a:t> &gt; 8 )</a:t>
            </a:r>
          </a:p>
          <a:p>
            <a:r>
              <a:rPr lang="en-IN" b="0" dirty="0">
                <a:solidFill>
                  <a:schemeClr val="accent1">
                    <a:lumMod val="75000"/>
                  </a:schemeClr>
                </a:solidFill>
                <a:effectLst/>
                <a:latin typeface="Monaco, Menlo,  Ubuntu Mono"/>
              </a:rPr>
              <a:t>{</a:t>
            </a:r>
          </a:p>
          <a:p>
            <a:r>
              <a:rPr lang="en-IN" b="0" dirty="0">
                <a:solidFill>
                  <a:schemeClr val="accent1">
                    <a:lumMod val="75000"/>
                  </a:schemeClr>
                </a:solidFill>
                <a:effectLst/>
                <a:latin typeface="Monaco, Menlo,  Ubuntu Mono"/>
              </a:rPr>
              <a:t>  console.log('time to sleep');</a:t>
            </a:r>
          </a:p>
          <a:p>
            <a:r>
              <a:rPr lang="en-IN" b="0" dirty="0">
                <a:solidFill>
                  <a:schemeClr val="accent1">
                    <a:lumMod val="75000"/>
                  </a:schemeClr>
                </a:solidFill>
                <a:effectLst/>
                <a:latin typeface="Monaco, Menlo,  Ubuntu Mono"/>
              </a:rPr>
              <a:t>}</a:t>
            </a:r>
          </a:p>
          <a:p>
            <a:r>
              <a:rPr lang="en-IN" b="0" dirty="0">
                <a:solidFill>
                  <a:schemeClr val="accent1">
                    <a:lumMod val="75000"/>
                  </a:schemeClr>
                </a:solidFill>
                <a:effectLst/>
                <a:latin typeface="Monaco, Menlo,  Ubuntu Mono"/>
              </a:rPr>
              <a:t>else</a:t>
            </a:r>
          </a:p>
          <a:p>
            <a:r>
              <a:rPr lang="en-IN" b="0" dirty="0">
                <a:solidFill>
                  <a:schemeClr val="accent1">
                    <a:lumMod val="75000"/>
                  </a:schemeClr>
                </a:solidFill>
                <a:effectLst/>
                <a:latin typeface="Monaco, Menlo,  Ubuntu Mono"/>
              </a:rPr>
              <a:t>{</a:t>
            </a:r>
          </a:p>
          <a:p>
            <a:r>
              <a:rPr lang="en-IN" b="0" dirty="0">
                <a:solidFill>
                  <a:schemeClr val="accent1">
                    <a:lumMod val="75000"/>
                  </a:schemeClr>
                </a:solidFill>
                <a:effectLst/>
                <a:latin typeface="Monaco, Menlo,  Ubuntu Mono"/>
              </a:rPr>
              <a:t>  console.log('not bed time yet');</a:t>
            </a:r>
          </a:p>
          <a:p>
            <a:r>
              <a:rPr lang="en-IN" b="0" dirty="0">
                <a:solidFill>
                  <a:schemeClr val="accent1">
                    <a:lumMod val="75000"/>
                  </a:schemeClr>
                </a:solidFill>
                <a:effectLst/>
                <a:latin typeface="Monaco, Menlo,  Ubuntu Mono"/>
              </a:rPr>
              <a:t>}</a:t>
            </a:r>
          </a:p>
          <a:p>
            <a:r>
              <a:rPr lang="en-IN" b="0" dirty="0">
                <a:solidFill>
                  <a:schemeClr val="accent1">
                    <a:lumMod val="75000"/>
                  </a:schemeClr>
                </a:solidFill>
                <a:effectLst/>
                <a:latin typeface="Monaco, Menlo,  Ubuntu Mono"/>
              </a:rPr>
              <a:t/>
            </a:r>
            <a:br>
              <a:rPr lang="en-IN" b="0" dirty="0">
                <a:solidFill>
                  <a:schemeClr val="accent1">
                    <a:lumMod val="75000"/>
                  </a:schemeClr>
                </a:solidFill>
                <a:effectLst/>
                <a:latin typeface="Monaco, Menlo,  Ubuntu Mono"/>
              </a:rPr>
            </a:br>
            <a:endParaRPr lang="en-IN" b="0" dirty="0">
              <a:solidFill>
                <a:schemeClr val="accent1">
                  <a:lumMod val="75000"/>
                </a:schemeClr>
              </a:solidFill>
              <a:effectLst/>
              <a:latin typeface="Monaco, Menlo,  Ubuntu Mono"/>
            </a:endParaRPr>
          </a:p>
        </p:txBody>
      </p:sp>
    </p:spTree>
    <p:extLst>
      <p:ext uri="{BB962C8B-B14F-4D97-AF65-F5344CB8AC3E}">
        <p14:creationId xmlns:p14="http://schemas.microsoft.com/office/powerpoint/2010/main" val="101546983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177BAF-1DAC-4A69-6831-F87A9E7B65DA}"/>
              </a:ext>
            </a:extLst>
          </p:cNvPr>
          <p:cNvSpPr>
            <a:spLocks noGrp="1"/>
          </p:cNvSpPr>
          <p:nvPr>
            <p:ph type="title"/>
          </p:nvPr>
        </p:nvSpPr>
        <p:spPr/>
        <p:txBody>
          <a:bodyPr/>
          <a:lstStyle/>
          <a:p>
            <a:r>
              <a:rPr lang="en-IN" dirty="0"/>
              <a:t>Truthy and </a:t>
            </a:r>
            <a:r>
              <a:rPr lang="en-IN" dirty="0" err="1"/>
              <a:t>Falsy</a:t>
            </a:r>
            <a:endParaRPr lang="en-IN" dirty="0"/>
          </a:p>
        </p:txBody>
      </p:sp>
      <p:sp>
        <p:nvSpPr>
          <p:cNvPr id="3" name="Content Placeholder 2">
            <a:extLst>
              <a:ext uri="{FF2B5EF4-FFF2-40B4-BE49-F238E27FC236}">
                <a16:creationId xmlns:a16="http://schemas.microsoft.com/office/drawing/2014/main" id="{0B6D60EE-CDC6-AA05-715B-DA64D7D0198C}"/>
              </a:ext>
            </a:extLst>
          </p:cNvPr>
          <p:cNvSpPr>
            <a:spLocks noGrp="1"/>
          </p:cNvSpPr>
          <p:nvPr>
            <p:ph idx="1"/>
          </p:nvPr>
        </p:nvSpPr>
        <p:spPr/>
        <p:txBody>
          <a:bodyPr>
            <a:normAutofit lnSpcReduction="10000"/>
          </a:bodyPr>
          <a:lstStyle/>
          <a:p>
            <a:pPr algn="l"/>
            <a:r>
              <a:rPr lang="en-US" b="0" i="0" dirty="0">
                <a:solidFill>
                  <a:srgbClr val="10162F"/>
                </a:solidFill>
                <a:effectLst/>
                <a:latin typeface="Apercu"/>
              </a:rPr>
              <a:t>Let’s consider how non-</a:t>
            </a:r>
            <a:r>
              <a:rPr lang="en-US" b="0" i="0" dirty="0" err="1">
                <a:solidFill>
                  <a:srgbClr val="10162F"/>
                </a:solidFill>
                <a:effectLst/>
                <a:latin typeface="Apercu"/>
              </a:rPr>
              <a:t>boolean</a:t>
            </a:r>
            <a:r>
              <a:rPr lang="en-US" b="0" i="0" dirty="0">
                <a:solidFill>
                  <a:srgbClr val="10162F"/>
                </a:solidFill>
                <a:effectLst/>
                <a:latin typeface="Apercu"/>
              </a:rPr>
              <a:t> data types, like strings or numbers, are evaluated when checked inside a condition.</a:t>
            </a:r>
          </a:p>
          <a:p>
            <a:pPr algn="l"/>
            <a:r>
              <a:rPr lang="en-US" b="0" i="0" dirty="0">
                <a:solidFill>
                  <a:srgbClr val="10162F"/>
                </a:solidFill>
                <a:effectLst/>
                <a:latin typeface="Apercu"/>
              </a:rPr>
              <a:t>Sometimes, you’ll want to check if a variable exists and you won’t necessarily want it to equal a specific value — you’ll only check to see if the variable has been assigned a value.</a:t>
            </a:r>
          </a:p>
          <a:p>
            <a:pPr algn="l"/>
            <a:r>
              <a:rPr lang="en-US" b="0" i="0" dirty="0">
                <a:solidFill>
                  <a:srgbClr val="10162F"/>
                </a:solidFill>
                <a:effectLst/>
                <a:latin typeface="Apercu"/>
              </a:rPr>
              <a:t>Here’s an example:</a:t>
            </a:r>
          </a:p>
          <a:p>
            <a:pPr marL="0" indent="0">
              <a:buNone/>
            </a:pPr>
            <a:r>
              <a:rPr lang="en-IN" b="0" i="0" dirty="0">
                <a:solidFill>
                  <a:schemeClr val="accent1">
                    <a:lumMod val="75000"/>
                  </a:schemeClr>
                </a:solidFill>
                <a:effectLst/>
                <a:latin typeface="Monaco"/>
              </a:rPr>
              <a:t>let </a:t>
            </a:r>
            <a:r>
              <a:rPr lang="en-IN" b="0" i="0" dirty="0" err="1">
                <a:solidFill>
                  <a:schemeClr val="accent1">
                    <a:lumMod val="75000"/>
                  </a:schemeClr>
                </a:solidFill>
                <a:effectLst/>
                <a:latin typeface="Monaco"/>
              </a:rPr>
              <a:t>myVariable</a:t>
            </a:r>
            <a:r>
              <a:rPr lang="en-IN" b="0" i="0" dirty="0">
                <a:solidFill>
                  <a:schemeClr val="accent1">
                    <a:lumMod val="75000"/>
                  </a:schemeClr>
                </a:solidFill>
                <a:effectLst/>
                <a:latin typeface="Monaco"/>
              </a:rPr>
              <a:t> = 'I Exist!';</a:t>
            </a:r>
            <a:r>
              <a:rPr lang="en-IN" dirty="0">
                <a:solidFill>
                  <a:schemeClr val="accent1">
                    <a:lumMod val="75000"/>
                  </a:schemeClr>
                </a:solidFill>
              </a:rPr>
              <a:t/>
            </a:r>
            <a:br>
              <a:rPr lang="en-IN" dirty="0">
                <a:solidFill>
                  <a:schemeClr val="accent1">
                    <a:lumMod val="75000"/>
                  </a:schemeClr>
                </a:solidFill>
              </a:rPr>
            </a:br>
            <a:r>
              <a:rPr lang="en-IN" dirty="0">
                <a:solidFill>
                  <a:schemeClr val="accent1">
                    <a:lumMod val="75000"/>
                  </a:schemeClr>
                </a:solidFill>
              </a:rPr>
              <a:t/>
            </a:r>
            <a:br>
              <a:rPr lang="en-IN" dirty="0">
                <a:solidFill>
                  <a:schemeClr val="accent1">
                    <a:lumMod val="75000"/>
                  </a:schemeClr>
                </a:solidFill>
              </a:rPr>
            </a:br>
            <a:r>
              <a:rPr lang="en-IN" b="0" i="0" dirty="0">
                <a:solidFill>
                  <a:schemeClr val="accent1">
                    <a:lumMod val="75000"/>
                  </a:schemeClr>
                </a:solidFill>
                <a:effectLst/>
                <a:latin typeface="Monaco"/>
              </a:rPr>
              <a:t>if (</a:t>
            </a:r>
            <a:r>
              <a:rPr lang="en-IN" b="0" i="0" dirty="0" err="1">
                <a:solidFill>
                  <a:schemeClr val="accent1">
                    <a:lumMod val="75000"/>
                  </a:schemeClr>
                </a:solidFill>
                <a:effectLst/>
                <a:latin typeface="Monaco"/>
              </a:rPr>
              <a:t>myVariable</a:t>
            </a:r>
            <a:r>
              <a:rPr lang="en-IN" b="0" i="0" dirty="0">
                <a:solidFill>
                  <a:schemeClr val="accent1">
                    <a:lumMod val="75000"/>
                  </a:schemeClr>
                </a:solidFill>
                <a:effectLst/>
                <a:latin typeface="Monaco"/>
              </a:rPr>
              <a:t>) {</a:t>
            </a:r>
            <a:r>
              <a:rPr lang="en-IN" dirty="0">
                <a:solidFill>
                  <a:schemeClr val="accent1">
                    <a:lumMod val="75000"/>
                  </a:schemeClr>
                </a:solidFill>
              </a:rPr>
              <a:t/>
            </a:r>
            <a:br>
              <a:rPr lang="en-IN" dirty="0">
                <a:solidFill>
                  <a:schemeClr val="accent1">
                    <a:lumMod val="75000"/>
                  </a:schemeClr>
                </a:solidFill>
              </a:rPr>
            </a:br>
            <a:r>
              <a:rPr lang="en-IN" b="0" i="0" dirty="0">
                <a:solidFill>
                  <a:schemeClr val="accent1">
                    <a:lumMod val="75000"/>
                  </a:schemeClr>
                </a:solidFill>
                <a:effectLst/>
                <a:latin typeface="Monaco"/>
              </a:rPr>
              <a:t>   console.log(</a:t>
            </a:r>
            <a:r>
              <a:rPr lang="en-IN" b="0" i="0" dirty="0" err="1">
                <a:solidFill>
                  <a:schemeClr val="accent1">
                    <a:lumMod val="75000"/>
                  </a:schemeClr>
                </a:solidFill>
                <a:effectLst/>
                <a:latin typeface="Monaco"/>
              </a:rPr>
              <a:t>myVariable</a:t>
            </a:r>
            <a:r>
              <a:rPr lang="en-IN" b="0" i="0" dirty="0">
                <a:solidFill>
                  <a:schemeClr val="accent1">
                    <a:lumMod val="75000"/>
                  </a:schemeClr>
                </a:solidFill>
                <a:effectLst/>
                <a:latin typeface="Monaco"/>
              </a:rPr>
              <a:t>)</a:t>
            </a:r>
            <a:r>
              <a:rPr lang="en-IN" dirty="0">
                <a:solidFill>
                  <a:schemeClr val="accent1">
                    <a:lumMod val="75000"/>
                  </a:schemeClr>
                </a:solidFill>
              </a:rPr>
              <a:t/>
            </a:r>
            <a:br>
              <a:rPr lang="en-IN" dirty="0">
                <a:solidFill>
                  <a:schemeClr val="accent1">
                    <a:lumMod val="75000"/>
                  </a:schemeClr>
                </a:solidFill>
              </a:rPr>
            </a:br>
            <a:r>
              <a:rPr lang="en-IN" b="0" i="0" dirty="0">
                <a:solidFill>
                  <a:schemeClr val="accent1">
                    <a:lumMod val="75000"/>
                  </a:schemeClr>
                </a:solidFill>
                <a:effectLst/>
                <a:latin typeface="Monaco"/>
              </a:rPr>
              <a:t>} else {</a:t>
            </a:r>
            <a:r>
              <a:rPr lang="en-IN" dirty="0">
                <a:solidFill>
                  <a:schemeClr val="accent1">
                    <a:lumMod val="75000"/>
                  </a:schemeClr>
                </a:solidFill>
              </a:rPr>
              <a:t/>
            </a:r>
            <a:br>
              <a:rPr lang="en-IN" dirty="0">
                <a:solidFill>
                  <a:schemeClr val="accent1">
                    <a:lumMod val="75000"/>
                  </a:schemeClr>
                </a:solidFill>
              </a:rPr>
            </a:br>
            <a:r>
              <a:rPr lang="en-IN" b="0" i="0" dirty="0">
                <a:solidFill>
                  <a:schemeClr val="accent1">
                    <a:lumMod val="75000"/>
                  </a:schemeClr>
                </a:solidFill>
                <a:effectLst/>
                <a:latin typeface="Monaco"/>
              </a:rPr>
              <a:t>   console.log('The variable does not exist.')</a:t>
            </a:r>
            <a:r>
              <a:rPr lang="en-IN" dirty="0">
                <a:solidFill>
                  <a:schemeClr val="accent1">
                    <a:lumMod val="75000"/>
                  </a:schemeClr>
                </a:solidFill>
              </a:rPr>
              <a:t/>
            </a:r>
            <a:br>
              <a:rPr lang="en-IN" dirty="0">
                <a:solidFill>
                  <a:schemeClr val="accent1">
                    <a:lumMod val="75000"/>
                  </a:schemeClr>
                </a:solidFill>
              </a:rPr>
            </a:br>
            <a:r>
              <a:rPr lang="en-IN" b="0" i="0" dirty="0">
                <a:solidFill>
                  <a:schemeClr val="accent1">
                    <a:lumMod val="75000"/>
                  </a:schemeClr>
                </a:solidFill>
                <a:effectLst/>
                <a:latin typeface="Monaco"/>
              </a:rPr>
              <a:t>}</a:t>
            </a:r>
            <a:endParaRPr lang="en-IN" dirty="0">
              <a:solidFill>
                <a:schemeClr val="accent1">
                  <a:lumMod val="75000"/>
                </a:schemeClr>
              </a:solidFill>
            </a:endParaRPr>
          </a:p>
        </p:txBody>
      </p:sp>
    </p:spTree>
    <p:extLst>
      <p:ext uri="{BB962C8B-B14F-4D97-AF65-F5344CB8AC3E}">
        <p14:creationId xmlns:p14="http://schemas.microsoft.com/office/powerpoint/2010/main" val="312290975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913C29-8F8D-1AA7-0499-A5595F508855}"/>
              </a:ext>
            </a:extLst>
          </p:cNvPr>
          <p:cNvSpPr>
            <a:spLocks noGrp="1"/>
          </p:cNvSpPr>
          <p:nvPr>
            <p:ph type="title"/>
          </p:nvPr>
        </p:nvSpPr>
        <p:spPr/>
        <p:txBody>
          <a:bodyPr/>
          <a:lstStyle/>
          <a:p>
            <a:r>
              <a:rPr lang="en-IN" dirty="0" err="1"/>
              <a:t>Falsy</a:t>
            </a:r>
            <a:endParaRPr lang="en-IN" dirty="0"/>
          </a:p>
        </p:txBody>
      </p:sp>
      <p:sp>
        <p:nvSpPr>
          <p:cNvPr id="3" name="Content Placeholder 2">
            <a:extLst>
              <a:ext uri="{FF2B5EF4-FFF2-40B4-BE49-F238E27FC236}">
                <a16:creationId xmlns:a16="http://schemas.microsoft.com/office/drawing/2014/main" id="{6A112425-4846-7DF9-9DA9-7181201EEA08}"/>
              </a:ext>
            </a:extLst>
          </p:cNvPr>
          <p:cNvSpPr>
            <a:spLocks noGrp="1"/>
          </p:cNvSpPr>
          <p:nvPr>
            <p:ph idx="1"/>
          </p:nvPr>
        </p:nvSpPr>
        <p:spPr/>
        <p:txBody>
          <a:bodyPr>
            <a:normAutofit/>
          </a:bodyPr>
          <a:lstStyle/>
          <a:p>
            <a:r>
              <a:rPr lang="en-US" sz="2000" dirty="0"/>
              <a:t> The list of </a:t>
            </a:r>
            <a:r>
              <a:rPr lang="en-US" sz="2000" dirty="0" err="1"/>
              <a:t>falsy</a:t>
            </a:r>
            <a:r>
              <a:rPr lang="en-US" sz="2000" dirty="0"/>
              <a:t> values includes:</a:t>
            </a:r>
          </a:p>
          <a:p>
            <a:pPr marL="666900" lvl="1" indent="-342900">
              <a:buFont typeface="+mj-lt"/>
              <a:buAutoNum type="arabicPeriod"/>
            </a:pPr>
            <a:r>
              <a:rPr lang="en-US" sz="1800" dirty="0"/>
              <a:t>0</a:t>
            </a:r>
          </a:p>
          <a:p>
            <a:pPr marL="666900" lvl="1" indent="-342900">
              <a:buFont typeface="+mj-lt"/>
              <a:buAutoNum type="arabicPeriod"/>
            </a:pPr>
            <a:r>
              <a:rPr lang="en-US" sz="1800" dirty="0"/>
              <a:t>Empty strings like "" or ''</a:t>
            </a:r>
          </a:p>
          <a:p>
            <a:pPr marL="666900" lvl="1" indent="-342900">
              <a:buFont typeface="+mj-lt"/>
              <a:buAutoNum type="arabicPeriod"/>
            </a:pPr>
            <a:r>
              <a:rPr lang="en-US" sz="1800" dirty="0"/>
              <a:t>null which represent when there is no value at all</a:t>
            </a:r>
          </a:p>
          <a:p>
            <a:pPr marL="666900" lvl="1" indent="-342900">
              <a:buFont typeface="+mj-lt"/>
              <a:buAutoNum type="arabicPeriod"/>
            </a:pPr>
            <a:r>
              <a:rPr lang="en-US" sz="1800" dirty="0"/>
              <a:t>undefined which represent when a declared variable lacks a value</a:t>
            </a:r>
          </a:p>
          <a:p>
            <a:pPr marL="666900" lvl="1" indent="-342900">
              <a:buFont typeface="+mj-lt"/>
              <a:buAutoNum type="arabicPeriod"/>
            </a:pPr>
            <a:r>
              <a:rPr lang="en-US" sz="1800" dirty="0" err="1"/>
              <a:t>NaN</a:t>
            </a:r>
            <a:r>
              <a:rPr lang="en-US" sz="1800" dirty="0"/>
              <a:t>, or Not a Number</a:t>
            </a:r>
            <a:endParaRPr lang="en-IN" sz="1800" dirty="0"/>
          </a:p>
        </p:txBody>
      </p:sp>
    </p:spTree>
    <p:extLst>
      <p:ext uri="{BB962C8B-B14F-4D97-AF65-F5344CB8AC3E}">
        <p14:creationId xmlns:p14="http://schemas.microsoft.com/office/powerpoint/2010/main" val="2920259910"/>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0CF123-BD69-95D1-690B-71E19657C0D0}"/>
              </a:ext>
            </a:extLst>
          </p:cNvPr>
          <p:cNvSpPr>
            <a:spLocks noGrp="1"/>
          </p:cNvSpPr>
          <p:nvPr>
            <p:ph type="title"/>
          </p:nvPr>
        </p:nvSpPr>
        <p:spPr/>
        <p:txBody>
          <a:bodyPr/>
          <a:lstStyle/>
          <a:p>
            <a:r>
              <a:rPr lang="en-IN" dirty="0"/>
              <a:t>Ternary Operator</a:t>
            </a:r>
          </a:p>
        </p:txBody>
      </p:sp>
      <p:sp>
        <p:nvSpPr>
          <p:cNvPr id="3" name="Content Placeholder 2">
            <a:extLst>
              <a:ext uri="{FF2B5EF4-FFF2-40B4-BE49-F238E27FC236}">
                <a16:creationId xmlns:a16="http://schemas.microsoft.com/office/drawing/2014/main" id="{4AEA731F-30FB-E9E7-51C3-EED4D1762B78}"/>
              </a:ext>
            </a:extLst>
          </p:cNvPr>
          <p:cNvSpPr>
            <a:spLocks noGrp="1"/>
          </p:cNvSpPr>
          <p:nvPr>
            <p:ph idx="1"/>
          </p:nvPr>
        </p:nvSpPr>
        <p:spPr>
          <a:xfrm>
            <a:off x="581192" y="2180496"/>
            <a:ext cx="11490833" cy="3678303"/>
          </a:xfrm>
        </p:spPr>
        <p:txBody>
          <a:bodyPr>
            <a:normAutofit/>
          </a:bodyPr>
          <a:lstStyle/>
          <a:p>
            <a:pPr marL="0" indent="0">
              <a:buNone/>
            </a:pPr>
            <a:r>
              <a:rPr lang="en-US" dirty="0"/>
              <a:t>let </a:t>
            </a:r>
            <a:r>
              <a:rPr lang="en-US" dirty="0" err="1"/>
              <a:t>isNightTime</a:t>
            </a:r>
            <a:r>
              <a:rPr lang="en-US" dirty="0"/>
              <a:t> = true;</a:t>
            </a:r>
          </a:p>
          <a:p>
            <a:pPr marL="0" indent="0">
              <a:buNone/>
            </a:pPr>
            <a:r>
              <a:rPr lang="en-US" dirty="0"/>
              <a:t> </a:t>
            </a:r>
          </a:p>
          <a:p>
            <a:pPr marL="0" indent="0">
              <a:buNone/>
            </a:pPr>
            <a:r>
              <a:rPr lang="en-US" dirty="0"/>
              <a:t>if (</a:t>
            </a:r>
            <a:r>
              <a:rPr lang="en-US" dirty="0" err="1"/>
              <a:t>isNightTime</a:t>
            </a:r>
            <a:r>
              <a:rPr lang="en-US" dirty="0"/>
              <a:t>) {</a:t>
            </a:r>
          </a:p>
          <a:p>
            <a:pPr marL="0" indent="0">
              <a:buNone/>
            </a:pPr>
            <a:r>
              <a:rPr lang="en-US" dirty="0"/>
              <a:t>  console.log('Turn on the lights!');</a:t>
            </a:r>
          </a:p>
          <a:p>
            <a:pPr marL="0" indent="0">
              <a:buNone/>
            </a:pPr>
            <a:r>
              <a:rPr lang="en-US" dirty="0"/>
              <a:t>} else {</a:t>
            </a:r>
          </a:p>
          <a:p>
            <a:pPr marL="0" indent="0">
              <a:buNone/>
            </a:pPr>
            <a:r>
              <a:rPr lang="en-US" dirty="0"/>
              <a:t>  console.log('Turn off the lights!');</a:t>
            </a:r>
          </a:p>
          <a:p>
            <a:pPr marL="0" indent="0">
              <a:buNone/>
            </a:pPr>
            <a:r>
              <a:rPr lang="en-US" dirty="0"/>
              <a:t>}</a:t>
            </a:r>
          </a:p>
          <a:p>
            <a:pPr marL="0" indent="0">
              <a:buNone/>
            </a:pPr>
            <a:r>
              <a:rPr lang="en-US" dirty="0">
                <a:solidFill>
                  <a:srgbClr val="FF0000"/>
                </a:solidFill>
              </a:rPr>
              <a:t>OR</a:t>
            </a:r>
          </a:p>
          <a:p>
            <a:pPr marL="0" indent="0">
              <a:buNone/>
            </a:pPr>
            <a:r>
              <a:rPr lang="en-US" b="1" dirty="0" err="1"/>
              <a:t>isNightTime</a:t>
            </a:r>
            <a:r>
              <a:rPr lang="en-US" b="1" dirty="0"/>
              <a:t> ? console.log('Turn on the lights!') : console.log('Turn off the lights!');</a:t>
            </a:r>
            <a:endParaRPr lang="en-IN" b="1" dirty="0"/>
          </a:p>
        </p:txBody>
      </p:sp>
    </p:spTree>
    <p:extLst>
      <p:ext uri="{BB962C8B-B14F-4D97-AF65-F5344CB8AC3E}">
        <p14:creationId xmlns:p14="http://schemas.microsoft.com/office/powerpoint/2010/main" val="2903382468"/>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19DA2E-C0D0-BBDE-7EB0-A033BD72A095}"/>
              </a:ext>
            </a:extLst>
          </p:cNvPr>
          <p:cNvSpPr>
            <a:spLocks noGrp="1"/>
          </p:cNvSpPr>
          <p:nvPr>
            <p:ph type="title"/>
          </p:nvPr>
        </p:nvSpPr>
        <p:spPr/>
        <p:txBody>
          <a:bodyPr/>
          <a:lstStyle/>
          <a:p>
            <a:r>
              <a:rPr lang="en-IN" dirty="0"/>
              <a:t>Else If Statements</a:t>
            </a:r>
          </a:p>
        </p:txBody>
      </p:sp>
      <p:sp>
        <p:nvSpPr>
          <p:cNvPr id="3" name="Content Placeholder 2">
            <a:extLst>
              <a:ext uri="{FF2B5EF4-FFF2-40B4-BE49-F238E27FC236}">
                <a16:creationId xmlns:a16="http://schemas.microsoft.com/office/drawing/2014/main" id="{6F134F55-E3AE-8903-C1DE-4302A3BBE8BE}"/>
              </a:ext>
            </a:extLst>
          </p:cNvPr>
          <p:cNvSpPr>
            <a:spLocks noGrp="1"/>
          </p:cNvSpPr>
          <p:nvPr>
            <p:ph idx="1"/>
          </p:nvPr>
        </p:nvSpPr>
        <p:spPr/>
        <p:txBody>
          <a:bodyPr>
            <a:normAutofit fontScale="62500" lnSpcReduction="20000"/>
          </a:bodyPr>
          <a:lstStyle/>
          <a:p>
            <a:pPr marL="0" indent="0">
              <a:buNone/>
            </a:pPr>
            <a:r>
              <a:rPr lang="en-US" dirty="0"/>
              <a:t>let season = 'summer';</a:t>
            </a:r>
          </a:p>
          <a:p>
            <a:pPr marL="0" indent="0">
              <a:buNone/>
            </a:pPr>
            <a:r>
              <a:rPr lang="en-US" dirty="0"/>
              <a:t>if (season === 'spring') {</a:t>
            </a:r>
          </a:p>
          <a:p>
            <a:pPr marL="0" indent="0">
              <a:buNone/>
            </a:pPr>
            <a:r>
              <a:rPr lang="en-US" dirty="0"/>
              <a:t>  console.log('It\'s spring! The trees are budding!');</a:t>
            </a:r>
          </a:p>
          <a:p>
            <a:pPr marL="0" indent="0">
              <a:buNone/>
            </a:pPr>
            <a:r>
              <a:rPr lang="en-US" dirty="0"/>
              <a:t>} else if (season === 'winter') {</a:t>
            </a:r>
          </a:p>
          <a:p>
            <a:pPr marL="0" indent="0">
              <a:buNone/>
            </a:pPr>
            <a:r>
              <a:rPr lang="en-US" dirty="0"/>
              <a:t>  console.log('It\'s winter! Everything is covered in snow.');</a:t>
            </a:r>
          </a:p>
          <a:p>
            <a:pPr marL="0" indent="0">
              <a:buNone/>
            </a:pPr>
            <a:r>
              <a:rPr lang="en-US" dirty="0"/>
              <a:t>}</a:t>
            </a:r>
          </a:p>
          <a:p>
            <a:pPr marL="0" indent="0">
              <a:buNone/>
            </a:pPr>
            <a:r>
              <a:rPr lang="en-US" dirty="0"/>
              <a:t>else if (season === 'fall') {</a:t>
            </a:r>
          </a:p>
          <a:p>
            <a:pPr marL="0" indent="0">
              <a:buNone/>
            </a:pPr>
            <a:r>
              <a:rPr lang="en-US" dirty="0"/>
              <a:t>  console.log('It\'s fall! Leaves are falling!');</a:t>
            </a:r>
          </a:p>
          <a:p>
            <a:pPr marL="0" indent="0">
              <a:buNone/>
            </a:pPr>
            <a:r>
              <a:rPr lang="en-US" dirty="0"/>
              <a:t>}else if (season === 'summer') {</a:t>
            </a:r>
          </a:p>
          <a:p>
            <a:pPr marL="0" indent="0">
              <a:buNone/>
            </a:pPr>
            <a:r>
              <a:rPr lang="en-US" dirty="0"/>
              <a:t>  console.log('It\'s sunny and warm because it\'s summer!');</a:t>
            </a:r>
          </a:p>
          <a:p>
            <a:pPr marL="0" indent="0">
              <a:buNone/>
            </a:pPr>
            <a:r>
              <a:rPr lang="en-US" dirty="0"/>
              <a:t>}else</a:t>
            </a:r>
          </a:p>
          <a:p>
            <a:pPr marL="0" indent="0">
              <a:buNone/>
            </a:pPr>
            <a:r>
              <a:rPr lang="en-US" dirty="0"/>
              <a:t>{</a:t>
            </a:r>
          </a:p>
          <a:p>
            <a:pPr marL="0" indent="0">
              <a:buNone/>
            </a:pPr>
            <a:r>
              <a:rPr lang="en-US" dirty="0"/>
              <a:t>  console.log('Invalid season.');</a:t>
            </a:r>
          </a:p>
          <a:p>
            <a:pPr marL="0" indent="0">
              <a:buNone/>
            </a:pPr>
            <a:r>
              <a:rPr lang="en-US" dirty="0"/>
              <a:t>}</a:t>
            </a:r>
            <a:endParaRPr lang="en-IN" dirty="0"/>
          </a:p>
        </p:txBody>
      </p:sp>
    </p:spTree>
    <p:extLst>
      <p:ext uri="{BB962C8B-B14F-4D97-AF65-F5344CB8AC3E}">
        <p14:creationId xmlns:p14="http://schemas.microsoft.com/office/powerpoint/2010/main" val="378944436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89CEC0-104A-4AA7-1725-FB04DC3E055A}"/>
              </a:ext>
            </a:extLst>
          </p:cNvPr>
          <p:cNvSpPr>
            <a:spLocks noGrp="1"/>
          </p:cNvSpPr>
          <p:nvPr>
            <p:ph type="title"/>
          </p:nvPr>
        </p:nvSpPr>
        <p:spPr/>
        <p:txBody>
          <a:bodyPr/>
          <a:lstStyle/>
          <a:p>
            <a:r>
              <a:rPr lang="en-IN" dirty="0"/>
              <a:t>The switch…. Case</a:t>
            </a:r>
          </a:p>
        </p:txBody>
      </p:sp>
      <p:sp>
        <p:nvSpPr>
          <p:cNvPr id="3" name="Content Placeholder 2">
            <a:extLst>
              <a:ext uri="{FF2B5EF4-FFF2-40B4-BE49-F238E27FC236}">
                <a16:creationId xmlns:a16="http://schemas.microsoft.com/office/drawing/2014/main" id="{1F4DB3CB-9151-A9BD-BC8B-1BD6B4510FA8}"/>
              </a:ext>
            </a:extLst>
          </p:cNvPr>
          <p:cNvSpPr>
            <a:spLocks noGrp="1"/>
          </p:cNvSpPr>
          <p:nvPr>
            <p:ph idx="1"/>
          </p:nvPr>
        </p:nvSpPr>
        <p:spPr>
          <a:xfrm>
            <a:off x="581192" y="2180496"/>
            <a:ext cx="11029615" cy="4444040"/>
          </a:xfrm>
        </p:spPr>
        <p:txBody>
          <a:bodyPr>
            <a:normAutofit/>
          </a:bodyPr>
          <a:lstStyle/>
          <a:p>
            <a:pPr marL="0" indent="0">
              <a:buNone/>
            </a:pPr>
            <a:r>
              <a:rPr lang="en-IN" sz="1000" dirty="0"/>
              <a:t>let </a:t>
            </a:r>
            <a:r>
              <a:rPr lang="en-IN" sz="1000" dirty="0" err="1"/>
              <a:t>groceryItem</a:t>
            </a:r>
            <a:r>
              <a:rPr lang="en-IN" sz="1000" dirty="0"/>
              <a:t> = 'papaya';</a:t>
            </a:r>
          </a:p>
          <a:p>
            <a:pPr marL="0" indent="0">
              <a:buNone/>
            </a:pPr>
            <a:r>
              <a:rPr lang="en-IN" sz="1000" dirty="0"/>
              <a:t>switch (</a:t>
            </a:r>
            <a:r>
              <a:rPr lang="en-IN" sz="1000" dirty="0" err="1"/>
              <a:t>groceryItem</a:t>
            </a:r>
            <a:r>
              <a:rPr lang="en-IN" sz="1000" dirty="0"/>
              <a:t>) {</a:t>
            </a:r>
          </a:p>
          <a:p>
            <a:pPr marL="0" indent="0">
              <a:buNone/>
            </a:pPr>
            <a:r>
              <a:rPr lang="en-IN" sz="1000" dirty="0"/>
              <a:t>  case 'tomato':</a:t>
            </a:r>
          </a:p>
          <a:p>
            <a:pPr marL="0" indent="0">
              <a:buNone/>
            </a:pPr>
            <a:r>
              <a:rPr lang="en-IN" sz="1000" dirty="0"/>
              <a:t>    console.log('Tomatoes are $0.49');</a:t>
            </a:r>
          </a:p>
          <a:p>
            <a:pPr marL="0" indent="0">
              <a:buNone/>
            </a:pPr>
            <a:r>
              <a:rPr lang="en-IN" sz="1000" dirty="0"/>
              <a:t>    break;</a:t>
            </a:r>
          </a:p>
          <a:p>
            <a:pPr marL="0" indent="0">
              <a:buNone/>
            </a:pPr>
            <a:r>
              <a:rPr lang="en-IN" sz="1000" dirty="0"/>
              <a:t>  case 'lime':</a:t>
            </a:r>
          </a:p>
          <a:p>
            <a:pPr marL="0" indent="0">
              <a:buNone/>
            </a:pPr>
            <a:r>
              <a:rPr lang="en-IN" sz="1000" dirty="0"/>
              <a:t>    console.log('Limes are $1.49');</a:t>
            </a:r>
          </a:p>
          <a:p>
            <a:pPr marL="0" indent="0">
              <a:buNone/>
            </a:pPr>
            <a:r>
              <a:rPr lang="en-IN" sz="1000" dirty="0"/>
              <a:t>    break;</a:t>
            </a:r>
          </a:p>
          <a:p>
            <a:pPr marL="0" indent="0">
              <a:buNone/>
            </a:pPr>
            <a:r>
              <a:rPr lang="en-IN" sz="1000" dirty="0"/>
              <a:t>  case 'papaya':</a:t>
            </a:r>
          </a:p>
          <a:p>
            <a:pPr marL="0" indent="0">
              <a:buNone/>
            </a:pPr>
            <a:r>
              <a:rPr lang="en-IN" sz="1000" dirty="0"/>
              <a:t>    console.log('Papayas are $1.29');</a:t>
            </a:r>
          </a:p>
          <a:p>
            <a:pPr marL="0" indent="0">
              <a:buNone/>
            </a:pPr>
            <a:r>
              <a:rPr lang="en-IN" sz="1000" dirty="0"/>
              <a:t>    break;</a:t>
            </a:r>
          </a:p>
          <a:p>
            <a:pPr marL="0" indent="0">
              <a:buNone/>
            </a:pPr>
            <a:r>
              <a:rPr lang="en-IN" sz="1000" dirty="0"/>
              <a:t>  default:</a:t>
            </a:r>
          </a:p>
          <a:p>
            <a:pPr marL="0" indent="0">
              <a:buNone/>
            </a:pPr>
            <a:r>
              <a:rPr lang="en-IN" sz="1000" dirty="0"/>
              <a:t>    console.log('Invalid item');</a:t>
            </a:r>
          </a:p>
          <a:p>
            <a:pPr marL="0" indent="0">
              <a:buNone/>
            </a:pPr>
            <a:r>
              <a:rPr lang="en-IN" sz="1000" dirty="0"/>
              <a:t>    break;</a:t>
            </a:r>
          </a:p>
          <a:p>
            <a:pPr marL="0" indent="0">
              <a:buNone/>
            </a:pPr>
            <a:r>
              <a:rPr lang="en-IN" sz="1000" dirty="0"/>
              <a:t>}</a:t>
            </a:r>
          </a:p>
          <a:p>
            <a:pPr marL="0" indent="0">
              <a:buNone/>
            </a:pPr>
            <a:r>
              <a:rPr lang="en-IN" sz="1000" dirty="0"/>
              <a:t>// Prints 'Papayas are $1.29'</a:t>
            </a:r>
          </a:p>
        </p:txBody>
      </p:sp>
    </p:spTree>
    <p:extLst>
      <p:ext uri="{BB962C8B-B14F-4D97-AF65-F5344CB8AC3E}">
        <p14:creationId xmlns:p14="http://schemas.microsoft.com/office/powerpoint/2010/main" val="301027752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61454-DB63-63C3-2509-36E0B82E719E}"/>
              </a:ext>
            </a:extLst>
          </p:cNvPr>
          <p:cNvSpPr>
            <a:spLocks noGrp="1"/>
          </p:cNvSpPr>
          <p:nvPr>
            <p:ph type="title"/>
          </p:nvPr>
        </p:nvSpPr>
        <p:spPr/>
        <p:txBody>
          <a:bodyPr/>
          <a:lstStyle/>
          <a:p>
            <a:r>
              <a:rPr lang="en-IN" dirty="0"/>
              <a:t>Function Declarations</a:t>
            </a:r>
          </a:p>
        </p:txBody>
      </p:sp>
      <p:sp>
        <p:nvSpPr>
          <p:cNvPr id="3" name="Content Placeholder 2">
            <a:extLst>
              <a:ext uri="{FF2B5EF4-FFF2-40B4-BE49-F238E27FC236}">
                <a16:creationId xmlns:a16="http://schemas.microsoft.com/office/drawing/2014/main" id="{E78C1B72-9C2B-47C8-136B-797E015FC1BA}"/>
              </a:ext>
            </a:extLst>
          </p:cNvPr>
          <p:cNvSpPr>
            <a:spLocks noGrp="1"/>
          </p:cNvSpPr>
          <p:nvPr>
            <p:ph idx="1"/>
          </p:nvPr>
        </p:nvSpPr>
        <p:spPr>
          <a:xfrm>
            <a:off x="581193" y="2180496"/>
            <a:ext cx="11029615" cy="3678303"/>
          </a:xfrm>
        </p:spPr>
        <p:txBody>
          <a:bodyPr/>
          <a:lstStyle/>
          <a:p>
            <a:r>
              <a:rPr lang="en-US" dirty="0"/>
              <a:t>In JavaScript, there are many ways to create a function. One way to create a function is by using a function declaration. Just like how a variable declaration binds a value to a variable name, a function declaration binds a function to a name, or an identifier. Take a look at the anatomy of a function declaration below:</a:t>
            </a:r>
          </a:p>
          <a:p>
            <a:endParaRPr lang="en-US" dirty="0"/>
          </a:p>
          <a:p>
            <a:pPr marL="0" indent="0">
              <a:buNone/>
            </a:pPr>
            <a:r>
              <a:rPr lang="en-US" dirty="0" err="1"/>
              <a:t>greetWorld</a:t>
            </a:r>
            <a:r>
              <a:rPr lang="en-US" dirty="0"/>
              <a:t>(); // Output: Hello, World!</a:t>
            </a:r>
          </a:p>
          <a:p>
            <a:pPr marL="0" indent="0">
              <a:buNone/>
            </a:pPr>
            <a:r>
              <a:rPr lang="en-US" dirty="0"/>
              <a:t> </a:t>
            </a:r>
          </a:p>
          <a:p>
            <a:pPr marL="0" indent="0">
              <a:buNone/>
            </a:pPr>
            <a:r>
              <a:rPr lang="en-US" dirty="0"/>
              <a:t>function </a:t>
            </a:r>
            <a:r>
              <a:rPr lang="en-US" dirty="0" err="1"/>
              <a:t>greetWorld</a:t>
            </a:r>
            <a:r>
              <a:rPr lang="en-US" dirty="0"/>
              <a:t>() {</a:t>
            </a:r>
          </a:p>
          <a:p>
            <a:pPr marL="0" indent="0">
              <a:buNone/>
            </a:pPr>
            <a:r>
              <a:rPr lang="en-US" dirty="0"/>
              <a:t>  console.log('Hello, World!');</a:t>
            </a:r>
          </a:p>
          <a:p>
            <a:pPr marL="0" indent="0">
              <a:buNone/>
            </a:pPr>
            <a:r>
              <a:rPr lang="en-US" dirty="0"/>
              <a:t>}</a:t>
            </a:r>
            <a:endParaRPr lang="en-IN" dirty="0"/>
          </a:p>
        </p:txBody>
      </p:sp>
    </p:spTree>
    <p:extLst>
      <p:ext uri="{BB962C8B-B14F-4D97-AF65-F5344CB8AC3E}">
        <p14:creationId xmlns:p14="http://schemas.microsoft.com/office/powerpoint/2010/main" val="253283178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9208C-EF36-E652-BC1D-F9B22CC80442}"/>
              </a:ext>
            </a:extLst>
          </p:cNvPr>
          <p:cNvSpPr>
            <a:spLocks noGrp="1"/>
          </p:cNvSpPr>
          <p:nvPr>
            <p:ph type="title"/>
          </p:nvPr>
        </p:nvSpPr>
        <p:spPr/>
        <p:txBody>
          <a:bodyPr/>
          <a:lstStyle/>
          <a:p>
            <a:r>
              <a:rPr lang="en-IN" dirty="0"/>
              <a:t>Calling a Function</a:t>
            </a:r>
          </a:p>
        </p:txBody>
      </p:sp>
      <p:sp>
        <p:nvSpPr>
          <p:cNvPr id="3" name="Content Placeholder 2">
            <a:extLst>
              <a:ext uri="{FF2B5EF4-FFF2-40B4-BE49-F238E27FC236}">
                <a16:creationId xmlns:a16="http://schemas.microsoft.com/office/drawing/2014/main" id="{3E487251-2C46-AC53-E2B3-8B68DBF9CAAB}"/>
              </a:ext>
            </a:extLst>
          </p:cNvPr>
          <p:cNvSpPr>
            <a:spLocks noGrp="1"/>
          </p:cNvSpPr>
          <p:nvPr>
            <p:ph idx="1"/>
          </p:nvPr>
        </p:nvSpPr>
        <p:spPr/>
        <p:txBody>
          <a:bodyPr>
            <a:normAutofit lnSpcReduction="10000"/>
          </a:bodyPr>
          <a:lstStyle/>
          <a:p>
            <a:r>
              <a:rPr lang="en-US" dirty="0"/>
              <a:t>However, a function declaration does not ask the code inside the function body to run, it just declares the existence of the function. The code inside a function body runs, or executes, only when the function is called.</a:t>
            </a:r>
          </a:p>
          <a:p>
            <a:r>
              <a:rPr lang="en-US" dirty="0"/>
              <a:t>To call a function in your code, you type the function name followed by parentheses.</a:t>
            </a:r>
          </a:p>
          <a:p>
            <a:pPr marL="0" indent="0">
              <a:buNone/>
            </a:pPr>
            <a:r>
              <a:rPr lang="en-US" dirty="0" err="1"/>
              <a:t>greetWorld</a:t>
            </a:r>
            <a:r>
              <a:rPr lang="en-US" dirty="0"/>
              <a:t>(); // Output: Hello, World!</a:t>
            </a:r>
          </a:p>
          <a:p>
            <a:pPr marL="0" indent="0">
              <a:buNone/>
            </a:pPr>
            <a:r>
              <a:rPr lang="en-US" dirty="0"/>
              <a:t> </a:t>
            </a:r>
          </a:p>
          <a:p>
            <a:pPr marL="0" indent="0">
              <a:buNone/>
            </a:pPr>
            <a:r>
              <a:rPr lang="en-US" dirty="0"/>
              <a:t>function </a:t>
            </a:r>
            <a:r>
              <a:rPr lang="en-US" dirty="0" err="1"/>
              <a:t>greetWorld</a:t>
            </a:r>
            <a:r>
              <a:rPr lang="en-US" dirty="0"/>
              <a:t>() {</a:t>
            </a:r>
          </a:p>
          <a:p>
            <a:pPr marL="0" indent="0">
              <a:buNone/>
            </a:pPr>
            <a:r>
              <a:rPr lang="en-US" dirty="0"/>
              <a:t>  console.log('Hello, World!');</a:t>
            </a:r>
          </a:p>
          <a:p>
            <a:pPr marL="0" indent="0">
              <a:buNone/>
            </a:pPr>
            <a:r>
              <a:rPr lang="en-US" dirty="0"/>
              <a:t>}</a:t>
            </a:r>
            <a:endParaRPr lang="en-IN" dirty="0"/>
          </a:p>
          <a:p>
            <a:pPr marL="0" indent="0">
              <a:buNone/>
            </a:pPr>
            <a:r>
              <a:rPr lang="en-US" dirty="0" err="1"/>
              <a:t>greetWorld</a:t>
            </a:r>
            <a:r>
              <a:rPr lang="en-US" dirty="0"/>
              <a:t>();</a:t>
            </a:r>
            <a:endParaRPr lang="en-IN" dirty="0"/>
          </a:p>
        </p:txBody>
      </p:sp>
    </p:spTree>
    <p:extLst>
      <p:ext uri="{BB962C8B-B14F-4D97-AF65-F5344CB8AC3E}">
        <p14:creationId xmlns:p14="http://schemas.microsoft.com/office/powerpoint/2010/main" val="46895068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763AD-5ACE-E5D9-8D78-70E9E10B047F}"/>
              </a:ext>
            </a:extLst>
          </p:cNvPr>
          <p:cNvSpPr>
            <a:spLocks noGrp="1"/>
          </p:cNvSpPr>
          <p:nvPr>
            <p:ph type="title"/>
          </p:nvPr>
        </p:nvSpPr>
        <p:spPr/>
        <p:txBody>
          <a:bodyPr/>
          <a:lstStyle/>
          <a:p>
            <a:r>
              <a:rPr lang="en-IN" dirty="0"/>
              <a:t>Parameters and Arguments</a:t>
            </a:r>
          </a:p>
        </p:txBody>
      </p:sp>
      <p:sp>
        <p:nvSpPr>
          <p:cNvPr id="3" name="Content Placeholder 2">
            <a:extLst>
              <a:ext uri="{FF2B5EF4-FFF2-40B4-BE49-F238E27FC236}">
                <a16:creationId xmlns:a16="http://schemas.microsoft.com/office/drawing/2014/main" id="{D0B65CCE-81C9-DCA5-2858-95EDDD3DBEDF}"/>
              </a:ext>
            </a:extLst>
          </p:cNvPr>
          <p:cNvSpPr>
            <a:spLocks noGrp="1"/>
          </p:cNvSpPr>
          <p:nvPr>
            <p:ph idx="1"/>
          </p:nvPr>
        </p:nvSpPr>
        <p:spPr>
          <a:xfrm>
            <a:off x="581192" y="2180496"/>
            <a:ext cx="4243727" cy="3678303"/>
          </a:xfrm>
        </p:spPr>
        <p:txBody>
          <a:bodyPr/>
          <a:lstStyle/>
          <a:p>
            <a:pPr algn="just"/>
            <a:r>
              <a:rPr lang="en-US" dirty="0"/>
              <a:t>So far, the functions we’ve created execute a task without an input. However, some functions can take inputs and use the inputs to perform a task. When declaring a function, we can specify its parameters. Parameters allow functions to accept input(s) and perform a task using the input(s). We use parameters as placeholders for information that will be passed to the function when it is called.</a:t>
            </a:r>
            <a:endParaRPr lang="en-IN" dirty="0"/>
          </a:p>
        </p:txBody>
      </p:sp>
      <p:sp>
        <p:nvSpPr>
          <p:cNvPr id="5" name="TextBox 4">
            <a:extLst>
              <a:ext uri="{FF2B5EF4-FFF2-40B4-BE49-F238E27FC236}">
                <a16:creationId xmlns:a16="http://schemas.microsoft.com/office/drawing/2014/main" id="{D3B88991-72F0-D883-BDD1-5478A6699EDE}"/>
              </a:ext>
            </a:extLst>
          </p:cNvPr>
          <p:cNvSpPr txBox="1"/>
          <p:nvPr/>
        </p:nvSpPr>
        <p:spPr>
          <a:xfrm>
            <a:off x="5654202" y="2447145"/>
            <a:ext cx="6094378" cy="1477328"/>
          </a:xfrm>
          <a:prstGeom prst="rect">
            <a:avLst/>
          </a:prstGeom>
          <a:noFill/>
        </p:spPr>
        <p:txBody>
          <a:bodyPr wrap="square">
            <a:spAutoFit/>
          </a:bodyPr>
          <a:lstStyle/>
          <a:p>
            <a:r>
              <a:rPr lang="en-US" b="0" dirty="0">
                <a:solidFill>
                  <a:schemeClr val="tx2">
                    <a:lumMod val="75000"/>
                  </a:schemeClr>
                </a:solidFill>
                <a:effectLst/>
                <a:latin typeface="Monaco, Menlo,  Ubuntu Mono"/>
              </a:rPr>
              <a:t>function </a:t>
            </a:r>
            <a:r>
              <a:rPr lang="en-US" b="0" dirty="0" err="1">
                <a:solidFill>
                  <a:schemeClr val="tx2">
                    <a:lumMod val="75000"/>
                  </a:schemeClr>
                </a:solidFill>
                <a:effectLst/>
                <a:latin typeface="Monaco, Menlo,  Ubuntu Mono"/>
              </a:rPr>
              <a:t>sayThanks</a:t>
            </a:r>
            <a:r>
              <a:rPr lang="en-US" b="0" dirty="0">
                <a:solidFill>
                  <a:schemeClr val="tx2">
                    <a:lumMod val="75000"/>
                  </a:schemeClr>
                </a:solidFill>
                <a:effectLst/>
                <a:latin typeface="Monaco, Menlo,  Ubuntu Mono"/>
              </a:rPr>
              <a:t>(name) {</a:t>
            </a:r>
          </a:p>
          <a:p>
            <a:r>
              <a:rPr lang="en-US" b="0" dirty="0">
                <a:solidFill>
                  <a:schemeClr val="tx2">
                    <a:lumMod val="75000"/>
                  </a:schemeClr>
                </a:solidFill>
                <a:effectLst/>
                <a:latin typeface="Monaco, Menlo,  Ubuntu Mono"/>
              </a:rPr>
              <a:t>  console.log('Thank you for your purchase '+ name + '! We appreciate your business.');</a:t>
            </a:r>
          </a:p>
          <a:p>
            <a:r>
              <a:rPr lang="en-US" b="0" dirty="0">
                <a:solidFill>
                  <a:schemeClr val="tx2">
                    <a:lumMod val="75000"/>
                  </a:schemeClr>
                </a:solidFill>
                <a:effectLst/>
                <a:latin typeface="Monaco, Menlo,  Ubuntu Mono"/>
              </a:rPr>
              <a:t>}</a:t>
            </a:r>
          </a:p>
          <a:p>
            <a:r>
              <a:rPr lang="en-US" b="0" dirty="0" err="1">
                <a:solidFill>
                  <a:schemeClr val="tx2">
                    <a:lumMod val="75000"/>
                  </a:schemeClr>
                </a:solidFill>
                <a:effectLst/>
                <a:latin typeface="Monaco, Menlo,  Ubuntu Mono"/>
              </a:rPr>
              <a:t>sayThanks</a:t>
            </a:r>
            <a:r>
              <a:rPr lang="en-US" b="0" dirty="0">
                <a:solidFill>
                  <a:schemeClr val="tx2">
                    <a:lumMod val="75000"/>
                  </a:schemeClr>
                </a:solidFill>
                <a:effectLst/>
                <a:latin typeface="Monaco, Menlo,  Ubuntu Mono"/>
              </a:rPr>
              <a:t>('Rudra');</a:t>
            </a:r>
          </a:p>
        </p:txBody>
      </p:sp>
    </p:spTree>
    <p:extLst>
      <p:ext uri="{BB962C8B-B14F-4D97-AF65-F5344CB8AC3E}">
        <p14:creationId xmlns:p14="http://schemas.microsoft.com/office/powerpoint/2010/main" val="261558930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7E932B-40F9-DA5F-7CCE-EB204E56F534}"/>
              </a:ext>
            </a:extLst>
          </p:cNvPr>
          <p:cNvSpPr>
            <a:spLocks noGrp="1"/>
          </p:cNvSpPr>
          <p:nvPr>
            <p:ph type="title"/>
          </p:nvPr>
        </p:nvSpPr>
        <p:spPr/>
        <p:txBody>
          <a:bodyPr/>
          <a:lstStyle/>
          <a:p>
            <a:r>
              <a:rPr lang="en-IN" dirty="0"/>
              <a:t>Default Parameters</a:t>
            </a:r>
          </a:p>
        </p:txBody>
      </p:sp>
      <p:sp>
        <p:nvSpPr>
          <p:cNvPr id="3" name="Content Placeholder 2">
            <a:extLst>
              <a:ext uri="{FF2B5EF4-FFF2-40B4-BE49-F238E27FC236}">
                <a16:creationId xmlns:a16="http://schemas.microsoft.com/office/drawing/2014/main" id="{BF6F2CFE-FEBB-BAF9-E525-7B8ED27D572F}"/>
              </a:ext>
            </a:extLst>
          </p:cNvPr>
          <p:cNvSpPr>
            <a:spLocks noGrp="1"/>
          </p:cNvSpPr>
          <p:nvPr>
            <p:ph idx="1"/>
          </p:nvPr>
        </p:nvSpPr>
        <p:spPr/>
        <p:txBody>
          <a:bodyPr>
            <a:normAutofit/>
          </a:bodyPr>
          <a:lstStyle/>
          <a:p>
            <a:r>
              <a:rPr lang="en-US" dirty="0"/>
              <a:t>One of the features added in ES6 is the ability to use default parameters. Default parameters allow parameters to have a predetermined value in case there is no argument passed into the function or if the argument is undefined when called.</a:t>
            </a:r>
          </a:p>
          <a:p>
            <a:endParaRPr lang="en-US" dirty="0"/>
          </a:p>
          <a:p>
            <a:pPr marL="0" indent="0">
              <a:buNone/>
            </a:pPr>
            <a:r>
              <a:rPr lang="en-IN" dirty="0"/>
              <a:t>function greeting (name = 'stranger') {</a:t>
            </a:r>
          </a:p>
          <a:p>
            <a:pPr marL="0" indent="0">
              <a:buNone/>
            </a:pPr>
            <a:r>
              <a:rPr lang="en-IN" dirty="0"/>
              <a:t>  console.log(`Hello, ${name}!`)</a:t>
            </a:r>
          </a:p>
          <a:p>
            <a:pPr marL="0" indent="0">
              <a:buNone/>
            </a:pPr>
            <a:r>
              <a:rPr lang="en-IN" dirty="0"/>
              <a:t>}</a:t>
            </a:r>
          </a:p>
          <a:p>
            <a:pPr marL="0" indent="0">
              <a:buNone/>
            </a:pPr>
            <a:r>
              <a:rPr lang="en-IN" dirty="0"/>
              <a:t>greeting(‘Rishi') // Output: Hello, Rishi!</a:t>
            </a:r>
          </a:p>
          <a:p>
            <a:pPr marL="0" indent="0">
              <a:buNone/>
            </a:pPr>
            <a:r>
              <a:rPr lang="en-IN" dirty="0"/>
              <a:t>greeting() // Output: Hello, stranger!</a:t>
            </a:r>
          </a:p>
        </p:txBody>
      </p:sp>
    </p:spTree>
    <p:extLst>
      <p:ext uri="{BB962C8B-B14F-4D97-AF65-F5344CB8AC3E}">
        <p14:creationId xmlns:p14="http://schemas.microsoft.com/office/powerpoint/2010/main" val="358573721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70926-58C7-0448-5AEC-5F2243FA7979}"/>
              </a:ext>
            </a:extLst>
          </p:cNvPr>
          <p:cNvSpPr>
            <a:spLocks noGrp="1"/>
          </p:cNvSpPr>
          <p:nvPr>
            <p:ph type="title"/>
          </p:nvPr>
        </p:nvSpPr>
        <p:spPr/>
        <p:txBody>
          <a:bodyPr/>
          <a:lstStyle/>
          <a:p>
            <a:r>
              <a:rPr lang="en-IN" dirty="0"/>
              <a:t>Return</a:t>
            </a:r>
          </a:p>
        </p:txBody>
      </p:sp>
      <p:sp>
        <p:nvSpPr>
          <p:cNvPr id="3" name="Content Placeholder 2">
            <a:extLst>
              <a:ext uri="{FF2B5EF4-FFF2-40B4-BE49-F238E27FC236}">
                <a16:creationId xmlns:a16="http://schemas.microsoft.com/office/drawing/2014/main" id="{104BF163-90A6-AA81-5E45-86B8F741A1FA}"/>
              </a:ext>
            </a:extLst>
          </p:cNvPr>
          <p:cNvSpPr>
            <a:spLocks noGrp="1"/>
          </p:cNvSpPr>
          <p:nvPr>
            <p:ph idx="1"/>
          </p:nvPr>
        </p:nvSpPr>
        <p:spPr>
          <a:xfrm>
            <a:off x="581192" y="2180496"/>
            <a:ext cx="11029615" cy="4054934"/>
          </a:xfrm>
        </p:spPr>
        <p:txBody>
          <a:bodyPr/>
          <a:lstStyle/>
          <a:p>
            <a:r>
              <a:rPr lang="en-US" dirty="0"/>
              <a:t>When a function is called, the computer will run through the function’s code and evaluate the result of calling the function. By default that resulting value is undefined.</a:t>
            </a:r>
          </a:p>
          <a:p>
            <a:pPr marL="0" indent="0">
              <a:buNone/>
            </a:pPr>
            <a:r>
              <a:rPr lang="en-US" dirty="0">
                <a:solidFill>
                  <a:srgbClr val="FF0000"/>
                </a:solidFill>
              </a:rPr>
              <a:t>function </a:t>
            </a:r>
            <a:r>
              <a:rPr lang="en-US" dirty="0" err="1">
                <a:solidFill>
                  <a:srgbClr val="FF0000"/>
                </a:solidFill>
              </a:rPr>
              <a:t>rectangleArea</a:t>
            </a:r>
            <a:r>
              <a:rPr lang="en-US" dirty="0">
                <a:solidFill>
                  <a:srgbClr val="FF0000"/>
                </a:solidFill>
              </a:rPr>
              <a:t>(width, height) {</a:t>
            </a:r>
          </a:p>
          <a:p>
            <a:pPr marL="0" indent="0">
              <a:buNone/>
            </a:pPr>
            <a:r>
              <a:rPr lang="en-US" dirty="0">
                <a:solidFill>
                  <a:srgbClr val="FF0000"/>
                </a:solidFill>
              </a:rPr>
              <a:t>  let area = width * height;</a:t>
            </a:r>
          </a:p>
          <a:p>
            <a:pPr marL="0" indent="0">
              <a:buNone/>
            </a:pPr>
            <a:r>
              <a:rPr lang="en-US" dirty="0">
                <a:solidFill>
                  <a:srgbClr val="FF0000"/>
                </a:solidFill>
              </a:rPr>
              <a:t>}</a:t>
            </a:r>
          </a:p>
          <a:p>
            <a:pPr marL="0" indent="0">
              <a:buNone/>
            </a:pPr>
            <a:r>
              <a:rPr lang="en-US" dirty="0">
                <a:solidFill>
                  <a:srgbClr val="FF0000"/>
                </a:solidFill>
              </a:rPr>
              <a:t>console.log(</a:t>
            </a:r>
            <a:r>
              <a:rPr lang="en-US" dirty="0" err="1">
                <a:solidFill>
                  <a:srgbClr val="FF0000"/>
                </a:solidFill>
              </a:rPr>
              <a:t>rectangleArea</a:t>
            </a:r>
            <a:r>
              <a:rPr lang="en-US" dirty="0">
                <a:solidFill>
                  <a:srgbClr val="FF0000"/>
                </a:solidFill>
              </a:rPr>
              <a:t>(5, 7)) // Prints undefined</a:t>
            </a:r>
          </a:p>
          <a:p>
            <a:r>
              <a:rPr lang="en-US" dirty="0"/>
              <a:t>calculate the area of a width and height parameter. Then </a:t>
            </a:r>
            <a:r>
              <a:rPr lang="en-US" dirty="0" err="1"/>
              <a:t>rectangleArea</a:t>
            </a:r>
            <a:r>
              <a:rPr lang="en-US" dirty="0"/>
              <a:t>() is invoked with the arguments 5 and 7. But when we went to print the results we got undefined.</a:t>
            </a:r>
            <a:endParaRPr lang="en-IN" dirty="0"/>
          </a:p>
        </p:txBody>
      </p:sp>
    </p:spTree>
    <p:extLst>
      <p:ext uri="{BB962C8B-B14F-4D97-AF65-F5344CB8AC3E}">
        <p14:creationId xmlns:p14="http://schemas.microsoft.com/office/powerpoint/2010/main" val="289945347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F9629B-30B5-3634-E429-F0C566435E63}"/>
              </a:ext>
            </a:extLst>
          </p:cNvPr>
          <p:cNvSpPr>
            <a:spLocks noGrp="1"/>
          </p:cNvSpPr>
          <p:nvPr>
            <p:ph type="title"/>
          </p:nvPr>
        </p:nvSpPr>
        <p:spPr/>
        <p:txBody>
          <a:bodyPr/>
          <a:lstStyle/>
          <a:p>
            <a:r>
              <a:rPr lang="en-IN" dirty="0"/>
              <a:t>Return</a:t>
            </a:r>
          </a:p>
        </p:txBody>
      </p:sp>
      <p:sp>
        <p:nvSpPr>
          <p:cNvPr id="3" name="Content Placeholder 2">
            <a:extLst>
              <a:ext uri="{FF2B5EF4-FFF2-40B4-BE49-F238E27FC236}">
                <a16:creationId xmlns:a16="http://schemas.microsoft.com/office/drawing/2014/main" id="{DD8F2C1F-AB96-5157-F049-BD546BD8C41A}"/>
              </a:ext>
            </a:extLst>
          </p:cNvPr>
          <p:cNvSpPr>
            <a:spLocks noGrp="1"/>
          </p:cNvSpPr>
          <p:nvPr>
            <p:ph idx="1"/>
          </p:nvPr>
        </p:nvSpPr>
        <p:spPr/>
        <p:txBody>
          <a:bodyPr>
            <a:normAutofit fontScale="92500" lnSpcReduction="10000"/>
          </a:bodyPr>
          <a:lstStyle/>
          <a:p>
            <a:r>
              <a:rPr lang="en-US" dirty="0"/>
              <a:t>To pass back information from the function call, we use a return statement. To create a return statement, we use the return keyword followed by the value that we wish to return. Like we saw above, if the value is omitted, undefined is returned instead.</a:t>
            </a:r>
          </a:p>
          <a:p>
            <a:r>
              <a:rPr lang="en-US" dirty="0"/>
              <a:t>When a return statement is used in a function body, the execution of the function is stopped and the code that follows it will not be executed. Look at the example below:</a:t>
            </a:r>
          </a:p>
          <a:p>
            <a:pPr marL="0" indent="0">
              <a:buNone/>
            </a:pPr>
            <a:r>
              <a:rPr lang="en-US" dirty="0">
                <a:solidFill>
                  <a:srgbClr val="FF0000"/>
                </a:solidFill>
              </a:rPr>
              <a:t>function </a:t>
            </a:r>
            <a:r>
              <a:rPr lang="en-US" dirty="0" err="1">
                <a:solidFill>
                  <a:srgbClr val="FF0000"/>
                </a:solidFill>
              </a:rPr>
              <a:t>rectangleArea</a:t>
            </a:r>
            <a:r>
              <a:rPr lang="en-US" dirty="0">
                <a:solidFill>
                  <a:srgbClr val="FF0000"/>
                </a:solidFill>
              </a:rPr>
              <a:t>(width, height) {</a:t>
            </a:r>
          </a:p>
          <a:p>
            <a:pPr marL="0" indent="0">
              <a:buNone/>
            </a:pPr>
            <a:r>
              <a:rPr lang="en-US" dirty="0">
                <a:solidFill>
                  <a:srgbClr val="FF0000"/>
                </a:solidFill>
              </a:rPr>
              <a:t>  if (width &lt; 0 || height &lt; 0) {</a:t>
            </a:r>
          </a:p>
          <a:p>
            <a:pPr marL="0" indent="0">
              <a:buNone/>
            </a:pPr>
            <a:r>
              <a:rPr lang="en-US" dirty="0">
                <a:solidFill>
                  <a:srgbClr val="FF0000"/>
                </a:solidFill>
              </a:rPr>
              <a:t>    return 'You need positive integers to calculate area!';</a:t>
            </a:r>
          </a:p>
          <a:p>
            <a:pPr marL="0" indent="0">
              <a:buNone/>
            </a:pPr>
            <a:r>
              <a:rPr lang="en-US" dirty="0">
                <a:solidFill>
                  <a:srgbClr val="FF0000"/>
                </a:solidFill>
              </a:rPr>
              <a:t>  }</a:t>
            </a:r>
          </a:p>
          <a:p>
            <a:pPr marL="0" indent="0">
              <a:buNone/>
            </a:pPr>
            <a:r>
              <a:rPr lang="en-US" dirty="0">
                <a:solidFill>
                  <a:srgbClr val="FF0000"/>
                </a:solidFill>
              </a:rPr>
              <a:t>  return width * height;</a:t>
            </a:r>
          </a:p>
          <a:p>
            <a:pPr marL="0" indent="0">
              <a:buNone/>
            </a:pPr>
            <a:r>
              <a:rPr lang="en-US" dirty="0">
                <a:solidFill>
                  <a:srgbClr val="FF0000"/>
                </a:solidFill>
              </a:rPr>
              <a:t>}</a:t>
            </a:r>
            <a:endParaRPr lang="en-IN" dirty="0">
              <a:solidFill>
                <a:srgbClr val="FF0000"/>
              </a:solidFill>
            </a:endParaRPr>
          </a:p>
        </p:txBody>
      </p:sp>
    </p:spTree>
    <p:extLst>
      <p:ext uri="{BB962C8B-B14F-4D97-AF65-F5344CB8AC3E}">
        <p14:creationId xmlns:p14="http://schemas.microsoft.com/office/powerpoint/2010/main" val="24638440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0E228-98F7-43A4-858A-6CCE438B0DC6}"/>
              </a:ext>
            </a:extLst>
          </p:cNvPr>
          <p:cNvSpPr>
            <a:spLocks noGrp="1"/>
          </p:cNvSpPr>
          <p:nvPr>
            <p:ph type="title"/>
          </p:nvPr>
        </p:nvSpPr>
        <p:spPr/>
        <p:txBody>
          <a:bodyPr/>
          <a:lstStyle/>
          <a:p>
            <a:r>
              <a:rPr lang="en-IN" dirty="0"/>
              <a:t>Helper Functions</a:t>
            </a:r>
          </a:p>
        </p:txBody>
      </p:sp>
      <p:sp>
        <p:nvSpPr>
          <p:cNvPr id="3" name="Content Placeholder 2">
            <a:extLst>
              <a:ext uri="{FF2B5EF4-FFF2-40B4-BE49-F238E27FC236}">
                <a16:creationId xmlns:a16="http://schemas.microsoft.com/office/drawing/2014/main" id="{A5C3F2EA-6AC8-A771-9A76-41CE284F1205}"/>
              </a:ext>
            </a:extLst>
          </p:cNvPr>
          <p:cNvSpPr>
            <a:spLocks noGrp="1"/>
          </p:cNvSpPr>
          <p:nvPr>
            <p:ph idx="1"/>
          </p:nvPr>
        </p:nvSpPr>
        <p:spPr>
          <a:xfrm>
            <a:off x="581193" y="2180496"/>
            <a:ext cx="4341004" cy="3678303"/>
          </a:xfrm>
        </p:spPr>
        <p:txBody>
          <a:bodyPr/>
          <a:lstStyle/>
          <a:p>
            <a:pPr algn="just"/>
            <a:r>
              <a:rPr lang="en-US" dirty="0"/>
              <a:t>We can also use the return value of a function inside another function. These functions being called within another function are often referred to as helper functions. Since each function is carrying out a specific task, it makes our code easier to read and debug if necessary.</a:t>
            </a:r>
            <a:endParaRPr lang="en-IN" dirty="0"/>
          </a:p>
        </p:txBody>
      </p:sp>
      <p:sp>
        <p:nvSpPr>
          <p:cNvPr id="5" name="TextBox 4">
            <a:extLst>
              <a:ext uri="{FF2B5EF4-FFF2-40B4-BE49-F238E27FC236}">
                <a16:creationId xmlns:a16="http://schemas.microsoft.com/office/drawing/2014/main" id="{C05DE97D-A95D-FAD9-5CC9-3B60AA6C1327}"/>
              </a:ext>
            </a:extLst>
          </p:cNvPr>
          <p:cNvSpPr txBox="1"/>
          <p:nvPr/>
        </p:nvSpPr>
        <p:spPr>
          <a:xfrm>
            <a:off x="5663929" y="2726985"/>
            <a:ext cx="6094378" cy="2585323"/>
          </a:xfrm>
          <a:prstGeom prst="rect">
            <a:avLst/>
          </a:prstGeom>
          <a:noFill/>
        </p:spPr>
        <p:txBody>
          <a:bodyPr wrap="square">
            <a:spAutoFit/>
          </a:bodyPr>
          <a:lstStyle/>
          <a:p>
            <a:r>
              <a:rPr lang="en-IN" b="0" i="0" dirty="0">
                <a:solidFill>
                  <a:srgbClr val="FF0000"/>
                </a:solidFill>
                <a:effectLst/>
                <a:latin typeface="Monaco"/>
              </a:rPr>
              <a:t>function </a:t>
            </a:r>
            <a:r>
              <a:rPr lang="en-IN" b="0" i="0" dirty="0" err="1">
                <a:solidFill>
                  <a:srgbClr val="FF0000"/>
                </a:solidFill>
                <a:effectLst/>
                <a:latin typeface="Monaco"/>
              </a:rPr>
              <a:t>multiplyByNineFifths</a:t>
            </a:r>
            <a:r>
              <a:rPr lang="en-IN" b="0" i="0" dirty="0">
                <a:solidFill>
                  <a:srgbClr val="FF0000"/>
                </a:solidFill>
                <a:effectLst/>
                <a:latin typeface="Monaco"/>
              </a:rPr>
              <a:t>(number) {</a:t>
            </a:r>
            <a:r>
              <a:rPr lang="en-IN" dirty="0">
                <a:solidFill>
                  <a:srgbClr val="FF0000"/>
                </a:solidFill>
              </a:rPr>
              <a:t/>
            </a:r>
            <a:br>
              <a:rPr lang="en-IN" dirty="0">
                <a:solidFill>
                  <a:srgbClr val="FF0000"/>
                </a:solidFill>
              </a:rPr>
            </a:br>
            <a:r>
              <a:rPr lang="en-IN" b="0" i="0" dirty="0">
                <a:solidFill>
                  <a:srgbClr val="FF0000"/>
                </a:solidFill>
                <a:effectLst/>
                <a:latin typeface="Monaco"/>
              </a:rPr>
              <a:t>  return number * (9/5);</a:t>
            </a:r>
            <a:r>
              <a:rPr lang="en-IN" dirty="0">
                <a:solidFill>
                  <a:srgbClr val="FF0000"/>
                </a:solidFill>
              </a:rPr>
              <a:t/>
            </a:r>
            <a:br>
              <a:rPr lang="en-IN" dirty="0">
                <a:solidFill>
                  <a:srgbClr val="FF0000"/>
                </a:solidFill>
              </a:rPr>
            </a:br>
            <a:r>
              <a:rPr lang="en-IN" b="0" i="0" dirty="0">
                <a:solidFill>
                  <a:srgbClr val="FF0000"/>
                </a:solidFill>
                <a:effectLst/>
                <a:latin typeface="Monaco"/>
              </a:rPr>
              <a:t>};</a:t>
            </a:r>
            <a:r>
              <a:rPr lang="en-IN" dirty="0">
                <a:solidFill>
                  <a:srgbClr val="FF0000"/>
                </a:solidFill>
              </a:rPr>
              <a:t/>
            </a:r>
            <a:br>
              <a:rPr lang="en-IN" dirty="0">
                <a:solidFill>
                  <a:srgbClr val="FF0000"/>
                </a:solidFill>
              </a:rPr>
            </a:br>
            <a:r>
              <a:rPr lang="en-IN" dirty="0">
                <a:solidFill>
                  <a:srgbClr val="FF0000"/>
                </a:solidFill>
              </a:rPr>
              <a:t/>
            </a:r>
            <a:br>
              <a:rPr lang="en-IN" dirty="0">
                <a:solidFill>
                  <a:srgbClr val="FF0000"/>
                </a:solidFill>
              </a:rPr>
            </a:br>
            <a:r>
              <a:rPr lang="en-IN" b="0" i="0" dirty="0">
                <a:solidFill>
                  <a:srgbClr val="FF0000"/>
                </a:solidFill>
                <a:effectLst/>
                <a:latin typeface="Monaco"/>
              </a:rPr>
              <a:t>function </a:t>
            </a:r>
            <a:r>
              <a:rPr lang="en-IN" b="0" i="0" dirty="0" err="1">
                <a:solidFill>
                  <a:srgbClr val="FF0000"/>
                </a:solidFill>
                <a:effectLst/>
                <a:latin typeface="Monaco"/>
              </a:rPr>
              <a:t>getFahrenheit</a:t>
            </a:r>
            <a:r>
              <a:rPr lang="en-IN" b="0" i="0" dirty="0">
                <a:solidFill>
                  <a:srgbClr val="FF0000"/>
                </a:solidFill>
                <a:effectLst/>
                <a:latin typeface="Monaco"/>
              </a:rPr>
              <a:t>(</a:t>
            </a:r>
            <a:r>
              <a:rPr lang="en-IN" b="0" i="0" dirty="0" err="1">
                <a:solidFill>
                  <a:srgbClr val="FF0000"/>
                </a:solidFill>
                <a:effectLst/>
                <a:latin typeface="Monaco"/>
              </a:rPr>
              <a:t>celsius</a:t>
            </a:r>
            <a:r>
              <a:rPr lang="en-IN" b="0" i="0" dirty="0">
                <a:solidFill>
                  <a:srgbClr val="FF0000"/>
                </a:solidFill>
                <a:effectLst/>
                <a:latin typeface="Monaco"/>
              </a:rPr>
              <a:t>) {</a:t>
            </a:r>
            <a:r>
              <a:rPr lang="en-IN" dirty="0">
                <a:solidFill>
                  <a:srgbClr val="FF0000"/>
                </a:solidFill>
              </a:rPr>
              <a:t/>
            </a:r>
            <a:br>
              <a:rPr lang="en-IN" dirty="0">
                <a:solidFill>
                  <a:srgbClr val="FF0000"/>
                </a:solidFill>
              </a:rPr>
            </a:br>
            <a:r>
              <a:rPr lang="en-IN" b="0" i="0" dirty="0">
                <a:solidFill>
                  <a:srgbClr val="FF0000"/>
                </a:solidFill>
                <a:effectLst/>
                <a:latin typeface="Monaco"/>
              </a:rPr>
              <a:t>  return </a:t>
            </a:r>
            <a:r>
              <a:rPr lang="en-IN" b="0" i="0" dirty="0" err="1">
                <a:solidFill>
                  <a:srgbClr val="FF0000"/>
                </a:solidFill>
                <a:effectLst/>
                <a:latin typeface="Monaco"/>
              </a:rPr>
              <a:t>multiplyByNineFifths</a:t>
            </a:r>
            <a:r>
              <a:rPr lang="en-IN" b="0" i="0" dirty="0">
                <a:solidFill>
                  <a:srgbClr val="FF0000"/>
                </a:solidFill>
                <a:effectLst/>
                <a:latin typeface="Monaco"/>
              </a:rPr>
              <a:t>(</a:t>
            </a:r>
            <a:r>
              <a:rPr lang="en-IN" b="0" i="0" dirty="0" err="1">
                <a:solidFill>
                  <a:srgbClr val="FF0000"/>
                </a:solidFill>
                <a:effectLst/>
                <a:latin typeface="Monaco"/>
              </a:rPr>
              <a:t>celsius</a:t>
            </a:r>
            <a:r>
              <a:rPr lang="en-IN" b="0" i="0" dirty="0">
                <a:solidFill>
                  <a:srgbClr val="FF0000"/>
                </a:solidFill>
                <a:effectLst/>
                <a:latin typeface="Monaco"/>
              </a:rPr>
              <a:t>) + 32;</a:t>
            </a:r>
            <a:r>
              <a:rPr lang="en-IN" dirty="0">
                <a:solidFill>
                  <a:srgbClr val="FF0000"/>
                </a:solidFill>
              </a:rPr>
              <a:t/>
            </a:r>
            <a:br>
              <a:rPr lang="en-IN" dirty="0">
                <a:solidFill>
                  <a:srgbClr val="FF0000"/>
                </a:solidFill>
              </a:rPr>
            </a:br>
            <a:r>
              <a:rPr lang="en-IN" b="0" i="0" dirty="0">
                <a:solidFill>
                  <a:srgbClr val="FF0000"/>
                </a:solidFill>
                <a:effectLst/>
                <a:latin typeface="Monaco"/>
              </a:rPr>
              <a:t>};</a:t>
            </a:r>
            <a:r>
              <a:rPr lang="en-IN" dirty="0">
                <a:solidFill>
                  <a:srgbClr val="FF0000"/>
                </a:solidFill>
              </a:rPr>
              <a:t/>
            </a:r>
            <a:br>
              <a:rPr lang="en-IN" dirty="0">
                <a:solidFill>
                  <a:srgbClr val="FF0000"/>
                </a:solidFill>
              </a:rPr>
            </a:br>
            <a:r>
              <a:rPr lang="en-IN" dirty="0">
                <a:solidFill>
                  <a:srgbClr val="FF0000"/>
                </a:solidFill>
              </a:rPr>
              <a:t/>
            </a:r>
            <a:br>
              <a:rPr lang="en-IN" dirty="0">
                <a:solidFill>
                  <a:srgbClr val="FF0000"/>
                </a:solidFill>
              </a:rPr>
            </a:br>
            <a:r>
              <a:rPr lang="en-IN" b="0" i="0" dirty="0" err="1">
                <a:solidFill>
                  <a:srgbClr val="FF0000"/>
                </a:solidFill>
                <a:effectLst/>
                <a:latin typeface="Monaco"/>
              </a:rPr>
              <a:t>getFahrenheit</a:t>
            </a:r>
            <a:r>
              <a:rPr lang="en-IN" b="0" i="0" dirty="0">
                <a:solidFill>
                  <a:srgbClr val="FF0000"/>
                </a:solidFill>
                <a:effectLst/>
                <a:latin typeface="Monaco"/>
              </a:rPr>
              <a:t>(15); // Returns 59</a:t>
            </a:r>
            <a:endParaRPr lang="en-IN" dirty="0">
              <a:solidFill>
                <a:srgbClr val="FF0000"/>
              </a:solidFill>
            </a:endParaRPr>
          </a:p>
        </p:txBody>
      </p:sp>
    </p:spTree>
    <p:extLst>
      <p:ext uri="{BB962C8B-B14F-4D97-AF65-F5344CB8AC3E}">
        <p14:creationId xmlns:p14="http://schemas.microsoft.com/office/powerpoint/2010/main" val="402564173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C56784-D6AE-3FBF-E70C-36208B2C501F}"/>
              </a:ext>
            </a:extLst>
          </p:cNvPr>
          <p:cNvSpPr>
            <a:spLocks noGrp="1"/>
          </p:cNvSpPr>
          <p:nvPr>
            <p:ph type="title"/>
          </p:nvPr>
        </p:nvSpPr>
        <p:spPr/>
        <p:txBody>
          <a:bodyPr/>
          <a:lstStyle/>
          <a:p>
            <a:r>
              <a:rPr lang="en-IN" dirty="0"/>
              <a:t>Function Expressions</a:t>
            </a:r>
          </a:p>
        </p:txBody>
      </p:sp>
      <p:sp>
        <p:nvSpPr>
          <p:cNvPr id="3" name="Content Placeholder 2">
            <a:extLst>
              <a:ext uri="{FF2B5EF4-FFF2-40B4-BE49-F238E27FC236}">
                <a16:creationId xmlns:a16="http://schemas.microsoft.com/office/drawing/2014/main" id="{96E1BFE5-98DA-5202-C442-FB3EB17A57CF}"/>
              </a:ext>
            </a:extLst>
          </p:cNvPr>
          <p:cNvSpPr>
            <a:spLocks noGrp="1"/>
          </p:cNvSpPr>
          <p:nvPr>
            <p:ph idx="1"/>
          </p:nvPr>
        </p:nvSpPr>
        <p:spPr>
          <a:xfrm>
            <a:off x="581192" y="2180496"/>
            <a:ext cx="6354629" cy="4249487"/>
          </a:xfrm>
        </p:spPr>
        <p:txBody>
          <a:bodyPr>
            <a:normAutofit fontScale="85000" lnSpcReduction="10000"/>
          </a:bodyPr>
          <a:lstStyle/>
          <a:p>
            <a:pPr algn="just"/>
            <a:r>
              <a:rPr lang="en-US" dirty="0"/>
              <a:t>Another way to define a function is to use a function expression. To define a function inside an expression, we can use the function keyword. In a function expression, the function name is usually omitted. A function with no name is called an anonymous function. A function expression is often stored in a variable in order to refer to it.</a:t>
            </a:r>
          </a:p>
          <a:p>
            <a:pPr algn="just"/>
            <a:r>
              <a:rPr lang="en-US" dirty="0"/>
              <a:t>To declare a function expression:</a:t>
            </a:r>
          </a:p>
          <a:p>
            <a:pPr algn="just"/>
            <a:r>
              <a:rPr lang="en-US" dirty="0"/>
              <a:t>Declare a variable to make the variable’s name be the name, or identifier, of your function. Since the release of ES6, it is common practice to use const as the keyword to declare the variable.</a:t>
            </a:r>
          </a:p>
          <a:p>
            <a:pPr algn="just"/>
            <a:r>
              <a:rPr lang="en-US" dirty="0"/>
              <a:t>Assign as that variable’s value an anonymous function created by using the function keyword followed by a set of parentheses with possible parameters. Then a set of curly braces that contain the function body.</a:t>
            </a:r>
          </a:p>
          <a:p>
            <a:pPr algn="just"/>
            <a:r>
              <a:rPr lang="en-US" dirty="0"/>
              <a:t>To invoke a function expression, write the name of the variable in which the function is stored followed by parentheses enclosing any arguments being passed into the function.</a:t>
            </a:r>
            <a:endParaRPr lang="en-IN" dirty="0"/>
          </a:p>
        </p:txBody>
      </p:sp>
      <p:sp>
        <p:nvSpPr>
          <p:cNvPr id="6" name="TextBox 5">
            <a:extLst>
              <a:ext uri="{FF2B5EF4-FFF2-40B4-BE49-F238E27FC236}">
                <a16:creationId xmlns:a16="http://schemas.microsoft.com/office/drawing/2014/main" id="{522A2B1B-9A09-F13D-BFAA-6E871AE2F8B0}"/>
              </a:ext>
            </a:extLst>
          </p:cNvPr>
          <p:cNvSpPr txBox="1"/>
          <p:nvPr/>
        </p:nvSpPr>
        <p:spPr>
          <a:xfrm>
            <a:off x="7320875" y="2588486"/>
            <a:ext cx="4394470" cy="2862322"/>
          </a:xfrm>
          <a:prstGeom prst="rect">
            <a:avLst/>
          </a:prstGeom>
          <a:noFill/>
        </p:spPr>
        <p:txBody>
          <a:bodyPr wrap="square">
            <a:spAutoFit/>
          </a:bodyPr>
          <a:lstStyle/>
          <a:p>
            <a:r>
              <a:rPr lang="en-US" b="0" dirty="0">
                <a:solidFill>
                  <a:srgbClr val="FF0000"/>
                </a:solidFill>
                <a:effectLst/>
                <a:latin typeface="Monaco, Menlo,  Ubuntu Mono"/>
              </a:rPr>
              <a:t>const </a:t>
            </a:r>
            <a:r>
              <a:rPr lang="en-US" b="0" dirty="0" err="1">
                <a:solidFill>
                  <a:srgbClr val="FF0000"/>
                </a:solidFill>
                <a:effectLst/>
                <a:latin typeface="Monaco, Menlo,  Ubuntu Mono"/>
              </a:rPr>
              <a:t>plantNeedsWater</a:t>
            </a:r>
            <a:r>
              <a:rPr lang="en-US" b="0" dirty="0">
                <a:solidFill>
                  <a:srgbClr val="FF0000"/>
                </a:solidFill>
                <a:effectLst/>
                <a:latin typeface="Monaco, Menlo,  Ubuntu Mono"/>
              </a:rPr>
              <a:t> = function(day){</a:t>
            </a:r>
          </a:p>
          <a:p>
            <a:r>
              <a:rPr lang="en-US" b="0" dirty="0">
                <a:solidFill>
                  <a:srgbClr val="FF0000"/>
                </a:solidFill>
                <a:effectLst/>
                <a:latin typeface="Monaco, Menlo,  Ubuntu Mono"/>
              </a:rPr>
              <a:t>  if(day === 'Wednesday')</a:t>
            </a:r>
          </a:p>
          <a:p>
            <a:r>
              <a:rPr lang="en-US" b="0" dirty="0">
                <a:solidFill>
                  <a:srgbClr val="FF0000"/>
                </a:solidFill>
                <a:effectLst/>
                <a:latin typeface="Monaco, Menlo,  Ubuntu Mono"/>
              </a:rPr>
              <a:t>  {</a:t>
            </a:r>
          </a:p>
          <a:p>
            <a:r>
              <a:rPr lang="en-US" b="0" dirty="0">
                <a:solidFill>
                  <a:srgbClr val="FF0000"/>
                </a:solidFill>
                <a:effectLst/>
                <a:latin typeface="Monaco, Menlo,  Ubuntu Mono"/>
              </a:rPr>
              <a:t>    return true;</a:t>
            </a:r>
          </a:p>
          <a:p>
            <a:r>
              <a:rPr lang="en-US" b="0" dirty="0">
                <a:solidFill>
                  <a:srgbClr val="FF0000"/>
                </a:solidFill>
                <a:effectLst/>
                <a:latin typeface="Monaco, Menlo,  Ubuntu Mono"/>
              </a:rPr>
              <a:t>  }</a:t>
            </a:r>
          </a:p>
          <a:p>
            <a:r>
              <a:rPr lang="en-US" b="0" dirty="0">
                <a:solidFill>
                  <a:srgbClr val="FF0000"/>
                </a:solidFill>
                <a:effectLst/>
                <a:latin typeface="Monaco, Menlo,  Ubuntu Mono"/>
              </a:rPr>
              <a:t>  else{</a:t>
            </a:r>
          </a:p>
          <a:p>
            <a:r>
              <a:rPr lang="en-US" b="0" dirty="0">
                <a:solidFill>
                  <a:srgbClr val="FF0000"/>
                </a:solidFill>
                <a:effectLst/>
                <a:latin typeface="Monaco, Menlo,  Ubuntu Mono"/>
              </a:rPr>
              <a:t>    return false;</a:t>
            </a:r>
          </a:p>
          <a:p>
            <a:r>
              <a:rPr lang="en-US" b="0" dirty="0">
                <a:solidFill>
                  <a:srgbClr val="FF0000"/>
                </a:solidFill>
                <a:effectLst/>
                <a:latin typeface="Monaco, Menlo,  Ubuntu Mono"/>
              </a:rPr>
              <a:t>  }</a:t>
            </a:r>
          </a:p>
          <a:p>
            <a:r>
              <a:rPr lang="en-US" b="0" dirty="0">
                <a:solidFill>
                  <a:srgbClr val="FF0000"/>
                </a:solidFill>
                <a:effectLst/>
                <a:latin typeface="Monaco, Menlo,  Ubuntu Mono"/>
              </a:rPr>
              <a:t>}</a:t>
            </a:r>
          </a:p>
          <a:p>
            <a:r>
              <a:rPr lang="en-US" b="0" dirty="0">
                <a:solidFill>
                  <a:srgbClr val="FF0000"/>
                </a:solidFill>
                <a:effectLst/>
                <a:latin typeface="Monaco, Menlo,  Ubuntu Mono"/>
              </a:rPr>
              <a:t>console.log(</a:t>
            </a:r>
            <a:r>
              <a:rPr lang="en-US" b="0" dirty="0" err="1">
                <a:solidFill>
                  <a:srgbClr val="FF0000"/>
                </a:solidFill>
                <a:effectLst/>
                <a:latin typeface="Monaco, Menlo,  Ubuntu Mono"/>
              </a:rPr>
              <a:t>plantNeedsWater</a:t>
            </a:r>
            <a:r>
              <a:rPr lang="en-US" b="0" dirty="0">
                <a:solidFill>
                  <a:srgbClr val="FF0000"/>
                </a:solidFill>
                <a:effectLst/>
                <a:latin typeface="Monaco, Menlo,  Ubuntu Mono"/>
              </a:rPr>
              <a:t>('Tuesday'));</a:t>
            </a:r>
          </a:p>
        </p:txBody>
      </p:sp>
    </p:spTree>
    <p:extLst>
      <p:ext uri="{BB962C8B-B14F-4D97-AF65-F5344CB8AC3E}">
        <p14:creationId xmlns:p14="http://schemas.microsoft.com/office/powerpoint/2010/main" val="114998847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5AFE4D-4EAA-FE96-3257-3AF0D7AD1DC2}"/>
              </a:ext>
            </a:extLst>
          </p:cNvPr>
          <p:cNvSpPr>
            <a:spLocks noGrp="1"/>
          </p:cNvSpPr>
          <p:nvPr>
            <p:ph type="title"/>
          </p:nvPr>
        </p:nvSpPr>
        <p:spPr/>
        <p:txBody>
          <a:bodyPr/>
          <a:lstStyle/>
          <a:p>
            <a:r>
              <a:rPr lang="en-IN" dirty="0"/>
              <a:t>Arrow Functions</a:t>
            </a:r>
          </a:p>
        </p:txBody>
      </p:sp>
      <p:sp>
        <p:nvSpPr>
          <p:cNvPr id="3" name="Content Placeholder 2">
            <a:extLst>
              <a:ext uri="{FF2B5EF4-FFF2-40B4-BE49-F238E27FC236}">
                <a16:creationId xmlns:a16="http://schemas.microsoft.com/office/drawing/2014/main" id="{9177BF1F-0BDC-94CF-536F-710D5919D689}"/>
              </a:ext>
            </a:extLst>
          </p:cNvPr>
          <p:cNvSpPr>
            <a:spLocks noGrp="1"/>
          </p:cNvSpPr>
          <p:nvPr>
            <p:ph idx="1"/>
          </p:nvPr>
        </p:nvSpPr>
        <p:spPr/>
        <p:txBody>
          <a:bodyPr/>
          <a:lstStyle/>
          <a:p>
            <a:r>
              <a:rPr lang="en-US" dirty="0"/>
              <a:t>ES6 introduced arrow function syntax, a shorter way to write functions by using the special “fat arrow” () =&gt; notation.</a:t>
            </a:r>
          </a:p>
          <a:p>
            <a:r>
              <a:rPr lang="en-US" dirty="0"/>
              <a:t>Arrow functions remove the need to type out the keyword function every time you need to create a function. Instead, you first include the parameters inside the ( ) and then add an arrow =&gt; that points to the function body surrounded in { } like this:</a:t>
            </a:r>
          </a:p>
          <a:p>
            <a:endParaRPr lang="en-US" dirty="0"/>
          </a:p>
          <a:p>
            <a:pPr marL="0" indent="0">
              <a:buNone/>
            </a:pPr>
            <a:r>
              <a:rPr lang="en-US" dirty="0"/>
              <a:t>const </a:t>
            </a:r>
            <a:r>
              <a:rPr lang="en-US" dirty="0" err="1"/>
              <a:t>rectangleArea</a:t>
            </a:r>
            <a:r>
              <a:rPr lang="en-US" dirty="0"/>
              <a:t> = (width, height) =&gt; {</a:t>
            </a:r>
          </a:p>
          <a:p>
            <a:pPr marL="0" indent="0">
              <a:buNone/>
            </a:pPr>
            <a:r>
              <a:rPr lang="en-US" dirty="0"/>
              <a:t>  let area = width * height;</a:t>
            </a:r>
          </a:p>
          <a:p>
            <a:pPr marL="0" indent="0">
              <a:buNone/>
            </a:pPr>
            <a:r>
              <a:rPr lang="en-US" dirty="0"/>
              <a:t>  return area;</a:t>
            </a:r>
          </a:p>
          <a:p>
            <a:pPr marL="0" indent="0">
              <a:buNone/>
            </a:pPr>
            <a:r>
              <a:rPr lang="en-US" dirty="0"/>
              <a:t>};</a:t>
            </a:r>
            <a:endParaRPr lang="en-IN" dirty="0"/>
          </a:p>
        </p:txBody>
      </p:sp>
    </p:spTree>
    <p:extLst>
      <p:ext uri="{BB962C8B-B14F-4D97-AF65-F5344CB8AC3E}">
        <p14:creationId xmlns:p14="http://schemas.microsoft.com/office/powerpoint/2010/main" val="160103901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961A72-DB7F-0D70-46BC-0B40300D561E}"/>
              </a:ext>
            </a:extLst>
          </p:cNvPr>
          <p:cNvSpPr>
            <a:spLocks noGrp="1"/>
          </p:cNvSpPr>
          <p:nvPr>
            <p:ph type="title"/>
          </p:nvPr>
        </p:nvSpPr>
        <p:spPr/>
        <p:txBody>
          <a:bodyPr/>
          <a:lstStyle/>
          <a:p>
            <a:r>
              <a:rPr lang="en-IN" dirty="0"/>
              <a:t>Concise Body Arrow Functions</a:t>
            </a:r>
          </a:p>
        </p:txBody>
      </p:sp>
      <p:sp>
        <p:nvSpPr>
          <p:cNvPr id="3" name="Content Placeholder 2">
            <a:extLst>
              <a:ext uri="{FF2B5EF4-FFF2-40B4-BE49-F238E27FC236}">
                <a16:creationId xmlns:a16="http://schemas.microsoft.com/office/drawing/2014/main" id="{6F77A281-D700-81FA-0BEC-C2BF84D1ECAC}"/>
              </a:ext>
            </a:extLst>
          </p:cNvPr>
          <p:cNvSpPr>
            <a:spLocks noGrp="1"/>
          </p:cNvSpPr>
          <p:nvPr>
            <p:ph idx="1"/>
          </p:nvPr>
        </p:nvSpPr>
        <p:spPr>
          <a:xfrm>
            <a:off x="581193" y="2180496"/>
            <a:ext cx="6753462" cy="4521861"/>
          </a:xfrm>
        </p:spPr>
        <p:txBody>
          <a:bodyPr>
            <a:normAutofit/>
          </a:bodyPr>
          <a:lstStyle/>
          <a:p>
            <a:pPr algn="just"/>
            <a:r>
              <a:rPr lang="en-US" dirty="0"/>
              <a:t>JavaScript also provides several ways to refactor arrow function syntax. The most condensed form of the function is known as concise body. We’ll explore a few of these techniques below:</a:t>
            </a:r>
          </a:p>
          <a:p>
            <a:pPr marL="342900" indent="-342900" algn="just">
              <a:buFont typeface="+mj-lt"/>
              <a:buAutoNum type="arabicPeriod"/>
            </a:pPr>
            <a:r>
              <a:rPr lang="en-US" dirty="0"/>
              <a:t>Functions that take only a single parameter do not need that parameter to be enclosed in parentheses. However, if a function takes zero or multiple parameters, parentheses are required.</a:t>
            </a:r>
          </a:p>
          <a:p>
            <a:pPr marL="342900" indent="-342900" algn="just">
              <a:buFont typeface="+mj-lt"/>
              <a:buAutoNum type="arabicPeriod"/>
            </a:pPr>
            <a:r>
              <a:rPr lang="en-US" dirty="0"/>
              <a:t>A function body composed of a single-line block does not need curly braces. Without the curly braces, whatever that line evaluates will be automatically returned. The contents of the block should immediately follow the arrow =&gt; and the return keyword can be removed. This is referred to as implicit return.</a:t>
            </a:r>
          </a:p>
        </p:txBody>
      </p:sp>
      <p:sp>
        <p:nvSpPr>
          <p:cNvPr id="6" name="TextBox 5">
            <a:extLst>
              <a:ext uri="{FF2B5EF4-FFF2-40B4-BE49-F238E27FC236}">
                <a16:creationId xmlns:a16="http://schemas.microsoft.com/office/drawing/2014/main" id="{050895FA-0097-A70F-3A19-9FFA5D583C57}"/>
              </a:ext>
            </a:extLst>
          </p:cNvPr>
          <p:cNvSpPr txBox="1"/>
          <p:nvPr/>
        </p:nvSpPr>
        <p:spPr>
          <a:xfrm>
            <a:off x="8436312" y="2505670"/>
            <a:ext cx="3174495" cy="1323439"/>
          </a:xfrm>
          <a:prstGeom prst="rect">
            <a:avLst/>
          </a:prstGeom>
          <a:noFill/>
        </p:spPr>
        <p:txBody>
          <a:bodyPr wrap="square">
            <a:spAutoFit/>
          </a:bodyPr>
          <a:lstStyle/>
          <a:p>
            <a:r>
              <a:rPr lang="pt-BR" sz="2000" b="0" i="0" dirty="0">
                <a:solidFill>
                  <a:srgbClr val="FF0000"/>
                </a:solidFill>
                <a:effectLst/>
                <a:latin typeface="Monaco"/>
              </a:rPr>
              <a:t>const squareNum = (num) =&gt; {</a:t>
            </a:r>
            <a:r>
              <a:rPr lang="pt-BR" sz="2000" dirty="0">
                <a:solidFill>
                  <a:srgbClr val="FF0000"/>
                </a:solidFill>
              </a:rPr>
              <a:t/>
            </a:r>
            <a:br>
              <a:rPr lang="pt-BR" sz="2000" dirty="0">
                <a:solidFill>
                  <a:srgbClr val="FF0000"/>
                </a:solidFill>
              </a:rPr>
            </a:br>
            <a:r>
              <a:rPr lang="pt-BR" sz="2000" b="0" i="0" dirty="0">
                <a:solidFill>
                  <a:srgbClr val="FF0000"/>
                </a:solidFill>
                <a:effectLst/>
                <a:latin typeface="Monaco"/>
              </a:rPr>
              <a:t>  return num * num;</a:t>
            </a:r>
            <a:r>
              <a:rPr lang="pt-BR" sz="2000" dirty="0">
                <a:solidFill>
                  <a:srgbClr val="FF0000"/>
                </a:solidFill>
              </a:rPr>
              <a:t/>
            </a:r>
            <a:br>
              <a:rPr lang="pt-BR" sz="2000" dirty="0">
                <a:solidFill>
                  <a:srgbClr val="FF0000"/>
                </a:solidFill>
              </a:rPr>
            </a:br>
            <a:r>
              <a:rPr lang="pt-BR" sz="2000" b="0" i="0" dirty="0">
                <a:solidFill>
                  <a:srgbClr val="FF0000"/>
                </a:solidFill>
                <a:effectLst/>
                <a:latin typeface="Monaco"/>
              </a:rPr>
              <a:t>};</a:t>
            </a:r>
            <a:endParaRPr lang="en-IN" sz="2000" dirty="0">
              <a:solidFill>
                <a:srgbClr val="FF0000"/>
              </a:solidFill>
            </a:endParaRPr>
          </a:p>
        </p:txBody>
      </p:sp>
      <p:sp>
        <p:nvSpPr>
          <p:cNvPr id="8" name="TextBox 7">
            <a:extLst>
              <a:ext uri="{FF2B5EF4-FFF2-40B4-BE49-F238E27FC236}">
                <a16:creationId xmlns:a16="http://schemas.microsoft.com/office/drawing/2014/main" id="{5F1CB1DC-6C6B-FD8A-49B2-21D2F0831F96}"/>
              </a:ext>
            </a:extLst>
          </p:cNvPr>
          <p:cNvSpPr txBox="1"/>
          <p:nvPr/>
        </p:nvSpPr>
        <p:spPr>
          <a:xfrm>
            <a:off x="7616757" y="4772713"/>
            <a:ext cx="4501897" cy="400110"/>
          </a:xfrm>
          <a:prstGeom prst="rect">
            <a:avLst/>
          </a:prstGeom>
          <a:noFill/>
        </p:spPr>
        <p:txBody>
          <a:bodyPr wrap="square">
            <a:spAutoFit/>
          </a:bodyPr>
          <a:lstStyle/>
          <a:p>
            <a:r>
              <a:rPr lang="pt-BR" sz="2000" b="0" i="0" dirty="0">
                <a:solidFill>
                  <a:srgbClr val="FF0000"/>
                </a:solidFill>
                <a:effectLst/>
                <a:latin typeface="Monaco"/>
              </a:rPr>
              <a:t>const squareNum = num =&gt; num * num;</a:t>
            </a:r>
            <a:endParaRPr lang="en-IN" sz="2000" dirty="0">
              <a:solidFill>
                <a:srgbClr val="FF0000"/>
              </a:solidFill>
            </a:endParaRPr>
          </a:p>
        </p:txBody>
      </p:sp>
    </p:spTree>
    <p:extLst>
      <p:ext uri="{BB962C8B-B14F-4D97-AF65-F5344CB8AC3E}">
        <p14:creationId xmlns:p14="http://schemas.microsoft.com/office/powerpoint/2010/main" val="347202397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E3759D-456E-216F-80F7-0C9F485812BB}"/>
              </a:ext>
            </a:extLst>
          </p:cNvPr>
          <p:cNvSpPr>
            <a:spLocks noGrp="1"/>
          </p:cNvSpPr>
          <p:nvPr>
            <p:ph type="title"/>
          </p:nvPr>
        </p:nvSpPr>
        <p:spPr/>
        <p:txBody>
          <a:bodyPr/>
          <a:lstStyle/>
          <a:p>
            <a:r>
              <a:rPr lang="en-IN" dirty="0"/>
              <a:t>Global Scope</a:t>
            </a:r>
          </a:p>
        </p:txBody>
      </p:sp>
      <p:sp>
        <p:nvSpPr>
          <p:cNvPr id="3" name="Content Placeholder 2">
            <a:extLst>
              <a:ext uri="{FF2B5EF4-FFF2-40B4-BE49-F238E27FC236}">
                <a16:creationId xmlns:a16="http://schemas.microsoft.com/office/drawing/2014/main" id="{AC1B2470-D5DE-0E2C-21C3-F5B26F1E19DC}"/>
              </a:ext>
            </a:extLst>
          </p:cNvPr>
          <p:cNvSpPr>
            <a:spLocks noGrp="1"/>
          </p:cNvSpPr>
          <p:nvPr>
            <p:ph idx="1"/>
          </p:nvPr>
        </p:nvSpPr>
        <p:spPr/>
        <p:txBody>
          <a:bodyPr>
            <a:normAutofit/>
          </a:bodyPr>
          <a:lstStyle/>
          <a:p>
            <a:r>
              <a:rPr lang="en-US" dirty="0"/>
              <a:t>Scope is the context in which our variables are declared. We think about scope in relation to blocks because variables can exist either outside of or within these blocks.</a:t>
            </a:r>
          </a:p>
          <a:p>
            <a:r>
              <a:rPr lang="en-US" dirty="0"/>
              <a:t>In </a:t>
            </a:r>
            <a:r>
              <a:rPr lang="en-US" b="1" i="1" dirty="0"/>
              <a:t>global scope</a:t>
            </a:r>
            <a:r>
              <a:rPr lang="en-US" dirty="0"/>
              <a:t>, variables are declared outside of blocks. These variables are called global variables. Because global variables are not bound inside a block, they can be accessed by any code in the program, including code in blocks.</a:t>
            </a:r>
          </a:p>
          <a:p>
            <a:pPr marL="0" indent="0">
              <a:buNone/>
            </a:pPr>
            <a:r>
              <a:rPr lang="en-US" dirty="0">
                <a:solidFill>
                  <a:srgbClr val="FF0000"/>
                </a:solidFill>
              </a:rPr>
              <a:t>const color = 'blue';</a:t>
            </a:r>
          </a:p>
          <a:p>
            <a:pPr marL="0" indent="0">
              <a:buNone/>
            </a:pPr>
            <a:r>
              <a:rPr lang="en-US" dirty="0">
                <a:solidFill>
                  <a:srgbClr val="FF0000"/>
                </a:solidFill>
              </a:rPr>
              <a:t>const </a:t>
            </a:r>
            <a:r>
              <a:rPr lang="en-US" dirty="0" err="1">
                <a:solidFill>
                  <a:srgbClr val="FF0000"/>
                </a:solidFill>
              </a:rPr>
              <a:t>returnSkyColor</a:t>
            </a:r>
            <a:r>
              <a:rPr lang="en-US" dirty="0">
                <a:solidFill>
                  <a:srgbClr val="FF0000"/>
                </a:solidFill>
              </a:rPr>
              <a:t> = () =&gt; {</a:t>
            </a:r>
          </a:p>
          <a:p>
            <a:pPr marL="0" indent="0">
              <a:buNone/>
            </a:pPr>
            <a:r>
              <a:rPr lang="en-US" dirty="0">
                <a:solidFill>
                  <a:srgbClr val="FF0000"/>
                </a:solidFill>
              </a:rPr>
              <a:t>  return color; // blue </a:t>
            </a:r>
          </a:p>
          <a:p>
            <a:pPr marL="0" indent="0">
              <a:buNone/>
            </a:pPr>
            <a:r>
              <a:rPr lang="en-US" dirty="0">
                <a:solidFill>
                  <a:srgbClr val="FF0000"/>
                </a:solidFill>
              </a:rPr>
              <a:t>};</a:t>
            </a:r>
          </a:p>
          <a:p>
            <a:pPr marL="0" indent="0">
              <a:buNone/>
            </a:pPr>
            <a:r>
              <a:rPr lang="en-US" dirty="0">
                <a:solidFill>
                  <a:srgbClr val="FF0000"/>
                </a:solidFill>
              </a:rPr>
              <a:t>console.log(</a:t>
            </a:r>
            <a:r>
              <a:rPr lang="en-US" dirty="0" err="1">
                <a:solidFill>
                  <a:srgbClr val="FF0000"/>
                </a:solidFill>
              </a:rPr>
              <a:t>returnSkyColor</a:t>
            </a:r>
            <a:r>
              <a:rPr lang="en-US" dirty="0">
                <a:solidFill>
                  <a:srgbClr val="FF0000"/>
                </a:solidFill>
              </a:rPr>
              <a:t>()); // blue</a:t>
            </a:r>
            <a:endParaRPr lang="en-IN" dirty="0">
              <a:solidFill>
                <a:srgbClr val="FF0000"/>
              </a:solidFill>
            </a:endParaRPr>
          </a:p>
        </p:txBody>
      </p:sp>
    </p:spTree>
    <p:extLst>
      <p:ext uri="{BB962C8B-B14F-4D97-AF65-F5344CB8AC3E}">
        <p14:creationId xmlns:p14="http://schemas.microsoft.com/office/powerpoint/2010/main" val="199936811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FA23A-1BD3-AD4B-8B82-1F2E2B712010}"/>
              </a:ext>
            </a:extLst>
          </p:cNvPr>
          <p:cNvSpPr>
            <a:spLocks noGrp="1"/>
          </p:cNvSpPr>
          <p:nvPr>
            <p:ph type="title"/>
          </p:nvPr>
        </p:nvSpPr>
        <p:spPr/>
        <p:txBody>
          <a:bodyPr/>
          <a:lstStyle/>
          <a:p>
            <a:r>
              <a:rPr lang="en-IN" dirty="0"/>
              <a:t>Block Scope</a:t>
            </a:r>
          </a:p>
        </p:txBody>
      </p:sp>
      <p:sp>
        <p:nvSpPr>
          <p:cNvPr id="3" name="Content Placeholder 2">
            <a:extLst>
              <a:ext uri="{FF2B5EF4-FFF2-40B4-BE49-F238E27FC236}">
                <a16:creationId xmlns:a16="http://schemas.microsoft.com/office/drawing/2014/main" id="{E2BA35C7-AD27-D858-8C3D-70DBA86D2791}"/>
              </a:ext>
            </a:extLst>
          </p:cNvPr>
          <p:cNvSpPr>
            <a:spLocks noGrp="1"/>
          </p:cNvSpPr>
          <p:nvPr>
            <p:ph idx="1"/>
          </p:nvPr>
        </p:nvSpPr>
        <p:spPr>
          <a:xfrm>
            <a:off x="581192" y="2180496"/>
            <a:ext cx="11029615" cy="4093844"/>
          </a:xfrm>
        </p:spPr>
        <p:txBody>
          <a:bodyPr>
            <a:normAutofit fontScale="92500" lnSpcReduction="20000"/>
          </a:bodyPr>
          <a:lstStyle/>
          <a:p>
            <a:r>
              <a:rPr lang="en-US" dirty="0"/>
              <a:t>The next context we’ll cover is block scope. When a variable is defined inside a block, it is only accessible to the code within the curly braces {}. We say that variable has block scope because it is only accessible to the lines of code within that block.</a:t>
            </a:r>
          </a:p>
          <a:p>
            <a:r>
              <a:rPr lang="en-US" dirty="0"/>
              <a:t>Variables that are declared with block scope are known as local variables because they are only available to the code that is part of the same block.</a:t>
            </a:r>
          </a:p>
          <a:p>
            <a:endParaRPr lang="en-US" dirty="0"/>
          </a:p>
          <a:p>
            <a:pPr marL="0" indent="0">
              <a:buNone/>
            </a:pPr>
            <a:r>
              <a:rPr lang="en-IN" dirty="0" err="1">
                <a:solidFill>
                  <a:srgbClr val="FF0000"/>
                </a:solidFill>
              </a:rPr>
              <a:t>const</a:t>
            </a:r>
            <a:r>
              <a:rPr lang="en-IN" dirty="0">
                <a:solidFill>
                  <a:srgbClr val="FF0000"/>
                </a:solidFill>
              </a:rPr>
              <a:t> </a:t>
            </a:r>
            <a:r>
              <a:rPr lang="en-IN" dirty="0" err="1">
                <a:solidFill>
                  <a:srgbClr val="FF0000"/>
                </a:solidFill>
              </a:rPr>
              <a:t>logSkyColor</a:t>
            </a:r>
            <a:r>
              <a:rPr lang="en-IN" dirty="0">
                <a:solidFill>
                  <a:srgbClr val="FF0000"/>
                </a:solidFill>
              </a:rPr>
              <a:t> = () =&gt; {</a:t>
            </a:r>
          </a:p>
          <a:p>
            <a:pPr marL="0" indent="0">
              <a:buNone/>
            </a:pPr>
            <a:r>
              <a:rPr lang="en-IN" dirty="0">
                <a:solidFill>
                  <a:srgbClr val="FF0000"/>
                </a:solidFill>
              </a:rPr>
              <a:t>  let </a:t>
            </a:r>
            <a:r>
              <a:rPr lang="en-IN" dirty="0" err="1">
                <a:solidFill>
                  <a:srgbClr val="FF0000"/>
                </a:solidFill>
              </a:rPr>
              <a:t>color</a:t>
            </a:r>
            <a:r>
              <a:rPr lang="en-IN" dirty="0">
                <a:solidFill>
                  <a:srgbClr val="FF0000"/>
                </a:solidFill>
              </a:rPr>
              <a:t> = 'blue'; </a:t>
            </a:r>
          </a:p>
          <a:p>
            <a:pPr marL="0" indent="0">
              <a:buNone/>
            </a:pPr>
            <a:r>
              <a:rPr lang="en-IN" dirty="0">
                <a:solidFill>
                  <a:srgbClr val="FF0000"/>
                </a:solidFill>
              </a:rPr>
              <a:t>  console.log(</a:t>
            </a:r>
            <a:r>
              <a:rPr lang="en-IN" dirty="0" err="1">
                <a:solidFill>
                  <a:srgbClr val="FF0000"/>
                </a:solidFill>
              </a:rPr>
              <a:t>color</a:t>
            </a:r>
            <a:r>
              <a:rPr lang="en-IN" dirty="0">
                <a:solidFill>
                  <a:srgbClr val="FF0000"/>
                </a:solidFill>
              </a:rPr>
              <a:t>); // Prints "blue"</a:t>
            </a:r>
          </a:p>
          <a:p>
            <a:pPr marL="0" indent="0">
              <a:buNone/>
            </a:pPr>
            <a:r>
              <a:rPr lang="en-IN" dirty="0">
                <a:solidFill>
                  <a:srgbClr val="FF0000"/>
                </a:solidFill>
              </a:rPr>
              <a:t>};</a:t>
            </a:r>
          </a:p>
          <a:p>
            <a:pPr marL="0" indent="0">
              <a:buNone/>
            </a:pPr>
            <a:r>
              <a:rPr lang="en-IN" dirty="0">
                <a:solidFill>
                  <a:srgbClr val="FF0000"/>
                </a:solidFill>
              </a:rPr>
              <a:t> </a:t>
            </a:r>
          </a:p>
          <a:p>
            <a:pPr marL="0" indent="0">
              <a:buNone/>
            </a:pPr>
            <a:r>
              <a:rPr lang="en-IN" dirty="0" err="1">
                <a:solidFill>
                  <a:srgbClr val="FF0000"/>
                </a:solidFill>
              </a:rPr>
              <a:t>logSkyColor</a:t>
            </a:r>
            <a:r>
              <a:rPr lang="en-IN" dirty="0">
                <a:solidFill>
                  <a:srgbClr val="FF0000"/>
                </a:solidFill>
              </a:rPr>
              <a:t>(); // Prints "blue"</a:t>
            </a:r>
          </a:p>
          <a:p>
            <a:pPr marL="0" indent="0">
              <a:buNone/>
            </a:pPr>
            <a:r>
              <a:rPr lang="en-IN" dirty="0">
                <a:solidFill>
                  <a:srgbClr val="FF0000"/>
                </a:solidFill>
              </a:rPr>
              <a:t>console.log(</a:t>
            </a:r>
            <a:r>
              <a:rPr lang="en-IN" dirty="0" err="1">
                <a:solidFill>
                  <a:srgbClr val="FF0000"/>
                </a:solidFill>
              </a:rPr>
              <a:t>color</a:t>
            </a:r>
            <a:r>
              <a:rPr lang="en-IN" dirty="0">
                <a:solidFill>
                  <a:srgbClr val="FF0000"/>
                </a:solidFill>
              </a:rPr>
              <a:t>); // throws a </a:t>
            </a:r>
            <a:r>
              <a:rPr lang="en-IN" dirty="0" err="1">
                <a:solidFill>
                  <a:srgbClr val="FF0000"/>
                </a:solidFill>
              </a:rPr>
              <a:t>ReferenceError</a:t>
            </a:r>
            <a:endParaRPr lang="en-IN" dirty="0">
              <a:solidFill>
                <a:srgbClr val="FF0000"/>
              </a:solidFill>
            </a:endParaRPr>
          </a:p>
        </p:txBody>
      </p:sp>
    </p:spTree>
    <p:extLst>
      <p:ext uri="{BB962C8B-B14F-4D97-AF65-F5344CB8AC3E}">
        <p14:creationId xmlns:p14="http://schemas.microsoft.com/office/powerpoint/2010/main" val="12053538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65EF3-3804-8DA3-D1FF-D75A5FD96A69}"/>
              </a:ext>
            </a:extLst>
          </p:cNvPr>
          <p:cNvSpPr>
            <a:spLocks noGrp="1"/>
          </p:cNvSpPr>
          <p:nvPr>
            <p:ph type="title"/>
          </p:nvPr>
        </p:nvSpPr>
        <p:spPr/>
        <p:txBody>
          <a:bodyPr/>
          <a:lstStyle/>
          <a:p>
            <a:r>
              <a:rPr lang="en-IN" dirty="0"/>
              <a:t>Create an Array</a:t>
            </a:r>
          </a:p>
        </p:txBody>
      </p:sp>
      <p:sp>
        <p:nvSpPr>
          <p:cNvPr id="3" name="Content Placeholder 2">
            <a:extLst>
              <a:ext uri="{FF2B5EF4-FFF2-40B4-BE49-F238E27FC236}">
                <a16:creationId xmlns:a16="http://schemas.microsoft.com/office/drawing/2014/main" id="{C182701C-6D16-834A-9077-04E8059DA6DE}"/>
              </a:ext>
            </a:extLst>
          </p:cNvPr>
          <p:cNvSpPr>
            <a:spLocks noGrp="1"/>
          </p:cNvSpPr>
          <p:nvPr>
            <p:ph idx="1"/>
          </p:nvPr>
        </p:nvSpPr>
        <p:spPr>
          <a:xfrm>
            <a:off x="581192" y="2180496"/>
            <a:ext cx="11029615" cy="2187223"/>
          </a:xfrm>
        </p:spPr>
        <p:txBody>
          <a:bodyPr>
            <a:normAutofit lnSpcReduction="10000"/>
          </a:bodyPr>
          <a:lstStyle/>
          <a:p>
            <a:r>
              <a:rPr lang="en-US" dirty="0"/>
              <a:t>One way we can create an array is to use an array literal. An array literal creates an array by wrapping items in square brackets [].</a:t>
            </a:r>
          </a:p>
          <a:p>
            <a:r>
              <a:rPr lang="en-US" dirty="0"/>
              <a:t>The array is represented by the square brackets [] and the content inside.</a:t>
            </a:r>
          </a:p>
          <a:p>
            <a:r>
              <a:rPr lang="en-US" dirty="0"/>
              <a:t>Each content item inside an array is called an element.</a:t>
            </a:r>
          </a:p>
          <a:p>
            <a:r>
              <a:rPr lang="en-US" dirty="0"/>
              <a:t>There are three different elements inside the array.</a:t>
            </a:r>
          </a:p>
          <a:p>
            <a:r>
              <a:rPr lang="en-US" dirty="0"/>
              <a:t>Each element inside the array is a different data type.</a:t>
            </a:r>
            <a:endParaRPr lang="en-IN" dirty="0"/>
          </a:p>
        </p:txBody>
      </p:sp>
      <p:sp>
        <p:nvSpPr>
          <p:cNvPr id="9" name="TextBox 8">
            <a:extLst>
              <a:ext uri="{FF2B5EF4-FFF2-40B4-BE49-F238E27FC236}">
                <a16:creationId xmlns:a16="http://schemas.microsoft.com/office/drawing/2014/main" id="{8BB55275-2E25-FC99-BD0F-0FC72F2350AF}"/>
              </a:ext>
            </a:extLst>
          </p:cNvPr>
          <p:cNvSpPr txBox="1"/>
          <p:nvPr/>
        </p:nvSpPr>
        <p:spPr>
          <a:xfrm>
            <a:off x="581192" y="4832259"/>
            <a:ext cx="6094378" cy="646331"/>
          </a:xfrm>
          <a:prstGeom prst="rect">
            <a:avLst/>
          </a:prstGeom>
          <a:noFill/>
        </p:spPr>
        <p:txBody>
          <a:bodyPr wrap="square">
            <a:spAutoFit/>
          </a:bodyPr>
          <a:lstStyle/>
          <a:p>
            <a:r>
              <a:rPr lang="en-IN" b="0" dirty="0" err="1">
                <a:solidFill>
                  <a:srgbClr val="FF0000"/>
                </a:solidFill>
                <a:effectLst/>
                <a:latin typeface="Monaco, Menlo,  Ubuntu Mono"/>
              </a:rPr>
              <a:t>const</a:t>
            </a:r>
            <a:r>
              <a:rPr lang="en-IN" b="0" dirty="0">
                <a:solidFill>
                  <a:srgbClr val="FF0000"/>
                </a:solidFill>
                <a:effectLst/>
                <a:latin typeface="Monaco, Menlo,  Ubuntu Mono"/>
              </a:rPr>
              <a:t> hobbies = ['drawing', 'dancing', 'painting'];</a:t>
            </a:r>
          </a:p>
          <a:p>
            <a:r>
              <a:rPr lang="en-IN" b="0" dirty="0">
                <a:solidFill>
                  <a:srgbClr val="FF0000"/>
                </a:solidFill>
                <a:effectLst/>
                <a:latin typeface="Monaco, Menlo,  Ubuntu Mono"/>
              </a:rPr>
              <a:t>console.log(hobbies);</a:t>
            </a:r>
          </a:p>
        </p:txBody>
      </p:sp>
    </p:spTree>
    <p:extLst>
      <p:ext uri="{BB962C8B-B14F-4D97-AF65-F5344CB8AC3E}">
        <p14:creationId xmlns:p14="http://schemas.microsoft.com/office/powerpoint/2010/main" val="250844047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237167-24A4-9DA8-A214-FAFF87197E2E}"/>
              </a:ext>
            </a:extLst>
          </p:cNvPr>
          <p:cNvSpPr>
            <a:spLocks noGrp="1"/>
          </p:cNvSpPr>
          <p:nvPr>
            <p:ph type="title"/>
          </p:nvPr>
        </p:nvSpPr>
        <p:spPr/>
        <p:txBody>
          <a:bodyPr/>
          <a:lstStyle/>
          <a:p>
            <a:r>
              <a:rPr lang="en-IN" dirty="0"/>
              <a:t>Accessing Elements</a:t>
            </a:r>
          </a:p>
        </p:txBody>
      </p:sp>
      <p:sp>
        <p:nvSpPr>
          <p:cNvPr id="3" name="Content Placeholder 2">
            <a:extLst>
              <a:ext uri="{FF2B5EF4-FFF2-40B4-BE49-F238E27FC236}">
                <a16:creationId xmlns:a16="http://schemas.microsoft.com/office/drawing/2014/main" id="{4052F517-6BBD-B732-4C5B-CD4B090D07AC}"/>
              </a:ext>
            </a:extLst>
          </p:cNvPr>
          <p:cNvSpPr>
            <a:spLocks noGrp="1"/>
          </p:cNvSpPr>
          <p:nvPr>
            <p:ph idx="1"/>
          </p:nvPr>
        </p:nvSpPr>
        <p:spPr>
          <a:xfrm>
            <a:off x="581192" y="2180496"/>
            <a:ext cx="11029615" cy="2080219"/>
          </a:xfrm>
        </p:spPr>
        <p:txBody>
          <a:bodyPr/>
          <a:lstStyle/>
          <a:p>
            <a:r>
              <a:rPr lang="en-US" dirty="0"/>
              <a:t>Each element in an array has a numbered position known as its index. We can access individual items using their index, which is similar to referencing an item in a list based on the item’s position.</a:t>
            </a:r>
          </a:p>
          <a:p>
            <a:r>
              <a:rPr lang="en-US" dirty="0"/>
              <a:t>Arrays in JavaScript are zero-indexed, meaning the positions start counting from 0 rather than 1. Therefore, the first item in an array will be at position 0. Let’s see how we could access an element in an array:</a:t>
            </a:r>
            <a:endParaRPr lang="en-IN" dirty="0"/>
          </a:p>
        </p:txBody>
      </p:sp>
      <p:sp>
        <p:nvSpPr>
          <p:cNvPr id="6" name="TextBox 5">
            <a:extLst>
              <a:ext uri="{FF2B5EF4-FFF2-40B4-BE49-F238E27FC236}">
                <a16:creationId xmlns:a16="http://schemas.microsoft.com/office/drawing/2014/main" id="{6F9BE70D-C9C2-2117-45BD-23E066BF7083}"/>
              </a:ext>
            </a:extLst>
          </p:cNvPr>
          <p:cNvSpPr txBox="1"/>
          <p:nvPr/>
        </p:nvSpPr>
        <p:spPr>
          <a:xfrm>
            <a:off x="581192" y="4356078"/>
            <a:ext cx="3557892" cy="1015663"/>
          </a:xfrm>
          <a:prstGeom prst="rect">
            <a:avLst/>
          </a:prstGeom>
          <a:noFill/>
          <a:ln>
            <a:solidFill>
              <a:schemeClr val="accent3">
                <a:lumMod val="50000"/>
              </a:schemeClr>
            </a:solidFill>
          </a:ln>
        </p:spPr>
        <p:txBody>
          <a:bodyPr wrap="square">
            <a:spAutoFit/>
          </a:bodyPr>
          <a:lstStyle/>
          <a:p>
            <a:r>
              <a:rPr lang="en-IN" sz="2000" b="0" i="0" dirty="0" err="1">
                <a:solidFill>
                  <a:srgbClr val="FF0000"/>
                </a:solidFill>
                <a:effectLst/>
                <a:latin typeface="Monaco"/>
              </a:rPr>
              <a:t>const</a:t>
            </a:r>
            <a:r>
              <a:rPr lang="en-IN" sz="2000" b="0" i="0" dirty="0">
                <a:solidFill>
                  <a:srgbClr val="FF0000"/>
                </a:solidFill>
                <a:effectLst/>
                <a:latin typeface="Monaco"/>
              </a:rPr>
              <a:t> hello = 'Hello World';</a:t>
            </a:r>
            <a:r>
              <a:rPr lang="en-IN" sz="2000" dirty="0">
                <a:solidFill>
                  <a:srgbClr val="FF0000"/>
                </a:solidFill>
              </a:rPr>
              <a:t/>
            </a:r>
            <a:br>
              <a:rPr lang="en-IN" sz="2000" dirty="0">
                <a:solidFill>
                  <a:srgbClr val="FF0000"/>
                </a:solidFill>
              </a:rPr>
            </a:br>
            <a:r>
              <a:rPr lang="en-IN" sz="2000" b="0" i="0" dirty="0">
                <a:solidFill>
                  <a:srgbClr val="FF0000"/>
                </a:solidFill>
                <a:effectLst/>
                <a:latin typeface="Monaco"/>
              </a:rPr>
              <a:t>console.log(hello[6]);</a:t>
            </a:r>
            <a:r>
              <a:rPr lang="en-IN" sz="2000" dirty="0">
                <a:solidFill>
                  <a:srgbClr val="FF0000"/>
                </a:solidFill>
              </a:rPr>
              <a:t/>
            </a:r>
            <a:br>
              <a:rPr lang="en-IN" sz="2000" dirty="0">
                <a:solidFill>
                  <a:srgbClr val="FF0000"/>
                </a:solidFill>
              </a:rPr>
            </a:br>
            <a:r>
              <a:rPr lang="en-IN" sz="2000" b="0" i="0" dirty="0">
                <a:solidFill>
                  <a:srgbClr val="FF0000"/>
                </a:solidFill>
                <a:effectLst/>
                <a:latin typeface="Monaco"/>
              </a:rPr>
              <a:t>// Output: W</a:t>
            </a:r>
            <a:endParaRPr lang="en-IN" sz="2000" dirty="0">
              <a:solidFill>
                <a:srgbClr val="FF0000"/>
              </a:solidFill>
            </a:endParaRPr>
          </a:p>
        </p:txBody>
      </p:sp>
      <p:sp>
        <p:nvSpPr>
          <p:cNvPr id="10" name="TextBox 9">
            <a:extLst>
              <a:ext uri="{FF2B5EF4-FFF2-40B4-BE49-F238E27FC236}">
                <a16:creationId xmlns:a16="http://schemas.microsoft.com/office/drawing/2014/main" id="{2B7A3A5C-AF1E-C08C-19A0-C44AC2D498D3}"/>
              </a:ext>
            </a:extLst>
          </p:cNvPr>
          <p:cNvSpPr txBox="1"/>
          <p:nvPr/>
        </p:nvSpPr>
        <p:spPr>
          <a:xfrm>
            <a:off x="5005729" y="4122933"/>
            <a:ext cx="6605078" cy="1754326"/>
          </a:xfrm>
          <a:prstGeom prst="rect">
            <a:avLst/>
          </a:prstGeom>
          <a:noFill/>
          <a:ln>
            <a:solidFill>
              <a:schemeClr val="accent3">
                <a:lumMod val="50000"/>
              </a:schemeClr>
            </a:solidFill>
          </a:ln>
        </p:spPr>
        <p:txBody>
          <a:bodyPr wrap="square">
            <a:spAutoFit/>
          </a:bodyPr>
          <a:lstStyle/>
          <a:p>
            <a:r>
              <a:rPr lang="en-IN" b="0" dirty="0" err="1">
                <a:solidFill>
                  <a:srgbClr val="FF0000"/>
                </a:solidFill>
                <a:effectLst/>
                <a:latin typeface="Monaco, Menlo,  Ubuntu Mono"/>
              </a:rPr>
              <a:t>const</a:t>
            </a:r>
            <a:r>
              <a:rPr lang="en-IN" b="0" dirty="0">
                <a:solidFill>
                  <a:srgbClr val="FF0000"/>
                </a:solidFill>
                <a:effectLst/>
                <a:latin typeface="Monaco, Menlo,  Ubuntu Mono"/>
              </a:rPr>
              <a:t> </a:t>
            </a:r>
            <a:r>
              <a:rPr lang="en-IN" b="0" dirty="0" err="1">
                <a:solidFill>
                  <a:srgbClr val="FF0000"/>
                </a:solidFill>
                <a:effectLst/>
                <a:latin typeface="Monaco, Menlo,  Ubuntu Mono"/>
              </a:rPr>
              <a:t>famousSayings</a:t>
            </a:r>
            <a:r>
              <a:rPr lang="en-IN" b="0" dirty="0">
                <a:solidFill>
                  <a:srgbClr val="FF0000"/>
                </a:solidFill>
                <a:effectLst/>
                <a:latin typeface="Monaco, Menlo,  Ubuntu Mono"/>
              </a:rPr>
              <a:t> = ['Fortune </a:t>
            </a:r>
            <a:r>
              <a:rPr lang="en-IN" b="0" dirty="0" err="1">
                <a:solidFill>
                  <a:srgbClr val="FF0000"/>
                </a:solidFill>
                <a:effectLst/>
                <a:latin typeface="Monaco, Menlo,  Ubuntu Mono"/>
              </a:rPr>
              <a:t>favors</a:t>
            </a:r>
            <a:r>
              <a:rPr lang="en-IN" b="0" dirty="0">
                <a:solidFill>
                  <a:srgbClr val="FF0000"/>
                </a:solidFill>
                <a:effectLst/>
                <a:latin typeface="Monaco, Menlo,  Ubuntu Mono"/>
              </a:rPr>
              <a:t> the brave.', 'A joke is a very serious thing.', 'Where there is love there is life.'];</a:t>
            </a:r>
          </a:p>
          <a:p>
            <a:r>
              <a:rPr lang="en-IN" b="0" dirty="0">
                <a:solidFill>
                  <a:srgbClr val="FF0000"/>
                </a:solidFill>
                <a:effectLst/>
                <a:latin typeface="Monaco, Menlo,  Ubuntu Mono"/>
              </a:rPr>
              <a:t>let </a:t>
            </a:r>
            <a:r>
              <a:rPr lang="en-IN" b="0" dirty="0" err="1">
                <a:solidFill>
                  <a:srgbClr val="FF0000"/>
                </a:solidFill>
                <a:effectLst/>
                <a:latin typeface="Monaco, Menlo,  Ubuntu Mono"/>
              </a:rPr>
              <a:t>listItem</a:t>
            </a:r>
            <a:r>
              <a:rPr lang="en-IN" b="0" dirty="0">
                <a:solidFill>
                  <a:srgbClr val="FF0000"/>
                </a:solidFill>
                <a:effectLst/>
                <a:latin typeface="Monaco, Menlo,  Ubuntu Mono"/>
              </a:rPr>
              <a:t> =</a:t>
            </a:r>
            <a:r>
              <a:rPr lang="en-IN" b="0" dirty="0" err="1">
                <a:solidFill>
                  <a:srgbClr val="FF0000"/>
                </a:solidFill>
                <a:effectLst/>
                <a:latin typeface="Monaco, Menlo,  Ubuntu Mono"/>
              </a:rPr>
              <a:t>famousSayings</a:t>
            </a:r>
            <a:r>
              <a:rPr lang="en-IN" b="0" dirty="0">
                <a:solidFill>
                  <a:srgbClr val="FF0000"/>
                </a:solidFill>
                <a:effectLst/>
                <a:latin typeface="Monaco, Menlo,  Ubuntu Mono"/>
              </a:rPr>
              <a:t>[0];</a:t>
            </a:r>
          </a:p>
          <a:p>
            <a:r>
              <a:rPr lang="en-IN" b="0" dirty="0">
                <a:solidFill>
                  <a:srgbClr val="FF0000"/>
                </a:solidFill>
                <a:effectLst/>
                <a:latin typeface="Monaco, Menlo,  Ubuntu Mono"/>
              </a:rPr>
              <a:t>console.log (</a:t>
            </a:r>
            <a:r>
              <a:rPr lang="en-IN" b="0" dirty="0" err="1">
                <a:solidFill>
                  <a:srgbClr val="FF0000"/>
                </a:solidFill>
                <a:effectLst/>
                <a:latin typeface="Monaco, Menlo,  Ubuntu Mono"/>
              </a:rPr>
              <a:t>listItem</a:t>
            </a:r>
            <a:r>
              <a:rPr lang="en-IN" b="0" dirty="0">
                <a:solidFill>
                  <a:srgbClr val="FF0000"/>
                </a:solidFill>
                <a:effectLst/>
                <a:latin typeface="Monaco, Menlo,  Ubuntu Mono"/>
              </a:rPr>
              <a:t>);</a:t>
            </a:r>
          </a:p>
          <a:p>
            <a:r>
              <a:rPr lang="en-IN" b="0" dirty="0">
                <a:solidFill>
                  <a:srgbClr val="FF0000"/>
                </a:solidFill>
                <a:effectLst/>
                <a:latin typeface="Monaco, Menlo,  Ubuntu Mono"/>
              </a:rPr>
              <a:t>console.log (</a:t>
            </a:r>
            <a:r>
              <a:rPr lang="en-IN" b="0" dirty="0" err="1">
                <a:solidFill>
                  <a:srgbClr val="FF0000"/>
                </a:solidFill>
                <a:effectLst/>
                <a:latin typeface="Monaco, Menlo,  Ubuntu Mono"/>
              </a:rPr>
              <a:t>famousSayings</a:t>
            </a:r>
            <a:r>
              <a:rPr lang="en-IN" b="0" dirty="0">
                <a:solidFill>
                  <a:srgbClr val="FF0000"/>
                </a:solidFill>
                <a:effectLst/>
                <a:latin typeface="Monaco, Menlo,  Ubuntu Mono"/>
              </a:rPr>
              <a:t>[2]);</a:t>
            </a:r>
          </a:p>
          <a:p>
            <a:r>
              <a:rPr lang="en-IN" b="0" dirty="0">
                <a:solidFill>
                  <a:srgbClr val="FF0000"/>
                </a:solidFill>
                <a:effectLst/>
                <a:latin typeface="Monaco, Menlo,  Ubuntu Mono"/>
              </a:rPr>
              <a:t>console.log (</a:t>
            </a:r>
            <a:r>
              <a:rPr lang="en-IN" b="0" dirty="0" err="1">
                <a:solidFill>
                  <a:srgbClr val="FF0000"/>
                </a:solidFill>
                <a:effectLst/>
                <a:latin typeface="Monaco, Menlo,  Ubuntu Mono"/>
              </a:rPr>
              <a:t>famousSayings</a:t>
            </a:r>
            <a:r>
              <a:rPr lang="en-IN" b="0" dirty="0">
                <a:solidFill>
                  <a:srgbClr val="FF0000"/>
                </a:solidFill>
                <a:effectLst/>
                <a:latin typeface="Monaco, Menlo,  Ubuntu Mono"/>
              </a:rPr>
              <a:t>[3]);</a:t>
            </a:r>
          </a:p>
        </p:txBody>
      </p:sp>
    </p:spTree>
    <p:extLst>
      <p:ext uri="{BB962C8B-B14F-4D97-AF65-F5344CB8AC3E}">
        <p14:creationId xmlns:p14="http://schemas.microsoft.com/office/powerpoint/2010/main" val="69626055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EDACDD-B8E5-D950-D27F-EA0AB6211A1B}"/>
              </a:ext>
            </a:extLst>
          </p:cNvPr>
          <p:cNvSpPr>
            <a:spLocks noGrp="1"/>
          </p:cNvSpPr>
          <p:nvPr>
            <p:ph type="title"/>
          </p:nvPr>
        </p:nvSpPr>
        <p:spPr/>
        <p:txBody>
          <a:bodyPr/>
          <a:lstStyle/>
          <a:p>
            <a:r>
              <a:rPr lang="en-IN" dirty="0"/>
              <a:t>Update Elements</a:t>
            </a:r>
          </a:p>
        </p:txBody>
      </p:sp>
      <p:sp>
        <p:nvSpPr>
          <p:cNvPr id="3" name="Content Placeholder 2">
            <a:extLst>
              <a:ext uri="{FF2B5EF4-FFF2-40B4-BE49-F238E27FC236}">
                <a16:creationId xmlns:a16="http://schemas.microsoft.com/office/drawing/2014/main" id="{E1CE2B1C-4140-E48D-EAEC-1FA52B485CFA}"/>
              </a:ext>
            </a:extLst>
          </p:cNvPr>
          <p:cNvSpPr>
            <a:spLocks noGrp="1"/>
          </p:cNvSpPr>
          <p:nvPr>
            <p:ph idx="1"/>
          </p:nvPr>
        </p:nvSpPr>
        <p:spPr/>
        <p:txBody>
          <a:bodyPr/>
          <a:lstStyle/>
          <a:p>
            <a:r>
              <a:rPr lang="en-US" dirty="0"/>
              <a:t>Once you have access to an element in an array, you can update its value.</a:t>
            </a:r>
          </a:p>
          <a:p>
            <a:endParaRPr lang="en-US" dirty="0"/>
          </a:p>
          <a:p>
            <a:pPr marL="0" indent="0">
              <a:buNone/>
            </a:pPr>
            <a:r>
              <a:rPr lang="en-IN" dirty="0">
                <a:solidFill>
                  <a:srgbClr val="FF0000"/>
                </a:solidFill>
              </a:rPr>
              <a:t>let seasons = ['Winter', 'Spring', 'Summer', 'Fall'];</a:t>
            </a:r>
          </a:p>
          <a:p>
            <a:pPr marL="0" indent="0">
              <a:buNone/>
            </a:pPr>
            <a:r>
              <a:rPr lang="en-IN" dirty="0">
                <a:solidFill>
                  <a:srgbClr val="FF0000"/>
                </a:solidFill>
              </a:rPr>
              <a:t>seasons[3] = 'Autumn';</a:t>
            </a:r>
          </a:p>
          <a:p>
            <a:pPr marL="0" indent="0">
              <a:buNone/>
            </a:pPr>
            <a:r>
              <a:rPr lang="en-IN" dirty="0">
                <a:solidFill>
                  <a:srgbClr val="FF0000"/>
                </a:solidFill>
              </a:rPr>
              <a:t>console.log(seasons); </a:t>
            </a:r>
          </a:p>
          <a:p>
            <a:pPr marL="0" indent="0">
              <a:buNone/>
            </a:pPr>
            <a:r>
              <a:rPr lang="en-IN" dirty="0">
                <a:solidFill>
                  <a:srgbClr val="FF0000"/>
                </a:solidFill>
              </a:rPr>
              <a:t>//Output: ['Winter', 'Spring', 'Summer', 'Autumn']</a:t>
            </a:r>
          </a:p>
        </p:txBody>
      </p:sp>
    </p:spTree>
    <p:extLst>
      <p:ext uri="{BB962C8B-B14F-4D97-AF65-F5344CB8AC3E}">
        <p14:creationId xmlns:p14="http://schemas.microsoft.com/office/powerpoint/2010/main" val="182254801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774C2D-7EF7-A726-EF6D-86893BE965CB}"/>
              </a:ext>
            </a:extLst>
          </p:cNvPr>
          <p:cNvSpPr>
            <a:spLocks noGrp="1"/>
          </p:cNvSpPr>
          <p:nvPr>
            <p:ph type="title"/>
          </p:nvPr>
        </p:nvSpPr>
        <p:spPr/>
        <p:txBody>
          <a:bodyPr/>
          <a:lstStyle/>
          <a:p>
            <a:r>
              <a:rPr lang="en-US" dirty="0"/>
              <a:t>Arrays with let and const</a:t>
            </a:r>
            <a:endParaRPr lang="en-IN" dirty="0"/>
          </a:p>
        </p:txBody>
      </p:sp>
      <p:sp>
        <p:nvSpPr>
          <p:cNvPr id="3" name="Content Placeholder 2">
            <a:extLst>
              <a:ext uri="{FF2B5EF4-FFF2-40B4-BE49-F238E27FC236}">
                <a16:creationId xmlns:a16="http://schemas.microsoft.com/office/drawing/2014/main" id="{10D08853-B38C-15FA-200A-1056FF8E92D6}"/>
              </a:ext>
            </a:extLst>
          </p:cNvPr>
          <p:cNvSpPr>
            <a:spLocks noGrp="1"/>
          </p:cNvSpPr>
          <p:nvPr>
            <p:ph idx="1"/>
          </p:nvPr>
        </p:nvSpPr>
        <p:spPr/>
        <p:txBody>
          <a:bodyPr>
            <a:normAutofit/>
          </a:bodyPr>
          <a:lstStyle/>
          <a:p>
            <a:pPr algn="just"/>
            <a:r>
              <a:rPr lang="en-US" sz="2000" dirty="0"/>
              <a:t>Variables declared with let can be reassigned.</a:t>
            </a:r>
          </a:p>
          <a:p>
            <a:pPr algn="just"/>
            <a:r>
              <a:rPr lang="en-US" sz="2000" dirty="0"/>
              <a:t>Variables declared with the const keyword cannot be reassigned. However, elements in an array declared with const remain mutable. Meaning that we can change the contents of a const array, but cannot reassign a new array or a different value.</a:t>
            </a:r>
          </a:p>
          <a:p>
            <a:pPr algn="just"/>
            <a:r>
              <a:rPr lang="en-US" sz="2000" dirty="0"/>
              <a:t>The instructions below will illustrate this concept more clearly. Pay close attention to the similarities and differences between the condiments array and the utensils array as you complete the steps.</a:t>
            </a:r>
            <a:endParaRPr lang="en-IN" sz="2000" dirty="0"/>
          </a:p>
        </p:txBody>
      </p:sp>
    </p:spTree>
    <p:extLst>
      <p:ext uri="{BB962C8B-B14F-4D97-AF65-F5344CB8AC3E}">
        <p14:creationId xmlns:p14="http://schemas.microsoft.com/office/powerpoint/2010/main" val="370157836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3F1D79-8D0E-4232-3C48-B8FBCA89CB71}"/>
              </a:ext>
            </a:extLst>
          </p:cNvPr>
          <p:cNvSpPr>
            <a:spLocks noGrp="1"/>
          </p:cNvSpPr>
          <p:nvPr>
            <p:ph type="title"/>
          </p:nvPr>
        </p:nvSpPr>
        <p:spPr/>
        <p:txBody>
          <a:bodyPr/>
          <a:lstStyle/>
          <a:p>
            <a:r>
              <a:rPr lang="en-IN" cap="none" dirty="0"/>
              <a:t>The .length property</a:t>
            </a:r>
          </a:p>
        </p:txBody>
      </p:sp>
      <p:sp>
        <p:nvSpPr>
          <p:cNvPr id="3" name="Content Placeholder 2">
            <a:extLst>
              <a:ext uri="{FF2B5EF4-FFF2-40B4-BE49-F238E27FC236}">
                <a16:creationId xmlns:a16="http://schemas.microsoft.com/office/drawing/2014/main" id="{C55F94C7-FDD3-FD88-4540-03437B16DAC3}"/>
              </a:ext>
            </a:extLst>
          </p:cNvPr>
          <p:cNvSpPr>
            <a:spLocks noGrp="1"/>
          </p:cNvSpPr>
          <p:nvPr>
            <p:ph idx="1"/>
          </p:nvPr>
        </p:nvSpPr>
        <p:spPr/>
        <p:txBody>
          <a:bodyPr/>
          <a:lstStyle/>
          <a:p>
            <a:r>
              <a:rPr lang="en-US" dirty="0"/>
              <a:t>One of an array’s built-in properties is length and it returns the number of items in the array. We access the .length property just like we do with strings. Check the example below:</a:t>
            </a:r>
          </a:p>
          <a:p>
            <a:endParaRPr lang="en-US" dirty="0"/>
          </a:p>
          <a:p>
            <a:pPr marL="0" indent="0">
              <a:buNone/>
            </a:pPr>
            <a:r>
              <a:rPr lang="en-IN" dirty="0" err="1">
                <a:solidFill>
                  <a:srgbClr val="FF0000"/>
                </a:solidFill>
              </a:rPr>
              <a:t>const</a:t>
            </a:r>
            <a:r>
              <a:rPr lang="en-IN" dirty="0">
                <a:solidFill>
                  <a:srgbClr val="FF0000"/>
                </a:solidFill>
              </a:rPr>
              <a:t> </a:t>
            </a:r>
            <a:r>
              <a:rPr lang="en-IN" dirty="0" err="1">
                <a:solidFill>
                  <a:srgbClr val="FF0000"/>
                </a:solidFill>
              </a:rPr>
              <a:t>newYearsResolutions</a:t>
            </a:r>
            <a:r>
              <a:rPr lang="en-IN" dirty="0">
                <a:solidFill>
                  <a:srgbClr val="FF0000"/>
                </a:solidFill>
              </a:rPr>
              <a:t> = ['Keep a journal', 'Take a Yoga </a:t>
            </a:r>
            <a:r>
              <a:rPr lang="en-IN" dirty="0" err="1">
                <a:solidFill>
                  <a:srgbClr val="FF0000"/>
                </a:solidFill>
              </a:rPr>
              <a:t>class'</a:t>
            </a:r>
            <a:r>
              <a:rPr lang="en-IN" dirty="0">
                <a:solidFill>
                  <a:srgbClr val="FF0000"/>
                </a:solidFill>
              </a:rPr>
              <a:t>];</a:t>
            </a:r>
          </a:p>
          <a:p>
            <a:pPr marL="0" indent="0">
              <a:buNone/>
            </a:pPr>
            <a:r>
              <a:rPr lang="en-IN" dirty="0">
                <a:solidFill>
                  <a:srgbClr val="FF0000"/>
                </a:solidFill>
              </a:rPr>
              <a:t>console.log(</a:t>
            </a:r>
            <a:r>
              <a:rPr lang="en-IN" dirty="0" err="1">
                <a:solidFill>
                  <a:srgbClr val="FF0000"/>
                </a:solidFill>
              </a:rPr>
              <a:t>newYearsResolutions.length</a:t>
            </a:r>
            <a:r>
              <a:rPr lang="en-IN" dirty="0">
                <a:solidFill>
                  <a:srgbClr val="FF0000"/>
                </a:solidFill>
              </a:rPr>
              <a:t>);</a:t>
            </a:r>
          </a:p>
          <a:p>
            <a:pPr marL="0" indent="0">
              <a:buNone/>
            </a:pPr>
            <a:r>
              <a:rPr lang="en-IN" dirty="0">
                <a:solidFill>
                  <a:srgbClr val="FF0000"/>
                </a:solidFill>
              </a:rPr>
              <a:t>// Output: 2</a:t>
            </a:r>
          </a:p>
        </p:txBody>
      </p:sp>
    </p:spTree>
    <p:extLst>
      <p:ext uri="{BB962C8B-B14F-4D97-AF65-F5344CB8AC3E}">
        <p14:creationId xmlns:p14="http://schemas.microsoft.com/office/powerpoint/2010/main" val="382965163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FAAECD-AC10-26B9-7062-94B39FFA8BD5}"/>
              </a:ext>
            </a:extLst>
          </p:cNvPr>
          <p:cNvSpPr>
            <a:spLocks noGrp="1"/>
          </p:cNvSpPr>
          <p:nvPr>
            <p:ph type="title"/>
          </p:nvPr>
        </p:nvSpPr>
        <p:spPr/>
        <p:txBody>
          <a:bodyPr/>
          <a:lstStyle/>
          <a:p>
            <a:r>
              <a:rPr lang="en-IN" dirty="0"/>
              <a:t>The .</a:t>
            </a:r>
            <a:r>
              <a:rPr lang="en-IN" cap="none" dirty="0"/>
              <a:t>push()</a:t>
            </a:r>
            <a:r>
              <a:rPr lang="en-IN" dirty="0"/>
              <a:t> Method</a:t>
            </a:r>
          </a:p>
        </p:txBody>
      </p:sp>
      <p:sp>
        <p:nvSpPr>
          <p:cNvPr id="3" name="Content Placeholder 2">
            <a:extLst>
              <a:ext uri="{FF2B5EF4-FFF2-40B4-BE49-F238E27FC236}">
                <a16:creationId xmlns:a16="http://schemas.microsoft.com/office/drawing/2014/main" id="{24712609-D55D-BFE6-D6A9-FDB6FF52F764}"/>
              </a:ext>
            </a:extLst>
          </p:cNvPr>
          <p:cNvSpPr>
            <a:spLocks noGrp="1"/>
          </p:cNvSpPr>
          <p:nvPr>
            <p:ph idx="1"/>
          </p:nvPr>
        </p:nvSpPr>
        <p:spPr/>
        <p:txBody>
          <a:bodyPr>
            <a:normAutofit/>
          </a:bodyPr>
          <a:lstStyle/>
          <a:p>
            <a:r>
              <a:rPr lang="en-US" sz="2000" dirty="0"/>
              <a:t>One method, .push(), allows us to add items to the end of an array. Here is an example of how this is used:</a:t>
            </a:r>
          </a:p>
          <a:p>
            <a:endParaRPr lang="en-US" sz="2000" dirty="0"/>
          </a:p>
          <a:p>
            <a:pPr marL="0" indent="0">
              <a:buNone/>
            </a:pPr>
            <a:r>
              <a:rPr lang="en-IN" sz="2000" dirty="0" err="1">
                <a:solidFill>
                  <a:srgbClr val="FF0000"/>
                </a:solidFill>
              </a:rPr>
              <a:t>const</a:t>
            </a:r>
            <a:r>
              <a:rPr lang="en-IN" sz="2000" dirty="0">
                <a:solidFill>
                  <a:srgbClr val="FF0000"/>
                </a:solidFill>
              </a:rPr>
              <a:t> chores = ['wash dishes', 'do laundry', 'take out trash'];</a:t>
            </a:r>
          </a:p>
          <a:p>
            <a:pPr marL="0" indent="0">
              <a:buNone/>
            </a:pPr>
            <a:r>
              <a:rPr lang="en-IN" sz="2000" dirty="0">
                <a:solidFill>
                  <a:srgbClr val="FF0000"/>
                </a:solidFill>
              </a:rPr>
              <a:t>console.log(chores);</a:t>
            </a:r>
          </a:p>
          <a:p>
            <a:pPr marL="0" indent="0">
              <a:buNone/>
            </a:pPr>
            <a:r>
              <a:rPr lang="en-IN" sz="2000" dirty="0" err="1">
                <a:solidFill>
                  <a:srgbClr val="FF0000"/>
                </a:solidFill>
              </a:rPr>
              <a:t>chores.push</a:t>
            </a:r>
            <a:r>
              <a:rPr lang="en-IN" sz="2000" dirty="0">
                <a:solidFill>
                  <a:srgbClr val="FF0000"/>
                </a:solidFill>
              </a:rPr>
              <a:t>('mob the floor', 'fold the cloths');</a:t>
            </a:r>
          </a:p>
          <a:p>
            <a:pPr marL="0" indent="0">
              <a:buNone/>
            </a:pPr>
            <a:r>
              <a:rPr lang="en-IN" sz="2000" dirty="0">
                <a:solidFill>
                  <a:srgbClr val="FF0000"/>
                </a:solidFill>
              </a:rPr>
              <a:t>console.log(chores);</a:t>
            </a:r>
          </a:p>
        </p:txBody>
      </p:sp>
    </p:spTree>
    <p:extLst>
      <p:ext uri="{BB962C8B-B14F-4D97-AF65-F5344CB8AC3E}">
        <p14:creationId xmlns:p14="http://schemas.microsoft.com/office/powerpoint/2010/main" val="298017105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9F10CB-AB4D-543A-6A5E-74077EFAE500}"/>
              </a:ext>
            </a:extLst>
          </p:cNvPr>
          <p:cNvSpPr>
            <a:spLocks noGrp="1"/>
          </p:cNvSpPr>
          <p:nvPr>
            <p:ph type="title"/>
          </p:nvPr>
        </p:nvSpPr>
        <p:spPr/>
        <p:txBody>
          <a:bodyPr/>
          <a:lstStyle/>
          <a:p>
            <a:r>
              <a:rPr lang="en-IN" dirty="0"/>
              <a:t>The .</a:t>
            </a:r>
            <a:r>
              <a:rPr lang="en-IN" cap="none" dirty="0"/>
              <a:t>pop() </a:t>
            </a:r>
            <a:r>
              <a:rPr lang="en-IN" dirty="0"/>
              <a:t>Method</a:t>
            </a:r>
          </a:p>
        </p:txBody>
      </p:sp>
      <p:sp>
        <p:nvSpPr>
          <p:cNvPr id="3" name="Content Placeholder 2">
            <a:extLst>
              <a:ext uri="{FF2B5EF4-FFF2-40B4-BE49-F238E27FC236}">
                <a16:creationId xmlns:a16="http://schemas.microsoft.com/office/drawing/2014/main" id="{188B8F66-7322-7130-F29A-D3DB748485FF}"/>
              </a:ext>
            </a:extLst>
          </p:cNvPr>
          <p:cNvSpPr>
            <a:spLocks noGrp="1"/>
          </p:cNvSpPr>
          <p:nvPr>
            <p:ph idx="1"/>
          </p:nvPr>
        </p:nvSpPr>
        <p:spPr/>
        <p:txBody>
          <a:bodyPr>
            <a:normAutofit/>
          </a:bodyPr>
          <a:lstStyle/>
          <a:p>
            <a:r>
              <a:rPr lang="en-US" sz="2000" dirty="0"/>
              <a:t>Another array method, .pop(), removes the last item of an array.</a:t>
            </a:r>
          </a:p>
          <a:p>
            <a:endParaRPr lang="en-US" sz="2000" dirty="0"/>
          </a:p>
          <a:p>
            <a:pPr marL="0" indent="0">
              <a:buNone/>
            </a:pPr>
            <a:r>
              <a:rPr lang="en-IN" sz="2000" dirty="0" err="1">
                <a:solidFill>
                  <a:srgbClr val="FF0000"/>
                </a:solidFill>
              </a:rPr>
              <a:t>const</a:t>
            </a:r>
            <a:r>
              <a:rPr lang="en-IN" sz="2000" dirty="0">
                <a:solidFill>
                  <a:srgbClr val="FF0000"/>
                </a:solidFill>
              </a:rPr>
              <a:t> chores = ['wash dishes', 'do laundry', 'take out trash', 'cook dinner', 'mop floor'];</a:t>
            </a:r>
          </a:p>
          <a:p>
            <a:pPr marL="0" indent="0">
              <a:buNone/>
            </a:pPr>
            <a:r>
              <a:rPr lang="en-IN" sz="2000" dirty="0" err="1">
                <a:solidFill>
                  <a:srgbClr val="FF0000"/>
                </a:solidFill>
              </a:rPr>
              <a:t>const</a:t>
            </a:r>
            <a:r>
              <a:rPr lang="en-IN" sz="2000" dirty="0">
                <a:solidFill>
                  <a:srgbClr val="FF0000"/>
                </a:solidFill>
              </a:rPr>
              <a:t> removed = </a:t>
            </a:r>
            <a:r>
              <a:rPr lang="en-IN" sz="2000" dirty="0" err="1">
                <a:solidFill>
                  <a:srgbClr val="FF0000"/>
                </a:solidFill>
              </a:rPr>
              <a:t>chores.pop</a:t>
            </a:r>
            <a:r>
              <a:rPr lang="en-IN" sz="2000" dirty="0">
                <a:solidFill>
                  <a:srgbClr val="FF0000"/>
                </a:solidFill>
              </a:rPr>
              <a:t>();</a:t>
            </a:r>
          </a:p>
          <a:p>
            <a:pPr marL="0" indent="0">
              <a:buNone/>
            </a:pPr>
            <a:r>
              <a:rPr lang="en-IN" sz="2000" dirty="0">
                <a:solidFill>
                  <a:srgbClr val="FF0000"/>
                </a:solidFill>
              </a:rPr>
              <a:t>console.log(chores);</a:t>
            </a:r>
          </a:p>
          <a:p>
            <a:pPr marL="0" indent="0">
              <a:buNone/>
            </a:pPr>
            <a:r>
              <a:rPr lang="en-IN" sz="2000" dirty="0">
                <a:solidFill>
                  <a:srgbClr val="FF0000"/>
                </a:solidFill>
              </a:rPr>
              <a:t>console.log(removed);</a:t>
            </a:r>
          </a:p>
        </p:txBody>
      </p:sp>
    </p:spTree>
    <p:extLst>
      <p:ext uri="{BB962C8B-B14F-4D97-AF65-F5344CB8AC3E}">
        <p14:creationId xmlns:p14="http://schemas.microsoft.com/office/powerpoint/2010/main" val="243299696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B96F0-9C43-8024-21C2-215E3801A6BC}"/>
              </a:ext>
            </a:extLst>
          </p:cNvPr>
          <p:cNvSpPr>
            <a:spLocks noGrp="1"/>
          </p:cNvSpPr>
          <p:nvPr>
            <p:ph type="title"/>
          </p:nvPr>
        </p:nvSpPr>
        <p:spPr/>
        <p:txBody>
          <a:bodyPr/>
          <a:lstStyle/>
          <a:p>
            <a:r>
              <a:rPr lang="en-IN" dirty="0"/>
              <a:t>More Array Methods</a:t>
            </a:r>
          </a:p>
        </p:txBody>
      </p:sp>
      <p:sp>
        <p:nvSpPr>
          <p:cNvPr id="3" name="Content Placeholder 2">
            <a:extLst>
              <a:ext uri="{FF2B5EF4-FFF2-40B4-BE49-F238E27FC236}">
                <a16:creationId xmlns:a16="http://schemas.microsoft.com/office/drawing/2014/main" id="{6D15A93C-555D-3D09-E8C7-758199461A74}"/>
              </a:ext>
            </a:extLst>
          </p:cNvPr>
          <p:cNvSpPr>
            <a:spLocks noGrp="1"/>
          </p:cNvSpPr>
          <p:nvPr>
            <p:ph idx="1"/>
          </p:nvPr>
        </p:nvSpPr>
        <p:spPr>
          <a:xfrm>
            <a:off x="581192" y="2180496"/>
            <a:ext cx="4866297" cy="4259215"/>
          </a:xfrm>
        </p:spPr>
        <p:txBody>
          <a:bodyPr>
            <a:normAutofit/>
          </a:bodyPr>
          <a:lstStyle/>
          <a:p>
            <a:r>
              <a:rPr lang="en-US" dirty="0"/>
              <a:t>Some arrays methods that are available to JavaScript developers include: .</a:t>
            </a:r>
          </a:p>
          <a:p>
            <a:pPr lvl="1"/>
            <a:r>
              <a:rPr lang="en-US" dirty="0"/>
              <a:t>join()</a:t>
            </a:r>
          </a:p>
          <a:p>
            <a:pPr lvl="1"/>
            <a:r>
              <a:rPr lang="en-US"/>
              <a:t>slice(start, end)</a:t>
            </a:r>
            <a:endParaRPr lang="en-US" dirty="0"/>
          </a:p>
          <a:p>
            <a:pPr lvl="1"/>
            <a:r>
              <a:rPr lang="en-US" dirty="0"/>
              <a:t>splice()</a:t>
            </a:r>
          </a:p>
          <a:p>
            <a:pPr lvl="1"/>
            <a:r>
              <a:rPr lang="en-US" dirty="0"/>
              <a:t>shift() </a:t>
            </a:r>
            <a:r>
              <a:rPr lang="en-US" dirty="0">
                <a:sym typeface="Wingdings" panose="05000000000000000000" pitchFamily="2" charset="2"/>
              </a:rPr>
              <a:t> </a:t>
            </a:r>
            <a:r>
              <a:rPr lang="en-US" b="0" i="0" dirty="0">
                <a:solidFill>
                  <a:srgbClr val="10162F"/>
                </a:solidFill>
                <a:effectLst/>
                <a:latin typeface="Apercu"/>
              </a:rPr>
              <a:t>to remove the first item from the array </a:t>
            </a:r>
            <a:endParaRPr lang="en-US" dirty="0"/>
          </a:p>
          <a:p>
            <a:pPr lvl="1"/>
            <a:r>
              <a:rPr lang="en-US" dirty="0"/>
              <a:t>unshift()</a:t>
            </a:r>
          </a:p>
          <a:p>
            <a:pPr lvl="1"/>
            <a:r>
              <a:rPr lang="en-US" dirty="0"/>
              <a:t>and .</a:t>
            </a:r>
          </a:p>
          <a:p>
            <a:pPr lvl="1"/>
            <a:r>
              <a:rPr lang="en-US" dirty="0" err="1"/>
              <a:t>concat</a:t>
            </a:r>
            <a:r>
              <a:rPr lang="en-US" dirty="0"/>
              <a:t>()</a:t>
            </a:r>
          </a:p>
          <a:p>
            <a:pPr lvl="1"/>
            <a:r>
              <a:rPr lang="en-IN" dirty="0" err="1"/>
              <a:t>indexOf</a:t>
            </a:r>
            <a:r>
              <a:rPr lang="en-IN" dirty="0"/>
              <a:t>()</a:t>
            </a:r>
          </a:p>
        </p:txBody>
      </p:sp>
      <p:sp>
        <p:nvSpPr>
          <p:cNvPr id="6" name="TextBox 5">
            <a:extLst>
              <a:ext uri="{FF2B5EF4-FFF2-40B4-BE49-F238E27FC236}">
                <a16:creationId xmlns:a16="http://schemas.microsoft.com/office/drawing/2014/main" id="{76E801F5-8336-2031-431C-F31A1461888E}"/>
              </a:ext>
            </a:extLst>
          </p:cNvPr>
          <p:cNvSpPr txBox="1"/>
          <p:nvPr/>
        </p:nvSpPr>
        <p:spPr>
          <a:xfrm>
            <a:off x="5780661" y="2000176"/>
            <a:ext cx="6094378" cy="4204356"/>
          </a:xfrm>
          <a:prstGeom prst="rect">
            <a:avLst/>
          </a:prstGeom>
          <a:noFill/>
        </p:spPr>
        <p:txBody>
          <a:bodyPr wrap="square">
            <a:spAutoFit/>
          </a:bodyPr>
          <a:lstStyle/>
          <a:p>
            <a:pPr>
              <a:lnSpc>
                <a:spcPct val="150000"/>
              </a:lnSpc>
            </a:pPr>
            <a:r>
              <a:rPr lang="en-IN" b="0" dirty="0" err="1">
                <a:solidFill>
                  <a:srgbClr val="FF0000"/>
                </a:solidFill>
                <a:effectLst/>
                <a:latin typeface="Monaco, Menlo,  Ubuntu Mono"/>
              </a:rPr>
              <a:t>const</a:t>
            </a:r>
            <a:r>
              <a:rPr lang="en-IN" b="0" dirty="0">
                <a:solidFill>
                  <a:srgbClr val="FF0000"/>
                </a:solidFill>
                <a:effectLst/>
                <a:latin typeface="Monaco, Menlo,  Ubuntu Mono"/>
              </a:rPr>
              <a:t> </a:t>
            </a:r>
            <a:r>
              <a:rPr lang="en-IN" b="0" dirty="0" err="1">
                <a:solidFill>
                  <a:srgbClr val="FF0000"/>
                </a:solidFill>
                <a:effectLst/>
                <a:latin typeface="Monaco, Menlo,  Ubuntu Mono"/>
              </a:rPr>
              <a:t>groceryList</a:t>
            </a:r>
            <a:r>
              <a:rPr lang="en-IN" b="0" dirty="0">
                <a:solidFill>
                  <a:srgbClr val="FF0000"/>
                </a:solidFill>
                <a:effectLst/>
                <a:latin typeface="Monaco, Menlo,  Ubuntu Mono"/>
              </a:rPr>
              <a:t> = ['orange juice', 'bananas', 'coffee beans', 'brown rice', 'pasta', 'coconut oil', 'plantains'];</a:t>
            </a:r>
          </a:p>
          <a:p>
            <a:pPr>
              <a:lnSpc>
                <a:spcPct val="150000"/>
              </a:lnSpc>
            </a:pPr>
            <a:r>
              <a:rPr lang="en-IN" b="0" dirty="0" err="1">
                <a:solidFill>
                  <a:srgbClr val="FF0000"/>
                </a:solidFill>
                <a:effectLst/>
                <a:latin typeface="Monaco, Menlo,  Ubuntu Mono"/>
              </a:rPr>
              <a:t>groceryList.shift</a:t>
            </a:r>
            <a:r>
              <a:rPr lang="en-IN" b="0" dirty="0">
                <a:solidFill>
                  <a:srgbClr val="FF0000"/>
                </a:solidFill>
                <a:effectLst/>
                <a:latin typeface="Monaco, Menlo,  Ubuntu Mono"/>
              </a:rPr>
              <a:t>();</a:t>
            </a:r>
          </a:p>
          <a:p>
            <a:pPr>
              <a:lnSpc>
                <a:spcPct val="150000"/>
              </a:lnSpc>
            </a:pPr>
            <a:r>
              <a:rPr lang="en-IN" b="0" dirty="0">
                <a:solidFill>
                  <a:srgbClr val="FF0000"/>
                </a:solidFill>
                <a:effectLst/>
                <a:latin typeface="Monaco, Menlo,  Ubuntu Mono"/>
              </a:rPr>
              <a:t>console.log(</a:t>
            </a:r>
            <a:r>
              <a:rPr lang="en-IN" b="0" dirty="0" err="1">
                <a:solidFill>
                  <a:srgbClr val="FF0000"/>
                </a:solidFill>
                <a:effectLst/>
                <a:latin typeface="Monaco, Menlo,  Ubuntu Mono"/>
              </a:rPr>
              <a:t>groceryList</a:t>
            </a:r>
            <a:r>
              <a:rPr lang="en-IN" b="0" dirty="0">
                <a:solidFill>
                  <a:srgbClr val="FF0000"/>
                </a:solidFill>
                <a:effectLst/>
                <a:latin typeface="Monaco, Menlo,  Ubuntu Mono"/>
              </a:rPr>
              <a:t>);</a:t>
            </a:r>
          </a:p>
          <a:p>
            <a:pPr>
              <a:lnSpc>
                <a:spcPct val="150000"/>
              </a:lnSpc>
            </a:pPr>
            <a:r>
              <a:rPr lang="en-IN" b="0" dirty="0" err="1">
                <a:solidFill>
                  <a:srgbClr val="FF0000"/>
                </a:solidFill>
                <a:effectLst/>
                <a:latin typeface="Monaco, Menlo,  Ubuntu Mono"/>
              </a:rPr>
              <a:t>groceryList.unshift</a:t>
            </a:r>
            <a:r>
              <a:rPr lang="en-IN" b="0" dirty="0">
                <a:solidFill>
                  <a:srgbClr val="FF0000"/>
                </a:solidFill>
                <a:effectLst/>
                <a:latin typeface="Monaco, Menlo,  Ubuntu Mono"/>
              </a:rPr>
              <a:t>('popcorn');</a:t>
            </a:r>
          </a:p>
          <a:p>
            <a:pPr>
              <a:lnSpc>
                <a:spcPct val="150000"/>
              </a:lnSpc>
            </a:pPr>
            <a:r>
              <a:rPr lang="en-IN" b="0" dirty="0">
                <a:solidFill>
                  <a:srgbClr val="FF0000"/>
                </a:solidFill>
                <a:effectLst/>
                <a:latin typeface="Monaco, Menlo,  Ubuntu Mono"/>
              </a:rPr>
              <a:t>console.log(</a:t>
            </a:r>
            <a:r>
              <a:rPr lang="en-IN" b="0" dirty="0" err="1">
                <a:solidFill>
                  <a:srgbClr val="FF0000"/>
                </a:solidFill>
                <a:effectLst/>
                <a:latin typeface="Monaco, Menlo,  Ubuntu Mono"/>
              </a:rPr>
              <a:t>groceryList</a:t>
            </a:r>
            <a:r>
              <a:rPr lang="en-IN" b="0" dirty="0">
                <a:solidFill>
                  <a:srgbClr val="FF0000"/>
                </a:solidFill>
                <a:effectLst/>
                <a:latin typeface="Monaco, Menlo,  Ubuntu Mono"/>
              </a:rPr>
              <a:t>);</a:t>
            </a:r>
            <a:br>
              <a:rPr lang="en-IN" b="0" dirty="0">
                <a:solidFill>
                  <a:srgbClr val="FF0000"/>
                </a:solidFill>
                <a:effectLst/>
                <a:latin typeface="Monaco, Menlo,  Ubuntu Mono"/>
              </a:rPr>
            </a:br>
            <a:r>
              <a:rPr lang="en-IN" b="0" dirty="0">
                <a:solidFill>
                  <a:srgbClr val="FF0000"/>
                </a:solidFill>
                <a:effectLst/>
                <a:latin typeface="Monaco, Menlo,  Ubuntu Mono"/>
              </a:rPr>
              <a:t>console.log(</a:t>
            </a:r>
            <a:r>
              <a:rPr lang="en-IN" b="0" dirty="0" err="1">
                <a:solidFill>
                  <a:srgbClr val="FF0000"/>
                </a:solidFill>
                <a:effectLst/>
                <a:latin typeface="Monaco, Menlo,  Ubuntu Mono"/>
              </a:rPr>
              <a:t>groceryList.slice</a:t>
            </a:r>
            <a:r>
              <a:rPr lang="en-IN" b="0" dirty="0">
                <a:solidFill>
                  <a:srgbClr val="FF0000"/>
                </a:solidFill>
                <a:effectLst/>
                <a:latin typeface="Monaco, Menlo,  Ubuntu Mono"/>
              </a:rPr>
              <a:t>(1, 4));</a:t>
            </a:r>
          </a:p>
          <a:p>
            <a:pPr>
              <a:lnSpc>
                <a:spcPct val="150000"/>
              </a:lnSpc>
            </a:pPr>
            <a:r>
              <a:rPr lang="en-IN" b="0" dirty="0">
                <a:solidFill>
                  <a:srgbClr val="FF0000"/>
                </a:solidFill>
                <a:effectLst/>
                <a:latin typeface="Monaco, Menlo,  Ubuntu Mono"/>
              </a:rPr>
              <a:t>console.log(</a:t>
            </a:r>
            <a:r>
              <a:rPr lang="en-IN" b="0" dirty="0" err="1">
                <a:solidFill>
                  <a:srgbClr val="FF0000"/>
                </a:solidFill>
                <a:effectLst/>
                <a:latin typeface="Monaco, Menlo,  Ubuntu Mono"/>
              </a:rPr>
              <a:t>groceryList</a:t>
            </a:r>
            <a:r>
              <a:rPr lang="en-IN" b="0" dirty="0">
                <a:solidFill>
                  <a:srgbClr val="FF0000"/>
                </a:solidFill>
                <a:effectLst/>
                <a:latin typeface="Monaco, Menlo,  Ubuntu Mono"/>
              </a:rPr>
              <a:t>);</a:t>
            </a:r>
          </a:p>
          <a:p>
            <a:pPr>
              <a:lnSpc>
                <a:spcPct val="150000"/>
              </a:lnSpc>
            </a:pPr>
            <a:r>
              <a:rPr lang="en-IN" b="0" dirty="0" err="1">
                <a:solidFill>
                  <a:srgbClr val="FF0000"/>
                </a:solidFill>
                <a:effectLst/>
                <a:latin typeface="Monaco, Menlo,  Ubuntu Mono"/>
              </a:rPr>
              <a:t>const</a:t>
            </a:r>
            <a:r>
              <a:rPr lang="en-IN" b="0" dirty="0">
                <a:solidFill>
                  <a:srgbClr val="FF0000"/>
                </a:solidFill>
                <a:effectLst/>
                <a:latin typeface="Monaco, Menlo,  Ubuntu Mono"/>
              </a:rPr>
              <a:t> </a:t>
            </a:r>
            <a:r>
              <a:rPr lang="en-IN" b="0" dirty="0" err="1">
                <a:solidFill>
                  <a:srgbClr val="FF0000"/>
                </a:solidFill>
                <a:effectLst/>
                <a:latin typeface="Monaco, Menlo,  Ubuntu Mono"/>
              </a:rPr>
              <a:t>pastaIndex</a:t>
            </a:r>
            <a:r>
              <a:rPr lang="en-IN" b="0" dirty="0">
                <a:solidFill>
                  <a:srgbClr val="FF0000"/>
                </a:solidFill>
                <a:effectLst/>
                <a:latin typeface="Monaco, Menlo,  Ubuntu Mono"/>
              </a:rPr>
              <a:t>=</a:t>
            </a:r>
            <a:r>
              <a:rPr lang="en-IN" b="0" dirty="0" err="1">
                <a:solidFill>
                  <a:srgbClr val="FF0000"/>
                </a:solidFill>
                <a:effectLst/>
                <a:latin typeface="Monaco, Menlo,  Ubuntu Mono"/>
              </a:rPr>
              <a:t>groceryList.indexOf</a:t>
            </a:r>
            <a:r>
              <a:rPr lang="en-IN" b="0" dirty="0">
                <a:solidFill>
                  <a:srgbClr val="FF0000"/>
                </a:solidFill>
                <a:effectLst/>
                <a:latin typeface="Monaco, Menlo,  Ubuntu Mono"/>
              </a:rPr>
              <a:t>('pasta');</a:t>
            </a:r>
          </a:p>
          <a:p>
            <a:pPr>
              <a:lnSpc>
                <a:spcPct val="150000"/>
              </a:lnSpc>
            </a:pPr>
            <a:r>
              <a:rPr lang="en-IN" b="0" dirty="0">
                <a:solidFill>
                  <a:srgbClr val="FF0000"/>
                </a:solidFill>
                <a:effectLst/>
                <a:latin typeface="Monaco, Menlo,  Ubuntu Mono"/>
              </a:rPr>
              <a:t>console.log(</a:t>
            </a:r>
            <a:r>
              <a:rPr lang="en-IN" b="0" dirty="0" err="1">
                <a:solidFill>
                  <a:srgbClr val="FF0000"/>
                </a:solidFill>
                <a:effectLst/>
                <a:latin typeface="Monaco, Menlo,  Ubuntu Mono"/>
              </a:rPr>
              <a:t>pastaIndex</a:t>
            </a:r>
            <a:r>
              <a:rPr lang="en-IN" b="0" dirty="0">
                <a:solidFill>
                  <a:srgbClr val="FF0000"/>
                </a:solidFill>
                <a:effectLst/>
                <a:latin typeface="Monaco, Menlo,  Ubuntu Mono"/>
              </a:rPr>
              <a:t>);</a:t>
            </a:r>
          </a:p>
        </p:txBody>
      </p:sp>
    </p:spTree>
    <p:extLst>
      <p:ext uri="{BB962C8B-B14F-4D97-AF65-F5344CB8AC3E}">
        <p14:creationId xmlns:p14="http://schemas.microsoft.com/office/powerpoint/2010/main" val="255023345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0E2E4E-E59F-7E1D-2933-5308F423F23B}"/>
              </a:ext>
            </a:extLst>
          </p:cNvPr>
          <p:cNvSpPr>
            <a:spLocks noGrp="1"/>
          </p:cNvSpPr>
          <p:nvPr>
            <p:ph type="title"/>
          </p:nvPr>
        </p:nvSpPr>
        <p:spPr/>
        <p:txBody>
          <a:bodyPr/>
          <a:lstStyle/>
          <a:p>
            <a:r>
              <a:rPr lang="en-IN" dirty="0"/>
              <a:t>Arrays and Functions</a:t>
            </a:r>
          </a:p>
        </p:txBody>
      </p:sp>
      <p:sp>
        <p:nvSpPr>
          <p:cNvPr id="3" name="Content Placeholder 2">
            <a:extLst>
              <a:ext uri="{FF2B5EF4-FFF2-40B4-BE49-F238E27FC236}">
                <a16:creationId xmlns:a16="http://schemas.microsoft.com/office/drawing/2014/main" id="{BBDA7ACF-529B-9D92-8734-4C19DF7077A2}"/>
              </a:ext>
            </a:extLst>
          </p:cNvPr>
          <p:cNvSpPr>
            <a:spLocks noGrp="1"/>
          </p:cNvSpPr>
          <p:nvPr>
            <p:ph idx="1"/>
          </p:nvPr>
        </p:nvSpPr>
        <p:spPr>
          <a:xfrm>
            <a:off x="581192" y="2180496"/>
            <a:ext cx="11029615" cy="3975348"/>
          </a:xfrm>
        </p:spPr>
        <p:txBody>
          <a:bodyPr>
            <a:normAutofit fontScale="92500" lnSpcReduction="20000"/>
          </a:bodyPr>
          <a:lstStyle/>
          <a:p>
            <a:r>
              <a:rPr lang="en-US" dirty="0"/>
              <a:t>Throughout the lesson we went over arrays being mutable, or changeable. Well what happens if we try to change an array inside a function? Does the array keep the change after the function call or is it scoped to inside the function?</a:t>
            </a:r>
          </a:p>
          <a:p>
            <a:r>
              <a:rPr lang="en-US" dirty="0"/>
              <a:t>Take a look at the following example where we call .push() on an array inside a function. Recall, the .push() method mutates, or changes, an array:</a:t>
            </a:r>
          </a:p>
          <a:p>
            <a:endParaRPr lang="en-US" dirty="0"/>
          </a:p>
          <a:p>
            <a:pPr marL="0" indent="0">
              <a:buNone/>
            </a:pPr>
            <a:r>
              <a:rPr lang="en-US" dirty="0">
                <a:solidFill>
                  <a:srgbClr val="FF0000"/>
                </a:solidFill>
              </a:rPr>
              <a:t>const flowers = ['peony', 'daffodil', 'marigold'];</a:t>
            </a:r>
          </a:p>
          <a:p>
            <a:pPr marL="0" indent="0">
              <a:buNone/>
            </a:pPr>
            <a:r>
              <a:rPr lang="en-US" dirty="0">
                <a:solidFill>
                  <a:srgbClr val="FF0000"/>
                </a:solidFill>
              </a:rPr>
              <a:t>function </a:t>
            </a:r>
            <a:r>
              <a:rPr lang="en-US" dirty="0" err="1">
                <a:solidFill>
                  <a:srgbClr val="FF0000"/>
                </a:solidFill>
              </a:rPr>
              <a:t>addFlower</a:t>
            </a:r>
            <a:r>
              <a:rPr lang="en-US" dirty="0">
                <a:solidFill>
                  <a:srgbClr val="FF0000"/>
                </a:solidFill>
              </a:rPr>
              <a:t>(</a:t>
            </a:r>
            <a:r>
              <a:rPr lang="en-US" dirty="0" err="1">
                <a:solidFill>
                  <a:srgbClr val="FF0000"/>
                </a:solidFill>
              </a:rPr>
              <a:t>arr</a:t>
            </a:r>
            <a:r>
              <a:rPr lang="en-US" dirty="0">
                <a:solidFill>
                  <a:srgbClr val="FF0000"/>
                </a:solidFill>
              </a:rPr>
              <a:t>) {</a:t>
            </a:r>
          </a:p>
          <a:p>
            <a:pPr marL="0" indent="0">
              <a:buNone/>
            </a:pPr>
            <a:r>
              <a:rPr lang="en-US" dirty="0">
                <a:solidFill>
                  <a:srgbClr val="FF0000"/>
                </a:solidFill>
              </a:rPr>
              <a:t>  </a:t>
            </a:r>
            <a:r>
              <a:rPr lang="en-US" dirty="0" err="1">
                <a:solidFill>
                  <a:srgbClr val="FF0000"/>
                </a:solidFill>
              </a:rPr>
              <a:t>arr.push</a:t>
            </a:r>
            <a:r>
              <a:rPr lang="en-US" dirty="0">
                <a:solidFill>
                  <a:srgbClr val="FF0000"/>
                </a:solidFill>
              </a:rPr>
              <a:t>('lily');</a:t>
            </a:r>
          </a:p>
          <a:p>
            <a:pPr marL="0" indent="0">
              <a:buNone/>
            </a:pPr>
            <a:r>
              <a:rPr lang="en-US" dirty="0">
                <a:solidFill>
                  <a:srgbClr val="FF0000"/>
                </a:solidFill>
              </a:rPr>
              <a:t>}</a:t>
            </a:r>
          </a:p>
          <a:p>
            <a:pPr marL="0" indent="0">
              <a:buNone/>
            </a:pPr>
            <a:r>
              <a:rPr lang="en-US" dirty="0" err="1">
                <a:solidFill>
                  <a:srgbClr val="FF0000"/>
                </a:solidFill>
              </a:rPr>
              <a:t>addFlower</a:t>
            </a:r>
            <a:r>
              <a:rPr lang="en-US" dirty="0">
                <a:solidFill>
                  <a:srgbClr val="FF0000"/>
                </a:solidFill>
              </a:rPr>
              <a:t>(flowers);</a:t>
            </a:r>
          </a:p>
          <a:p>
            <a:pPr marL="0" indent="0">
              <a:buNone/>
            </a:pPr>
            <a:r>
              <a:rPr lang="en-US" dirty="0">
                <a:solidFill>
                  <a:srgbClr val="FF0000"/>
                </a:solidFill>
              </a:rPr>
              <a:t> </a:t>
            </a:r>
          </a:p>
          <a:p>
            <a:pPr marL="0" indent="0">
              <a:buNone/>
            </a:pPr>
            <a:r>
              <a:rPr lang="en-US" dirty="0">
                <a:solidFill>
                  <a:srgbClr val="FF0000"/>
                </a:solidFill>
              </a:rPr>
              <a:t>console.log(flowers); // Output: ['peony', 'daffodil', 'marigold', 'lily']</a:t>
            </a:r>
          </a:p>
        </p:txBody>
      </p:sp>
    </p:spTree>
    <p:extLst>
      <p:ext uri="{BB962C8B-B14F-4D97-AF65-F5344CB8AC3E}">
        <p14:creationId xmlns:p14="http://schemas.microsoft.com/office/powerpoint/2010/main" val="127702939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19F3AE-BFF0-C6E8-5631-74C3DBDB6737}"/>
              </a:ext>
            </a:extLst>
          </p:cNvPr>
          <p:cNvSpPr>
            <a:spLocks noGrp="1"/>
          </p:cNvSpPr>
          <p:nvPr>
            <p:ph type="title"/>
          </p:nvPr>
        </p:nvSpPr>
        <p:spPr/>
        <p:txBody>
          <a:bodyPr/>
          <a:lstStyle/>
          <a:p>
            <a:r>
              <a:rPr lang="en-IN" dirty="0"/>
              <a:t>Arrays and Functions …</a:t>
            </a:r>
          </a:p>
        </p:txBody>
      </p:sp>
      <p:sp>
        <p:nvSpPr>
          <p:cNvPr id="3" name="Content Placeholder 2">
            <a:extLst>
              <a:ext uri="{FF2B5EF4-FFF2-40B4-BE49-F238E27FC236}">
                <a16:creationId xmlns:a16="http://schemas.microsoft.com/office/drawing/2014/main" id="{1893ABF0-0FF3-5DAD-1474-89B68513E979}"/>
              </a:ext>
            </a:extLst>
          </p:cNvPr>
          <p:cNvSpPr>
            <a:spLocks noGrp="1"/>
          </p:cNvSpPr>
          <p:nvPr>
            <p:ph idx="1"/>
          </p:nvPr>
        </p:nvSpPr>
        <p:spPr/>
        <p:txBody>
          <a:bodyPr/>
          <a:lstStyle/>
          <a:p>
            <a:r>
              <a:rPr lang="en-US" dirty="0"/>
              <a:t>Let’s go over what happened in the example:</a:t>
            </a:r>
          </a:p>
          <a:p>
            <a:r>
              <a:rPr lang="en-US" dirty="0"/>
              <a:t>The flowers array that has 3 elements.</a:t>
            </a:r>
          </a:p>
          <a:p>
            <a:r>
              <a:rPr lang="en-US" dirty="0"/>
              <a:t>The function </a:t>
            </a:r>
            <a:r>
              <a:rPr lang="en-US" dirty="0" err="1"/>
              <a:t>addFlower</a:t>
            </a:r>
            <a:r>
              <a:rPr lang="en-US" dirty="0"/>
              <a:t>() has a parameter of </a:t>
            </a:r>
            <a:r>
              <a:rPr lang="en-US" dirty="0" err="1"/>
              <a:t>arr</a:t>
            </a:r>
            <a:r>
              <a:rPr lang="en-US" dirty="0"/>
              <a:t> uses .push() to add a 'lily' element into arr.</a:t>
            </a:r>
          </a:p>
          <a:p>
            <a:r>
              <a:rPr lang="en-US" dirty="0"/>
              <a:t>We call </a:t>
            </a:r>
            <a:r>
              <a:rPr lang="en-US" dirty="0" err="1"/>
              <a:t>addFlower</a:t>
            </a:r>
            <a:r>
              <a:rPr lang="en-US" dirty="0"/>
              <a:t>() with an argument of flowers which will execute the code inside </a:t>
            </a:r>
            <a:r>
              <a:rPr lang="en-US" dirty="0" err="1"/>
              <a:t>addFlower</a:t>
            </a:r>
            <a:r>
              <a:rPr lang="en-US" dirty="0"/>
              <a:t>.</a:t>
            </a:r>
          </a:p>
          <a:p>
            <a:r>
              <a:rPr lang="en-US" dirty="0"/>
              <a:t>We check the value of flowers and it now includes the 'lily' element! The array was mutated!</a:t>
            </a:r>
          </a:p>
          <a:p>
            <a:r>
              <a:rPr lang="en-US" dirty="0"/>
              <a:t>So when you pass an array into a function, if the array is mutated inside the function, that change will be maintained outside the function as well. You might also see this concept explained as pass-by-reference since what we’re actually passing to the function is a reference to where the variable memory is stored and changing the memory.</a:t>
            </a:r>
            <a:endParaRPr lang="en-IN" dirty="0"/>
          </a:p>
        </p:txBody>
      </p:sp>
    </p:spTree>
    <p:extLst>
      <p:ext uri="{BB962C8B-B14F-4D97-AF65-F5344CB8AC3E}">
        <p14:creationId xmlns:p14="http://schemas.microsoft.com/office/powerpoint/2010/main" val="361323190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743F27-8AF9-9229-B079-69FD543531EA}"/>
              </a:ext>
            </a:extLst>
          </p:cNvPr>
          <p:cNvSpPr>
            <a:spLocks noGrp="1"/>
          </p:cNvSpPr>
          <p:nvPr>
            <p:ph type="title"/>
          </p:nvPr>
        </p:nvSpPr>
        <p:spPr/>
        <p:txBody>
          <a:bodyPr/>
          <a:lstStyle/>
          <a:p>
            <a:r>
              <a:rPr lang="en-IN" dirty="0"/>
              <a:t>Nested Arrays</a:t>
            </a:r>
          </a:p>
        </p:txBody>
      </p:sp>
      <p:sp>
        <p:nvSpPr>
          <p:cNvPr id="3" name="Content Placeholder 2">
            <a:extLst>
              <a:ext uri="{FF2B5EF4-FFF2-40B4-BE49-F238E27FC236}">
                <a16:creationId xmlns:a16="http://schemas.microsoft.com/office/drawing/2014/main" id="{63E93BB8-D9A0-4C18-8189-F05528E89B81}"/>
              </a:ext>
            </a:extLst>
          </p:cNvPr>
          <p:cNvSpPr>
            <a:spLocks noGrp="1"/>
          </p:cNvSpPr>
          <p:nvPr>
            <p:ph idx="1"/>
          </p:nvPr>
        </p:nvSpPr>
        <p:spPr/>
        <p:txBody>
          <a:bodyPr/>
          <a:lstStyle/>
          <a:p>
            <a:r>
              <a:rPr lang="en-US" dirty="0"/>
              <a:t>Earlier we mentioned that arrays can store other arrays. When an array contains another array it is known as a nested array. Examine the example below:</a:t>
            </a:r>
          </a:p>
          <a:p>
            <a:pPr marL="0" indent="0">
              <a:buNone/>
            </a:pPr>
            <a:r>
              <a:rPr lang="nb-NO" dirty="0">
                <a:solidFill>
                  <a:srgbClr val="FF0000"/>
                </a:solidFill>
              </a:rPr>
              <a:t>const nestedArr = [[1], [2, 3]];</a:t>
            </a:r>
          </a:p>
          <a:p>
            <a:r>
              <a:rPr lang="en-US" dirty="0"/>
              <a:t>Notice that </a:t>
            </a:r>
            <a:r>
              <a:rPr lang="en-US" dirty="0" err="1"/>
              <a:t>nestedArr</a:t>
            </a:r>
            <a:r>
              <a:rPr lang="en-US" dirty="0"/>
              <a:t>[1] will grab the element in index 1 which is the array [2, 3]. Then, if we wanted to access the elements within the nested array we can chain, or add on, more bracket notation with index values.</a:t>
            </a:r>
          </a:p>
          <a:p>
            <a:pPr marL="0" indent="0">
              <a:buNone/>
            </a:pPr>
            <a:r>
              <a:rPr lang="en-IN" dirty="0" err="1">
                <a:solidFill>
                  <a:srgbClr val="FF0000"/>
                </a:solidFill>
              </a:rPr>
              <a:t>const</a:t>
            </a:r>
            <a:r>
              <a:rPr lang="en-IN" dirty="0">
                <a:solidFill>
                  <a:srgbClr val="FF0000"/>
                </a:solidFill>
              </a:rPr>
              <a:t> </a:t>
            </a:r>
            <a:r>
              <a:rPr lang="en-IN" dirty="0" err="1">
                <a:solidFill>
                  <a:srgbClr val="FF0000"/>
                </a:solidFill>
              </a:rPr>
              <a:t>nestedArr</a:t>
            </a:r>
            <a:r>
              <a:rPr lang="en-IN" dirty="0">
                <a:solidFill>
                  <a:srgbClr val="FF0000"/>
                </a:solidFill>
              </a:rPr>
              <a:t> = [[1], [2, 3]];</a:t>
            </a:r>
          </a:p>
          <a:p>
            <a:pPr marL="0" indent="0">
              <a:buNone/>
            </a:pPr>
            <a:r>
              <a:rPr lang="en-IN" dirty="0">
                <a:solidFill>
                  <a:srgbClr val="FF0000"/>
                </a:solidFill>
              </a:rPr>
              <a:t>console.log(</a:t>
            </a:r>
            <a:r>
              <a:rPr lang="en-IN" dirty="0" err="1">
                <a:solidFill>
                  <a:srgbClr val="FF0000"/>
                </a:solidFill>
              </a:rPr>
              <a:t>nestedArr</a:t>
            </a:r>
            <a:r>
              <a:rPr lang="en-IN" dirty="0">
                <a:solidFill>
                  <a:srgbClr val="FF0000"/>
                </a:solidFill>
              </a:rPr>
              <a:t>[1]); // Output: [2, 3]</a:t>
            </a:r>
          </a:p>
          <a:p>
            <a:pPr marL="0" indent="0">
              <a:buNone/>
            </a:pPr>
            <a:r>
              <a:rPr lang="en-IN" dirty="0">
                <a:solidFill>
                  <a:srgbClr val="FF0000"/>
                </a:solidFill>
              </a:rPr>
              <a:t>console.log(</a:t>
            </a:r>
            <a:r>
              <a:rPr lang="en-IN" dirty="0" err="1">
                <a:solidFill>
                  <a:srgbClr val="FF0000"/>
                </a:solidFill>
              </a:rPr>
              <a:t>nestedArr</a:t>
            </a:r>
            <a:r>
              <a:rPr lang="en-IN" dirty="0">
                <a:solidFill>
                  <a:srgbClr val="FF0000"/>
                </a:solidFill>
              </a:rPr>
              <a:t>[1][0]); // Output: 2</a:t>
            </a:r>
          </a:p>
        </p:txBody>
      </p:sp>
    </p:spTree>
    <p:extLst>
      <p:ext uri="{BB962C8B-B14F-4D97-AF65-F5344CB8AC3E}">
        <p14:creationId xmlns:p14="http://schemas.microsoft.com/office/powerpoint/2010/main" val="206093907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638A7E-3868-26CA-4334-560E26C63B28}"/>
              </a:ext>
            </a:extLst>
          </p:cNvPr>
          <p:cNvSpPr>
            <a:spLocks noGrp="1"/>
          </p:cNvSpPr>
          <p:nvPr>
            <p:ph type="title"/>
          </p:nvPr>
        </p:nvSpPr>
        <p:spPr/>
        <p:txBody>
          <a:bodyPr/>
          <a:lstStyle/>
          <a:p>
            <a:r>
              <a:rPr lang="en-IN" dirty="0"/>
              <a:t>Loops</a:t>
            </a:r>
          </a:p>
        </p:txBody>
      </p:sp>
      <p:sp>
        <p:nvSpPr>
          <p:cNvPr id="3" name="Content Placeholder 2">
            <a:extLst>
              <a:ext uri="{FF2B5EF4-FFF2-40B4-BE49-F238E27FC236}">
                <a16:creationId xmlns:a16="http://schemas.microsoft.com/office/drawing/2014/main" id="{BFEE2537-D6AE-BC81-151C-D5E54B53D063}"/>
              </a:ext>
            </a:extLst>
          </p:cNvPr>
          <p:cNvSpPr>
            <a:spLocks noGrp="1"/>
          </p:cNvSpPr>
          <p:nvPr>
            <p:ph idx="1"/>
          </p:nvPr>
        </p:nvSpPr>
        <p:spPr/>
        <p:txBody>
          <a:bodyPr>
            <a:normAutofit/>
          </a:bodyPr>
          <a:lstStyle/>
          <a:p>
            <a:r>
              <a:rPr lang="en-US" sz="2000" dirty="0"/>
              <a:t>A loop is a programming tool that repeats a set of instructions until a specified condition, called a stopping condition is reached. As a programmer, you’ll find that you rely on loops all the time! You’ll hear the generic term iterate when referring to loops; iterate simply means “to repeat”.</a:t>
            </a:r>
          </a:p>
          <a:p>
            <a:r>
              <a:rPr lang="en-US" sz="2000" dirty="0"/>
              <a:t>When we need to reuse a task in our code, we often bundle that action in a function. Similarly, when we see that a process has to repeat multiple times in a row, we write a loop. Loops allow us to create efficient code that automates processes to make scalable, manageable programs.</a:t>
            </a:r>
            <a:endParaRPr lang="en-IN" sz="2000" dirty="0"/>
          </a:p>
        </p:txBody>
      </p:sp>
    </p:spTree>
    <p:extLst>
      <p:ext uri="{BB962C8B-B14F-4D97-AF65-F5344CB8AC3E}">
        <p14:creationId xmlns:p14="http://schemas.microsoft.com/office/powerpoint/2010/main" val="30158193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95BD63-4CD5-54C0-3820-AA358DA5F4F7}"/>
              </a:ext>
            </a:extLst>
          </p:cNvPr>
          <p:cNvSpPr>
            <a:spLocks noGrp="1"/>
          </p:cNvSpPr>
          <p:nvPr>
            <p:ph type="title"/>
          </p:nvPr>
        </p:nvSpPr>
        <p:spPr/>
        <p:txBody>
          <a:bodyPr/>
          <a:lstStyle/>
          <a:p>
            <a:r>
              <a:rPr lang="en-IN" dirty="0"/>
              <a:t>The For Loop</a:t>
            </a:r>
          </a:p>
        </p:txBody>
      </p:sp>
      <p:sp>
        <p:nvSpPr>
          <p:cNvPr id="3" name="Content Placeholder 2">
            <a:extLst>
              <a:ext uri="{FF2B5EF4-FFF2-40B4-BE49-F238E27FC236}">
                <a16:creationId xmlns:a16="http://schemas.microsoft.com/office/drawing/2014/main" id="{D5DE3516-2E94-7CE8-78BB-AABA3E44BF93}"/>
              </a:ext>
            </a:extLst>
          </p:cNvPr>
          <p:cNvSpPr>
            <a:spLocks noGrp="1"/>
          </p:cNvSpPr>
          <p:nvPr>
            <p:ph idx="1"/>
          </p:nvPr>
        </p:nvSpPr>
        <p:spPr>
          <a:xfrm>
            <a:off x="581192" y="2180496"/>
            <a:ext cx="11029615" cy="4161938"/>
          </a:xfrm>
        </p:spPr>
        <p:txBody>
          <a:bodyPr>
            <a:normAutofit/>
          </a:bodyPr>
          <a:lstStyle/>
          <a:p>
            <a:r>
              <a:rPr lang="en-US" dirty="0"/>
              <a:t>A for loop contains three expressions separated by ; inside the parentheses:</a:t>
            </a:r>
          </a:p>
          <a:p>
            <a:endParaRPr lang="en-US" dirty="0"/>
          </a:p>
          <a:p>
            <a:r>
              <a:rPr lang="en-US" dirty="0"/>
              <a:t>an initialization starts the loop and can also be used to declare the iterator variable.</a:t>
            </a:r>
          </a:p>
          <a:p>
            <a:r>
              <a:rPr lang="en-US" dirty="0"/>
              <a:t>a stopping condition is the condition that the iterator variable is evaluated against— if the condition evaluates to true the code block will run, and if it evaluates to false the code will stop.</a:t>
            </a:r>
          </a:p>
          <a:p>
            <a:r>
              <a:rPr lang="en-US" dirty="0"/>
              <a:t>an iteration statement is used to update the iterator variable on each loop.</a:t>
            </a:r>
          </a:p>
          <a:p>
            <a:pPr marL="0" indent="0">
              <a:buNone/>
            </a:pPr>
            <a:endParaRPr lang="en-US" dirty="0"/>
          </a:p>
          <a:p>
            <a:pPr marL="0" indent="0">
              <a:buNone/>
            </a:pPr>
            <a:r>
              <a:rPr lang="en-US" dirty="0">
                <a:solidFill>
                  <a:srgbClr val="FF0000"/>
                </a:solidFill>
              </a:rPr>
              <a:t>for (let counter = 0; counter &lt; 4; counter++) {</a:t>
            </a:r>
          </a:p>
          <a:p>
            <a:pPr marL="0" indent="0">
              <a:buNone/>
            </a:pPr>
            <a:r>
              <a:rPr lang="en-US" dirty="0">
                <a:solidFill>
                  <a:srgbClr val="FF0000"/>
                </a:solidFill>
              </a:rPr>
              <a:t>  console.log(counter);</a:t>
            </a:r>
          </a:p>
          <a:p>
            <a:pPr marL="0" indent="0">
              <a:buNone/>
            </a:pPr>
            <a:r>
              <a:rPr lang="en-US" dirty="0">
                <a:solidFill>
                  <a:srgbClr val="FF0000"/>
                </a:solidFill>
              </a:rPr>
              <a:t>}</a:t>
            </a:r>
            <a:endParaRPr lang="en-IN" dirty="0">
              <a:solidFill>
                <a:srgbClr val="FF0000"/>
              </a:solidFill>
            </a:endParaRPr>
          </a:p>
        </p:txBody>
      </p:sp>
    </p:spTree>
    <p:extLst>
      <p:ext uri="{BB962C8B-B14F-4D97-AF65-F5344CB8AC3E}">
        <p14:creationId xmlns:p14="http://schemas.microsoft.com/office/powerpoint/2010/main" val="310630012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58EC86-C872-7DEB-ACB7-76CB53BF2BE4}"/>
              </a:ext>
            </a:extLst>
          </p:cNvPr>
          <p:cNvSpPr>
            <a:spLocks noGrp="1"/>
          </p:cNvSpPr>
          <p:nvPr>
            <p:ph type="title"/>
          </p:nvPr>
        </p:nvSpPr>
        <p:spPr/>
        <p:txBody>
          <a:bodyPr/>
          <a:lstStyle/>
          <a:p>
            <a:r>
              <a:rPr lang="en-IN" dirty="0"/>
              <a:t>Looping in Reverse</a:t>
            </a:r>
          </a:p>
        </p:txBody>
      </p:sp>
      <p:sp>
        <p:nvSpPr>
          <p:cNvPr id="3" name="Content Placeholder 2">
            <a:extLst>
              <a:ext uri="{FF2B5EF4-FFF2-40B4-BE49-F238E27FC236}">
                <a16:creationId xmlns:a16="http://schemas.microsoft.com/office/drawing/2014/main" id="{DFF9A512-63E7-EA17-AC97-5A71763A5E81}"/>
              </a:ext>
            </a:extLst>
          </p:cNvPr>
          <p:cNvSpPr>
            <a:spLocks noGrp="1"/>
          </p:cNvSpPr>
          <p:nvPr>
            <p:ph idx="1"/>
          </p:nvPr>
        </p:nvSpPr>
        <p:spPr/>
        <p:txBody>
          <a:bodyPr>
            <a:normAutofit fontScale="92500" lnSpcReduction="20000"/>
          </a:bodyPr>
          <a:lstStyle/>
          <a:p>
            <a:r>
              <a:rPr lang="en-US" dirty="0"/>
              <a:t>What if we want the for loop to log 3, 2, 1, and then 0? With simple modifications to the expressions, we can make our loop run backward!</a:t>
            </a:r>
          </a:p>
          <a:p>
            <a:r>
              <a:rPr lang="en-US" dirty="0"/>
              <a:t>To run a backward for loop, we must:</a:t>
            </a:r>
          </a:p>
          <a:p>
            <a:r>
              <a:rPr lang="en-US" dirty="0"/>
              <a:t>Set the iterator variable to the highest desired value in the initialization expression.</a:t>
            </a:r>
          </a:p>
          <a:p>
            <a:r>
              <a:rPr lang="en-US" dirty="0"/>
              <a:t>Set the stopping condition for when the iterator variable is less than the desired amount.</a:t>
            </a:r>
          </a:p>
          <a:p>
            <a:r>
              <a:rPr lang="en-US" dirty="0"/>
              <a:t>The iterator should decrease in intervals after each iteration.</a:t>
            </a:r>
          </a:p>
          <a:p>
            <a:endParaRPr lang="en-US" dirty="0"/>
          </a:p>
          <a:p>
            <a:pPr marL="0" indent="0">
              <a:buNone/>
            </a:pPr>
            <a:r>
              <a:rPr lang="en-US" dirty="0">
                <a:solidFill>
                  <a:srgbClr val="FF0000"/>
                </a:solidFill>
              </a:rPr>
              <a:t>// The loop below loops from 0 to 3. Edit it to loop backwards from 3 to 0</a:t>
            </a:r>
          </a:p>
          <a:p>
            <a:pPr marL="0" indent="0">
              <a:buNone/>
            </a:pPr>
            <a:r>
              <a:rPr lang="en-US" dirty="0">
                <a:solidFill>
                  <a:srgbClr val="FF0000"/>
                </a:solidFill>
              </a:rPr>
              <a:t>for (let counter = 3; counter &gt;=0; counter--){</a:t>
            </a:r>
          </a:p>
          <a:p>
            <a:pPr marL="0" indent="0">
              <a:buNone/>
            </a:pPr>
            <a:r>
              <a:rPr lang="en-US" dirty="0">
                <a:solidFill>
                  <a:srgbClr val="FF0000"/>
                </a:solidFill>
              </a:rPr>
              <a:t>  console.log(counter);</a:t>
            </a:r>
          </a:p>
          <a:p>
            <a:pPr marL="0" indent="0">
              <a:buNone/>
            </a:pPr>
            <a:r>
              <a:rPr lang="en-US" dirty="0">
                <a:solidFill>
                  <a:srgbClr val="FF0000"/>
                </a:solidFill>
              </a:rPr>
              <a:t>}</a:t>
            </a:r>
            <a:endParaRPr lang="en-IN" dirty="0">
              <a:solidFill>
                <a:srgbClr val="FF0000"/>
              </a:solidFill>
            </a:endParaRPr>
          </a:p>
        </p:txBody>
      </p:sp>
    </p:spTree>
    <p:extLst>
      <p:ext uri="{BB962C8B-B14F-4D97-AF65-F5344CB8AC3E}">
        <p14:creationId xmlns:p14="http://schemas.microsoft.com/office/powerpoint/2010/main" val="361156871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B5DB4-37D4-A240-C2F9-C536196A9E29}"/>
              </a:ext>
            </a:extLst>
          </p:cNvPr>
          <p:cNvSpPr>
            <a:spLocks noGrp="1"/>
          </p:cNvSpPr>
          <p:nvPr>
            <p:ph type="title"/>
          </p:nvPr>
        </p:nvSpPr>
        <p:spPr/>
        <p:txBody>
          <a:bodyPr/>
          <a:lstStyle/>
          <a:p>
            <a:r>
              <a:rPr lang="en-IN" dirty="0"/>
              <a:t>Looping through Arrays</a:t>
            </a:r>
          </a:p>
        </p:txBody>
      </p:sp>
      <p:sp>
        <p:nvSpPr>
          <p:cNvPr id="3" name="Content Placeholder 2">
            <a:extLst>
              <a:ext uri="{FF2B5EF4-FFF2-40B4-BE49-F238E27FC236}">
                <a16:creationId xmlns:a16="http://schemas.microsoft.com/office/drawing/2014/main" id="{1986B79F-7FFF-F192-F462-D91DE8BE4D21}"/>
              </a:ext>
            </a:extLst>
          </p:cNvPr>
          <p:cNvSpPr>
            <a:spLocks noGrp="1"/>
          </p:cNvSpPr>
          <p:nvPr>
            <p:ph idx="1"/>
          </p:nvPr>
        </p:nvSpPr>
        <p:spPr/>
        <p:txBody>
          <a:bodyPr>
            <a:normAutofit fontScale="92500" lnSpcReduction="20000"/>
          </a:bodyPr>
          <a:lstStyle/>
          <a:p>
            <a:r>
              <a:rPr lang="en-US" dirty="0"/>
              <a:t>for loops are very handy for iterating over data structures. For example, we can use a for loop to perform the same operation on each element on an array. Arrays hold lists of data, like customer names or product information. Imagine we owned a store and wanted to increase the price of every product in our catalog. That could be a lot of repeating code, but by using a for loop to iterate through the array we could accomplish this task easily.</a:t>
            </a:r>
          </a:p>
          <a:p>
            <a:r>
              <a:rPr lang="en-US" dirty="0"/>
              <a:t>To loop through each element in an array, a for loop should use the array’s .length property in its condition.</a:t>
            </a:r>
          </a:p>
          <a:p>
            <a:pPr marL="0" indent="0">
              <a:buNone/>
            </a:pPr>
            <a:r>
              <a:rPr lang="en-US" dirty="0">
                <a:solidFill>
                  <a:srgbClr val="FF0000"/>
                </a:solidFill>
              </a:rPr>
              <a:t>const </a:t>
            </a:r>
            <a:r>
              <a:rPr lang="en-US" dirty="0" err="1">
                <a:solidFill>
                  <a:srgbClr val="FF0000"/>
                </a:solidFill>
              </a:rPr>
              <a:t>vacationSpots</a:t>
            </a:r>
            <a:r>
              <a:rPr lang="en-US" dirty="0">
                <a:solidFill>
                  <a:srgbClr val="FF0000"/>
                </a:solidFill>
              </a:rPr>
              <a:t> = ['Bali', 'Paris', 'Tulum'];</a:t>
            </a:r>
          </a:p>
          <a:p>
            <a:pPr marL="0" indent="0">
              <a:buNone/>
            </a:pPr>
            <a:r>
              <a:rPr lang="en-US" dirty="0">
                <a:solidFill>
                  <a:srgbClr val="FF0000"/>
                </a:solidFill>
              </a:rPr>
              <a:t>for(let </a:t>
            </a:r>
            <a:r>
              <a:rPr lang="en-US" dirty="0" err="1">
                <a:solidFill>
                  <a:srgbClr val="FF0000"/>
                </a:solidFill>
              </a:rPr>
              <a:t>i</a:t>
            </a:r>
            <a:r>
              <a:rPr lang="en-US" dirty="0">
                <a:solidFill>
                  <a:srgbClr val="FF0000"/>
                </a:solidFill>
              </a:rPr>
              <a:t>=0; </a:t>
            </a:r>
            <a:r>
              <a:rPr lang="en-US" dirty="0" err="1">
                <a:solidFill>
                  <a:srgbClr val="FF0000"/>
                </a:solidFill>
              </a:rPr>
              <a:t>i</a:t>
            </a:r>
            <a:r>
              <a:rPr lang="en-US" dirty="0">
                <a:solidFill>
                  <a:srgbClr val="FF0000"/>
                </a:solidFill>
              </a:rPr>
              <a:t> &lt; </a:t>
            </a:r>
            <a:r>
              <a:rPr lang="en-US" dirty="0" err="1">
                <a:solidFill>
                  <a:srgbClr val="FF0000"/>
                </a:solidFill>
              </a:rPr>
              <a:t>vacationSpots.length</a:t>
            </a:r>
            <a:r>
              <a:rPr lang="en-US" dirty="0">
                <a:solidFill>
                  <a:srgbClr val="FF0000"/>
                </a:solidFill>
              </a:rPr>
              <a:t>; </a:t>
            </a:r>
            <a:r>
              <a:rPr lang="en-US" dirty="0" err="1">
                <a:solidFill>
                  <a:srgbClr val="FF0000"/>
                </a:solidFill>
              </a:rPr>
              <a:t>i</a:t>
            </a:r>
            <a:r>
              <a:rPr lang="en-US" dirty="0">
                <a:solidFill>
                  <a:srgbClr val="FF0000"/>
                </a:solidFill>
              </a:rPr>
              <a:t>++)</a:t>
            </a:r>
          </a:p>
          <a:p>
            <a:pPr marL="0" indent="0">
              <a:buNone/>
            </a:pPr>
            <a:r>
              <a:rPr lang="en-US" dirty="0">
                <a:solidFill>
                  <a:srgbClr val="FF0000"/>
                </a:solidFill>
              </a:rPr>
              <a:t>// Write your code below</a:t>
            </a:r>
          </a:p>
          <a:p>
            <a:pPr marL="0" indent="0">
              <a:buNone/>
            </a:pPr>
            <a:r>
              <a:rPr lang="en-US" dirty="0">
                <a:solidFill>
                  <a:srgbClr val="FF0000"/>
                </a:solidFill>
              </a:rPr>
              <a:t>{</a:t>
            </a:r>
          </a:p>
          <a:p>
            <a:pPr marL="0" indent="0">
              <a:buNone/>
            </a:pPr>
            <a:r>
              <a:rPr lang="en-US" dirty="0">
                <a:solidFill>
                  <a:srgbClr val="FF0000"/>
                </a:solidFill>
              </a:rPr>
              <a:t>  console.log('I would love to visit '+</a:t>
            </a:r>
            <a:r>
              <a:rPr lang="en-US" dirty="0" err="1">
                <a:solidFill>
                  <a:srgbClr val="FF0000"/>
                </a:solidFill>
              </a:rPr>
              <a:t>vacationSpots</a:t>
            </a:r>
            <a:r>
              <a:rPr lang="en-US" dirty="0">
                <a:solidFill>
                  <a:srgbClr val="FF0000"/>
                </a:solidFill>
              </a:rPr>
              <a:t>[</a:t>
            </a:r>
            <a:r>
              <a:rPr lang="en-US" dirty="0" err="1">
                <a:solidFill>
                  <a:srgbClr val="FF0000"/>
                </a:solidFill>
              </a:rPr>
              <a:t>i</a:t>
            </a:r>
            <a:r>
              <a:rPr lang="en-US" dirty="0">
                <a:solidFill>
                  <a:srgbClr val="FF0000"/>
                </a:solidFill>
              </a:rPr>
              <a:t>]);</a:t>
            </a:r>
          </a:p>
          <a:p>
            <a:pPr marL="0" indent="0">
              <a:buNone/>
            </a:pPr>
            <a:r>
              <a:rPr lang="en-US" dirty="0">
                <a:solidFill>
                  <a:srgbClr val="FF0000"/>
                </a:solidFill>
              </a:rPr>
              <a:t>}</a:t>
            </a:r>
          </a:p>
        </p:txBody>
      </p:sp>
    </p:spTree>
    <p:extLst>
      <p:ext uri="{BB962C8B-B14F-4D97-AF65-F5344CB8AC3E}">
        <p14:creationId xmlns:p14="http://schemas.microsoft.com/office/powerpoint/2010/main" val="214707994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2ACB18-5B30-E7B1-FA7D-429D79A033E1}"/>
              </a:ext>
            </a:extLst>
          </p:cNvPr>
          <p:cNvSpPr>
            <a:spLocks noGrp="1"/>
          </p:cNvSpPr>
          <p:nvPr>
            <p:ph type="title"/>
          </p:nvPr>
        </p:nvSpPr>
        <p:spPr/>
        <p:txBody>
          <a:bodyPr/>
          <a:lstStyle/>
          <a:p>
            <a:r>
              <a:rPr lang="en-IN" dirty="0"/>
              <a:t>Nested Loops</a:t>
            </a:r>
          </a:p>
        </p:txBody>
      </p:sp>
      <p:sp>
        <p:nvSpPr>
          <p:cNvPr id="3" name="Content Placeholder 2">
            <a:extLst>
              <a:ext uri="{FF2B5EF4-FFF2-40B4-BE49-F238E27FC236}">
                <a16:creationId xmlns:a16="http://schemas.microsoft.com/office/drawing/2014/main" id="{1B472F0E-87C7-F469-A209-53CF7816344F}"/>
              </a:ext>
            </a:extLst>
          </p:cNvPr>
          <p:cNvSpPr>
            <a:spLocks noGrp="1"/>
          </p:cNvSpPr>
          <p:nvPr>
            <p:ph idx="1"/>
          </p:nvPr>
        </p:nvSpPr>
        <p:spPr/>
        <p:txBody>
          <a:bodyPr>
            <a:normAutofit/>
          </a:bodyPr>
          <a:lstStyle/>
          <a:p>
            <a:r>
              <a:rPr lang="en-US" sz="2000" dirty="0"/>
              <a:t>When we have a loop running inside another loop, we call that a nested loop. One use for a nested for loop is to compare the elements in two arrays. For each round of the outer for loop, the inner for loop will run completely.</a:t>
            </a:r>
            <a:endParaRPr lang="en-IN" sz="2000" dirty="0"/>
          </a:p>
        </p:txBody>
      </p:sp>
    </p:spTree>
    <p:extLst>
      <p:ext uri="{BB962C8B-B14F-4D97-AF65-F5344CB8AC3E}">
        <p14:creationId xmlns:p14="http://schemas.microsoft.com/office/powerpoint/2010/main" val="183605821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E590F3-EB76-BD00-1ABE-EA5EE992BDF5}"/>
              </a:ext>
            </a:extLst>
          </p:cNvPr>
          <p:cNvSpPr>
            <a:spLocks noGrp="1"/>
          </p:cNvSpPr>
          <p:nvPr>
            <p:ph type="title"/>
          </p:nvPr>
        </p:nvSpPr>
        <p:spPr/>
        <p:txBody>
          <a:bodyPr/>
          <a:lstStyle/>
          <a:p>
            <a:r>
              <a:rPr lang="en-IN" dirty="0"/>
              <a:t>The While Loop</a:t>
            </a:r>
          </a:p>
        </p:txBody>
      </p:sp>
      <p:sp>
        <p:nvSpPr>
          <p:cNvPr id="3" name="Content Placeholder 2">
            <a:extLst>
              <a:ext uri="{FF2B5EF4-FFF2-40B4-BE49-F238E27FC236}">
                <a16:creationId xmlns:a16="http://schemas.microsoft.com/office/drawing/2014/main" id="{F9CCE7CA-3740-E811-9257-D32855F8B489}"/>
              </a:ext>
            </a:extLst>
          </p:cNvPr>
          <p:cNvSpPr>
            <a:spLocks noGrp="1"/>
          </p:cNvSpPr>
          <p:nvPr>
            <p:ph idx="1"/>
          </p:nvPr>
        </p:nvSpPr>
        <p:spPr>
          <a:xfrm>
            <a:off x="581192" y="2180496"/>
            <a:ext cx="11029615" cy="3975348"/>
          </a:xfrm>
        </p:spPr>
        <p:txBody>
          <a:bodyPr>
            <a:normAutofit/>
          </a:bodyPr>
          <a:lstStyle/>
          <a:p>
            <a:r>
              <a:rPr lang="en-US" dirty="0"/>
              <a:t>while loop syntax:</a:t>
            </a:r>
          </a:p>
          <a:p>
            <a:pPr lvl="1"/>
            <a:r>
              <a:rPr lang="en-US" dirty="0"/>
              <a:t>The </a:t>
            </a:r>
            <a:r>
              <a:rPr lang="en-US" dirty="0" err="1"/>
              <a:t>counterTwo</a:t>
            </a:r>
            <a:r>
              <a:rPr lang="en-US" dirty="0"/>
              <a:t> variable is declared before the loop. We can access it inside our while loop since it’s in the global scope.</a:t>
            </a:r>
          </a:p>
          <a:p>
            <a:pPr lvl="1"/>
            <a:r>
              <a:rPr lang="en-US" dirty="0"/>
              <a:t>We start our loop with the keyword while followed by our stopping condition, or test condition. This will be evaluated before each round of the loop. While the condition evaluates to true, the block will continue to run. Once it evaluates to false the loop will </a:t>
            </a:r>
            <a:r>
              <a:rPr lang="en-US"/>
              <a:t>stop</a:t>
            </a:r>
            <a:r>
              <a:rPr lang="en-US" smtClean="0"/>
              <a:t>. </a:t>
            </a:r>
            <a:endParaRPr lang="en-US" dirty="0"/>
          </a:p>
          <a:p>
            <a:pPr lvl="1"/>
            <a:r>
              <a:rPr lang="en-US" dirty="0"/>
              <a:t>Next, we have our loop’s code block which prints </a:t>
            </a:r>
            <a:r>
              <a:rPr lang="en-US" dirty="0" err="1"/>
              <a:t>counterTwo</a:t>
            </a:r>
            <a:r>
              <a:rPr lang="en-US" dirty="0"/>
              <a:t> to the console and increments </a:t>
            </a:r>
            <a:r>
              <a:rPr lang="en-US" dirty="0" err="1"/>
              <a:t>counterTwo</a:t>
            </a:r>
            <a:r>
              <a:rPr lang="en-US" dirty="0"/>
              <a:t>.</a:t>
            </a:r>
          </a:p>
          <a:p>
            <a:r>
              <a:rPr lang="en-US" dirty="0"/>
              <a:t>What would happen if we didn’t increment </a:t>
            </a:r>
            <a:r>
              <a:rPr lang="en-US" dirty="0" err="1"/>
              <a:t>counterTwo</a:t>
            </a:r>
            <a:r>
              <a:rPr lang="en-US" dirty="0"/>
              <a:t> inside our block? If we didn’t include this, </a:t>
            </a:r>
            <a:r>
              <a:rPr lang="en-US" dirty="0" err="1"/>
              <a:t>counterTwo</a:t>
            </a:r>
            <a:r>
              <a:rPr lang="en-US" dirty="0"/>
              <a:t> would always have its initial value, 1. That would mean the testing condition </a:t>
            </a:r>
            <a:r>
              <a:rPr lang="en-US" dirty="0" err="1"/>
              <a:t>counterTwo</a:t>
            </a:r>
            <a:r>
              <a:rPr lang="en-US" dirty="0"/>
              <a:t> &lt; 4 would always evaluate to true and our loop would never stop running! Remember, this is called an infinite loop and it’s something we always want to avoid. Infinite loops can take up all of your computer’s processing power potentially freezing your computer.</a:t>
            </a:r>
            <a:endParaRPr lang="en-IN" dirty="0"/>
          </a:p>
        </p:txBody>
      </p:sp>
    </p:spTree>
    <p:extLst>
      <p:ext uri="{BB962C8B-B14F-4D97-AF65-F5344CB8AC3E}">
        <p14:creationId xmlns:p14="http://schemas.microsoft.com/office/powerpoint/2010/main" val="222945100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4FE895-BC0C-EABF-A2CF-FEED5C9C0C15}"/>
              </a:ext>
            </a:extLst>
          </p:cNvPr>
          <p:cNvSpPr>
            <a:spLocks noGrp="1"/>
          </p:cNvSpPr>
          <p:nvPr>
            <p:ph type="title"/>
          </p:nvPr>
        </p:nvSpPr>
        <p:spPr/>
        <p:txBody>
          <a:bodyPr/>
          <a:lstStyle/>
          <a:p>
            <a:r>
              <a:rPr lang="en-IN" dirty="0"/>
              <a:t>The While Loop</a:t>
            </a:r>
          </a:p>
        </p:txBody>
      </p:sp>
      <p:sp>
        <p:nvSpPr>
          <p:cNvPr id="3" name="Content Placeholder 2">
            <a:extLst>
              <a:ext uri="{FF2B5EF4-FFF2-40B4-BE49-F238E27FC236}">
                <a16:creationId xmlns:a16="http://schemas.microsoft.com/office/drawing/2014/main" id="{AB88337D-3511-9B8D-D558-A64EC528A64B}"/>
              </a:ext>
            </a:extLst>
          </p:cNvPr>
          <p:cNvSpPr>
            <a:spLocks noGrp="1"/>
          </p:cNvSpPr>
          <p:nvPr>
            <p:ph idx="1"/>
          </p:nvPr>
        </p:nvSpPr>
        <p:spPr/>
        <p:txBody>
          <a:bodyPr/>
          <a:lstStyle/>
          <a:p>
            <a:pPr marL="0" indent="0">
              <a:buNone/>
            </a:pPr>
            <a:r>
              <a:rPr lang="en-US" dirty="0">
                <a:solidFill>
                  <a:srgbClr val="FF0000"/>
                </a:solidFill>
              </a:rPr>
              <a:t>// A while loop that prints 1, 2, and 3</a:t>
            </a:r>
          </a:p>
          <a:p>
            <a:pPr marL="0" indent="0">
              <a:buNone/>
            </a:pPr>
            <a:r>
              <a:rPr lang="en-US" dirty="0">
                <a:solidFill>
                  <a:srgbClr val="FF0000"/>
                </a:solidFill>
              </a:rPr>
              <a:t>let </a:t>
            </a:r>
            <a:r>
              <a:rPr lang="en-US" dirty="0" err="1">
                <a:solidFill>
                  <a:srgbClr val="FF0000"/>
                </a:solidFill>
              </a:rPr>
              <a:t>counterTwo</a:t>
            </a:r>
            <a:r>
              <a:rPr lang="en-US" dirty="0">
                <a:solidFill>
                  <a:srgbClr val="FF0000"/>
                </a:solidFill>
              </a:rPr>
              <a:t> = 1;</a:t>
            </a:r>
          </a:p>
          <a:p>
            <a:pPr marL="0" indent="0">
              <a:buNone/>
            </a:pPr>
            <a:r>
              <a:rPr lang="en-US" dirty="0">
                <a:solidFill>
                  <a:srgbClr val="FF0000"/>
                </a:solidFill>
              </a:rPr>
              <a:t>while (</a:t>
            </a:r>
            <a:r>
              <a:rPr lang="en-US" dirty="0" err="1">
                <a:solidFill>
                  <a:srgbClr val="FF0000"/>
                </a:solidFill>
              </a:rPr>
              <a:t>counterTwo</a:t>
            </a:r>
            <a:r>
              <a:rPr lang="en-US" dirty="0">
                <a:solidFill>
                  <a:srgbClr val="FF0000"/>
                </a:solidFill>
              </a:rPr>
              <a:t> &lt; 4) {</a:t>
            </a:r>
          </a:p>
          <a:p>
            <a:pPr marL="0" indent="0">
              <a:buNone/>
            </a:pPr>
            <a:r>
              <a:rPr lang="en-US" dirty="0">
                <a:solidFill>
                  <a:srgbClr val="FF0000"/>
                </a:solidFill>
              </a:rPr>
              <a:t>  console.log(</a:t>
            </a:r>
            <a:r>
              <a:rPr lang="en-US" dirty="0" err="1">
                <a:solidFill>
                  <a:srgbClr val="FF0000"/>
                </a:solidFill>
              </a:rPr>
              <a:t>counterTwo</a:t>
            </a:r>
            <a:r>
              <a:rPr lang="en-US" dirty="0">
                <a:solidFill>
                  <a:srgbClr val="FF0000"/>
                </a:solidFill>
              </a:rPr>
              <a:t>);</a:t>
            </a:r>
          </a:p>
          <a:p>
            <a:pPr marL="0" indent="0">
              <a:buNone/>
            </a:pPr>
            <a:r>
              <a:rPr lang="en-US" dirty="0">
                <a:solidFill>
                  <a:srgbClr val="FF0000"/>
                </a:solidFill>
              </a:rPr>
              <a:t>  </a:t>
            </a:r>
            <a:r>
              <a:rPr lang="en-US" dirty="0" err="1">
                <a:solidFill>
                  <a:srgbClr val="FF0000"/>
                </a:solidFill>
              </a:rPr>
              <a:t>counterTwo</a:t>
            </a:r>
            <a:r>
              <a:rPr lang="en-US" dirty="0">
                <a:solidFill>
                  <a:srgbClr val="FF0000"/>
                </a:solidFill>
              </a:rPr>
              <a:t>++;</a:t>
            </a:r>
          </a:p>
          <a:p>
            <a:pPr marL="0" indent="0">
              <a:buNone/>
            </a:pPr>
            <a:r>
              <a:rPr lang="en-US" dirty="0">
                <a:solidFill>
                  <a:srgbClr val="FF0000"/>
                </a:solidFill>
              </a:rPr>
              <a:t>}</a:t>
            </a:r>
            <a:endParaRPr lang="en-IN" dirty="0">
              <a:solidFill>
                <a:srgbClr val="FF0000"/>
              </a:solidFill>
            </a:endParaRPr>
          </a:p>
        </p:txBody>
      </p:sp>
    </p:spTree>
    <p:extLst>
      <p:ext uri="{BB962C8B-B14F-4D97-AF65-F5344CB8AC3E}">
        <p14:creationId xmlns:p14="http://schemas.microsoft.com/office/powerpoint/2010/main" val="153651807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E30742-8059-6557-5334-7F7DACEFF195}"/>
              </a:ext>
            </a:extLst>
          </p:cNvPr>
          <p:cNvSpPr>
            <a:spLocks noGrp="1"/>
          </p:cNvSpPr>
          <p:nvPr>
            <p:ph type="title"/>
          </p:nvPr>
        </p:nvSpPr>
        <p:spPr/>
        <p:txBody>
          <a:bodyPr/>
          <a:lstStyle/>
          <a:p>
            <a:r>
              <a:rPr lang="en-IN" dirty="0"/>
              <a:t>Do...While Statements</a:t>
            </a:r>
          </a:p>
        </p:txBody>
      </p:sp>
      <p:sp>
        <p:nvSpPr>
          <p:cNvPr id="3" name="Content Placeholder 2">
            <a:extLst>
              <a:ext uri="{FF2B5EF4-FFF2-40B4-BE49-F238E27FC236}">
                <a16:creationId xmlns:a16="http://schemas.microsoft.com/office/drawing/2014/main" id="{8CE178F8-1BB3-C60F-C5E2-C1DBB8531D9C}"/>
              </a:ext>
            </a:extLst>
          </p:cNvPr>
          <p:cNvSpPr>
            <a:spLocks noGrp="1"/>
          </p:cNvSpPr>
          <p:nvPr>
            <p:ph idx="1"/>
          </p:nvPr>
        </p:nvSpPr>
        <p:spPr/>
        <p:txBody>
          <a:bodyPr>
            <a:normAutofit fontScale="92500" lnSpcReduction="10000"/>
          </a:bodyPr>
          <a:lstStyle/>
          <a:p>
            <a:r>
              <a:rPr lang="en-US" dirty="0"/>
              <a:t>In some cases, you want a piece of code to run at least once and then loop based on a specific condition after its initial run. This is where the do...while statement comes in.</a:t>
            </a:r>
          </a:p>
          <a:p>
            <a:pPr marL="0" indent="0">
              <a:buNone/>
            </a:pPr>
            <a:endParaRPr lang="en-US" dirty="0"/>
          </a:p>
          <a:p>
            <a:pPr marL="0" indent="0">
              <a:buNone/>
            </a:pPr>
            <a:r>
              <a:rPr lang="en-US" dirty="0">
                <a:solidFill>
                  <a:srgbClr val="FF0000"/>
                </a:solidFill>
              </a:rPr>
              <a:t>let </a:t>
            </a:r>
            <a:r>
              <a:rPr lang="en-US" dirty="0" err="1">
                <a:solidFill>
                  <a:srgbClr val="FF0000"/>
                </a:solidFill>
              </a:rPr>
              <a:t>countString</a:t>
            </a:r>
            <a:r>
              <a:rPr lang="en-US" dirty="0">
                <a:solidFill>
                  <a:srgbClr val="FF0000"/>
                </a:solidFill>
              </a:rPr>
              <a:t> = '';</a:t>
            </a:r>
          </a:p>
          <a:p>
            <a:pPr marL="0" indent="0">
              <a:buNone/>
            </a:pPr>
            <a:r>
              <a:rPr lang="en-US" dirty="0">
                <a:solidFill>
                  <a:srgbClr val="FF0000"/>
                </a:solidFill>
              </a:rPr>
              <a:t>let </a:t>
            </a:r>
            <a:r>
              <a:rPr lang="en-US" dirty="0" err="1">
                <a:solidFill>
                  <a:srgbClr val="FF0000"/>
                </a:solidFill>
              </a:rPr>
              <a:t>i</a:t>
            </a:r>
            <a:r>
              <a:rPr lang="en-US" dirty="0">
                <a:solidFill>
                  <a:srgbClr val="FF0000"/>
                </a:solidFill>
              </a:rPr>
              <a:t> = 0;</a:t>
            </a:r>
          </a:p>
          <a:p>
            <a:pPr marL="0" indent="0">
              <a:buNone/>
            </a:pPr>
            <a:r>
              <a:rPr lang="en-US" dirty="0">
                <a:solidFill>
                  <a:srgbClr val="FF0000"/>
                </a:solidFill>
              </a:rPr>
              <a:t>do {</a:t>
            </a:r>
          </a:p>
          <a:p>
            <a:pPr marL="0" indent="0">
              <a:buNone/>
            </a:pPr>
            <a:r>
              <a:rPr lang="en-US" dirty="0">
                <a:solidFill>
                  <a:srgbClr val="FF0000"/>
                </a:solidFill>
              </a:rPr>
              <a:t>  </a:t>
            </a:r>
            <a:r>
              <a:rPr lang="en-US" dirty="0" err="1">
                <a:solidFill>
                  <a:srgbClr val="FF0000"/>
                </a:solidFill>
              </a:rPr>
              <a:t>countString</a:t>
            </a:r>
            <a:r>
              <a:rPr lang="en-US" dirty="0">
                <a:solidFill>
                  <a:srgbClr val="FF0000"/>
                </a:solidFill>
              </a:rPr>
              <a:t> = </a:t>
            </a:r>
            <a:r>
              <a:rPr lang="en-US" dirty="0" err="1">
                <a:solidFill>
                  <a:srgbClr val="FF0000"/>
                </a:solidFill>
              </a:rPr>
              <a:t>countString</a:t>
            </a:r>
            <a:r>
              <a:rPr lang="en-US" dirty="0">
                <a:solidFill>
                  <a:srgbClr val="FF0000"/>
                </a:solidFill>
              </a:rPr>
              <a:t> + </a:t>
            </a:r>
            <a:r>
              <a:rPr lang="en-US" dirty="0" err="1">
                <a:solidFill>
                  <a:srgbClr val="FF0000"/>
                </a:solidFill>
              </a:rPr>
              <a:t>i</a:t>
            </a:r>
            <a:r>
              <a:rPr lang="en-US" dirty="0">
                <a:solidFill>
                  <a:srgbClr val="FF0000"/>
                </a:solidFill>
              </a:rPr>
              <a:t>;</a:t>
            </a:r>
          </a:p>
          <a:p>
            <a:pPr marL="0" indent="0">
              <a:buNone/>
            </a:pPr>
            <a:r>
              <a:rPr lang="en-US" dirty="0">
                <a:solidFill>
                  <a:srgbClr val="FF0000"/>
                </a:solidFill>
              </a:rPr>
              <a:t>  </a:t>
            </a:r>
            <a:r>
              <a:rPr lang="en-US" dirty="0" err="1">
                <a:solidFill>
                  <a:srgbClr val="FF0000"/>
                </a:solidFill>
              </a:rPr>
              <a:t>i</a:t>
            </a:r>
            <a:r>
              <a:rPr lang="en-US" dirty="0">
                <a:solidFill>
                  <a:srgbClr val="FF0000"/>
                </a:solidFill>
              </a:rPr>
              <a:t>++;</a:t>
            </a:r>
          </a:p>
          <a:p>
            <a:pPr marL="0" indent="0">
              <a:buNone/>
            </a:pPr>
            <a:r>
              <a:rPr lang="en-US" dirty="0">
                <a:solidFill>
                  <a:srgbClr val="FF0000"/>
                </a:solidFill>
              </a:rPr>
              <a:t>} while (</a:t>
            </a:r>
            <a:r>
              <a:rPr lang="en-US" dirty="0" err="1">
                <a:solidFill>
                  <a:srgbClr val="FF0000"/>
                </a:solidFill>
              </a:rPr>
              <a:t>i</a:t>
            </a:r>
            <a:r>
              <a:rPr lang="en-US" dirty="0">
                <a:solidFill>
                  <a:srgbClr val="FF0000"/>
                </a:solidFill>
              </a:rPr>
              <a:t> &lt; 5);</a:t>
            </a:r>
          </a:p>
          <a:p>
            <a:pPr marL="0" indent="0">
              <a:buNone/>
            </a:pPr>
            <a:r>
              <a:rPr lang="en-US" dirty="0">
                <a:solidFill>
                  <a:srgbClr val="FF0000"/>
                </a:solidFill>
              </a:rPr>
              <a:t>console.log(</a:t>
            </a:r>
            <a:r>
              <a:rPr lang="en-US" dirty="0" err="1">
                <a:solidFill>
                  <a:srgbClr val="FF0000"/>
                </a:solidFill>
              </a:rPr>
              <a:t>countString</a:t>
            </a:r>
            <a:r>
              <a:rPr lang="en-US" dirty="0">
                <a:solidFill>
                  <a:srgbClr val="FF0000"/>
                </a:solidFill>
              </a:rPr>
              <a:t>);</a:t>
            </a:r>
            <a:endParaRPr lang="en-IN" dirty="0">
              <a:solidFill>
                <a:srgbClr val="FF0000"/>
              </a:solidFill>
            </a:endParaRPr>
          </a:p>
        </p:txBody>
      </p:sp>
    </p:spTree>
    <p:extLst>
      <p:ext uri="{BB962C8B-B14F-4D97-AF65-F5344CB8AC3E}">
        <p14:creationId xmlns:p14="http://schemas.microsoft.com/office/powerpoint/2010/main" val="144776910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0A58F-F8BE-B924-2351-3E824E015248}"/>
              </a:ext>
            </a:extLst>
          </p:cNvPr>
          <p:cNvSpPr>
            <a:spLocks noGrp="1"/>
          </p:cNvSpPr>
          <p:nvPr>
            <p:ph type="title"/>
          </p:nvPr>
        </p:nvSpPr>
        <p:spPr/>
        <p:txBody>
          <a:bodyPr/>
          <a:lstStyle/>
          <a:p>
            <a:r>
              <a:rPr lang="en-IN" dirty="0"/>
              <a:t>The break Keyword</a:t>
            </a:r>
          </a:p>
        </p:txBody>
      </p:sp>
      <p:sp>
        <p:nvSpPr>
          <p:cNvPr id="3" name="Content Placeholder 2">
            <a:extLst>
              <a:ext uri="{FF2B5EF4-FFF2-40B4-BE49-F238E27FC236}">
                <a16:creationId xmlns:a16="http://schemas.microsoft.com/office/drawing/2014/main" id="{16996F25-F668-9B0F-B8EF-87948C9920A9}"/>
              </a:ext>
            </a:extLst>
          </p:cNvPr>
          <p:cNvSpPr>
            <a:spLocks noGrp="1"/>
          </p:cNvSpPr>
          <p:nvPr>
            <p:ph idx="1"/>
          </p:nvPr>
        </p:nvSpPr>
        <p:spPr/>
        <p:txBody>
          <a:bodyPr>
            <a:normAutofit/>
          </a:bodyPr>
          <a:lstStyle/>
          <a:p>
            <a:r>
              <a:rPr lang="en-US" sz="2000" dirty="0"/>
              <a:t>The break keyword allows programs to “break” out of the loop from within the loop’s block.</a:t>
            </a:r>
            <a:endParaRPr lang="en-IN" sz="2000" dirty="0"/>
          </a:p>
        </p:txBody>
      </p:sp>
    </p:spTree>
    <p:extLst>
      <p:ext uri="{BB962C8B-B14F-4D97-AF65-F5344CB8AC3E}">
        <p14:creationId xmlns:p14="http://schemas.microsoft.com/office/powerpoint/2010/main" val="331300995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D1A5891-8D05-DA23-4A6D-85E8E8A68B31}"/>
              </a:ext>
            </a:extLst>
          </p:cNvPr>
          <p:cNvSpPr>
            <a:spLocks noGrp="1"/>
          </p:cNvSpPr>
          <p:nvPr>
            <p:ph type="title"/>
          </p:nvPr>
        </p:nvSpPr>
        <p:spPr/>
        <p:txBody>
          <a:bodyPr/>
          <a:lstStyle/>
          <a:p>
            <a:r>
              <a:rPr lang="en-IN" sz="6000" dirty="0"/>
              <a:t>Thanks</a:t>
            </a:r>
            <a:endParaRPr lang="en-IN" dirty="0"/>
          </a:p>
        </p:txBody>
      </p:sp>
    </p:spTree>
    <p:extLst>
      <p:ext uri="{BB962C8B-B14F-4D97-AF65-F5344CB8AC3E}">
        <p14:creationId xmlns:p14="http://schemas.microsoft.com/office/powerpoint/2010/main" val="3536013151"/>
      </p:ext>
    </p:extLst>
  </p:cSld>
  <p:clrMapOvr>
    <a:masterClrMapping/>
  </p:clrMapOvr>
</p:sld>
</file>

<file path=ppt/theme/theme1.xml><?xml version="1.0" encoding="utf-8"?>
<a:theme xmlns:a="http://schemas.openxmlformats.org/drawingml/2006/main" name="Dividend">
  <a:themeElements>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4BEC0EAF-CF86-4D49-B83B-56CC62D3CFF1}"/>
    </a:ext>
  </a:extLst>
</a:theme>
</file>

<file path=docProps/app.xml><?xml version="1.0" encoding="utf-8"?>
<Properties xmlns="http://schemas.openxmlformats.org/officeDocument/2006/extended-properties" xmlns:vt="http://schemas.openxmlformats.org/officeDocument/2006/docPropsVTypes">
  <Template>Dividend</Template>
  <TotalTime>2609</TotalTime>
  <Words>5638</Words>
  <Application>Microsoft Office PowerPoint</Application>
  <PresentationFormat>Widescreen</PresentationFormat>
  <Paragraphs>515</Paragraphs>
  <Slides>69</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69</vt:i4>
      </vt:variant>
    </vt:vector>
  </HeadingPairs>
  <TitlesOfParts>
    <vt:vector size="77" baseType="lpstr">
      <vt:lpstr>Apercu</vt:lpstr>
      <vt:lpstr>arial</vt:lpstr>
      <vt:lpstr>arial</vt:lpstr>
      <vt:lpstr>Monaco</vt:lpstr>
      <vt:lpstr>Monaco, Menlo,  Ubuntu Mono</vt:lpstr>
      <vt:lpstr>Wingdings</vt:lpstr>
      <vt:lpstr>Wingdings 2</vt:lpstr>
      <vt:lpstr>Dividend</vt:lpstr>
      <vt:lpstr>JS: JavaScript</vt:lpstr>
      <vt:lpstr>JS: JavaScript</vt:lpstr>
      <vt:lpstr>What is JavaScript?</vt:lpstr>
      <vt:lpstr>JavaScript Versions: ES6 and Before</vt:lpstr>
      <vt:lpstr>JavaScript Versions: ES6 and Before</vt:lpstr>
      <vt:lpstr>Modern JavaScript</vt:lpstr>
      <vt:lpstr>Modern JavaScript</vt:lpstr>
      <vt:lpstr>Comments</vt:lpstr>
      <vt:lpstr>Console</vt:lpstr>
      <vt:lpstr>Data Types</vt:lpstr>
      <vt:lpstr>Variables </vt:lpstr>
      <vt:lpstr>Declaring Variables</vt:lpstr>
      <vt:lpstr>Create a Variable: var</vt:lpstr>
      <vt:lpstr>general rules for naming variables:</vt:lpstr>
      <vt:lpstr>Create a Variable: let</vt:lpstr>
      <vt:lpstr>Create a Variable: const</vt:lpstr>
      <vt:lpstr>Arithmetic Operators</vt:lpstr>
      <vt:lpstr>Mathematical Assignment Operators</vt:lpstr>
      <vt:lpstr>String Concatenation</vt:lpstr>
      <vt:lpstr>String Interpolation</vt:lpstr>
      <vt:lpstr>String Interpolation</vt:lpstr>
      <vt:lpstr>Properties</vt:lpstr>
      <vt:lpstr>typeof operator</vt:lpstr>
      <vt:lpstr>An Example</vt:lpstr>
      <vt:lpstr>Methods</vt:lpstr>
      <vt:lpstr>Built-in Objects</vt:lpstr>
      <vt:lpstr>What are Conditional Statements</vt:lpstr>
      <vt:lpstr>If Statement</vt:lpstr>
      <vt:lpstr>If...Else Statements</vt:lpstr>
      <vt:lpstr>Comparison Operators</vt:lpstr>
      <vt:lpstr>Logical Operators</vt:lpstr>
      <vt:lpstr>Truthy and Falsy</vt:lpstr>
      <vt:lpstr>Falsy</vt:lpstr>
      <vt:lpstr>Ternary Operator</vt:lpstr>
      <vt:lpstr>Else If Statements</vt:lpstr>
      <vt:lpstr>The switch…. Case</vt:lpstr>
      <vt:lpstr>Function Declarations</vt:lpstr>
      <vt:lpstr>Calling a Function</vt:lpstr>
      <vt:lpstr>Parameters and Arguments</vt:lpstr>
      <vt:lpstr>Default Parameters</vt:lpstr>
      <vt:lpstr>Return</vt:lpstr>
      <vt:lpstr>Return</vt:lpstr>
      <vt:lpstr>Helper Functions</vt:lpstr>
      <vt:lpstr>Function Expressions</vt:lpstr>
      <vt:lpstr>Arrow Functions</vt:lpstr>
      <vt:lpstr>Concise Body Arrow Functions</vt:lpstr>
      <vt:lpstr>Global Scope</vt:lpstr>
      <vt:lpstr>Block Scope</vt:lpstr>
      <vt:lpstr>Create an Array</vt:lpstr>
      <vt:lpstr>Accessing Elements</vt:lpstr>
      <vt:lpstr>Update Elements</vt:lpstr>
      <vt:lpstr>Arrays with let and const</vt:lpstr>
      <vt:lpstr>The .length property</vt:lpstr>
      <vt:lpstr>The .push() Method</vt:lpstr>
      <vt:lpstr>The .pop() Method</vt:lpstr>
      <vt:lpstr>More Array Methods</vt:lpstr>
      <vt:lpstr>Arrays and Functions</vt:lpstr>
      <vt:lpstr>Arrays and Functions …</vt:lpstr>
      <vt:lpstr>Nested Arrays</vt:lpstr>
      <vt:lpstr>Loops</vt:lpstr>
      <vt:lpstr>The For Loop</vt:lpstr>
      <vt:lpstr>Looping in Reverse</vt:lpstr>
      <vt:lpstr>Looping through Arrays</vt:lpstr>
      <vt:lpstr>Nested Loops</vt:lpstr>
      <vt:lpstr>The While Loop</vt:lpstr>
      <vt:lpstr>The While Loop</vt:lpstr>
      <vt:lpstr>Do...While Statements</vt:lpstr>
      <vt:lpstr>The break Keyword</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HTML</dc:title>
  <dc:creator>Arpita Tiwari</dc:creator>
  <cp:lastModifiedBy>Arpita Tiwari</cp:lastModifiedBy>
  <cp:revision>76</cp:revision>
  <dcterms:created xsi:type="dcterms:W3CDTF">2022-12-05T08:54:50Z</dcterms:created>
  <dcterms:modified xsi:type="dcterms:W3CDTF">2023-11-01T06:31:53Z</dcterms:modified>
</cp:coreProperties>
</file>