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6" r:id="rId5"/>
    <p:sldId id="257" r:id="rId6"/>
    <p:sldId id="290" r:id="rId7"/>
    <p:sldId id="270" r:id="rId8"/>
    <p:sldId id="271" r:id="rId9"/>
    <p:sldId id="272" r:id="rId10"/>
    <p:sldId id="273" r:id="rId11"/>
    <p:sldId id="274" r:id="rId12"/>
    <p:sldId id="276" r:id="rId13"/>
    <p:sldId id="289" r:id="rId14"/>
    <p:sldId id="275" r:id="rId15"/>
    <p:sldId id="277" r:id="rId16"/>
    <p:sldId id="278" r:id="rId17"/>
    <p:sldId id="279" r:id="rId18"/>
    <p:sldId id="280" r:id="rId19"/>
    <p:sldId id="281" r:id="rId20"/>
    <p:sldId id="282" r:id="rId21"/>
    <p:sldId id="284" r:id="rId22"/>
    <p:sldId id="285" r:id="rId23"/>
    <p:sldId id="286" r:id="rId24"/>
    <p:sldId id="288" r:id="rId25"/>
    <p:sldId id="287" r:id="rId26"/>
    <p:sldId id="291" r:id="rId27"/>
    <p:sldId id="292" r:id="rId28"/>
    <p:sldId id="294" r:id="rId29"/>
    <p:sldId id="295" r:id="rId30"/>
    <p:sldId id="296" r:id="rId31"/>
    <p:sldId id="26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108" y="4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9/7/2023</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9/7/2023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978090" y="1350699"/>
            <a:ext cx="7888846" cy="1243584"/>
          </a:xfrm>
        </p:spPr>
        <p:txBody>
          <a:bodyPr/>
          <a:lstStyle/>
          <a:p>
            <a:r>
              <a:rPr lang="en-US" sz="7200" dirty="0"/>
              <a:t>Web Technologies </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089683" y="3788602"/>
            <a:ext cx="7077456" cy="868680"/>
          </a:xfrm>
        </p:spPr>
        <p:txBody>
          <a:bodyPr>
            <a:normAutofit/>
          </a:bodyPr>
          <a:lstStyle/>
          <a:p>
            <a:pPr marL="0" indent="0">
              <a:buNone/>
            </a:pPr>
            <a:r>
              <a:rPr lang="en-US" sz="2800" dirty="0"/>
              <a:t>By : Arpita Tiwari</a:t>
            </a:r>
          </a:p>
        </p:txBody>
      </p:sp>
      <p:sp>
        <p:nvSpPr>
          <p:cNvPr id="4" name="Title 1">
            <a:extLst>
              <a:ext uri="{FF2B5EF4-FFF2-40B4-BE49-F238E27FC236}">
                <a16:creationId xmlns:a16="http://schemas.microsoft.com/office/drawing/2014/main" id="{D38DB237-D419-8BBA-37E8-B558AB482272}"/>
              </a:ext>
            </a:extLst>
          </p:cNvPr>
          <p:cNvSpPr txBox="1">
            <a:spLocks/>
          </p:cNvSpPr>
          <p:nvPr/>
        </p:nvSpPr>
        <p:spPr>
          <a:xfrm>
            <a:off x="1978090" y="2841731"/>
            <a:ext cx="8976049" cy="69942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lang="en-GB" sz="6600" b="1" kern="1200" dirty="0">
                <a:solidFill>
                  <a:schemeClr val="accent2"/>
                </a:solidFill>
                <a:latin typeface="+mj-lt"/>
                <a:ea typeface="Tahoma" panose="020B0604030504040204" pitchFamily="34" charset="0"/>
                <a:cs typeface="Tahoma" panose="020B0604030504040204" pitchFamily="34" charset="0"/>
              </a:defRPr>
            </a:lvl1pPr>
          </a:lstStyle>
          <a:p>
            <a:r>
              <a:rPr lang="en-US" sz="4800" dirty="0">
                <a:solidFill>
                  <a:schemeClr val="bg2">
                    <a:lumMod val="40000"/>
                    <a:lumOff val="60000"/>
                  </a:schemeClr>
                </a:solidFill>
              </a:rPr>
              <a:t>Application Layer Protocols</a:t>
            </a:r>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14152" y="651821"/>
            <a:ext cx="11214100" cy="742174"/>
          </a:xfrm>
        </p:spPr>
        <p:txBody>
          <a:bodyPr>
            <a:normAutofit fontScale="90000"/>
          </a:bodyPr>
          <a:lstStyle/>
          <a:p>
            <a:r>
              <a:rPr lang="en-US" sz="6000" dirty="0" smtClean="0"/>
              <a:t>Client-Server </a:t>
            </a:r>
            <a:r>
              <a:rPr lang="en-US" sz="6000" dirty="0"/>
              <a:t>paradigm</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z="2000" smtClean="0"/>
              <a:pPr/>
              <a:t>2</a:t>
            </a:fld>
            <a:endParaRPr lang="en-US" sz="2000" dirty="0"/>
          </a:p>
        </p:txBody>
      </p:sp>
      <p:sp>
        <p:nvSpPr>
          <p:cNvPr id="3" name="Text Placeholder 2">
            <a:extLst>
              <a:ext uri="{FF2B5EF4-FFF2-40B4-BE49-F238E27FC236}">
                <a16:creationId xmlns:a16="http://schemas.microsoft.com/office/drawing/2014/main" id="{B896DA6B-8F7F-B280-B042-D5329CA56817}"/>
              </a:ext>
            </a:extLst>
          </p:cNvPr>
          <p:cNvSpPr>
            <a:spLocks noGrp="1"/>
          </p:cNvSpPr>
          <p:nvPr>
            <p:ph type="body" idx="1"/>
          </p:nvPr>
        </p:nvSpPr>
        <p:spPr/>
        <p:txBody>
          <a:bodyPr>
            <a:normAutofit/>
          </a:bodyPr>
          <a:lstStyle/>
          <a:p>
            <a:r>
              <a:rPr lang="en-IN" sz="3200" dirty="0"/>
              <a:t>Server</a:t>
            </a:r>
          </a:p>
        </p:txBody>
      </p:sp>
      <p:sp>
        <p:nvSpPr>
          <p:cNvPr id="7" name="Text Placeholder 6">
            <a:extLst>
              <a:ext uri="{FF2B5EF4-FFF2-40B4-BE49-F238E27FC236}">
                <a16:creationId xmlns:a16="http://schemas.microsoft.com/office/drawing/2014/main" id="{FD7BEC6A-0642-8AE6-D938-FC1C495BE51D}"/>
              </a:ext>
            </a:extLst>
          </p:cNvPr>
          <p:cNvSpPr>
            <a:spLocks noGrp="1"/>
          </p:cNvSpPr>
          <p:nvPr>
            <p:ph type="body" sz="quarter" idx="3"/>
          </p:nvPr>
        </p:nvSpPr>
        <p:spPr/>
        <p:txBody>
          <a:bodyPr>
            <a:normAutofit/>
          </a:bodyPr>
          <a:lstStyle/>
          <a:p>
            <a:r>
              <a:rPr lang="en-IN" sz="3200" dirty="0"/>
              <a:t>Client</a:t>
            </a:r>
          </a:p>
        </p:txBody>
      </p:sp>
      <p:sp>
        <p:nvSpPr>
          <p:cNvPr id="6" name="Content Placeholder 5">
            <a:extLst>
              <a:ext uri="{FF2B5EF4-FFF2-40B4-BE49-F238E27FC236}">
                <a16:creationId xmlns:a16="http://schemas.microsoft.com/office/drawing/2014/main" id="{63C997FA-5354-7E4A-BFB1-9FB5881DA3D2}"/>
              </a:ext>
            </a:extLst>
          </p:cNvPr>
          <p:cNvSpPr>
            <a:spLocks noGrp="1"/>
          </p:cNvSpPr>
          <p:nvPr>
            <p:ph sz="half" idx="2"/>
          </p:nvPr>
        </p:nvSpPr>
        <p:spPr>
          <a:xfrm>
            <a:off x="444501" y="2505075"/>
            <a:ext cx="5032172" cy="3684588"/>
          </a:xfrm>
        </p:spPr>
        <p:txBody>
          <a:bodyPr>
            <a:normAutofit fontScale="92500" lnSpcReduction="10000"/>
          </a:bodyPr>
          <a:lstStyle/>
          <a:p>
            <a:pPr algn="just"/>
            <a:r>
              <a:rPr lang="en-US" sz="2000" dirty="0"/>
              <a:t>A server is a program running on the remote machine providing service to the clients. </a:t>
            </a:r>
          </a:p>
          <a:p>
            <a:pPr algn="just"/>
            <a:r>
              <a:rPr lang="en-US" sz="2000" dirty="0"/>
              <a:t>When it starts, it opens the door for incoming requests from clients, but it never initiates a service until it is requested to do so. </a:t>
            </a:r>
          </a:p>
          <a:p>
            <a:pPr algn="just"/>
            <a:r>
              <a:rPr lang="en-US" sz="2000" dirty="0"/>
              <a:t>A server program is an infinite program. When it starts, it runs infinitely unless a problem arises. It waits for incoming requests from clients. </a:t>
            </a:r>
          </a:p>
          <a:p>
            <a:pPr algn="just"/>
            <a:r>
              <a:rPr lang="en-US" sz="2000" dirty="0"/>
              <a:t>When a request arrives, it responds to the request, either iteratively or concurrently as we will see shortly. </a:t>
            </a:r>
            <a:endParaRPr lang="en-IN" sz="2000" dirty="0"/>
          </a:p>
        </p:txBody>
      </p:sp>
      <p:sp>
        <p:nvSpPr>
          <p:cNvPr id="8" name="Content Placeholder 7">
            <a:extLst>
              <a:ext uri="{FF2B5EF4-FFF2-40B4-BE49-F238E27FC236}">
                <a16:creationId xmlns:a16="http://schemas.microsoft.com/office/drawing/2014/main" id="{2C3524F9-59DC-34B0-C3D7-BAF313664E33}"/>
              </a:ext>
            </a:extLst>
          </p:cNvPr>
          <p:cNvSpPr>
            <a:spLocks noGrp="1"/>
          </p:cNvSpPr>
          <p:nvPr>
            <p:ph sz="quarter" idx="4"/>
          </p:nvPr>
        </p:nvSpPr>
        <p:spPr>
          <a:xfrm>
            <a:off x="5691189" y="2505075"/>
            <a:ext cx="5967411" cy="3684588"/>
          </a:xfrm>
        </p:spPr>
        <p:txBody>
          <a:bodyPr>
            <a:normAutofit fontScale="92500" lnSpcReduction="20000"/>
          </a:bodyPr>
          <a:lstStyle/>
          <a:p>
            <a:pPr algn="just"/>
            <a:r>
              <a:rPr lang="en-US" sz="2000" dirty="0"/>
              <a:t>A client is a program running on the local machine requesting service from a server. </a:t>
            </a:r>
          </a:p>
          <a:p>
            <a:pPr algn="just"/>
            <a:r>
              <a:rPr lang="en-US" sz="2000" dirty="0"/>
              <a:t>A client program is finite, which means it is started by the user (or another application program) and terminates when the service is complete. </a:t>
            </a:r>
          </a:p>
          <a:p>
            <a:pPr algn="just"/>
            <a:r>
              <a:rPr lang="en-US" sz="2000" dirty="0"/>
              <a:t>Normally, a client opens the communication channel using the IP address of the remote host and the well-known port address of the specific server program running on that machine. </a:t>
            </a:r>
          </a:p>
          <a:p>
            <a:pPr algn="just"/>
            <a:r>
              <a:rPr lang="en-US" sz="2000" dirty="0"/>
              <a:t>After a channel of communication is opened, the client sends its request and receives a response. Although the request-response part may be repeated several times, the whole process is finite and eventually comes to an end.</a:t>
            </a:r>
            <a:endParaRPr lang="en-IN" sz="2000"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535531"/>
          </a:xfrm>
        </p:spPr>
        <p:txBody>
          <a:bodyPr/>
          <a:lstStyle/>
          <a:p>
            <a:r>
              <a:rPr lang="en-US" dirty="0" smtClean="0"/>
              <a:t>Client-Server Architecture</a:t>
            </a: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a:t>
            </a:fld>
            <a:endParaRPr lang="en-US" noProof="0" dirty="0"/>
          </a:p>
        </p:txBody>
      </p:sp>
      <p:pic>
        <p:nvPicPr>
          <p:cNvPr id="1026" name="Picture 2" descr="Client–server model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139" y="1645006"/>
            <a:ext cx="7376422" cy="4425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970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137D6-30A3-5234-6D66-949AB3A7CA26}"/>
              </a:ext>
            </a:extLst>
          </p:cNvPr>
          <p:cNvSpPr>
            <a:spLocks noGrp="1"/>
          </p:cNvSpPr>
          <p:nvPr>
            <p:ph type="title"/>
          </p:nvPr>
        </p:nvSpPr>
        <p:spPr/>
        <p:txBody>
          <a:bodyPr/>
          <a:lstStyle/>
          <a:p>
            <a:r>
              <a:rPr lang="en-US" dirty="0"/>
              <a:t>Relation between the operating system and the TCP/IP suite</a:t>
            </a:r>
            <a:endParaRPr lang="en-IN" dirty="0"/>
          </a:p>
        </p:txBody>
      </p:sp>
      <p:sp>
        <p:nvSpPr>
          <p:cNvPr id="3" name="Slide Number Placeholder 2">
            <a:extLst>
              <a:ext uri="{FF2B5EF4-FFF2-40B4-BE49-F238E27FC236}">
                <a16:creationId xmlns:a16="http://schemas.microsoft.com/office/drawing/2014/main" id="{739D197C-B567-D335-E3DA-55B9F4483A14}"/>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pic>
        <p:nvPicPr>
          <p:cNvPr id="6" name="Content Placeholder 5">
            <a:extLst>
              <a:ext uri="{FF2B5EF4-FFF2-40B4-BE49-F238E27FC236}">
                <a16:creationId xmlns:a16="http://schemas.microsoft.com/office/drawing/2014/main" id="{1057B52C-6599-6532-C688-482795E53A27}"/>
              </a:ext>
            </a:extLst>
          </p:cNvPr>
          <p:cNvPicPr>
            <a:picLocks noGrp="1" noChangeAspect="1"/>
          </p:cNvPicPr>
          <p:nvPr>
            <p:ph idx="1"/>
          </p:nvPr>
        </p:nvPicPr>
        <p:blipFill>
          <a:blip r:embed="rId2"/>
          <a:stretch>
            <a:fillRect/>
          </a:stretch>
        </p:blipFill>
        <p:spPr>
          <a:xfrm>
            <a:off x="5619982" y="2344098"/>
            <a:ext cx="4038950" cy="2705334"/>
          </a:xfrm>
        </p:spPr>
      </p:pic>
      <p:sp>
        <p:nvSpPr>
          <p:cNvPr id="10" name="TextBox 9">
            <a:extLst>
              <a:ext uri="{FF2B5EF4-FFF2-40B4-BE49-F238E27FC236}">
                <a16:creationId xmlns:a16="http://schemas.microsoft.com/office/drawing/2014/main" id="{2704FF5D-CD33-2311-CD76-F8008E96BE60}"/>
              </a:ext>
            </a:extLst>
          </p:cNvPr>
          <p:cNvSpPr txBox="1"/>
          <p:nvPr/>
        </p:nvSpPr>
        <p:spPr>
          <a:xfrm>
            <a:off x="265079" y="1970729"/>
            <a:ext cx="4287466" cy="3785652"/>
          </a:xfrm>
          <a:prstGeom prst="rect">
            <a:avLst/>
          </a:prstGeom>
          <a:noFill/>
        </p:spPr>
        <p:txBody>
          <a:bodyPr wrap="square">
            <a:spAutoFit/>
          </a:bodyPr>
          <a:lstStyle/>
          <a:p>
            <a:pPr algn="just"/>
            <a:r>
              <a:rPr lang="en-US" sz="2400" dirty="0">
                <a:solidFill>
                  <a:schemeClr val="bg1"/>
                </a:solidFill>
              </a:rPr>
              <a:t>The socket interface, as a set of instructions, is located between the operating system and the application programs. To access the services provided by the TCP/IP protocol suite, an application needs to use the instructions defined in the socket</a:t>
            </a:r>
          </a:p>
          <a:p>
            <a:pPr algn="just"/>
            <a:r>
              <a:rPr lang="en-US" sz="2400" dirty="0">
                <a:solidFill>
                  <a:schemeClr val="bg1"/>
                </a:solidFill>
              </a:rPr>
              <a:t>interface.</a:t>
            </a:r>
            <a:endParaRPr lang="en-IN" sz="2400" dirty="0">
              <a:solidFill>
                <a:schemeClr val="bg1"/>
              </a:solidFill>
            </a:endParaRPr>
          </a:p>
        </p:txBody>
      </p:sp>
    </p:spTree>
    <p:extLst>
      <p:ext uri="{BB962C8B-B14F-4D97-AF65-F5344CB8AC3E}">
        <p14:creationId xmlns:p14="http://schemas.microsoft.com/office/powerpoint/2010/main" val="32966765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B5738-EA1C-DF6D-5EB5-38084FA59418}"/>
              </a:ext>
            </a:extLst>
          </p:cNvPr>
          <p:cNvSpPr>
            <a:spLocks noGrp="1"/>
          </p:cNvSpPr>
          <p:nvPr>
            <p:ph type="title"/>
          </p:nvPr>
        </p:nvSpPr>
        <p:spPr/>
        <p:txBody>
          <a:bodyPr/>
          <a:lstStyle/>
          <a:p>
            <a:r>
              <a:rPr lang="en-IN" dirty="0"/>
              <a:t>Server types</a:t>
            </a:r>
          </a:p>
        </p:txBody>
      </p:sp>
      <p:sp>
        <p:nvSpPr>
          <p:cNvPr id="3" name="Slide Number Placeholder 2">
            <a:extLst>
              <a:ext uri="{FF2B5EF4-FFF2-40B4-BE49-F238E27FC236}">
                <a16:creationId xmlns:a16="http://schemas.microsoft.com/office/drawing/2014/main" id="{7EC2D296-426F-9D72-2C8D-E332C85D82BC}"/>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pic>
        <p:nvPicPr>
          <p:cNvPr id="6" name="Content Placeholder 5">
            <a:extLst>
              <a:ext uri="{FF2B5EF4-FFF2-40B4-BE49-F238E27FC236}">
                <a16:creationId xmlns:a16="http://schemas.microsoft.com/office/drawing/2014/main" id="{A00CCFC8-3501-ACE9-9696-6C263E024356}"/>
              </a:ext>
            </a:extLst>
          </p:cNvPr>
          <p:cNvPicPr>
            <a:picLocks noGrp="1" noChangeAspect="1"/>
          </p:cNvPicPr>
          <p:nvPr>
            <p:ph idx="1"/>
          </p:nvPr>
        </p:nvPicPr>
        <p:blipFill>
          <a:blip r:embed="rId2"/>
          <a:stretch>
            <a:fillRect/>
          </a:stretch>
        </p:blipFill>
        <p:spPr>
          <a:xfrm>
            <a:off x="1136958" y="2502441"/>
            <a:ext cx="9918083" cy="2388649"/>
          </a:xfrm>
        </p:spPr>
      </p:pic>
    </p:spTree>
    <p:extLst>
      <p:ext uri="{BB962C8B-B14F-4D97-AF65-F5344CB8AC3E}">
        <p14:creationId xmlns:p14="http://schemas.microsoft.com/office/powerpoint/2010/main" val="31800732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A50EB-F04D-8753-0568-163AB3DF752C}"/>
              </a:ext>
            </a:extLst>
          </p:cNvPr>
          <p:cNvSpPr>
            <a:spLocks noGrp="1"/>
          </p:cNvSpPr>
          <p:nvPr>
            <p:ph type="title"/>
          </p:nvPr>
        </p:nvSpPr>
        <p:spPr/>
        <p:txBody>
          <a:bodyPr/>
          <a:lstStyle/>
          <a:p>
            <a:r>
              <a:rPr lang="en-IN" dirty="0"/>
              <a:t>Connectionless iterative server</a:t>
            </a:r>
          </a:p>
        </p:txBody>
      </p:sp>
      <p:sp>
        <p:nvSpPr>
          <p:cNvPr id="3" name="Slide Number Placeholder 2">
            <a:extLst>
              <a:ext uri="{FF2B5EF4-FFF2-40B4-BE49-F238E27FC236}">
                <a16:creationId xmlns:a16="http://schemas.microsoft.com/office/drawing/2014/main" id="{44B15DE5-A1B7-7B3A-6B0C-F10236FA9CFA}"/>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pic>
        <p:nvPicPr>
          <p:cNvPr id="6" name="Content Placeholder 5">
            <a:extLst>
              <a:ext uri="{FF2B5EF4-FFF2-40B4-BE49-F238E27FC236}">
                <a16:creationId xmlns:a16="http://schemas.microsoft.com/office/drawing/2014/main" id="{A0E61CA5-CF38-5DF7-19F9-9ADE194E45D2}"/>
              </a:ext>
            </a:extLst>
          </p:cNvPr>
          <p:cNvPicPr>
            <a:picLocks noGrp="1" noChangeAspect="1"/>
          </p:cNvPicPr>
          <p:nvPr>
            <p:ph idx="1"/>
          </p:nvPr>
        </p:nvPicPr>
        <p:blipFill>
          <a:blip r:embed="rId2"/>
          <a:stretch>
            <a:fillRect/>
          </a:stretch>
        </p:blipFill>
        <p:spPr>
          <a:xfrm>
            <a:off x="1663431" y="1525781"/>
            <a:ext cx="7081230" cy="4246735"/>
          </a:xfrm>
        </p:spPr>
      </p:pic>
    </p:spTree>
    <p:extLst>
      <p:ext uri="{BB962C8B-B14F-4D97-AF65-F5344CB8AC3E}">
        <p14:creationId xmlns:p14="http://schemas.microsoft.com/office/powerpoint/2010/main" val="22812706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B1B7-1CFB-4257-86A3-C6EBD8DBABEE}"/>
              </a:ext>
            </a:extLst>
          </p:cNvPr>
          <p:cNvSpPr>
            <a:spLocks noGrp="1"/>
          </p:cNvSpPr>
          <p:nvPr>
            <p:ph type="title"/>
          </p:nvPr>
        </p:nvSpPr>
        <p:spPr/>
        <p:txBody>
          <a:bodyPr/>
          <a:lstStyle/>
          <a:p>
            <a:r>
              <a:rPr lang="en-IN" dirty="0"/>
              <a:t>Connection-oriented concurrent server</a:t>
            </a:r>
          </a:p>
        </p:txBody>
      </p:sp>
      <p:sp>
        <p:nvSpPr>
          <p:cNvPr id="3" name="Slide Number Placeholder 2">
            <a:extLst>
              <a:ext uri="{FF2B5EF4-FFF2-40B4-BE49-F238E27FC236}">
                <a16:creationId xmlns:a16="http://schemas.microsoft.com/office/drawing/2014/main" id="{C47D12D0-D705-AA87-1F74-919D92BFF905}"/>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pic>
        <p:nvPicPr>
          <p:cNvPr id="6" name="Content Placeholder 5">
            <a:extLst>
              <a:ext uri="{FF2B5EF4-FFF2-40B4-BE49-F238E27FC236}">
                <a16:creationId xmlns:a16="http://schemas.microsoft.com/office/drawing/2014/main" id="{BDA83BB6-C254-5B64-0590-45979B9FAA74}"/>
              </a:ext>
            </a:extLst>
          </p:cNvPr>
          <p:cNvPicPr>
            <a:picLocks noGrp="1" noChangeAspect="1"/>
          </p:cNvPicPr>
          <p:nvPr>
            <p:ph idx="1"/>
          </p:nvPr>
        </p:nvPicPr>
        <p:blipFill>
          <a:blip r:embed="rId2"/>
          <a:stretch>
            <a:fillRect/>
          </a:stretch>
        </p:blipFill>
        <p:spPr>
          <a:xfrm>
            <a:off x="2247089" y="1581644"/>
            <a:ext cx="6804819" cy="4368748"/>
          </a:xfrm>
        </p:spPr>
      </p:pic>
    </p:spTree>
    <p:extLst>
      <p:ext uri="{BB962C8B-B14F-4D97-AF65-F5344CB8AC3E}">
        <p14:creationId xmlns:p14="http://schemas.microsoft.com/office/powerpoint/2010/main" val="1443050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3635-1CB4-AF6B-41E5-D6F484DC3D0A}"/>
              </a:ext>
            </a:extLst>
          </p:cNvPr>
          <p:cNvSpPr>
            <a:spLocks noGrp="1"/>
          </p:cNvSpPr>
          <p:nvPr>
            <p:ph type="title"/>
          </p:nvPr>
        </p:nvSpPr>
        <p:spPr/>
        <p:txBody>
          <a:bodyPr/>
          <a:lstStyle/>
          <a:p>
            <a:r>
              <a:rPr lang="en-IN" dirty="0"/>
              <a:t>Domain Name System (DNS)</a:t>
            </a:r>
          </a:p>
        </p:txBody>
      </p:sp>
      <p:sp>
        <p:nvSpPr>
          <p:cNvPr id="3" name="Slide Number Placeholder 2">
            <a:extLst>
              <a:ext uri="{FF2B5EF4-FFF2-40B4-BE49-F238E27FC236}">
                <a16:creationId xmlns:a16="http://schemas.microsoft.com/office/drawing/2014/main" id="{83683D2F-0508-1BA7-E9BA-98B2050F348E}"/>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Content Placeholder 3">
            <a:extLst>
              <a:ext uri="{FF2B5EF4-FFF2-40B4-BE49-F238E27FC236}">
                <a16:creationId xmlns:a16="http://schemas.microsoft.com/office/drawing/2014/main" id="{E4F48B90-3C60-B39D-0D70-D165A222BEC9}"/>
              </a:ext>
            </a:extLst>
          </p:cNvPr>
          <p:cNvSpPr>
            <a:spLocks noGrp="1"/>
          </p:cNvSpPr>
          <p:nvPr>
            <p:ph idx="1"/>
          </p:nvPr>
        </p:nvSpPr>
        <p:spPr>
          <a:xfrm>
            <a:off x="476681" y="1845081"/>
            <a:ext cx="10978719" cy="4040154"/>
          </a:xfrm>
        </p:spPr>
        <p:txBody>
          <a:bodyPr>
            <a:normAutofit lnSpcReduction="10000"/>
          </a:bodyPr>
          <a:lstStyle/>
          <a:p>
            <a:pPr algn="just">
              <a:lnSpc>
                <a:spcPct val="120000"/>
              </a:lnSpc>
            </a:pPr>
            <a:r>
              <a:rPr lang="en-US" dirty="0"/>
              <a:t>DNS is a client/server application program used to help other application programs. DNS is used to map a host name in the application layer to an IP address in the network layer.</a:t>
            </a:r>
          </a:p>
          <a:p>
            <a:pPr algn="just">
              <a:lnSpc>
                <a:spcPct val="120000"/>
              </a:lnSpc>
            </a:pPr>
            <a:r>
              <a:rPr lang="en-US" dirty="0"/>
              <a:t>To identify an entity, TCP/IP protocols use the IP address, which uniquely identifies the connection of a host to the Internet. However, people prefer to use names instead of numeric addresses. Therefore, we need a system that can map a name to an address or an address to a name.</a:t>
            </a:r>
            <a:endParaRPr lang="en-IN" dirty="0"/>
          </a:p>
        </p:txBody>
      </p:sp>
    </p:spTree>
    <p:extLst>
      <p:ext uri="{BB962C8B-B14F-4D97-AF65-F5344CB8AC3E}">
        <p14:creationId xmlns:p14="http://schemas.microsoft.com/office/powerpoint/2010/main" val="21811665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3B83E9E-B2B5-DCA7-FBE2-D85658D09651}"/>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pic>
        <p:nvPicPr>
          <p:cNvPr id="5" name="Picture 4">
            <a:extLst>
              <a:ext uri="{FF2B5EF4-FFF2-40B4-BE49-F238E27FC236}">
                <a16:creationId xmlns:a16="http://schemas.microsoft.com/office/drawing/2014/main" id="{319F05F8-3075-4C2A-A2CA-1DDCF290DF6A}"/>
              </a:ext>
            </a:extLst>
          </p:cNvPr>
          <p:cNvPicPr>
            <a:picLocks noChangeAspect="1"/>
          </p:cNvPicPr>
          <p:nvPr/>
        </p:nvPicPr>
        <p:blipFill rotWithShape="1">
          <a:blip r:embed="rId2"/>
          <a:srcRect l="2304" r="2641"/>
          <a:stretch/>
        </p:blipFill>
        <p:spPr>
          <a:xfrm>
            <a:off x="140902" y="732195"/>
            <a:ext cx="11929560" cy="5582880"/>
          </a:xfrm>
          <a:prstGeom prst="rect">
            <a:avLst/>
          </a:prstGeom>
        </p:spPr>
      </p:pic>
    </p:spTree>
    <p:extLst>
      <p:ext uri="{BB962C8B-B14F-4D97-AF65-F5344CB8AC3E}">
        <p14:creationId xmlns:p14="http://schemas.microsoft.com/office/powerpoint/2010/main" val="38190432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Explanation of given example in previous slide</a:t>
            </a: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Content Placeholder 3"/>
          <p:cNvSpPr>
            <a:spLocks noGrp="1"/>
          </p:cNvSpPr>
          <p:nvPr>
            <p:ph idx="1"/>
          </p:nvPr>
        </p:nvSpPr>
        <p:spPr>
          <a:xfrm>
            <a:off x="443365" y="1521096"/>
            <a:ext cx="11215235" cy="4625180"/>
          </a:xfrm>
        </p:spPr>
        <p:txBody>
          <a:bodyPr>
            <a:noAutofit/>
          </a:bodyPr>
          <a:lstStyle/>
          <a:p>
            <a:pPr algn="just"/>
            <a:r>
              <a:rPr lang="en-US" sz="2000" dirty="0"/>
              <a:t>A user wants to use a file transfer client to access the corresponding file transfer server running on a remote host. The user knows only the file transfer server name, such as forouzan.com. However, the TCP/IP suite needs the IP address of the file transfer server to make the connection. The following six steps map the host name to an IP address.</a:t>
            </a:r>
          </a:p>
          <a:p>
            <a:pPr marL="514350" indent="-514350" algn="just">
              <a:buAutoNum type="arabicPeriod"/>
            </a:pPr>
            <a:r>
              <a:rPr lang="en-US" sz="2000" dirty="0"/>
              <a:t>The user passes the host name to the file transfer client. </a:t>
            </a:r>
          </a:p>
          <a:p>
            <a:pPr marL="514350" indent="-514350" algn="just">
              <a:buAutoNum type="arabicPeriod"/>
            </a:pPr>
            <a:r>
              <a:rPr lang="en-US" sz="2000" dirty="0"/>
              <a:t>The file transfer client passes the host name to the DNS client.</a:t>
            </a:r>
          </a:p>
          <a:p>
            <a:pPr marL="514350" indent="-514350" algn="just">
              <a:buAutoNum type="arabicPeriod"/>
            </a:pPr>
            <a:r>
              <a:rPr lang="en-US" sz="2000" dirty="0"/>
              <a:t>We know </a:t>
            </a:r>
            <a:r>
              <a:rPr lang="en-US" sz="2000" dirty="0" smtClean="0"/>
              <a:t>that each </a:t>
            </a:r>
            <a:r>
              <a:rPr lang="en-US" sz="2000" dirty="0"/>
              <a:t>computer, after being booted, knows the address of one DNS server. The DNS client sends a message to a DNS server with a query that gives the file transfer server name using the known IP address of the DNS server. </a:t>
            </a:r>
          </a:p>
          <a:p>
            <a:pPr marL="514350" indent="-514350" algn="just">
              <a:buAutoNum type="arabicPeriod"/>
            </a:pPr>
            <a:r>
              <a:rPr lang="en-US" sz="2000" dirty="0"/>
              <a:t>The DNS server responds with the IP address of the desired file transfer server. </a:t>
            </a:r>
          </a:p>
          <a:p>
            <a:pPr marL="514350" indent="-514350" algn="just">
              <a:buAutoNum type="arabicPeriod"/>
            </a:pPr>
            <a:r>
              <a:rPr lang="en-US" sz="2000" dirty="0"/>
              <a:t>The DNS client passes the IP address to the file transfer server. </a:t>
            </a:r>
          </a:p>
          <a:p>
            <a:pPr marL="514350" indent="-514350" algn="just">
              <a:buAutoNum type="arabicPeriod"/>
            </a:pPr>
            <a:r>
              <a:rPr lang="en-US" sz="2000" dirty="0"/>
              <a:t>The file transfer client now uses the received IP address to access the file transfer </a:t>
            </a:r>
            <a:r>
              <a:rPr lang="en-US" sz="2000" dirty="0" smtClean="0"/>
              <a:t>server</a:t>
            </a:r>
            <a:endParaRPr lang="en-IN" sz="2000" dirty="0"/>
          </a:p>
        </p:txBody>
      </p:sp>
    </p:spTree>
    <p:extLst>
      <p:ext uri="{BB962C8B-B14F-4D97-AF65-F5344CB8AC3E}">
        <p14:creationId xmlns:p14="http://schemas.microsoft.com/office/powerpoint/2010/main" val="30845112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BC9C9-0FE2-9AF4-8959-19F288D25DE6}"/>
              </a:ext>
            </a:extLst>
          </p:cNvPr>
          <p:cNvSpPr>
            <a:spLocks noGrp="1"/>
          </p:cNvSpPr>
          <p:nvPr>
            <p:ph type="title"/>
          </p:nvPr>
        </p:nvSpPr>
        <p:spPr/>
        <p:txBody>
          <a:bodyPr/>
          <a:lstStyle/>
          <a:p>
            <a:r>
              <a:rPr lang="en-IN" dirty="0"/>
              <a:t>Name Space</a:t>
            </a:r>
          </a:p>
        </p:txBody>
      </p:sp>
      <p:sp>
        <p:nvSpPr>
          <p:cNvPr id="3" name="Slide Number Placeholder 2">
            <a:extLst>
              <a:ext uri="{FF2B5EF4-FFF2-40B4-BE49-F238E27FC236}">
                <a16:creationId xmlns:a16="http://schemas.microsoft.com/office/drawing/2014/main" id="{A0EB1BCB-EF87-2698-253F-94D7A0EC0FAC}"/>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Content Placeholder 3">
            <a:extLst>
              <a:ext uri="{FF2B5EF4-FFF2-40B4-BE49-F238E27FC236}">
                <a16:creationId xmlns:a16="http://schemas.microsoft.com/office/drawing/2014/main" id="{AD51BF13-C356-35E8-FE6C-671DFFAFDCAB}"/>
              </a:ext>
            </a:extLst>
          </p:cNvPr>
          <p:cNvSpPr>
            <a:spLocks noGrp="1"/>
          </p:cNvSpPr>
          <p:nvPr>
            <p:ph idx="1"/>
          </p:nvPr>
        </p:nvSpPr>
        <p:spPr>
          <a:xfrm>
            <a:off x="443365" y="1517515"/>
            <a:ext cx="11215235" cy="4797560"/>
          </a:xfrm>
        </p:spPr>
        <p:txBody>
          <a:bodyPr>
            <a:normAutofit fontScale="92500" lnSpcReduction="10000"/>
          </a:bodyPr>
          <a:lstStyle/>
          <a:p>
            <a:pPr algn="just">
              <a:lnSpc>
                <a:spcPct val="120000"/>
              </a:lnSpc>
            </a:pPr>
            <a:r>
              <a:rPr lang="en-US" sz="2400" dirty="0"/>
              <a:t>The names must be unique because the addresses are unique. A name space that maps each address to a unique name can be organized in two ways: flat or hierarchical.</a:t>
            </a:r>
          </a:p>
          <a:p>
            <a:pPr algn="just">
              <a:lnSpc>
                <a:spcPct val="120000"/>
              </a:lnSpc>
            </a:pPr>
            <a:r>
              <a:rPr lang="en-IN" sz="2400" dirty="0"/>
              <a:t>Flat Name Space</a:t>
            </a:r>
            <a:r>
              <a:rPr lang="en-US" sz="2400" dirty="0"/>
              <a:t>:</a:t>
            </a:r>
          </a:p>
          <a:p>
            <a:pPr lvl="1" algn="just">
              <a:lnSpc>
                <a:spcPct val="120000"/>
              </a:lnSpc>
            </a:pPr>
            <a:r>
              <a:rPr lang="en-US" sz="1800" dirty="0"/>
              <a:t>In a flat name space, a name is assigned to an address. A name in this space is a sequence of characters without structure. The names may or may not have a common section; if they do, it has no meaning. The main disadvantage of a flat name space is that it cannot be used in a large system such as the Internet because it must be centrally controlled to avoid ambiguity and duplication.</a:t>
            </a:r>
          </a:p>
          <a:p>
            <a:pPr algn="just">
              <a:lnSpc>
                <a:spcPct val="120000"/>
              </a:lnSpc>
            </a:pPr>
            <a:r>
              <a:rPr lang="en-IN" sz="2400" dirty="0"/>
              <a:t>Hierarchical Name Space:</a:t>
            </a:r>
          </a:p>
          <a:p>
            <a:pPr lvl="1" algn="just">
              <a:lnSpc>
                <a:spcPct val="120000"/>
              </a:lnSpc>
            </a:pPr>
            <a:r>
              <a:rPr lang="en-US" sz="1800" dirty="0"/>
              <a:t>In a hierarchical name space, each name is made of several parts. The first part can define the nature of the organization, the second part can define the name of an organization, the third part can define departments in the organization, and so on. In this case, the authority to assign and control the name spaces can be decentralized. A central authority can assign the part of the name that defines the nature of the organization and the name of the organization. </a:t>
            </a:r>
            <a:endParaRPr lang="en-IN" sz="1800" dirty="0"/>
          </a:p>
        </p:txBody>
      </p:sp>
    </p:spTree>
    <p:extLst>
      <p:ext uri="{BB962C8B-B14F-4D97-AF65-F5344CB8AC3E}">
        <p14:creationId xmlns:p14="http://schemas.microsoft.com/office/powerpoint/2010/main" val="16303034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9737-8CFC-A9A8-AED4-E0090D39A591}"/>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F951E600-6AF7-102A-13A2-3B8709F51382}"/>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Content Placeholder 3">
            <a:extLst>
              <a:ext uri="{FF2B5EF4-FFF2-40B4-BE49-F238E27FC236}">
                <a16:creationId xmlns:a16="http://schemas.microsoft.com/office/drawing/2014/main" id="{DBB09B88-644D-8519-6134-F81A8270DBDE}"/>
              </a:ext>
            </a:extLst>
          </p:cNvPr>
          <p:cNvSpPr>
            <a:spLocks noGrp="1"/>
          </p:cNvSpPr>
          <p:nvPr>
            <p:ph idx="1"/>
          </p:nvPr>
        </p:nvSpPr>
        <p:spPr>
          <a:xfrm>
            <a:off x="675640" y="5032985"/>
            <a:ext cx="10840719" cy="1040693"/>
          </a:xfrm>
        </p:spPr>
        <p:txBody>
          <a:bodyPr>
            <a:normAutofit lnSpcReduction="10000"/>
          </a:bodyPr>
          <a:lstStyle/>
          <a:p>
            <a:r>
              <a:rPr lang="en-US" sz="2400" dirty="0"/>
              <a:t>To have a hierarchical name space, a domain name space was designed. In this design the names are defined in an inverted-tree structure with the root at the top. The tree can have only 128 levels: level 0 (root) to level 127.</a:t>
            </a:r>
            <a:endParaRPr lang="en-IN" sz="2400" dirty="0"/>
          </a:p>
        </p:txBody>
      </p:sp>
      <p:pic>
        <p:nvPicPr>
          <p:cNvPr id="6" name="Picture 5">
            <a:extLst>
              <a:ext uri="{FF2B5EF4-FFF2-40B4-BE49-F238E27FC236}">
                <a16:creationId xmlns:a16="http://schemas.microsoft.com/office/drawing/2014/main" id="{B44AABAF-43CB-E13C-7C44-A90F99F217C4}"/>
              </a:ext>
            </a:extLst>
          </p:cNvPr>
          <p:cNvPicPr>
            <a:picLocks noChangeAspect="1"/>
          </p:cNvPicPr>
          <p:nvPr/>
        </p:nvPicPr>
        <p:blipFill>
          <a:blip r:embed="rId2"/>
          <a:stretch>
            <a:fillRect/>
          </a:stretch>
        </p:blipFill>
        <p:spPr>
          <a:xfrm>
            <a:off x="2817709" y="1444557"/>
            <a:ext cx="7071690" cy="3348787"/>
          </a:xfrm>
          <a:prstGeom prst="rect">
            <a:avLst/>
          </a:prstGeom>
        </p:spPr>
      </p:pic>
    </p:spTree>
    <p:extLst>
      <p:ext uri="{BB962C8B-B14F-4D97-AF65-F5344CB8AC3E}">
        <p14:creationId xmlns:p14="http://schemas.microsoft.com/office/powerpoint/2010/main" val="25228441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BE7FE-32AA-19C9-0F36-841082684059}"/>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FD8CFE37-2731-82D9-12A9-B2C5CA21DFC9}"/>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Content Placeholder 3">
            <a:extLst>
              <a:ext uri="{FF2B5EF4-FFF2-40B4-BE49-F238E27FC236}">
                <a16:creationId xmlns:a16="http://schemas.microsoft.com/office/drawing/2014/main" id="{5A92F6E0-7CF7-6E85-6CF0-2F4A42748764}"/>
              </a:ext>
            </a:extLst>
          </p:cNvPr>
          <p:cNvSpPr>
            <a:spLocks noGrp="1"/>
          </p:cNvSpPr>
          <p:nvPr>
            <p:ph idx="1"/>
          </p:nvPr>
        </p:nvSpPr>
        <p:spPr/>
        <p:txBody>
          <a:bodyPr/>
          <a:lstStyle/>
          <a:p>
            <a:r>
              <a:rPr lang="en-IN" sz="3200" b="1" dirty="0"/>
              <a:t>Label:</a:t>
            </a:r>
          </a:p>
          <a:p>
            <a:pPr marL="0" indent="0">
              <a:buNone/>
            </a:pPr>
            <a:r>
              <a:rPr lang="en-US" dirty="0"/>
              <a:t>Each node in the tree has a label, which is a string with a maximum of 63 characters. The root label is a null string (empty string). DNS requires that children of a node (nodes that branch from the same node) have different labels, which guarantees the uniqueness of the domain names.</a:t>
            </a:r>
            <a:endParaRPr lang="en-IN" dirty="0"/>
          </a:p>
        </p:txBody>
      </p:sp>
    </p:spTree>
    <p:extLst>
      <p:ext uri="{BB962C8B-B14F-4D97-AF65-F5344CB8AC3E}">
        <p14:creationId xmlns:p14="http://schemas.microsoft.com/office/powerpoint/2010/main" val="24099482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1DC58-FDDC-9AE3-44ED-B6C6E6A3CF57}"/>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7CEBC65A-339B-A38A-E7A5-7D8C67199B73}"/>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Content Placeholder 3">
            <a:extLst>
              <a:ext uri="{FF2B5EF4-FFF2-40B4-BE49-F238E27FC236}">
                <a16:creationId xmlns:a16="http://schemas.microsoft.com/office/drawing/2014/main" id="{C5782494-60E8-015C-15FA-D1BA07396123}"/>
              </a:ext>
            </a:extLst>
          </p:cNvPr>
          <p:cNvSpPr>
            <a:spLocks noGrp="1"/>
          </p:cNvSpPr>
          <p:nvPr>
            <p:ph idx="1"/>
          </p:nvPr>
        </p:nvSpPr>
        <p:spPr>
          <a:xfrm>
            <a:off x="443366" y="1825625"/>
            <a:ext cx="6161716" cy="4351338"/>
          </a:xfrm>
        </p:spPr>
        <p:txBody>
          <a:bodyPr>
            <a:normAutofit fontScale="92500" lnSpcReduction="20000"/>
          </a:bodyPr>
          <a:lstStyle/>
          <a:p>
            <a:pPr algn="just"/>
            <a:r>
              <a:rPr lang="en-IN" sz="3200" dirty="0"/>
              <a:t>Domain Name:</a:t>
            </a:r>
          </a:p>
          <a:p>
            <a:pPr algn="just"/>
            <a:r>
              <a:rPr lang="en-US" dirty="0"/>
              <a:t>Each node in the tree has a domain name. </a:t>
            </a:r>
            <a:endParaRPr lang="en-US" dirty="0" smtClean="0"/>
          </a:p>
          <a:p>
            <a:pPr algn="just"/>
            <a:r>
              <a:rPr lang="en-US" dirty="0" smtClean="0"/>
              <a:t>A </a:t>
            </a:r>
            <a:r>
              <a:rPr lang="en-US" dirty="0"/>
              <a:t>full domain name is a sequence of labels separated by dots (.). </a:t>
            </a:r>
            <a:endParaRPr lang="en-US" dirty="0" smtClean="0"/>
          </a:p>
          <a:p>
            <a:pPr algn="just"/>
            <a:r>
              <a:rPr lang="en-US" dirty="0" smtClean="0"/>
              <a:t>The </a:t>
            </a:r>
            <a:r>
              <a:rPr lang="en-US" dirty="0"/>
              <a:t>domain names are always read from the node up to the root. The last label is the label of the root (null). </a:t>
            </a:r>
            <a:endParaRPr lang="en-US" dirty="0" smtClean="0"/>
          </a:p>
          <a:p>
            <a:pPr algn="just"/>
            <a:r>
              <a:rPr lang="en-US" dirty="0" smtClean="0"/>
              <a:t>This </a:t>
            </a:r>
            <a:r>
              <a:rPr lang="en-US" dirty="0"/>
              <a:t>means that a full domain name always ends in a null label, which means the last character is a dot because the null string is nothing. </a:t>
            </a:r>
            <a:endParaRPr lang="en-IN" dirty="0"/>
          </a:p>
        </p:txBody>
      </p:sp>
      <p:pic>
        <p:nvPicPr>
          <p:cNvPr id="6" name="Picture 5">
            <a:extLst>
              <a:ext uri="{FF2B5EF4-FFF2-40B4-BE49-F238E27FC236}">
                <a16:creationId xmlns:a16="http://schemas.microsoft.com/office/drawing/2014/main" id="{113820FC-71FC-C565-65A7-5C233B8BA266}"/>
              </a:ext>
            </a:extLst>
          </p:cNvPr>
          <p:cNvPicPr>
            <a:picLocks noChangeAspect="1"/>
          </p:cNvPicPr>
          <p:nvPr/>
        </p:nvPicPr>
        <p:blipFill>
          <a:blip r:embed="rId2"/>
          <a:stretch>
            <a:fillRect/>
          </a:stretch>
        </p:blipFill>
        <p:spPr>
          <a:xfrm>
            <a:off x="7014819" y="2295728"/>
            <a:ext cx="4982608" cy="3231741"/>
          </a:xfrm>
          <a:prstGeom prst="rect">
            <a:avLst/>
          </a:prstGeom>
        </p:spPr>
      </p:pic>
    </p:spTree>
    <p:extLst>
      <p:ext uri="{BB962C8B-B14F-4D97-AF65-F5344CB8AC3E}">
        <p14:creationId xmlns:p14="http://schemas.microsoft.com/office/powerpoint/2010/main" val="14795420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E41D7-98B1-D7AA-BF33-3DCBD098F944}"/>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9061BCF9-325E-8FFF-872D-6E3ACCC00912}"/>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Content Placeholder 3">
            <a:extLst>
              <a:ext uri="{FF2B5EF4-FFF2-40B4-BE49-F238E27FC236}">
                <a16:creationId xmlns:a16="http://schemas.microsoft.com/office/drawing/2014/main" id="{9BEC87DB-9911-374A-6962-F212DBF34830}"/>
              </a:ext>
            </a:extLst>
          </p:cNvPr>
          <p:cNvSpPr>
            <a:spLocks noGrp="1"/>
          </p:cNvSpPr>
          <p:nvPr>
            <p:ph idx="1"/>
          </p:nvPr>
        </p:nvSpPr>
        <p:spPr/>
        <p:txBody>
          <a:bodyPr/>
          <a:lstStyle/>
          <a:p>
            <a:pPr algn="just"/>
            <a:r>
              <a:rPr lang="en-US" dirty="0"/>
              <a:t>Fully Qualified Domain Name (FQDN):</a:t>
            </a:r>
          </a:p>
          <a:p>
            <a:pPr marL="0" indent="0" algn="just">
              <a:buNone/>
            </a:pPr>
            <a:r>
              <a:rPr lang="en-US" dirty="0"/>
              <a:t>If a label is terminated by a null string, it is called a fully qualified domain name (FQDN). An FQDN is a domain name that contains the full name of a host. It contains all labels, from the most specific to the most general, that uniquely define the name of the host. For example, the domain name is the FQDN of a computer named challenger installed at the Advanced Technology Center (ATC) at De Anza College. A DNS server can only match an FQDN to an address. Note that the name must end with a null label, but because null means nothing, the label ends with a dot (.).</a:t>
            </a:r>
            <a:endParaRPr lang="en-IN" dirty="0"/>
          </a:p>
        </p:txBody>
      </p:sp>
    </p:spTree>
    <p:extLst>
      <p:ext uri="{BB962C8B-B14F-4D97-AF65-F5344CB8AC3E}">
        <p14:creationId xmlns:p14="http://schemas.microsoft.com/office/powerpoint/2010/main" val="11369326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78454-DCE9-0896-35B6-5BFC84F4CEC4}"/>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8ABC25E6-2254-3189-3E7E-7F6931FBAF79}"/>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sp>
        <p:nvSpPr>
          <p:cNvPr id="4" name="Content Placeholder 3">
            <a:extLst>
              <a:ext uri="{FF2B5EF4-FFF2-40B4-BE49-F238E27FC236}">
                <a16:creationId xmlns:a16="http://schemas.microsoft.com/office/drawing/2014/main" id="{1F972B32-A5B9-4189-5909-44117F45B88C}"/>
              </a:ext>
            </a:extLst>
          </p:cNvPr>
          <p:cNvSpPr>
            <a:spLocks noGrp="1"/>
          </p:cNvSpPr>
          <p:nvPr>
            <p:ph idx="1"/>
          </p:nvPr>
        </p:nvSpPr>
        <p:spPr/>
        <p:txBody>
          <a:bodyPr/>
          <a:lstStyle/>
          <a:p>
            <a:pPr algn="just"/>
            <a:r>
              <a:rPr lang="en-US" dirty="0"/>
              <a:t>Partially Qualified Domain Name (PQDN):</a:t>
            </a:r>
          </a:p>
          <a:p>
            <a:pPr marL="0" indent="0" algn="just">
              <a:buNone/>
            </a:pPr>
            <a:r>
              <a:rPr lang="en-US" dirty="0"/>
              <a:t> If a label is not terminated by a null string, it is called a partially qualified domain name (PQDN). A PQDN starts from a node, but it does not reach the root. It is used when the name to be resolved belongs to the same site as the client. Here the resolver can supply the missing part, called the suffix, to create an FQDN. For example, if a user at the fhda.edu. site wants to get the IP address of the challenger computer, he or she can define the partial name</a:t>
            </a:r>
            <a:endParaRPr lang="en-IN" dirty="0"/>
          </a:p>
        </p:txBody>
      </p:sp>
    </p:spTree>
    <p:extLst>
      <p:ext uri="{BB962C8B-B14F-4D97-AF65-F5344CB8AC3E}">
        <p14:creationId xmlns:p14="http://schemas.microsoft.com/office/powerpoint/2010/main" val="26395999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E0B8-0BE4-6103-42E8-0125B1D243CC}"/>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F9183075-F62C-4002-3815-6DAA9D4C880C}"/>
              </a:ext>
            </a:extLst>
          </p:cNvPr>
          <p:cNvSpPr>
            <a:spLocks noGrp="1"/>
          </p:cNvSpPr>
          <p:nvPr>
            <p:ph type="sldNum" sz="quarter" idx="12"/>
          </p:nvPr>
        </p:nvSpPr>
        <p:spPr/>
        <p:txBody>
          <a:bodyPr/>
          <a:lstStyle/>
          <a:p>
            <a:fld id="{C263D6C4-4840-40CC-AC84-17E24B3B7BDE}" type="slidenum">
              <a:rPr lang="en-US" noProof="0" smtClean="0"/>
              <a:pPr/>
              <a:t>17</a:t>
            </a:fld>
            <a:endParaRPr lang="en-US" noProof="0" dirty="0"/>
          </a:p>
        </p:txBody>
      </p:sp>
      <p:sp>
        <p:nvSpPr>
          <p:cNvPr id="4" name="Content Placeholder 3">
            <a:extLst>
              <a:ext uri="{FF2B5EF4-FFF2-40B4-BE49-F238E27FC236}">
                <a16:creationId xmlns:a16="http://schemas.microsoft.com/office/drawing/2014/main" id="{9F7DDC9D-FF32-C989-078B-931F7AB8A346}"/>
              </a:ext>
            </a:extLst>
          </p:cNvPr>
          <p:cNvSpPr>
            <a:spLocks noGrp="1"/>
          </p:cNvSpPr>
          <p:nvPr>
            <p:ph idx="1"/>
          </p:nvPr>
        </p:nvSpPr>
        <p:spPr>
          <a:xfrm>
            <a:off x="443365" y="1825625"/>
            <a:ext cx="5276499" cy="4351338"/>
          </a:xfrm>
        </p:spPr>
        <p:txBody>
          <a:bodyPr>
            <a:normAutofit/>
          </a:bodyPr>
          <a:lstStyle/>
          <a:p>
            <a:pPr algn="just"/>
            <a:r>
              <a:rPr lang="en-IN" dirty="0"/>
              <a:t>Domain:</a:t>
            </a:r>
          </a:p>
          <a:p>
            <a:pPr marL="0" indent="0" algn="just">
              <a:buNone/>
            </a:pPr>
            <a:r>
              <a:rPr lang="en-US" dirty="0"/>
              <a:t>A domain is a subtree of the domain name space. The name of the domain is the name of the node at the top of the subtree. </a:t>
            </a:r>
            <a:r>
              <a:rPr lang="en-US" dirty="0" smtClean="0"/>
              <a:t>Figure </a:t>
            </a:r>
            <a:r>
              <a:rPr lang="en-US" dirty="0"/>
              <a:t>shows some domains. Note that a domain may itself be divided into domains (or subdomains as they are sometimes called). </a:t>
            </a:r>
            <a:endParaRPr lang="en-IN" dirty="0"/>
          </a:p>
        </p:txBody>
      </p:sp>
      <p:pic>
        <p:nvPicPr>
          <p:cNvPr id="6" name="Picture 5">
            <a:extLst>
              <a:ext uri="{FF2B5EF4-FFF2-40B4-BE49-F238E27FC236}">
                <a16:creationId xmlns:a16="http://schemas.microsoft.com/office/drawing/2014/main" id="{93200F4D-294C-2D00-5F25-610B5961CE91}"/>
              </a:ext>
            </a:extLst>
          </p:cNvPr>
          <p:cNvPicPr>
            <a:picLocks noChangeAspect="1"/>
          </p:cNvPicPr>
          <p:nvPr/>
        </p:nvPicPr>
        <p:blipFill rotWithShape="1">
          <a:blip r:embed="rId2"/>
          <a:srcRect l="9645" r="14374"/>
          <a:stretch/>
        </p:blipFill>
        <p:spPr>
          <a:xfrm>
            <a:off x="6021745" y="2268939"/>
            <a:ext cx="5726890" cy="3531379"/>
          </a:xfrm>
          <a:prstGeom prst="rect">
            <a:avLst/>
          </a:prstGeom>
        </p:spPr>
      </p:pic>
    </p:spTree>
    <p:extLst>
      <p:ext uri="{BB962C8B-B14F-4D97-AF65-F5344CB8AC3E}">
        <p14:creationId xmlns:p14="http://schemas.microsoft.com/office/powerpoint/2010/main" val="640342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20AD-CE8B-8F3B-2C39-08D3642BE489}"/>
              </a:ext>
            </a:extLst>
          </p:cNvPr>
          <p:cNvSpPr>
            <a:spLocks noGrp="1"/>
          </p:cNvSpPr>
          <p:nvPr>
            <p:ph type="title"/>
          </p:nvPr>
        </p:nvSpPr>
        <p:spPr/>
        <p:txBody>
          <a:bodyPr/>
          <a:lstStyle/>
          <a:p>
            <a:r>
              <a:rPr lang="en-IN" dirty="0"/>
              <a:t>Domain Name Space</a:t>
            </a:r>
          </a:p>
        </p:txBody>
      </p:sp>
      <p:sp>
        <p:nvSpPr>
          <p:cNvPr id="3" name="Slide Number Placeholder 2">
            <a:extLst>
              <a:ext uri="{FF2B5EF4-FFF2-40B4-BE49-F238E27FC236}">
                <a16:creationId xmlns:a16="http://schemas.microsoft.com/office/drawing/2014/main" id="{8709A2BD-A851-B3C6-C4C1-54F89A98A992}"/>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
        <p:nvSpPr>
          <p:cNvPr id="4" name="Content Placeholder 3">
            <a:extLst>
              <a:ext uri="{FF2B5EF4-FFF2-40B4-BE49-F238E27FC236}">
                <a16:creationId xmlns:a16="http://schemas.microsoft.com/office/drawing/2014/main" id="{5F495B4D-3F0A-8F7C-DA50-2B7DAA9E04BB}"/>
              </a:ext>
            </a:extLst>
          </p:cNvPr>
          <p:cNvSpPr>
            <a:spLocks noGrp="1"/>
          </p:cNvSpPr>
          <p:nvPr>
            <p:ph idx="1"/>
          </p:nvPr>
        </p:nvSpPr>
        <p:spPr>
          <a:xfrm>
            <a:off x="443366" y="1825625"/>
            <a:ext cx="6239536" cy="4351338"/>
          </a:xfrm>
        </p:spPr>
        <p:txBody>
          <a:bodyPr>
            <a:normAutofit fontScale="62500" lnSpcReduction="20000"/>
          </a:bodyPr>
          <a:lstStyle/>
          <a:p>
            <a:pPr algn="just">
              <a:lnSpc>
                <a:spcPct val="120000"/>
              </a:lnSpc>
            </a:pPr>
            <a:r>
              <a:rPr lang="en-IN" sz="4500" b="1" dirty="0"/>
              <a:t>Zone:</a:t>
            </a:r>
          </a:p>
          <a:p>
            <a:pPr marL="0" indent="0" algn="just">
              <a:lnSpc>
                <a:spcPct val="120000"/>
              </a:lnSpc>
              <a:buNone/>
            </a:pPr>
            <a:r>
              <a:rPr lang="en-US" dirty="0"/>
              <a:t>Since the complete domain name hierarchy cannot be stored on a single server, it is divided among many servers. What a server is responsible for or has authority over is called a zone. We can define a zone as a contiguous part of the entire tree. If a server accepts responsibility for a domain and does not divide the domain into smaller domains, the “domain” and the “zone” refer to the same thing. The server makes a database called a zone file and keeps all the information for every node under that domain. However, if a server divides its domain into subdomains and delegates part of its authority to other servers, “domain” and “zone” refer to different things. </a:t>
            </a:r>
            <a:endParaRPr lang="en-IN" dirty="0"/>
          </a:p>
        </p:txBody>
      </p:sp>
      <p:pic>
        <p:nvPicPr>
          <p:cNvPr id="6" name="Picture 5">
            <a:extLst>
              <a:ext uri="{FF2B5EF4-FFF2-40B4-BE49-F238E27FC236}">
                <a16:creationId xmlns:a16="http://schemas.microsoft.com/office/drawing/2014/main" id="{7A06DF3C-8DB4-DF7D-1DFB-4506D0E0D0FB}"/>
              </a:ext>
            </a:extLst>
          </p:cNvPr>
          <p:cNvPicPr>
            <a:picLocks noChangeAspect="1"/>
          </p:cNvPicPr>
          <p:nvPr/>
        </p:nvPicPr>
        <p:blipFill>
          <a:blip r:embed="rId2"/>
          <a:stretch>
            <a:fillRect/>
          </a:stretch>
        </p:blipFill>
        <p:spPr>
          <a:xfrm>
            <a:off x="7192546" y="2494396"/>
            <a:ext cx="4556088" cy="2826634"/>
          </a:xfrm>
          <a:prstGeom prst="rect">
            <a:avLst/>
          </a:prstGeom>
        </p:spPr>
      </p:pic>
    </p:spTree>
    <p:extLst>
      <p:ext uri="{BB962C8B-B14F-4D97-AF65-F5344CB8AC3E}">
        <p14:creationId xmlns:p14="http://schemas.microsoft.com/office/powerpoint/2010/main" val="42500045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16A1-02A0-7AF9-3B0D-61554D1EADB1}"/>
              </a:ext>
            </a:extLst>
          </p:cNvPr>
          <p:cNvSpPr>
            <a:spLocks noGrp="1"/>
          </p:cNvSpPr>
          <p:nvPr>
            <p:ph type="title"/>
          </p:nvPr>
        </p:nvSpPr>
        <p:spPr/>
        <p:txBody>
          <a:bodyPr/>
          <a:lstStyle/>
          <a:p>
            <a:r>
              <a:rPr lang="en-IN" dirty="0"/>
              <a:t>DNS in the Internet</a:t>
            </a:r>
          </a:p>
        </p:txBody>
      </p:sp>
      <p:sp>
        <p:nvSpPr>
          <p:cNvPr id="3" name="Slide Number Placeholder 2">
            <a:extLst>
              <a:ext uri="{FF2B5EF4-FFF2-40B4-BE49-F238E27FC236}">
                <a16:creationId xmlns:a16="http://schemas.microsoft.com/office/drawing/2014/main" id="{8E1C1CD4-B746-C2CC-907C-2508A4D4AEEF}"/>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
        <p:nvSpPr>
          <p:cNvPr id="4" name="Content Placeholder 3">
            <a:extLst>
              <a:ext uri="{FF2B5EF4-FFF2-40B4-BE49-F238E27FC236}">
                <a16:creationId xmlns:a16="http://schemas.microsoft.com/office/drawing/2014/main" id="{35A9612A-F55A-53C7-E184-70AAF9FC44A2}"/>
              </a:ext>
            </a:extLst>
          </p:cNvPr>
          <p:cNvSpPr>
            <a:spLocks noGrp="1"/>
          </p:cNvSpPr>
          <p:nvPr>
            <p:ph idx="1"/>
          </p:nvPr>
        </p:nvSpPr>
        <p:spPr>
          <a:xfrm>
            <a:off x="355816" y="1389062"/>
            <a:ext cx="11215235" cy="1603375"/>
          </a:xfrm>
        </p:spPr>
        <p:txBody>
          <a:bodyPr>
            <a:normAutofit/>
          </a:bodyPr>
          <a:lstStyle/>
          <a:p>
            <a:pPr algn="just"/>
            <a:r>
              <a:rPr lang="en-US" dirty="0"/>
              <a:t>DNS is a protocol that can be used in different platforms. In the Internet, the domain name space (tree) is divided into three different sections: generic domains, country domains, and the inverse domain </a:t>
            </a:r>
            <a:endParaRPr lang="en-IN" dirty="0"/>
          </a:p>
        </p:txBody>
      </p:sp>
      <p:pic>
        <p:nvPicPr>
          <p:cNvPr id="6" name="Picture 5">
            <a:extLst>
              <a:ext uri="{FF2B5EF4-FFF2-40B4-BE49-F238E27FC236}">
                <a16:creationId xmlns:a16="http://schemas.microsoft.com/office/drawing/2014/main" id="{F0ECB516-8EC7-ACCB-AAF1-C717D78F312C}"/>
              </a:ext>
            </a:extLst>
          </p:cNvPr>
          <p:cNvPicPr>
            <a:picLocks noChangeAspect="1"/>
          </p:cNvPicPr>
          <p:nvPr/>
        </p:nvPicPr>
        <p:blipFill>
          <a:blip r:embed="rId2"/>
          <a:stretch>
            <a:fillRect/>
          </a:stretch>
        </p:blipFill>
        <p:spPr>
          <a:xfrm>
            <a:off x="2254628" y="3093395"/>
            <a:ext cx="7417610" cy="2500009"/>
          </a:xfrm>
          <a:prstGeom prst="rect">
            <a:avLst/>
          </a:prstGeom>
        </p:spPr>
      </p:pic>
    </p:spTree>
    <p:extLst>
      <p:ext uri="{BB962C8B-B14F-4D97-AF65-F5344CB8AC3E}">
        <p14:creationId xmlns:p14="http://schemas.microsoft.com/office/powerpoint/2010/main" val="7842426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632C2-A6BB-D6B6-17DC-613D52CFA65C}"/>
              </a:ext>
            </a:extLst>
          </p:cNvPr>
          <p:cNvSpPr>
            <a:spLocks noGrp="1"/>
          </p:cNvSpPr>
          <p:nvPr>
            <p:ph type="title"/>
          </p:nvPr>
        </p:nvSpPr>
        <p:spPr/>
        <p:txBody>
          <a:bodyPr/>
          <a:lstStyle/>
          <a:p>
            <a:r>
              <a:rPr lang="en-IN" dirty="0"/>
              <a:t>Generic Domains</a:t>
            </a:r>
          </a:p>
        </p:txBody>
      </p:sp>
      <p:sp>
        <p:nvSpPr>
          <p:cNvPr id="3" name="Slide Number Placeholder 2">
            <a:extLst>
              <a:ext uri="{FF2B5EF4-FFF2-40B4-BE49-F238E27FC236}">
                <a16:creationId xmlns:a16="http://schemas.microsoft.com/office/drawing/2014/main" id="{5D1ED429-A3CA-4DDA-7641-1B0A9317FFE0}"/>
              </a:ext>
            </a:extLst>
          </p:cNvPr>
          <p:cNvSpPr>
            <a:spLocks noGrp="1"/>
          </p:cNvSpPr>
          <p:nvPr>
            <p:ph type="sldNum" sz="quarter" idx="12"/>
          </p:nvPr>
        </p:nvSpPr>
        <p:spPr/>
        <p:txBody>
          <a:bodyPr/>
          <a:lstStyle/>
          <a:p>
            <a:fld id="{C263D6C4-4840-40CC-AC84-17E24B3B7BDE}" type="slidenum">
              <a:rPr lang="en-US" noProof="0" smtClean="0"/>
              <a:pPr/>
              <a:t>20</a:t>
            </a:fld>
            <a:endParaRPr lang="en-US" noProof="0" dirty="0"/>
          </a:p>
        </p:txBody>
      </p:sp>
      <p:sp>
        <p:nvSpPr>
          <p:cNvPr id="4" name="Content Placeholder 3">
            <a:extLst>
              <a:ext uri="{FF2B5EF4-FFF2-40B4-BE49-F238E27FC236}">
                <a16:creationId xmlns:a16="http://schemas.microsoft.com/office/drawing/2014/main" id="{FA083F38-2F03-A69F-A373-6B63BFF10E6A}"/>
              </a:ext>
            </a:extLst>
          </p:cNvPr>
          <p:cNvSpPr>
            <a:spLocks noGrp="1"/>
          </p:cNvSpPr>
          <p:nvPr>
            <p:ph idx="1"/>
          </p:nvPr>
        </p:nvSpPr>
        <p:spPr>
          <a:xfrm>
            <a:off x="442230" y="1460500"/>
            <a:ext cx="11215235" cy="1049236"/>
          </a:xfrm>
        </p:spPr>
        <p:txBody>
          <a:bodyPr>
            <a:normAutofit fontScale="92500" lnSpcReduction="10000"/>
          </a:bodyPr>
          <a:lstStyle/>
          <a:p>
            <a:pPr algn="just"/>
            <a:r>
              <a:rPr lang="en-US" dirty="0"/>
              <a:t>The generic domains define registered hosts according to their generic behavior. Each node in the tree defines a domain, which is an index to the domain name space database. </a:t>
            </a:r>
            <a:r>
              <a:rPr lang="en-IN" dirty="0"/>
              <a:t>14 possible labels. </a:t>
            </a:r>
          </a:p>
        </p:txBody>
      </p:sp>
      <p:pic>
        <p:nvPicPr>
          <p:cNvPr id="6" name="Picture 5">
            <a:extLst>
              <a:ext uri="{FF2B5EF4-FFF2-40B4-BE49-F238E27FC236}">
                <a16:creationId xmlns:a16="http://schemas.microsoft.com/office/drawing/2014/main" id="{885E328F-A4A7-4CD4-4B23-0B60ED327035}"/>
              </a:ext>
            </a:extLst>
          </p:cNvPr>
          <p:cNvPicPr>
            <a:picLocks noChangeAspect="1"/>
          </p:cNvPicPr>
          <p:nvPr/>
        </p:nvPicPr>
        <p:blipFill>
          <a:blip r:embed="rId2"/>
          <a:stretch>
            <a:fillRect/>
          </a:stretch>
        </p:blipFill>
        <p:spPr>
          <a:xfrm>
            <a:off x="2615642" y="2672065"/>
            <a:ext cx="6629975" cy="3825572"/>
          </a:xfrm>
          <a:prstGeom prst="rect">
            <a:avLst/>
          </a:prstGeom>
        </p:spPr>
      </p:pic>
    </p:spTree>
    <p:extLst>
      <p:ext uri="{BB962C8B-B14F-4D97-AF65-F5344CB8AC3E}">
        <p14:creationId xmlns:p14="http://schemas.microsoft.com/office/powerpoint/2010/main" val="13497477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23674-E3B9-D3D4-33F8-04C6E2B85EC2}"/>
              </a:ext>
            </a:extLst>
          </p:cNvPr>
          <p:cNvSpPr>
            <a:spLocks noGrp="1"/>
          </p:cNvSpPr>
          <p:nvPr>
            <p:ph type="title"/>
          </p:nvPr>
        </p:nvSpPr>
        <p:spPr/>
        <p:txBody>
          <a:bodyPr/>
          <a:lstStyle/>
          <a:p>
            <a:r>
              <a:rPr lang="en-IN" dirty="0"/>
              <a:t>Generic domain labels </a:t>
            </a:r>
          </a:p>
        </p:txBody>
      </p:sp>
      <p:sp>
        <p:nvSpPr>
          <p:cNvPr id="3" name="Slide Number Placeholder 2">
            <a:extLst>
              <a:ext uri="{FF2B5EF4-FFF2-40B4-BE49-F238E27FC236}">
                <a16:creationId xmlns:a16="http://schemas.microsoft.com/office/drawing/2014/main" id="{65818C13-181A-3BA9-7BC0-3C358EB412B7}"/>
              </a:ext>
            </a:extLst>
          </p:cNvPr>
          <p:cNvSpPr>
            <a:spLocks noGrp="1"/>
          </p:cNvSpPr>
          <p:nvPr>
            <p:ph type="sldNum" sz="quarter" idx="12"/>
          </p:nvPr>
        </p:nvSpPr>
        <p:spPr/>
        <p:txBody>
          <a:bodyPr/>
          <a:lstStyle/>
          <a:p>
            <a:fld id="{C263D6C4-4840-40CC-AC84-17E24B3B7BDE}" type="slidenum">
              <a:rPr lang="en-US" noProof="0" smtClean="0"/>
              <a:pPr/>
              <a:t>21</a:t>
            </a:fld>
            <a:endParaRPr lang="en-US" noProof="0" dirty="0"/>
          </a:p>
        </p:txBody>
      </p:sp>
      <p:pic>
        <p:nvPicPr>
          <p:cNvPr id="6" name="Content Placeholder 5">
            <a:extLst>
              <a:ext uri="{FF2B5EF4-FFF2-40B4-BE49-F238E27FC236}">
                <a16:creationId xmlns:a16="http://schemas.microsoft.com/office/drawing/2014/main" id="{576DA69D-832C-C311-11D7-B9151317307C}"/>
              </a:ext>
            </a:extLst>
          </p:cNvPr>
          <p:cNvPicPr>
            <a:picLocks noGrp="1" noChangeAspect="1"/>
          </p:cNvPicPr>
          <p:nvPr>
            <p:ph idx="1"/>
          </p:nvPr>
        </p:nvPicPr>
        <p:blipFill>
          <a:blip r:embed="rId2"/>
          <a:stretch>
            <a:fillRect/>
          </a:stretch>
        </p:blipFill>
        <p:spPr>
          <a:xfrm>
            <a:off x="2344366" y="1520475"/>
            <a:ext cx="6604712" cy="4903972"/>
          </a:xfrm>
        </p:spPr>
      </p:pic>
    </p:spTree>
    <p:extLst>
      <p:ext uri="{BB962C8B-B14F-4D97-AF65-F5344CB8AC3E}">
        <p14:creationId xmlns:p14="http://schemas.microsoft.com/office/powerpoint/2010/main" val="1284826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0F8EC-EBBB-0A1D-A351-B1DF2587933C}"/>
              </a:ext>
            </a:extLst>
          </p:cNvPr>
          <p:cNvSpPr>
            <a:spLocks noGrp="1"/>
          </p:cNvSpPr>
          <p:nvPr>
            <p:ph type="title"/>
          </p:nvPr>
        </p:nvSpPr>
        <p:spPr/>
        <p:txBody>
          <a:bodyPr/>
          <a:lstStyle/>
          <a:p>
            <a:r>
              <a:rPr lang="en-IN" dirty="0"/>
              <a:t>Country Domains</a:t>
            </a:r>
          </a:p>
        </p:txBody>
      </p:sp>
      <p:sp>
        <p:nvSpPr>
          <p:cNvPr id="3" name="Slide Number Placeholder 2">
            <a:extLst>
              <a:ext uri="{FF2B5EF4-FFF2-40B4-BE49-F238E27FC236}">
                <a16:creationId xmlns:a16="http://schemas.microsoft.com/office/drawing/2014/main" id="{D7DFF5E3-724D-960D-3A9A-C2AA39226693}"/>
              </a:ext>
            </a:extLst>
          </p:cNvPr>
          <p:cNvSpPr>
            <a:spLocks noGrp="1"/>
          </p:cNvSpPr>
          <p:nvPr>
            <p:ph type="sldNum" sz="quarter" idx="12"/>
          </p:nvPr>
        </p:nvSpPr>
        <p:spPr/>
        <p:txBody>
          <a:bodyPr/>
          <a:lstStyle/>
          <a:p>
            <a:fld id="{C263D6C4-4840-40CC-AC84-17E24B3B7BDE}" type="slidenum">
              <a:rPr lang="en-US" noProof="0" smtClean="0"/>
              <a:pPr/>
              <a:t>22</a:t>
            </a:fld>
            <a:endParaRPr lang="en-US" noProof="0" dirty="0"/>
          </a:p>
        </p:txBody>
      </p:sp>
      <p:sp>
        <p:nvSpPr>
          <p:cNvPr id="4" name="Content Placeholder 3">
            <a:extLst>
              <a:ext uri="{FF2B5EF4-FFF2-40B4-BE49-F238E27FC236}">
                <a16:creationId xmlns:a16="http://schemas.microsoft.com/office/drawing/2014/main" id="{E03596D5-C44F-6F5F-4D48-C825986887D0}"/>
              </a:ext>
            </a:extLst>
          </p:cNvPr>
          <p:cNvSpPr>
            <a:spLocks noGrp="1"/>
          </p:cNvSpPr>
          <p:nvPr>
            <p:ph idx="1"/>
          </p:nvPr>
        </p:nvSpPr>
        <p:spPr>
          <a:xfrm>
            <a:off x="326634" y="1650527"/>
            <a:ext cx="6200626" cy="4351338"/>
          </a:xfrm>
        </p:spPr>
        <p:txBody>
          <a:bodyPr>
            <a:normAutofit lnSpcReduction="10000"/>
          </a:bodyPr>
          <a:lstStyle/>
          <a:p>
            <a:pPr algn="just"/>
            <a:r>
              <a:rPr lang="en-US" dirty="0"/>
              <a:t>The country domains section uses two-character country abbreviations (e.g., us for United States). Second labels can be organizational, or they can be more specific, national designations. The United States, for example, uses state abbreviations as a subdivision of us (e.g., ca.us.).</a:t>
            </a:r>
          </a:p>
          <a:p>
            <a:pPr algn="just"/>
            <a:r>
              <a:rPr lang="en-US" dirty="0"/>
              <a:t>The address anza.cup.ca.us can be translated to De Anza College in Cupertino in California in the United States.</a:t>
            </a:r>
            <a:endParaRPr lang="en-IN" dirty="0"/>
          </a:p>
        </p:txBody>
      </p:sp>
      <p:pic>
        <p:nvPicPr>
          <p:cNvPr id="6" name="Picture 5">
            <a:extLst>
              <a:ext uri="{FF2B5EF4-FFF2-40B4-BE49-F238E27FC236}">
                <a16:creationId xmlns:a16="http://schemas.microsoft.com/office/drawing/2014/main" id="{B36FC6AF-CF4C-D52D-955D-D8BA8BCA6B25}"/>
              </a:ext>
            </a:extLst>
          </p:cNvPr>
          <p:cNvPicPr>
            <a:picLocks noChangeAspect="1"/>
          </p:cNvPicPr>
          <p:nvPr/>
        </p:nvPicPr>
        <p:blipFill>
          <a:blip r:embed="rId2"/>
          <a:stretch>
            <a:fillRect/>
          </a:stretch>
        </p:blipFill>
        <p:spPr>
          <a:xfrm>
            <a:off x="6690938" y="1974496"/>
            <a:ext cx="5174428" cy="3444538"/>
          </a:xfrm>
          <a:prstGeom prst="rect">
            <a:avLst/>
          </a:prstGeom>
        </p:spPr>
      </p:pic>
    </p:spTree>
    <p:extLst>
      <p:ext uri="{BB962C8B-B14F-4D97-AF65-F5344CB8AC3E}">
        <p14:creationId xmlns:p14="http://schemas.microsoft.com/office/powerpoint/2010/main" val="1216816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World Wide Web</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23</a:t>
            </a:fld>
            <a:endParaRPr lang="en-US" noProof="0" dirty="0"/>
          </a:p>
        </p:txBody>
      </p:sp>
      <p:sp>
        <p:nvSpPr>
          <p:cNvPr id="4" name="Text Placeholder 3"/>
          <p:cNvSpPr>
            <a:spLocks noGrp="1"/>
          </p:cNvSpPr>
          <p:nvPr>
            <p:ph type="body" sz="quarter" idx="13"/>
          </p:nvPr>
        </p:nvSpPr>
        <p:spPr>
          <a:xfrm>
            <a:off x="522729" y="1432875"/>
            <a:ext cx="11057642" cy="4976468"/>
          </a:xfrm>
        </p:spPr>
        <p:txBody>
          <a:bodyPr>
            <a:normAutofit fontScale="55000" lnSpcReduction="20000"/>
          </a:bodyPr>
          <a:lstStyle/>
          <a:p>
            <a:pPr marL="857250" indent="-857250" algn="l">
              <a:buFont typeface="Arial" panose="020B0604020202020204" pitchFamily="34" charset="0"/>
              <a:buChar char="•"/>
            </a:pPr>
            <a:r>
              <a:rPr lang="en-US" dirty="0"/>
              <a:t>World Wide Web, which is also known as a Web, is a collection of websites or web pages stored in web servers and connected to local computers through the internet. </a:t>
            </a:r>
            <a:endParaRPr lang="en-US" dirty="0" smtClean="0"/>
          </a:p>
          <a:p>
            <a:pPr marL="857250" indent="-857250" algn="l">
              <a:buFont typeface="Arial" panose="020B0604020202020204" pitchFamily="34" charset="0"/>
              <a:buChar char="•"/>
            </a:pPr>
            <a:r>
              <a:rPr lang="en-US" dirty="0" smtClean="0"/>
              <a:t>These </a:t>
            </a:r>
            <a:r>
              <a:rPr lang="en-US" dirty="0"/>
              <a:t>websites contain text pages, digital images, audios, videos, etc. Users can access the content of these sites from any part of the world over the internet using their devices such as computers, laptops, cell phones, etc. </a:t>
            </a:r>
            <a:endParaRPr lang="en-US" dirty="0" smtClean="0"/>
          </a:p>
          <a:p>
            <a:pPr marL="857250" indent="-857250" algn="l">
              <a:buFont typeface="Arial" panose="020B0604020202020204" pitchFamily="34" charset="0"/>
              <a:buChar char="•"/>
            </a:pPr>
            <a:r>
              <a:rPr lang="en-US" dirty="0" smtClean="0"/>
              <a:t>The </a:t>
            </a:r>
            <a:r>
              <a:rPr lang="en-US" dirty="0"/>
              <a:t>WWW, along with internet, enables the retrieval and display of text and media to your device</a:t>
            </a:r>
            <a:r>
              <a:rPr lang="en-US" dirty="0"/>
              <a:t>. </a:t>
            </a:r>
            <a:endParaRPr lang="en-US" dirty="0" smtClean="0"/>
          </a:p>
        </p:txBody>
      </p:sp>
    </p:spTree>
    <p:extLst>
      <p:ext uri="{BB962C8B-B14F-4D97-AF65-F5344CB8AC3E}">
        <p14:creationId xmlns:p14="http://schemas.microsoft.com/office/powerpoint/2010/main" val="1515556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World Wide Web</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24</a:t>
            </a:fld>
            <a:endParaRPr lang="en-US" noProof="0" dirty="0"/>
          </a:p>
        </p:txBody>
      </p:sp>
      <p:sp>
        <p:nvSpPr>
          <p:cNvPr id="4" name="Content Placeholder 3"/>
          <p:cNvSpPr>
            <a:spLocks noGrp="1"/>
          </p:cNvSpPr>
          <p:nvPr>
            <p:ph idx="1"/>
          </p:nvPr>
        </p:nvSpPr>
        <p:spPr>
          <a:xfrm>
            <a:off x="443365" y="1844479"/>
            <a:ext cx="11215235" cy="4351338"/>
          </a:xfrm>
        </p:spPr>
        <p:txBody>
          <a:bodyPr>
            <a:normAutofit fontScale="85000" lnSpcReduction="20000"/>
          </a:bodyPr>
          <a:lstStyle/>
          <a:p>
            <a:r>
              <a:rPr lang="en-US" dirty="0"/>
              <a:t>The building blocks of the Web are web pages which are formatted in HTML and connected by links called "hypertext" or hyperlinks and accessed by HTTP. These links are electronic connections that link related pieces of information so that users can access the desired information quickly. Hypertext offers the advantage to select a word or phrase from text and thus to access other pages that provide additional information related to that word or phrase</a:t>
            </a:r>
            <a:r>
              <a:rPr lang="en-US" dirty="0" smtClean="0"/>
              <a:t>.</a:t>
            </a:r>
            <a:endParaRPr lang="en-US" dirty="0"/>
          </a:p>
          <a:p>
            <a:r>
              <a:rPr lang="en-US" dirty="0"/>
              <a:t>A web page is given an online address called a Uniform Resource Locator (URL). A particular collection of web pages that belong to a specific URL is called a website, e.g., www.facebook.com, www.google.com, etc. So, the World Wide Web is like a huge electronic book whose pages are stored on multiple servers across the world</a:t>
            </a:r>
            <a:r>
              <a:rPr lang="en-US" dirty="0" smtClean="0"/>
              <a:t>.</a:t>
            </a:r>
            <a:endParaRPr lang="en-US" dirty="0"/>
          </a:p>
          <a:p>
            <a:r>
              <a:rPr lang="en-US" dirty="0"/>
              <a:t>Small websites store all of their </a:t>
            </a:r>
            <a:r>
              <a:rPr lang="en-US" dirty="0" err="1"/>
              <a:t>WebPages</a:t>
            </a:r>
            <a:r>
              <a:rPr lang="en-US" dirty="0"/>
              <a:t> on a single server, but big websites or organizations place their </a:t>
            </a:r>
            <a:r>
              <a:rPr lang="en-US" dirty="0" err="1"/>
              <a:t>WebPages</a:t>
            </a:r>
            <a:r>
              <a:rPr lang="en-US" dirty="0"/>
              <a:t> on different servers in different countries so that when users of a country search their site they could get the information quickly from the nearest server.</a:t>
            </a:r>
            <a:endParaRPr lang="en-IN" dirty="0"/>
          </a:p>
        </p:txBody>
      </p:sp>
    </p:spTree>
    <p:extLst>
      <p:ext uri="{BB962C8B-B14F-4D97-AF65-F5344CB8AC3E}">
        <p14:creationId xmlns:p14="http://schemas.microsoft.com/office/powerpoint/2010/main" val="793858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24071"/>
            <a:ext cx="11214100" cy="535531"/>
          </a:xfrm>
        </p:spPr>
        <p:txBody>
          <a:bodyPr/>
          <a:lstStyle/>
          <a:p>
            <a:r>
              <a:rPr lang="en-US" dirty="0"/>
              <a:t>Difference between World Wide Web and Internet:</a:t>
            </a:r>
            <a:endParaRPr lang="en-IN"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25</a:t>
            </a:fld>
            <a:endParaRPr lang="en-US" noProof="0" dirty="0"/>
          </a:p>
        </p:txBody>
      </p:sp>
      <p:sp>
        <p:nvSpPr>
          <p:cNvPr id="4" name="Text Placeholder 3"/>
          <p:cNvSpPr>
            <a:spLocks noGrp="1"/>
          </p:cNvSpPr>
          <p:nvPr>
            <p:ph type="body" idx="1"/>
          </p:nvPr>
        </p:nvSpPr>
        <p:spPr/>
        <p:txBody>
          <a:bodyPr/>
          <a:lstStyle/>
          <a:p>
            <a:r>
              <a:rPr lang="en-US" dirty="0" smtClean="0"/>
              <a:t>Internet/internet</a:t>
            </a:r>
            <a:endParaRPr lang="en-IN" dirty="0"/>
          </a:p>
        </p:txBody>
      </p:sp>
      <p:sp>
        <p:nvSpPr>
          <p:cNvPr id="5" name="Text Placeholder 4"/>
          <p:cNvSpPr>
            <a:spLocks noGrp="1"/>
          </p:cNvSpPr>
          <p:nvPr>
            <p:ph type="body" sz="quarter" idx="3"/>
          </p:nvPr>
        </p:nvSpPr>
        <p:spPr/>
        <p:txBody>
          <a:bodyPr/>
          <a:lstStyle/>
          <a:p>
            <a:r>
              <a:rPr lang="en-US" dirty="0" smtClean="0"/>
              <a:t>WWW</a:t>
            </a:r>
            <a:endParaRPr lang="en-IN" dirty="0"/>
          </a:p>
        </p:txBody>
      </p:sp>
      <p:sp>
        <p:nvSpPr>
          <p:cNvPr id="6" name="Content Placeholder 5"/>
          <p:cNvSpPr>
            <a:spLocks noGrp="1"/>
          </p:cNvSpPr>
          <p:nvPr>
            <p:ph sz="half" idx="2"/>
          </p:nvPr>
        </p:nvSpPr>
        <p:spPr>
          <a:xfrm>
            <a:off x="444500" y="2335393"/>
            <a:ext cx="5157787" cy="3684588"/>
          </a:xfrm>
        </p:spPr>
        <p:txBody>
          <a:bodyPr>
            <a:noAutofit/>
          </a:bodyPr>
          <a:lstStyle/>
          <a:p>
            <a:pPr algn="just"/>
            <a:r>
              <a:rPr lang="en-US" sz="2000" dirty="0"/>
              <a:t>Some people use the terms 'internet' and 'World Wide Web' interchangeably. </a:t>
            </a:r>
            <a:endParaRPr lang="en-US" sz="2000" dirty="0" smtClean="0"/>
          </a:p>
          <a:p>
            <a:pPr algn="just"/>
            <a:r>
              <a:rPr lang="en-US" sz="2000" dirty="0" smtClean="0"/>
              <a:t>They </a:t>
            </a:r>
            <a:r>
              <a:rPr lang="en-US" sz="2000" dirty="0"/>
              <a:t>think they are the same thing, but it is not so. </a:t>
            </a:r>
            <a:endParaRPr lang="en-US" sz="2000" dirty="0" smtClean="0"/>
          </a:p>
          <a:p>
            <a:pPr algn="just"/>
            <a:r>
              <a:rPr lang="en-US" sz="2000" dirty="0" smtClean="0"/>
              <a:t>Internet </a:t>
            </a:r>
            <a:r>
              <a:rPr lang="en-US" sz="2000" dirty="0"/>
              <a:t>is entirely different from WWW. </a:t>
            </a:r>
            <a:endParaRPr lang="en-US" sz="2000" dirty="0" smtClean="0"/>
          </a:p>
          <a:p>
            <a:pPr algn="just"/>
            <a:r>
              <a:rPr lang="en-US" sz="2000" dirty="0" smtClean="0"/>
              <a:t>It </a:t>
            </a:r>
            <a:r>
              <a:rPr lang="en-US" sz="2000" dirty="0"/>
              <a:t>is a worldwide network of devices like computers, laptops, tablets, etc. It enables users to send emails to other users and chat with them online. </a:t>
            </a:r>
            <a:endParaRPr lang="en-US" sz="2000" dirty="0" smtClean="0"/>
          </a:p>
          <a:p>
            <a:pPr algn="just"/>
            <a:r>
              <a:rPr lang="en-US" sz="2000" dirty="0" smtClean="0"/>
              <a:t>For </a:t>
            </a:r>
            <a:r>
              <a:rPr lang="en-US" sz="2000" dirty="0"/>
              <a:t>example, when you send an email or chatting with someone online, you are using the internet.</a:t>
            </a:r>
            <a:endParaRPr lang="en-IN" sz="2000" dirty="0"/>
          </a:p>
        </p:txBody>
      </p:sp>
      <p:sp>
        <p:nvSpPr>
          <p:cNvPr id="7" name="Content Placeholder 6"/>
          <p:cNvSpPr>
            <a:spLocks noGrp="1"/>
          </p:cNvSpPr>
          <p:nvPr>
            <p:ph sz="quarter" idx="4"/>
          </p:nvPr>
        </p:nvSpPr>
        <p:spPr/>
        <p:txBody>
          <a:bodyPr>
            <a:normAutofit/>
          </a:bodyPr>
          <a:lstStyle/>
          <a:p>
            <a:pPr algn="just"/>
            <a:r>
              <a:rPr lang="en-US" sz="2000" dirty="0"/>
              <a:t>But, when you have opened a website like google.com for information, you are using the World Wide Web; a network of servers over the internet. </a:t>
            </a:r>
            <a:endParaRPr lang="en-US" sz="2000" dirty="0" smtClean="0"/>
          </a:p>
          <a:p>
            <a:pPr algn="just"/>
            <a:r>
              <a:rPr lang="en-US" sz="2000" dirty="0" smtClean="0"/>
              <a:t>You </a:t>
            </a:r>
            <a:r>
              <a:rPr lang="en-US" sz="2000" dirty="0"/>
              <a:t>request a webpage from your computer using a browser, and the server renders that page to your browser. </a:t>
            </a:r>
            <a:endParaRPr lang="en-US" sz="2000" dirty="0" smtClean="0"/>
          </a:p>
          <a:p>
            <a:pPr algn="just"/>
            <a:r>
              <a:rPr lang="en-US" sz="2000" dirty="0" smtClean="0"/>
              <a:t>Your </a:t>
            </a:r>
            <a:r>
              <a:rPr lang="en-US" sz="2000" dirty="0"/>
              <a:t>computer is called a client who runs a program (web browser), and asks the other computer (server) for the information it needs.</a:t>
            </a:r>
            <a:endParaRPr lang="en-IN" sz="2000" dirty="0"/>
          </a:p>
        </p:txBody>
      </p:sp>
    </p:spTree>
    <p:extLst>
      <p:ext uri="{BB962C8B-B14F-4D97-AF65-F5344CB8AC3E}">
        <p14:creationId xmlns:p14="http://schemas.microsoft.com/office/powerpoint/2010/main" val="692793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History of the World Wide Web:</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26</a:t>
            </a:fld>
            <a:endParaRPr lang="en-US" noProof="0" dirty="0"/>
          </a:p>
        </p:txBody>
      </p:sp>
      <p:sp>
        <p:nvSpPr>
          <p:cNvPr id="4" name="Content Placeholder 3"/>
          <p:cNvSpPr>
            <a:spLocks noGrp="1"/>
          </p:cNvSpPr>
          <p:nvPr>
            <p:ph idx="1"/>
          </p:nvPr>
        </p:nvSpPr>
        <p:spPr>
          <a:xfrm>
            <a:off x="349096" y="1740784"/>
            <a:ext cx="11215235" cy="4351338"/>
          </a:xfrm>
        </p:spPr>
        <p:txBody>
          <a:bodyPr>
            <a:noAutofit/>
          </a:bodyPr>
          <a:lstStyle/>
          <a:p>
            <a:pPr algn="just"/>
            <a:r>
              <a:rPr lang="en-US" sz="2400" dirty="0" smtClean="0"/>
              <a:t>The </a:t>
            </a:r>
            <a:r>
              <a:rPr lang="en-US" sz="2400" dirty="0"/>
              <a:t>World Wide Web was invented by a British scientist, Tim Berners-Lee in 1989. He was working at CERN at that time. Originally, it was developed by him to fulfill the need of automated information sharing between scientists across the world, so that they could easily share the data and results of their experiments and studies with each other.</a:t>
            </a:r>
          </a:p>
          <a:p>
            <a:pPr algn="just"/>
            <a:r>
              <a:rPr lang="en-US" sz="2400" dirty="0"/>
              <a:t>CERN, where Tim Berners worked, is a community of more than 1700 scientists from more than 100 countries. These scientists spend some time on CERN site, and rest of the time they work at their universities and national laboratories in their home countries, so there was a need for reliable communication tools so that they can exchange information</a:t>
            </a:r>
            <a:r>
              <a:rPr lang="en-US" sz="2400" dirty="0" smtClean="0"/>
              <a:t>.</a:t>
            </a:r>
            <a:endParaRPr lang="en-US" sz="2400" dirty="0"/>
          </a:p>
        </p:txBody>
      </p:sp>
    </p:spTree>
    <p:extLst>
      <p:ext uri="{BB962C8B-B14F-4D97-AF65-F5344CB8AC3E}">
        <p14:creationId xmlns:p14="http://schemas.microsoft.com/office/powerpoint/2010/main" val="23482873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History of the World Wide Web:</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27</a:t>
            </a:fld>
            <a:endParaRPr lang="en-US" noProof="0" dirty="0"/>
          </a:p>
        </p:txBody>
      </p:sp>
      <p:sp>
        <p:nvSpPr>
          <p:cNvPr id="4" name="Content Placeholder 3"/>
          <p:cNvSpPr>
            <a:spLocks noGrp="1"/>
          </p:cNvSpPr>
          <p:nvPr>
            <p:ph idx="1"/>
          </p:nvPr>
        </p:nvSpPr>
        <p:spPr/>
        <p:txBody>
          <a:bodyPr/>
          <a:lstStyle/>
          <a:p>
            <a:pPr algn="just"/>
            <a:r>
              <a:rPr lang="en-US" dirty="0"/>
              <a:t>Internet and Hypertext were available at this time, but no one thought how to use the internet to link or share one document to another. Tim focused on three main technologies that could make </a:t>
            </a:r>
            <a:r>
              <a:rPr lang="en-US" dirty="0" smtClean="0"/>
              <a:t>computers understand </a:t>
            </a:r>
            <a:r>
              <a:rPr lang="en-US" dirty="0"/>
              <a:t>each other, HTML, URL, and HTTP. So, the objective behind the invention of WWW was to combine recent computer technologies, data networks, and hypertext into a user-friendly and effective global information system.</a:t>
            </a:r>
            <a:endParaRPr lang="en-US" dirty="0"/>
          </a:p>
        </p:txBody>
      </p:sp>
    </p:spTree>
    <p:extLst>
      <p:ext uri="{BB962C8B-B14F-4D97-AF65-F5344CB8AC3E}">
        <p14:creationId xmlns:p14="http://schemas.microsoft.com/office/powerpoint/2010/main" val="2856222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10">
      <a:dk1>
        <a:sysClr val="windowText" lastClr="000000"/>
      </a:dk1>
      <a:lt1>
        <a:sysClr val="window" lastClr="FFFFFF"/>
      </a:lt1>
      <a:dk2>
        <a:srgbClr val="191B0E"/>
      </a:dk2>
      <a:lt2>
        <a:srgbClr val="EFEDE3"/>
      </a:lt2>
      <a:accent1>
        <a:srgbClr val="E38898"/>
      </a:accent1>
      <a:accent2>
        <a:srgbClr val="BAB09E"/>
      </a:accent2>
      <a:accent3>
        <a:srgbClr val="897B61"/>
      </a:accent3>
      <a:accent4>
        <a:srgbClr val="715974"/>
      </a:accent4>
      <a:accent5>
        <a:srgbClr val="FFC000"/>
      </a:accent5>
      <a:accent6>
        <a:srgbClr val="F3CDD4"/>
      </a:accent6>
      <a:hlink>
        <a:srgbClr val="7030A0"/>
      </a:hlink>
      <a:folHlink>
        <a:srgbClr val="00B0F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16c05727-aa75-4e4a-9b5f-8a80a1165891"/>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71af3243-3dd4-4a8d-8c0d-dd76da1f02a5"/>
    <ds:schemaRef ds:uri="http://www.w3.org/XML/1998/namespace"/>
    <ds:schemaRef ds:uri="http://purl.org/dc/dcmitype/"/>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1367</TotalTime>
  <Words>2312</Words>
  <Application>Microsoft Office PowerPoint</Application>
  <PresentationFormat>Widescreen</PresentationFormat>
  <Paragraphs>120</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vt:lpstr>
      <vt:lpstr>Tahoma</vt:lpstr>
      <vt:lpstr>Trade Gothic LT Pro</vt:lpstr>
      <vt:lpstr>Office Theme</vt:lpstr>
      <vt:lpstr>Web Technologies </vt:lpstr>
      <vt:lpstr>Client-Server paradigm</vt:lpstr>
      <vt:lpstr>Client-Server Architecture</vt:lpstr>
      <vt:lpstr>Relation between the operating system and the TCP/IP suite</vt:lpstr>
      <vt:lpstr>Server types</vt:lpstr>
      <vt:lpstr>Connectionless iterative server</vt:lpstr>
      <vt:lpstr>Connection-oriented concurrent server</vt:lpstr>
      <vt:lpstr>Domain Name System (DNS)</vt:lpstr>
      <vt:lpstr>PowerPoint Presentation</vt:lpstr>
      <vt:lpstr>Explanation of given example in previous slide</vt:lpstr>
      <vt:lpstr>Name Space</vt:lpstr>
      <vt:lpstr>Domain Name Space</vt:lpstr>
      <vt:lpstr>Domain Name Space</vt:lpstr>
      <vt:lpstr>Domain Name Space</vt:lpstr>
      <vt:lpstr>Domain Name Space</vt:lpstr>
      <vt:lpstr>Domain Name Space</vt:lpstr>
      <vt:lpstr>Domain Name Space</vt:lpstr>
      <vt:lpstr>Domain Name Space</vt:lpstr>
      <vt:lpstr>DNS in the Internet</vt:lpstr>
      <vt:lpstr>Generic Domains</vt:lpstr>
      <vt:lpstr>Generic domain labels </vt:lpstr>
      <vt:lpstr>Country Domains</vt:lpstr>
      <vt:lpstr>World Wide Web</vt:lpstr>
      <vt:lpstr>World Wide Web</vt:lpstr>
      <vt:lpstr>Difference between World Wide Web and Internet:</vt:lpstr>
      <vt:lpstr>History of the World Wide Web:</vt:lpstr>
      <vt:lpstr>History of the World Wide Web:</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Arpita Tiwari</dc:creator>
  <cp:lastModifiedBy>Arpita Tiwari</cp:lastModifiedBy>
  <cp:revision>48</cp:revision>
  <dcterms:created xsi:type="dcterms:W3CDTF">2022-09-29T08:32:36Z</dcterms:created>
  <dcterms:modified xsi:type="dcterms:W3CDTF">2023-09-07T16:48:57Z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