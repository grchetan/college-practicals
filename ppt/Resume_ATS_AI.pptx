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C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4A823"/>
          </a:solidFill>
          <a:ln/>
        </p:spPr>
      </p:sp>
      <p:sp>
        <p:nvSpPr>
          <p:cNvPr id="3" name="Shape 1"/>
          <p:cNvSpPr/>
          <p:nvPr/>
        </p:nvSpPr>
        <p:spPr>
          <a:xfrm>
            <a:off x="164592" y="0"/>
            <a:ext cx="8979408" cy="73152"/>
          </a:xfrm>
          <a:prstGeom prst="rect">
            <a:avLst/>
          </a:prstGeom>
          <a:solidFill>
            <a:srgbClr val="F4A823"/>
          </a:solidFill>
          <a:ln/>
        </p:spPr>
      </p:sp>
      <p:sp>
        <p:nvSpPr>
          <p:cNvPr id="4" name="Shape 2"/>
          <p:cNvSpPr/>
          <p:nvPr/>
        </p:nvSpPr>
        <p:spPr>
          <a:xfrm>
            <a:off x="6583680" y="822960"/>
            <a:ext cx="2011680" cy="2011680"/>
          </a:xfrm>
          <a:prstGeom prst="ellipse">
            <a:avLst/>
          </a:prstGeom>
          <a:solidFill>
            <a:srgbClr val="1E8FA0">
              <a:alpha val="7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6583680" y="1143000"/>
            <a:ext cx="20116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</a:rPr>
              <a:t>AI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457200" y="914400"/>
            <a:ext cx="5943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FFFFFF"/>
                </a:solidFill>
              </a:rPr>
              <a:t>Resume &amp; ATS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457200" y="1920240"/>
            <a:ext cx="5943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FDD17A"/>
                </a:solidFill>
              </a:rPr>
              <a:t>Build Your Score Using AI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57200" y="2743200"/>
            <a:ext cx="5943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8A99B0"/>
                </a:solidFill>
              </a:rPr>
              <a:t>A complete guide to understanding ATS systems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8A99B0"/>
                </a:solidFill>
              </a:rPr>
              <a:t>and boosting resume performance with AI tools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164592" y="4846320"/>
            <a:ext cx="8979408" cy="292608"/>
          </a:xfrm>
          <a:prstGeom prst="rect">
            <a:avLst/>
          </a:prstGeom>
          <a:solidFill>
            <a:srgbClr val="1A2B4A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4846320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99B0"/>
                </a:solidFill>
              </a:rPr>
              <a:t>Presented Today  •  Resume &amp; Career Development Series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EF2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2B4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WHAT IS ATS?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0" y="960120"/>
            <a:ext cx="9144000" cy="54864"/>
          </a:xfrm>
          <a:prstGeom prst="rect">
            <a:avLst/>
          </a:prstGeom>
          <a:solidFill>
            <a:srgbClr val="F4A823"/>
          </a:solidFill>
          <a:ln/>
        </p:spPr>
      </p:sp>
      <p:sp>
        <p:nvSpPr>
          <p:cNvPr id="5" name="Shape 3"/>
          <p:cNvSpPr/>
          <p:nvPr/>
        </p:nvSpPr>
        <p:spPr>
          <a:xfrm>
            <a:off x="365760" y="1188720"/>
            <a:ext cx="8412480" cy="822960"/>
          </a:xfrm>
          <a:prstGeom prst="rect">
            <a:avLst/>
          </a:prstGeom>
          <a:solidFill>
            <a:srgbClr val="1A2B4A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02920" y="1234440"/>
            <a:ext cx="8138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DD17A"/>
                </a:solidFill>
              </a:rPr>
              <a:t>Applicant Tracking System (ATS) — software used by 98% of Fortune 500 companies to automatically scan, filter and rank resumes before a human ever reads them.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2194560"/>
            <a:ext cx="2651760" cy="2468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2194560"/>
            <a:ext cx="2651760" cy="64008"/>
          </a:xfrm>
          <a:prstGeom prst="rect">
            <a:avLst/>
          </a:prstGeom>
          <a:solidFill>
            <a:srgbClr val="F4A823"/>
          </a:solidFill>
          <a:ln/>
        </p:spPr>
      </p:sp>
      <p:sp>
        <p:nvSpPr>
          <p:cNvPr id="9" name="Text 7"/>
          <p:cNvSpPr/>
          <p:nvPr/>
        </p:nvSpPr>
        <p:spPr>
          <a:xfrm>
            <a:off x="475488" y="2304288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A2B4A"/>
                </a:solidFill>
              </a:rPr>
              <a:t>🔍  Scans Keywords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75488" y="2852928"/>
            <a:ext cx="24231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A4A60"/>
                </a:solidFill>
              </a:rPr>
              <a:t>Matches your resume against job description keywords, skills &amp; qualifications.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337560" y="2194560"/>
            <a:ext cx="2651760" cy="2468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337560" y="2194560"/>
            <a:ext cx="2651760" cy="64008"/>
          </a:xfrm>
          <a:prstGeom prst="rect">
            <a:avLst/>
          </a:prstGeom>
          <a:solidFill>
            <a:srgbClr val="F4A823"/>
          </a:solidFill>
          <a:ln/>
        </p:spPr>
      </p:sp>
      <p:sp>
        <p:nvSpPr>
          <p:cNvPr id="13" name="Text 11"/>
          <p:cNvSpPr/>
          <p:nvPr/>
        </p:nvSpPr>
        <p:spPr>
          <a:xfrm>
            <a:off x="3447288" y="2304288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A2B4A"/>
                </a:solidFill>
              </a:rPr>
              <a:t>📊  Ranks Candidates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447288" y="2852928"/>
            <a:ext cx="24231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A4A60"/>
                </a:solidFill>
              </a:rPr>
              <a:t>Assigns a relevance score. Low-scoring resumes are automatically rejected.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309360" y="2194560"/>
            <a:ext cx="2651760" cy="2468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309360" y="2194560"/>
            <a:ext cx="2651760" cy="64008"/>
          </a:xfrm>
          <a:prstGeom prst="rect">
            <a:avLst/>
          </a:prstGeom>
          <a:solidFill>
            <a:srgbClr val="F4A823"/>
          </a:solidFill>
          <a:ln/>
        </p:spPr>
      </p:sp>
      <p:sp>
        <p:nvSpPr>
          <p:cNvPr id="17" name="Text 15"/>
          <p:cNvSpPr/>
          <p:nvPr/>
        </p:nvSpPr>
        <p:spPr>
          <a:xfrm>
            <a:off x="6419088" y="2304288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A2B4A"/>
                </a:solidFill>
              </a:rPr>
              <a:t>🚫  Filters Out 75%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419088" y="2852928"/>
            <a:ext cx="24231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A4A60"/>
                </a:solidFill>
              </a:rPr>
              <a:t>3 in 4 resumes never reach a recruiter — eliminated by ATS alone.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E8FA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RESUME BEST PRACTICES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0" y="960120"/>
            <a:ext cx="9144000" cy="54864"/>
          </a:xfrm>
          <a:prstGeom prst="rect">
            <a:avLst/>
          </a:prstGeom>
          <a:solidFill>
            <a:srgbClr val="F4A823"/>
          </a:solidFill>
          <a:ln/>
        </p:spPr>
      </p:sp>
      <p:sp>
        <p:nvSpPr>
          <p:cNvPr id="5" name="Shape 3"/>
          <p:cNvSpPr/>
          <p:nvPr/>
        </p:nvSpPr>
        <p:spPr>
          <a:xfrm>
            <a:off x="365760" y="1188720"/>
            <a:ext cx="3931920" cy="1097280"/>
          </a:xfrm>
          <a:prstGeom prst="rect">
            <a:avLst/>
          </a:prstGeom>
          <a:solidFill>
            <a:srgbClr val="EEF2F7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75488" y="126187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B4A"/>
                </a:solidFill>
              </a:rPr>
              <a:t>✅  Use Standard Headings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75488" y="164592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A4A60"/>
                </a:solidFill>
              </a:rPr>
              <a:t>Work Experience, Education, Skills — ATS recognizes these.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65760" y="2423160"/>
            <a:ext cx="3931920" cy="1097280"/>
          </a:xfrm>
          <a:prstGeom prst="rect">
            <a:avLst/>
          </a:prstGeom>
          <a:solidFill>
            <a:srgbClr val="EEF2F7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75488" y="249631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B4A"/>
                </a:solidFill>
              </a:rPr>
              <a:t>✅  Match Job Keywords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75488" y="288036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A4A60"/>
                </a:solidFill>
              </a:rPr>
              <a:t>Copy exact phrases from the job description into your resume.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65760" y="3657600"/>
            <a:ext cx="3931920" cy="1097280"/>
          </a:xfrm>
          <a:prstGeom prst="rect">
            <a:avLst/>
          </a:prstGeom>
          <a:solidFill>
            <a:srgbClr val="EEF2F7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75488" y="373075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B4A"/>
                </a:solidFill>
              </a:rPr>
              <a:t>✅  Simple Formatting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75488" y="411480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A4A60"/>
                </a:solidFill>
              </a:rPr>
              <a:t>No tables, graphics, headers/footers. Plain text layouts win.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846320" y="1188720"/>
            <a:ext cx="3931920" cy="1097280"/>
          </a:xfrm>
          <a:prstGeom prst="rect">
            <a:avLst/>
          </a:prstGeom>
          <a:solidFill>
            <a:srgbClr val="EEF2F7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956048" y="126187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B4A"/>
                </a:solidFill>
              </a:rPr>
              <a:t>❌  Avoid Images &amp; Logos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956048" y="164592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A4A60"/>
                </a:solidFill>
              </a:rPr>
              <a:t>ATS can't read images. Remove photos, charts and icons.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846320" y="2423160"/>
            <a:ext cx="3931920" cy="1097280"/>
          </a:xfrm>
          <a:prstGeom prst="rect">
            <a:avLst/>
          </a:prstGeom>
          <a:solidFill>
            <a:srgbClr val="EEF2F7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956048" y="249631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B4A"/>
                </a:solidFill>
              </a:rPr>
              <a:t>❌  No Fancy Fonts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956048" y="288036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A4A60"/>
                </a:solidFill>
              </a:rPr>
              <a:t>Stick to Arial, Calibri, Times. Creative fonts get garbled.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846320" y="3657600"/>
            <a:ext cx="3931920" cy="1097280"/>
          </a:xfrm>
          <a:prstGeom prst="rect">
            <a:avLst/>
          </a:prstGeom>
          <a:solidFill>
            <a:srgbClr val="EEF2F7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956048" y="373075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B4A"/>
                </a:solidFill>
              </a:rPr>
              <a:t>❌  No Columns / Tables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956048" y="411480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A4A60"/>
                </a:solidFill>
              </a:rPr>
              <a:t>Multi-column layouts break ATS parsing. Use single column.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4663440" y="1097280"/>
            <a:ext cx="0" cy="3840480"/>
          </a:xfrm>
          <a:prstGeom prst="line">
            <a:avLst/>
          </a:prstGeom>
          <a:noFill/>
          <a:ln w="15240">
            <a:solidFill>
              <a:srgbClr val="D0D8E8"/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C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F4A823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F1C30"/>
                </a:solidFill>
              </a:rPr>
              <a:t>HOW TO BUILD RESUME SCORE USING AI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1143000"/>
            <a:ext cx="4114800" cy="1554480"/>
          </a:xfrm>
          <a:prstGeom prst="rect">
            <a:avLst/>
          </a:prstGeom>
          <a:solidFill>
            <a:srgbClr val="1A2B4A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143000"/>
            <a:ext cx="73152" cy="1554480"/>
          </a:xfrm>
          <a:prstGeom prst="rect">
            <a:avLst/>
          </a:prstGeom>
          <a:solidFill>
            <a:srgbClr val="F4A823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280160"/>
            <a:ext cx="502920" cy="502920"/>
          </a:xfrm>
          <a:prstGeom prst="ellipse">
            <a:avLst/>
          </a:prstGeom>
          <a:solidFill>
            <a:srgbClr val="F4A823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2801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C30"/>
                </a:solidFill>
              </a:rPr>
              <a:t>01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188720" y="1252728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DD17A"/>
                </a:solidFill>
              </a:rPr>
              <a:t>Upload to AI Resume Analyzer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188720" y="1673352"/>
            <a:ext cx="3154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A99B0"/>
                </a:solidFill>
              </a:rPr>
              <a:t>Tools: Jobscan, Rezi, Kickresume AI, Resume Worded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8A99B0"/>
                </a:solidFill>
              </a:rPr>
              <a:t>Upload your resume + paste the job description.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846320" y="1143000"/>
            <a:ext cx="4114800" cy="1554480"/>
          </a:xfrm>
          <a:prstGeom prst="rect">
            <a:avLst/>
          </a:prstGeom>
          <a:solidFill>
            <a:srgbClr val="1A2B4A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846320" y="1143000"/>
            <a:ext cx="73152" cy="1554480"/>
          </a:xfrm>
          <a:prstGeom prst="rect">
            <a:avLst/>
          </a:prstGeom>
          <a:solidFill>
            <a:srgbClr val="F4A823"/>
          </a:solidFill>
          <a:ln/>
        </p:spPr>
      </p:sp>
      <p:sp>
        <p:nvSpPr>
          <p:cNvPr id="12" name="Shape 10"/>
          <p:cNvSpPr/>
          <p:nvPr/>
        </p:nvSpPr>
        <p:spPr>
          <a:xfrm>
            <a:off x="5029200" y="1280160"/>
            <a:ext cx="502920" cy="502920"/>
          </a:xfrm>
          <a:prstGeom prst="ellipse">
            <a:avLst/>
          </a:prstGeom>
          <a:solidFill>
            <a:srgbClr val="F4A823"/>
          </a:solidFill>
          <a:ln/>
        </p:spPr>
      </p:sp>
      <p:sp>
        <p:nvSpPr>
          <p:cNvPr id="13" name="Text 11"/>
          <p:cNvSpPr/>
          <p:nvPr/>
        </p:nvSpPr>
        <p:spPr>
          <a:xfrm>
            <a:off x="5029200" y="12801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C30"/>
                </a:solidFill>
              </a:rPr>
              <a:t>02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669280" y="1252728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DD17A"/>
                </a:solidFill>
              </a:rPr>
              <a:t>Get ATS Score &amp; Keyword Gap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669280" y="1673352"/>
            <a:ext cx="3154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A99B0"/>
                </a:solidFill>
              </a:rPr>
              <a:t>AI scans both documents, shows match %, missing keywords, and weak sections that hurt your score.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65760" y="2880360"/>
            <a:ext cx="4114800" cy="1554480"/>
          </a:xfrm>
          <a:prstGeom prst="rect">
            <a:avLst/>
          </a:prstGeom>
          <a:solidFill>
            <a:srgbClr val="1A2B4A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2880360"/>
            <a:ext cx="73152" cy="1554480"/>
          </a:xfrm>
          <a:prstGeom prst="rect">
            <a:avLst/>
          </a:prstGeom>
          <a:solidFill>
            <a:srgbClr val="F4A823"/>
          </a:solidFill>
          <a:ln/>
        </p:spPr>
      </p:sp>
      <p:sp>
        <p:nvSpPr>
          <p:cNvPr id="18" name="Shape 16"/>
          <p:cNvSpPr/>
          <p:nvPr/>
        </p:nvSpPr>
        <p:spPr>
          <a:xfrm>
            <a:off x="548640" y="3017520"/>
            <a:ext cx="502920" cy="502920"/>
          </a:xfrm>
          <a:prstGeom prst="ellipse">
            <a:avLst/>
          </a:prstGeom>
          <a:solidFill>
            <a:srgbClr val="F4A823"/>
          </a:solidFill>
          <a:ln/>
        </p:spPr>
      </p:sp>
      <p:sp>
        <p:nvSpPr>
          <p:cNvPr id="19" name="Text 17"/>
          <p:cNvSpPr/>
          <p:nvPr/>
        </p:nvSpPr>
        <p:spPr>
          <a:xfrm>
            <a:off x="548640" y="3017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C30"/>
                </a:solidFill>
              </a:rPr>
              <a:t>03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188720" y="2990088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DD17A"/>
                </a:solidFill>
              </a:rPr>
              <a:t>Optimize with ChatGPT / Claude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188720" y="3410712"/>
            <a:ext cx="3154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A99B0"/>
                </a:solidFill>
              </a:rPr>
              <a:t>Prompt: "Rewrite my resume bullet points to match this JD and improve ATS score" — get tailored rewrites instantly.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846320" y="2880360"/>
            <a:ext cx="4114800" cy="1554480"/>
          </a:xfrm>
          <a:prstGeom prst="rect">
            <a:avLst/>
          </a:prstGeom>
          <a:solidFill>
            <a:srgbClr val="1A2B4A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846320" y="2880360"/>
            <a:ext cx="73152" cy="1554480"/>
          </a:xfrm>
          <a:prstGeom prst="rect">
            <a:avLst/>
          </a:prstGeom>
          <a:solidFill>
            <a:srgbClr val="F4A823"/>
          </a:solidFill>
          <a:ln/>
        </p:spPr>
      </p:sp>
      <p:sp>
        <p:nvSpPr>
          <p:cNvPr id="24" name="Shape 22"/>
          <p:cNvSpPr/>
          <p:nvPr/>
        </p:nvSpPr>
        <p:spPr>
          <a:xfrm>
            <a:off x="5029200" y="3017520"/>
            <a:ext cx="502920" cy="502920"/>
          </a:xfrm>
          <a:prstGeom prst="ellipse">
            <a:avLst/>
          </a:prstGeom>
          <a:solidFill>
            <a:srgbClr val="F4A823"/>
          </a:solidFill>
          <a:ln/>
        </p:spPr>
      </p:sp>
      <p:sp>
        <p:nvSpPr>
          <p:cNvPr id="25" name="Text 23"/>
          <p:cNvSpPr/>
          <p:nvPr/>
        </p:nvSpPr>
        <p:spPr>
          <a:xfrm>
            <a:off x="5029200" y="3017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C30"/>
                </a:solidFill>
              </a:rPr>
              <a:t>04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669280" y="2990088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DD17A"/>
                </a:solidFill>
              </a:rPr>
              <a:t>Re-Score &amp; Iterate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669280" y="3410712"/>
            <a:ext cx="3154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A99B0"/>
                </a:solidFill>
              </a:rPr>
              <a:t>Re-upload improved resume. Aim for 80%+ ATS match score before applying. Repeat until optimized.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EF2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2B4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KEY TAKEAWAYS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0" y="960120"/>
            <a:ext cx="9144000" cy="54864"/>
          </a:xfrm>
          <a:prstGeom prst="rect">
            <a:avLst/>
          </a:prstGeom>
          <a:solidFill>
            <a:srgbClr val="F4A823"/>
          </a:solidFill>
          <a:ln/>
        </p:spPr>
      </p:sp>
      <p:sp>
        <p:nvSpPr>
          <p:cNvPr id="5" name="Shape 3"/>
          <p:cNvSpPr/>
          <p:nvPr/>
        </p:nvSpPr>
        <p:spPr>
          <a:xfrm>
            <a:off x="365760" y="1143000"/>
            <a:ext cx="6126480" cy="594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7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75488" y="1252728"/>
            <a:ext cx="365760" cy="365760"/>
          </a:xfrm>
          <a:prstGeom prst="ellipse">
            <a:avLst/>
          </a:prstGeom>
          <a:solidFill>
            <a:srgbClr val="1A2B4A"/>
          </a:solidFill>
          <a:ln/>
        </p:spPr>
      </p:sp>
      <p:sp>
        <p:nvSpPr>
          <p:cNvPr id="7" name="Text 5"/>
          <p:cNvSpPr/>
          <p:nvPr/>
        </p:nvSpPr>
        <p:spPr>
          <a:xfrm>
            <a:off x="475488" y="12527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60120" y="1207008"/>
            <a:ext cx="5394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A3A50"/>
                </a:solidFill>
              </a:rPr>
              <a:t>ATS screens 98% of Fortune 500 applications — your resume must be ATS-friendly to get noticed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5760" y="1847088"/>
            <a:ext cx="6126480" cy="594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7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" y="1956816"/>
            <a:ext cx="365760" cy="365760"/>
          </a:xfrm>
          <a:prstGeom prst="ellipse">
            <a:avLst/>
          </a:prstGeom>
          <a:solidFill>
            <a:srgbClr val="1A2B4A"/>
          </a:solidFill>
          <a:ln/>
        </p:spPr>
      </p:sp>
      <p:sp>
        <p:nvSpPr>
          <p:cNvPr id="11" name="Text 9"/>
          <p:cNvSpPr/>
          <p:nvPr/>
        </p:nvSpPr>
        <p:spPr>
          <a:xfrm>
            <a:off x="475488" y="195681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960120" y="1911096"/>
            <a:ext cx="5394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A3A50"/>
                </a:solidFill>
              </a:rPr>
              <a:t>Use exact keywords from the job description — match the language employers use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65760" y="2551176"/>
            <a:ext cx="6126480" cy="594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7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75488" y="2660904"/>
            <a:ext cx="365760" cy="365760"/>
          </a:xfrm>
          <a:prstGeom prst="ellipse">
            <a:avLst/>
          </a:prstGeom>
          <a:solidFill>
            <a:srgbClr val="1A2B4A"/>
          </a:solidFill>
          <a:ln/>
        </p:spPr>
      </p:sp>
      <p:sp>
        <p:nvSpPr>
          <p:cNvPr id="15" name="Text 13"/>
          <p:cNvSpPr/>
          <p:nvPr/>
        </p:nvSpPr>
        <p:spPr>
          <a:xfrm>
            <a:off x="475488" y="266090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960120" y="2615184"/>
            <a:ext cx="5394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A3A50"/>
                </a:solidFill>
              </a:rPr>
              <a:t>Keep formatting simple: no tables, columns, images, or fancy fonts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65760" y="3255264"/>
            <a:ext cx="6126480" cy="594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7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75488" y="3364992"/>
            <a:ext cx="365760" cy="365760"/>
          </a:xfrm>
          <a:prstGeom prst="ellipse">
            <a:avLst/>
          </a:prstGeom>
          <a:solidFill>
            <a:srgbClr val="1A2B4A"/>
          </a:solidFill>
          <a:ln/>
        </p:spPr>
      </p:sp>
      <p:sp>
        <p:nvSpPr>
          <p:cNvPr id="19" name="Text 17"/>
          <p:cNvSpPr/>
          <p:nvPr/>
        </p:nvSpPr>
        <p:spPr>
          <a:xfrm>
            <a:off x="475488" y="33649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960120" y="3319272"/>
            <a:ext cx="5394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A3A50"/>
                </a:solidFill>
              </a:rPr>
              <a:t>AI tools like Jobscan, Rezi &amp; ChatGPT can instantly analyze and boost your ATS score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65760" y="3959352"/>
            <a:ext cx="6126480" cy="594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7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75488" y="4069080"/>
            <a:ext cx="365760" cy="365760"/>
          </a:xfrm>
          <a:prstGeom prst="ellipse">
            <a:avLst/>
          </a:prstGeom>
          <a:solidFill>
            <a:srgbClr val="1A2B4A"/>
          </a:solidFill>
          <a:ln/>
        </p:spPr>
      </p:sp>
      <p:sp>
        <p:nvSpPr>
          <p:cNvPr id="23" name="Text 21"/>
          <p:cNvSpPr/>
          <p:nvPr/>
        </p:nvSpPr>
        <p:spPr>
          <a:xfrm>
            <a:off x="475488" y="40690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5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960120" y="4023360"/>
            <a:ext cx="5394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A3A50"/>
                </a:solidFill>
              </a:rPr>
              <a:t>Target 80%+ keyword match score before you hit Apply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858000" y="1143000"/>
            <a:ext cx="1920240" cy="3749040"/>
          </a:xfrm>
          <a:prstGeom prst="rect">
            <a:avLst/>
          </a:prstGeom>
          <a:solidFill>
            <a:srgbClr val="1A2B4A"/>
          </a:solidFill>
          <a:ln/>
          <a:effectLst>
            <a:outerShdw sx="100000" sy="100000" kx="0" ky="0" algn="bl" rotWithShape="0" blurRad="101600" dist="25400" dir="8100000">
              <a:srgbClr val="000000">
                <a:alpha val="2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858000" y="1143000"/>
            <a:ext cx="1920240" cy="64008"/>
          </a:xfrm>
          <a:prstGeom prst="rect">
            <a:avLst/>
          </a:prstGeom>
          <a:solidFill>
            <a:srgbClr val="F4A823"/>
          </a:solidFill>
          <a:ln/>
        </p:spPr>
      </p:sp>
      <p:sp>
        <p:nvSpPr>
          <p:cNvPr id="27" name="Text 25"/>
          <p:cNvSpPr/>
          <p:nvPr/>
        </p:nvSpPr>
        <p:spPr>
          <a:xfrm>
            <a:off x="6903720" y="128016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DD17A"/>
                </a:solidFill>
              </a:rPr>
              <a:t>🚀 Start Today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6967728" y="1874520"/>
            <a:ext cx="1609344" cy="475488"/>
          </a:xfrm>
          <a:prstGeom prst="rect">
            <a:avLst/>
          </a:prstGeom>
          <a:solidFill>
            <a:srgbClr val="243A5E"/>
          </a:solidFill>
          <a:ln/>
        </p:spPr>
      </p:sp>
      <p:sp>
        <p:nvSpPr>
          <p:cNvPr id="29" name="Text 27"/>
          <p:cNvSpPr/>
          <p:nvPr/>
        </p:nvSpPr>
        <p:spPr>
          <a:xfrm>
            <a:off x="6967728" y="1874520"/>
            <a:ext cx="160934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Jobscan.co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967728" y="2450592"/>
            <a:ext cx="1609344" cy="475488"/>
          </a:xfrm>
          <a:prstGeom prst="rect">
            <a:avLst/>
          </a:prstGeom>
          <a:solidFill>
            <a:srgbClr val="243A5E"/>
          </a:solidFill>
          <a:ln/>
        </p:spPr>
      </p:sp>
      <p:sp>
        <p:nvSpPr>
          <p:cNvPr id="31" name="Text 29"/>
          <p:cNvSpPr/>
          <p:nvPr/>
        </p:nvSpPr>
        <p:spPr>
          <a:xfrm>
            <a:off x="6967728" y="2450592"/>
            <a:ext cx="160934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Rezi.ai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967728" y="3026664"/>
            <a:ext cx="1609344" cy="475488"/>
          </a:xfrm>
          <a:prstGeom prst="rect">
            <a:avLst/>
          </a:prstGeom>
          <a:solidFill>
            <a:srgbClr val="243A5E"/>
          </a:solidFill>
          <a:ln/>
        </p:spPr>
      </p:sp>
      <p:sp>
        <p:nvSpPr>
          <p:cNvPr id="33" name="Text 31"/>
          <p:cNvSpPr/>
          <p:nvPr/>
        </p:nvSpPr>
        <p:spPr>
          <a:xfrm>
            <a:off x="6967728" y="3026664"/>
            <a:ext cx="160934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Resume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Worded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967728" y="3602736"/>
            <a:ext cx="1609344" cy="475488"/>
          </a:xfrm>
          <a:prstGeom prst="rect">
            <a:avLst/>
          </a:prstGeom>
          <a:solidFill>
            <a:srgbClr val="243A5E"/>
          </a:solidFill>
          <a:ln/>
        </p:spPr>
      </p:sp>
      <p:sp>
        <p:nvSpPr>
          <p:cNvPr id="35" name="Text 33"/>
          <p:cNvSpPr/>
          <p:nvPr/>
        </p:nvSpPr>
        <p:spPr>
          <a:xfrm>
            <a:off x="6967728" y="3602736"/>
            <a:ext cx="160934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ChatGPT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6967728" y="4178808"/>
            <a:ext cx="1609344" cy="475488"/>
          </a:xfrm>
          <a:prstGeom prst="rect">
            <a:avLst/>
          </a:prstGeom>
          <a:solidFill>
            <a:srgbClr val="243A5E"/>
          </a:solidFill>
          <a:ln/>
        </p:spPr>
      </p:sp>
      <p:sp>
        <p:nvSpPr>
          <p:cNvPr id="37" name="Text 35"/>
          <p:cNvSpPr/>
          <p:nvPr/>
        </p:nvSpPr>
        <p:spPr>
          <a:xfrm>
            <a:off x="6967728" y="4178808"/>
            <a:ext cx="160934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Claude AI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0" y="4846320"/>
            <a:ext cx="9144000" cy="292608"/>
          </a:xfrm>
          <a:prstGeom prst="rect">
            <a:avLst/>
          </a:prstGeom>
          <a:solidFill>
            <a:srgbClr val="1A2B4A"/>
          </a:solidFill>
          <a:ln/>
        </p:spPr>
      </p:sp>
      <p:sp>
        <p:nvSpPr>
          <p:cNvPr id="39" name="Text 37"/>
          <p:cNvSpPr/>
          <p:nvPr/>
        </p:nvSpPr>
        <p:spPr>
          <a:xfrm>
            <a:off x="0" y="484632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99B0"/>
                </a:solidFill>
              </a:rPr>
              <a:t>Resume Score + AI  •  Beat the ATS  •  Land More Interviews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EF2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2B4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TO BUILD YOUR RESUME SCORE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0" y="960120"/>
            <a:ext cx="9144000" cy="54864"/>
          </a:xfrm>
          <a:prstGeom prst="rect">
            <a:avLst/>
          </a:prstGeom>
          <a:solidFill>
            <a:srgbClr val="F4A823"/>
          </a:solidFill>
          <a:ln/>
        </p:spPr>
      </p:sp>
      <p:sp>
        <p:nvSpPr>
          <p:cNvPr id="5" name="Shape 3"/>
          <p:cNvSpPr/>
          <p:nvPr/>
        </p:nvSpPr>
        <p:spPr>
          <a:xfrm>
            <a:off x="274320" y="1097280"/>
            <a:ext cx="4114800" cy="171907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097280"/>
            <a:ext cx="64008" cy="1719072"/>
          </a:xfrm>
          <a:prstGeom prst="rect">
            <a:avLst/>
          </a:prstGeom>
          <a:solidFill>
            <a:srgbClr val="1E8FA0"/>
          </a:solidFill>
          <a:ln/>
        </p:spPr>
      </p:sp>
      <p:sp>
        <p:nvSpPr>
          <p:cNvPr id="7" name="Shape 5"/>
          <p:cNvSpPr/>
          <p:nvPr/>
        </p:nvSpPr>
        <p:spPr>
          <a:xfrm>
            <a:off x="411480" y="1234440"/>
            <a:ext cx="475488" cy="475488"/>
          </a:xfrm>
          <a:prstGeom prst="ellipse">
            <a:avLst/>
          </a:prstGeom>
          <a:solidFill>
            <a:srgbClr val="1E8FA0"/>
          </a:solidFill>
          <a:ln/>
        </p:spPr>
      </p:sp>
      <p:sp>
        <p:nvSpPr>
          <p:cNvPr id="8" name="Text 6"/>
          <p:cNvSpPr/>
          <p:nvPr/>
        </p:nvSpPr>
        <p:spPr>
          <a:xfrm>
            <a:off x="411480" y="123444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87552" y="1216152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2B4A"/>
                </a:solidFill>
              </a:rPr>
              <a:t>Choose the Right AI Tool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38912" y="1645920"/>
            <a:ext cx="3840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A4A60"/>
                </a:solidFill>
              </a:rPr>
              <a:t>Jobscan — best for ATS keyword match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3A4A60"/>
                </a:solidFill>
              </a:rPr>
              <a:t>Rezi.ai — AI resume builder with live score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3A4A60"/>
                </a:solidFill>
              </a:rPr>
              <a:t>Resume Worded — detailed section-wise grading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3A4A60"/>
                </a:solidFill>
              </a:rPr>
              <a:t>ChatGPT / Claude — rewrite &amp; optimize bullets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754880" y="1097280"/>
            <a:ext cx="4114800" cy="171907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54880" y="1097280"/>
            <a:ext cx="64008" cy="1719072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3" name="Shape 11"/>
          <p:cNvSpPr/>
          <p:nvPr/>
        </p:nvSpPr>
        <p:spPr>
          <a:xfrm>
            <a:off x="4892040" y="1234440"/>
            <a:ext cx="475488" cy="475488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4" name="Text 12"/>
          <p:cNvSpPr/>
          <p:nvPr/>
        </p:nvSpPr>
        <p:spPr>
          <a:xfrm>
            <a:off x="4892040" y="123444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468112" y="1216152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2B4A"/>
                </a:solidFill>
              </a:rPr>
              <a:t>Paste Job Description + Upload Resume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919472" y="1645920"/>
            <a:ext cx="3840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A4A60"/>
                </a:solidFill>
              </a:rPr>
              <a:t>Copy the full JD from LinkedIn / Naukri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3A4A60"/>
                </a:solidFill>
              </a:rPr>
              <a:t>Upload your current resume (PDF or Word)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3A4A60"/>
                </a:solidFill>
              </a:rPr>
              <a:t>AI compares both and gives a match % score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3A4A60"/>
                </a:solidFill>
              </a:rPr>
              <a:t>See which keywords are missing or weak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74320" y="3017520"/>
            <a:ext cx="4114800" cy="171907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74320" y="3017520"/>
            <a:ext cx="64008" cy="1719072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9" name="Shape 17"/>
          <p:cNvSpPr/>
          <p:nvPr/>
        </p:nvSpPr>
        <p:spPr>
          <a:xfrm>
            <a:off x="411480" y="3154680"/>
            <a:ext cx="475488" cy="475488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20" name="Text 18"/>
          <p:cNvSpPr/>
          <p:nvPr/>
        </p:nvSpPr>
        <p:spPr>
          <a:xfrm>
            <a:off x="411480" y="315468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987552" y="3136392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2B4A"/>
                </a:solidFill>
              </a:rPr>
              <a:t>Fix Low-Scoring Sections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38912" y="3566160"/>
            <a:ext cx="3840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A4A60"/>
                </a:solidFill>
              </a:rPr>
              <a:t>Add missing hard skills from the JD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3A4A60"/>
                </a:solidFill>
              </a:rPr>
              <a:t>Use numbers: 'Increased sales by 30%' beats 'Improved sales'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3A4A60"/>
                </a:solidFill>
              </a:rPr>
              <a:t>Rewrite weak bullets using action verbs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3A4A60"/>
                </a:solidFill>
              </a:rPr>
              <a:t>Remove irrelevant experience to reduce noise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754880" y="3017520"/>
            <a:ext cx="4114800" cy="171907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754880" y="3017520"/>
            <a:ext cx="64008" cy="1719072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25" name="Shape 23"/>
          <p:cNvSpPr/>
          <p:nvPr/>
        </p:nvSpPr>
        <p:spPr>
          <a:xfrm>
            <a:off x="4892040" y="3154680"/>
            <a:ext cx="475488" cy="475488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26" name="Text 24"/>
          <p:cNvSpPr/>
          <p:nvPr/>
        </p:nvSpPr>
        <p:spPr>
          <a:xfrm>
            <a:off x="4892040" y="315468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468112" y="3136392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2B4A"/>
                </a:solidFill>
              </a:rPr>
              <a:t>Re-Score &amp; Target 80%+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919472" y="3566160"/>
            <a:ext cx="3840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A4A60"/>
                </a:solidFill>
              </a:rPr>
              <a:t>Re-upload updated resume and check new score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3A4A60"/>
                </a:solidFill>
              </a:rPr>
              <a:t>Repeat until ATS match score crosses 80%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3A4A60"/>
                </a:solidFill>
              </a:rPr>
              <a:t>Apply with confidence — your resume is optimized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3A4A60"/>
                </a:solidFill>
              </a:rPr>
              <a:t>Customize resume for EACH job you apply to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C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4A823"/>
          </a:solidFill>
          <a:ln/>
        </p:spPr>
      </p:sp>
      <p:sp>
        <p:nvSpPr>
          <p:cNvPr id="3" name="Shape 1"/>
          <p:cNvSpPr/>
          <p:nvPr/>
        </p:nvSpPr>
        <p:spPr>
          <a:xfrm>
            <a:off x="5943600" y="274320"/>
            <a:ext cx="3474720" cy="3474720"/>
          </a:xfrm>
          <a:prstGeom prst="ellipse">
            <a:avLst/>
          </a:prstGeom>
          <a:solidFill>
            <a:srgbClr val="F4A823">
              <a:alpha val="1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6400800" y="731520"/>
            <a:ext cx="2560320" cy="2560320"/>
          </a:xfrm>
          <a:prstGeom prst="ellipse">
            <a:avLst/>
          </a:prstGeom>
          <a:solidFill>
            <a:srgbClr val="F4A823">
              <a:alpha val="2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640080"/>
            <a:ext cx="7315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4A823"/>
                </a:solidFill>
              </a:rPr>
              <a:t>Thank You!</a:t>
            </a:r>
            <a:endParaRPr lang="en-US" sz="5600" dirty="0"/>
          </a:p>
        </p:txBody>
      </p:sp>
      <p:sp>
        <p:nvSpPr>
          <p:cNvPr id="6" name="Text 4"/>
          <p:cNvSpPr/>
          <p:nvPr/>
        </p:nvSpPr>
        <p:spPr>
          <a:xfrm>
            <a:off x="548640" y="2011680"/>
            <a:ext cx="6858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Hope this presentation helped you understand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how to beat the ATS and land more interviews.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2971800"/>
            <a:ext cx="6858000" cy="804672"/>
          </a:xfrm>
          <a:prstGeom prst="rect">
            <a:avLst/>
          </a:prstGeom>
          <a:solidFill>
            <a:srgbClr val="1A2B4A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48640" y="2971800"/>
            <a:ext cx="64008" cy="804672"/>
          </a:xfrm>
          <a:prstGeom prst="rect">
            <a:avLst/>
          </a:prstGeom>
          <a:solidFill>
            <a:srgbClr val="F4A823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3017520"/>
            <a:ext cx="6583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FDD17A"/>
                </a:solidFill>
              </a:rPr>
              <a:t>Your resume is your first impression — make it count.</a:t>
            </a:r>
            <a:endParaRPr lang="en-US" sz="1300" dirty="0"/>
          </a:p>
          <a:p>
            <a:pPr algn="l" indent="0" marL="0">
              <a:buNone/>
            </a:pPr>
            <a:r>
              <a:rPr lang="en-US" sz="1300" i="1" dirty="0">
                <a:solidFill>
                  <a:srgbClr val="FDD17A"/>
                </a:solidFill>
              </a:rPr>
              <a:t>Optimize it with AI, match it to the job, and never stop improving.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3977640"/>
            <a:ext cx="1920240" cy="438912"/>
          </a:xfrm>
          <a:prstGeom prst="roundRect">
            <a:avLst>
              <a:gd name="adj" fmla="val 16667"/>
            </a:avLst>
          </a:prstGeom>
          <a:solidFill>
            <a:srgbClr val="1E8FA0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3977640"/>
            <a:ext cx="1920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✅ Use AI Tools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606040" y="3977640"/>
            <a:ext cx="1920240" cy="438912"/>
          </a:xfrm>
          <a:prstGeom prst="roundRect">
            <a:avLst>
              <a:gd name="adj" fmla="val 16667"/>
            </a:avLst>
          </a:prstGeom>
          <a:solidFill>
            <a:srgbClr val="1E8FA0"/>
          </a:solidFill>
          <a:ln/>
        </p:spPr>
      </p:sp>
      <p:sp>
        <p:nvSpPr>
          <p:cNvPr id="13" name="Text 11"/>
          <p:cNvSpPr/>
          <p:nvPr/>
        </p:nvSpPr>
        <p:spPr>
          <a:xfrm>
            <a:off x="2606040" y="3977640"/>
            <a:ext cx="1920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✅ Match Keywords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663440" y="3977640"/>
            <a:ext cx="1920240" cy="438912"/>
          </a:xfrm>
          <a:prstGeom prst="roundRect">
            <a:avLst>
              <a:gd name="adj" fmla="val 16667"/>
            </a:avLst>
          </a:prstGeom>
          <a:solidFill>
            <a:srgbClr val="1E8FA0"/>
          </a:solidFill>
          <a:ln/>
        </p:spPr>
      </p:sp>
      <p:sp>
        <p:nvSpPr>
          <p:cNvPr id="15" name="Text 13"/>
          <p:cNvSpPr/>
          <p:nvPr/>
        </p:nvSpPr>
        <p:spPr>
          <a:xfrm>
            <a:off x="4663440" y="3977640"/>
            <a:ext cx="1920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✅ Target 80%+ Score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720840" y="3977640"/>
            <a:ext cx="1920240" cy="438912"/>
          </a:xfrm>
          <a:prstGeom prst="roundRect">
            <a:avLst>
              <a:gd name="adj" fmla="val 16667"/>
            </a:avLst>
          </a:prstGeom>
          <a:solidFill>
            <a:srgbClr val="1E8FA0"/>
          </a:solidFill>
          <a:ln/>
        </p:spPr>
      </p:sp>
      <p:sp>
        <p:nvSpPr>
          <p:cNvPr id="17" name="Text 15"/>
          <p:cNvSpPr/>
          <p:nvPr/>
        </p:nvSpPr>
        <p:spPr>
          <a:xfrm>
            <a:off x="6720840" y="3977640"/>
            <a:ext cx="1920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✅ Apply with Confidence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0" y="4846320"/>
            <a:ext cx="9144000" cy="292608"/>
          </a:xfrm>
          <a:prstGeom prst="rect">
            <a:avLst/>
          </a:prstGeom>
          <a:solidFill>
            <a:srgbClr val="1A2B4A"/>
          </a:solidFill>
          <a:ln/>
        </p:spPr>
      </p:sp>
      <p:sp>
        <p:nvSpPr>
          <p:cNvPr id="19" name="Text 17"/>
          <p:cNvSpPr/>
          <p:nvPr/>
        </p:nvSpPr>
        <p:spPr>
          <a:xfrm>
            <a:off x="0" y="484632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99B0"/>
                </a:solidFill>
              </a:rPr>
              <a:t>Resume &amp; ATS Series  •  Built with ❤️ using AI  •  Good Luck! 🚀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Resume &amp; ATS: Build Your Score with AI</dc:title>
  <dc:subject>PptxGenJS Presentation</dc:subject>
  <dc:creator>PptxGenJS</dc:creator>
  <cp:lastModifiedBy>PptxGenJS</cp:lastModifiedBy>
  <cp:revision>1</cp:revision>
  <dcterms:created xsi:type="dcterms:W3CDTF">2026-04-07T02:50:25Z</dcterms:created>
  <dcterms:modified xsi:type="dcterms:W3CDTF">2026-04-07T02:50:25Z</dcterms:modified>
</cp:coreProperties>
</file>